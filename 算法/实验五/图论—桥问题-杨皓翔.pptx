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4" r:id="rId8"/>
    <p:sldId id="383" r:id="rId9"/>
    <p:sldId id="404" r:id="rId10"/>
    <p:sldId id="405" r:id="rId11"/>
    <p:sldId id="285" r:id="rId12"/>
    <p:sldId id="334" r:id="rId13"/>
    <p:sldId id="424" r:id="rId14"/>
    <p:sldId id="425" r:id="rId15"/>
    <p:sldId id="426" r:id="rId16"/>
    <p:sldId id="427" r:id="rId17"/>
    <p:sldId id="428" r:id="rId18"/>
    <p:sldId id="429" r:id="rId19"/>
    <p:sldId id="377" r:id="rId20"/>
    <p:sldId id="409" r:id="rId21"/>
    <p:sldId id="392" r:id="rId22"/>
    <p:sldId id="378" r:id="rId23"/>
    <p:sldId id="294" r:id="rId24"/>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27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94660"/>
  </p:normalViewPr>
  <p:slideViewPr>
    <p:cSldViewPr showGuides="1">
      <p:cViewPr varScale="1">
        <p:scale>
          <a:sx n="83" d="100"/>
          <a:sy n="83" d="100"/>
        </p:scale>
        <p:origin x="216" y="75"/>
      </p:cViewPr>
      <p:guideLst>
        <p:guide orient="horz" pos="2088"/>
        <p:guide pos="27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5.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5-30T13:02:09"/>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972 953,'-1'3,"-1"0,2 0,-2 0,0 0,2 0,-2 0,0 0,1 0,0 0,-1 0,2 0,-2 0,1 0,0 0,0 0,1 0,-2 0,1 0,-1 0,1 0,-1 0,0 0,0 0,0 0,1 0,0 0,0 0,-1 0,2 0,-2 0,0 0,1 0,-1 0,1 0,0 0,-1 0,0 0,0 0,2 0,-2 0,2 0,-2 0,1 0,-1 0,1 0,0 0,0 0,1 0,0 0,1 0,0 0,0 0,0 0,0 0,0 0,0 0,-1 0,2 0,-1 0,0 0,1 0,-1 0,0 0,0 0,0 0,1 0,-1 0,1 0,-1 0,0 0,1 0,-1 0,0 0,0 0,0 0,1 0,-1 0,0 0,0 0,0 0,0 0,0 0,0 0,0 0,0 0,0 0,0 0,0 0,0 0,-1 0,1 0,0 0,0 0,0 0,-1 0,3-6,-2 0,0 0,1 0,0 0,0 0,0 0,1 0,-1 0,0 0,0-1,1 2,-1-1,0 0,0 0,0 0,0 0,-1 0,1 0,-1 0,2 1,-1-2,-1 0,0 1,1 0,0 0,0 0,0 0,-1 0,1 0,0 0,-1 0,1 0,-1 0,1 0,-2 0,2 0,-1 0,0 0,1 0,-1 0,0 0,0 0,0 0,0 0,1 0,-1 0,0 0,-1 0,0 0,0 0,-1 0,1 0,0 0,-3 1,1-1,-1 0,3 0,-2 0,1 0,0 0,0 0,0 0,0 0,1-1,-1 1,0 0,1 0,-1 0,0 0,1 0,-1 0,0 0,1 0,-2 0,1 0,0 0,0 0,-1 0,1 0,0 0,-1 0,0 0,1 0,-1 0,0 0,1 0,-2 1,2-1,0 0,-1 0,0 0,1 0,-2 1,0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今天，我们将深入探讨五种主要排序算法：冒泡排序、选择排序、插入排序、合并排序和快速排序。首先，让我们从冒泡排序开始，了解其工作原理，然后分析其在时间复杂度和空间复杂度方面的表现。接下来，我们会学习选择排序的基本原理，以及它在性能评估上的表现。同样，我们也会深入研究插入排序，并分析其效率。然后我们会转向合并排序，理解它如何工作，并研究其时间和空间复杂性。最后，我们将讨论快速排序，包括它的运作方式以及在时间和空间复杂性方面的分析。</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本次的演讲中，我们首先探讨了算法排序的前置工作，深入分析了五大经典排序算法，接着我们研究了TopK问题并寻找有效的解决策略。通过实验验证，我们得出了有价值的结论。感谢大家的参与，让我们共同进步、追求卓越！</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customXml" Target="../ink/ink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012267"/>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图论</a:t>
            </a:r>
            <a:r>
              <a:rPr lang="zh-CN" sz="4800" b="1" i="0">
                <a:solidFill>
                  <a:srgbClr val="000000"/>
                </a:solidFill>
                <a:highlight>
                  <a:srgbClr val="FFFFFF">
                    <a:alpha val="0"/>
                  </a:srgbClr>
                </a:highlight>
                <a:latin typeface="微软雅黑" panose="020B0503020204020204" charset="-122"/>
              </a:rPr>
              <a:t>之桥</a:t>
            </a:r>
            <a:r>
              <a:rPr sz="4800" b="1" i="0">
                <a:solidFill>
                  <a:srgbClr val="000000"/>
                </a:solidFill>
                <a:highlight>
                  <a:srgbClr val="FFFFFF">
                    <a:alpha val="0"/>
                  </a:srgbClr>
                </a:highlight>
                <a:latin typeface="微软雅黑" panose="020B0503020204020204" charset="-122"/>
              </a:rPr>
              <a:t>问题探究</a:t>
            </a:r>
            <a:endParaRPr sz="4800" b="1" i="0">
              <a:solidFill>
                <a:srgbClr val="000000"/>
              </a:solidFill>
              <a:highlight>
                <a:srgbClr val="FFFFFF">
                  <a:alpha val="0"/>
                </a:srgbClr>
              </a:highlight>
              <a:latin typeface="微软雅黑" panose="020B0503020204020204" charset="-122"/>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4" name="New shape"/>
          <p:cNvSpPr/>
          <p:nvPr/>
        </p:nvSpPr>
        <p:spPr>
          <a:xfrm>
            <a:off x="611778" y="3098226"/>
            <a:ext cx="11038043"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3000" b="1" i="0">
                <a:solidFill>
                  <a:srgbClr val="002B7F"/>
                </a:solidFill>
                <a:highlight>
                  <a:srgbClr val="FFFFFF">
                    <a:alpha val="0"/>
                  </a:srgbClr>
                </a:highlight>
                <a:latin typeface="微软雅黑" panose="020B0503020204020204" charset="-122"/>
              </a:rPr>
              <a:t>并查集</a:t>
            </a:r>
            <a:r>
              <a:rPr lang="zh-CN" sz="3000" b="1" i="0">
                <a:solidFill>
                  <a:srgbClr val="002B7F"/>
                </a:solidFill>
                <a:highlight>
                  <a:srgbClr val="FFFFFF">
                    <a:alpha val="0"/>
                  </a:srgbClr>
                </a:highlight>
                <a:latin typeface="微软雅黑" panose="020B0503020204020204" charset="-122"/>
              </a:rPr>
              <a:t>高效算法</a:t>
            </a:r>
            <a:r>
              <a:rPr lang="zh-CN" sz="3000" b="1" i="0">
                <a:solidFill>
                  <a:srgbClr val="002B7F"/>
                </a:solidFill>
                <a:highlight>
                  <a:srgbClr val="FFFFFF">
                    <a:alpha val="0"/>
                  </a:srgbClr>
                </a:highlight>
                <a:latin typeface="微软雅黑" panose="020B0503020204020204" charset="-122"/>
              </a:rPr>
              <a:t>分析</a:t>
            </a:r>
            <a:endParaRPr lang="zh-CN" sz="30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8" name="New shape"/>
          <p:cNvSpPr/>
          <p:nvPr/>
        </p:nvSpPr>
        <p:spPr>
          <a:xfrm>
            <a:off x="611778" y="4208444"/>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1575" b="0" i="0">
                <a:solidFill>
                  <a:srgbClr val="000000"/>
                </a:solidFill>
                <a:highlight>
                  <a:srgbClr val="FFFFFF">
                    <a:alpha val="0"/>
                  </a:srgbClr>
                </a:highlight>
                <a:latin typeface="微软雅黑" panose="020B0503020204020204" charset="-122"/>
              </a:rPr>
              <a:t>指导老师：刘刚</a:t>
            </a:r>
            <a:r>
              <a:rPr lang="en-US" altLang="zh-CN" sz="1575" b="0" i="0">
                <a:solidFill>
                  <a:srgbClr val="000000"/>
                </a:solidFill>
                <a:highlight>
                  <a:srgbClr val="FFFFFF">
                    <a:alpha val="0"/>
                  </a:srgbClr>
                </a:highlight>
                <a:latin typeface="微软雅黑" panose="020B0503020204020204" charset="-122"/>
              </a:rPr>
              <a:t>	</a:t>
            </a:r>
            <a:r>
              <a:rPr lang="zh-CN" altLang="en-US" sz="1575" b="0" i="0">
                <a:solidFill>
                  <a:srgbClr val="000000"/>
                </a:solidFill>
                <a:highlight>
                  <a:srgbClr val="FFFFFF">
                    <a:alpha val="0"/>
                  </a:srgbClr>
                </a:highlight>
                <a:latin typeface="微软雅黑" panose="020B0503020204020204" charset="-122"/>
              </a:rPr>
              <a:t>分享人：</a:t>
            </a:r>
            <a:r>
              <a:rPr lang="zh-CN" altLang="en-US" sz="1575" b="0" i="0">
                <a:solidFill>
                  <a:srgbClr val="000000"/>
                </a:solidFill>
                <a:highlight>
                  <a:srgbClr val="FFFFFF">
                    <a:alpha val="0"/>
                  </a:srgbClr>
                </a:highlight>
                <a:latin typeface="微软雅黑" panose="020B0503020204020204" charset="-122"/>
              </a:rPr>
              <a:t>杨皓翔</a:t>
            </a:r>
            <a:endParaRPr lang="zh-CN" altLang="en-US" sz="1575" b="0" i="0">
              <a:solidFill>
                <a:srgbClr val="000000"/>
              </a:solidFill>
              <a:highlight>
                <a:srgbClr val="FFFFFF">
                  <a:alpha val="0"/>
                </a:srgbClr>
              </a:highlight>
              <a:latin typeface="微软雅黑" panose="020B0503020204020204" charset="-122"/>
            </a:endParaRPr>
          </a:p>
        </p:txBody>
      </p:sp>
      <p:sp>
        <p:nvSpPr>
          <p:cNvPr id="10" name="文本框 9"/>
          <p:cNvSpPr txBox="1"/>
          <p:nvPr/>
        </p:nvSpPr>
        <p:spPr>
          <a:xfrm>
            <a:off x="4511675" y="764540"/>
            <a:ext cx="3565525" cy="1198880"/>
          </a:xfrm>
          <a:prstGeom prst="rect">
            <a:avLst/>
          </a:prstGeom>
          <a:noFill/>
        </p:spPr>
        <p:txBody>
          <a:bodyPr wrap="square" rtlCol="0">
            <a:spAutoFit/>
          </a:bodyPr>
          <a:lstStyle/>
          <a:p>
            <a:pPr algn="ctr"/>
            <a:r>
              <a:rPr lang="zh-CN" altLang="en-US" sz="7200">
                <a:ln w="15875"/>
                <a:gradFill>
                  <a:gsLst>
                    <a:gs pos="0">
                      <a:schemeClr val="accent1">
                        <a:hueMod val="80000"/>
                      </a:schemeClr>
                    </a:gs>
                    <a:gs pos="100000">
                      <a:schemeClr val="accent1">
                        <a:alpha val="100000"/>
                      </a:schemeClr>
                    </a:gs>
                  </a:gsLst>
                  <a:lin ang="2700000" scaled="0"/>
                </a:gradFill>
                <a:effectLst/>
              </a:rPr>
              <a:t>实验</a:t>
            </a:r>
            <a:r>
              <a:rPr lang="zh-CN" altLang="en-US" sz="7200">
                <a:ln w="15875"/>
                <a:gradFill>
                  <a:gsLst>
                    <a:gs pos="0">
                      <a:schemeClr val="accent1">
                        <a:hueMod val="80000"/>
                      </a:schemeClr>
                    </a:gs>
                    <a:gs pos="100000">
                      <a:schemeClr val="accent1">
                        <a:alpha val="100000"/>
                      </a:schemeClr>
                    </a:gs>
                  </a:gsLst>
                  <a:lin ang="2700000" scaled="0"/>
                </a:gradFill>
                <a:effectLst/>
              </a:rPr>
              <a:t>四</a:t>
            </a:r>
            <a:endParaRPr lang="zh-CN" altLang="en-US" sz="7200">
              <a:ln w="15875"/>
              <a:gradFill>
                <a:gsLst>
                  <a:gs pos="0">
                    <a:schemeClr val="accent1">
                      <a:hueMod val="80000"/>
                    </a:schemeClr>
                  </a:gs>
                  <a:gs pos="100000">
                    <a:schemeClr val="accent1">
                      <a:alpha val="100000"/>
                    </a:schemeClr>
                  </a:gs>
                </a:gsLst>
                <a:lin ang="2700000" scaled="0"/>
              </a:gradFill>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838800" y="1266220"/>
            <a:ext cx="3672000" cy="511200"/>
          </a:xfrm>
          <a:prstGeom prst="rect">
            <a:avLst/>
          </a:prstGeom>
          <a:ln>
            <a:noFill/>
          </a:ln>
        </p:spPr>
      </p:pic>
      <p:sp>
        <p:nvSpPr>
          <p:cNvPr id="3" name="New shape"/>
          <p:cNvSpPr/>
          <p:nvPr/>
        </p:nvSpPr>
        <p:spPr>
          <a:xfrm>
            <a:off x="1054800" y="1112218"/>
            <a:ext cx="2482880" cy="1614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6600" b="1" i="0">
                <a:solidFill>
                  <a:srgbClr val="0055FF"/>
                </a:solidFill>
                <a:highlight>
                  <a:srgbClr val="FFFFFF">
                    <a:alpha val="0"/>
                  </a:srgbClr>
                </a:highlight>
                <a:latin typeface="微软雅黑" panose="020B0503020204020204" charset="-122"/>
              </a:rPr>
              <a:t>目录</a:t>
            </a:r>
            <a:endParaRPr sz="6600" b="1" i="0">
              <a:solidFill>
                <a:srgbClr val="0055FF"/>
              </a:solidFill>
              <a:highlight>
                <a:srgbClr val="FFFFFF">
                  <a:alpha val="0"/>
                </a:srgbClr>
              </a:highlight>
              <a:latin typeface="微软雅黑" panose="020B0503020204020204" charset="-122"/>
            </a:endParaRPr>
          </a:p>
        </p:txBody>
      </p:sp>
      <p:sp>
        <p:nvSpPr>
          <p:cNvPr id="4" name="New shape"/>
          <p:cNvSpPr/>
          <p:nvPr>
            <p:custDataLst>
              <p:tags r:id="rId3"/>
            </p:custDataLst>
          </p:nvPr>
        </p:nvSpPr>
        <p:spPr>
          <a:xfrm>
            <a:off x="6096025" y="907551"/>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01</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准备基准图</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数据</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5" name="New shape"/>
          <p:cNvSpPr/>
          <p:nvPr>
            <p:custDataLst>
              <p:tags r:id="rId4"/>
            </p:custDataLst>
          </p:nvPr>
        </p:nvSpPr>
        <p:spPr>
          <a:xfrm>
            <a:off x="6096156" y="2009593"/>
            <a:ext cx="4152433" cy="460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00000"/>
              </a:lnSpc>
            </a:pPr>
            <a:r>
              <a:rPr sz="2400" b="1">
                <a:solidFill>
                  <a:srgbClr val="002B7F"/>
                </a:solidFill>
                <a:highlight>
                  <a:srgbClr val="C0C0C0"/>
                </a:highlight>
                <a:latin typeface="微软雅黑" panose="020B0503020204020204" charset="-122"/>
              </a:rPr>
              <a:t>02</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基准</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算法</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6" name="New shape"/>
          <p:cNvSpPr/>
          <p:nvPr>
            <p:custDataLst>
              <p:tags r:id="rId5"/>
            </p:custDataLst>
          </p:nvPr>
        </p:nvSpPr>
        <p:spPr>
          <a:xfrm>
            <a:off x="6097930" y="2923863"/>
            <a:ext cx="4152432" cy="460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00000"/>
              </a:lnSpc>
            </a:pPr>
            <a:r>
              <a:rPr sz="2400" b="1">
                <a:solidFill>
                  <a:srgbClr val="002B7F"/>
                </a:solidFill>
                <a:highlight>
                  <a:srgbClr val="C0C0C0"/>
                </a:highlight>
                <a:latin typeface="微软雅黑" panose="020B0503020204020204" charset="-122"/>
              </a:rPr>
              <a:t>03</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高效</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算法</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7" name="New shape"/>
          <p:cNvSpPr/>
          <p:nvPr>
            <p:custDataLst>
              <p:tags r:id="rId6"/>
            </p:custDataLst>
          </p:nvPr>
        </p:nvSpPr>
        <p:spPr>
          <a:xfrm>
            <a:off x="6097905" y="3716655"/>
            <a:ext cx="4326890"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l">
              <a:lnSpc>
                <a:spcPct val="150000"/>
              </a:lnSpc>
            </a:pPr>
            <a:r>
              <a:rPr sz="2400" b="1">
                <a:solidFill>
                  <a:srgbClr val="002B7F"/>
                </a:solidFill>
                <a:highlight>
                  <a:srgbClr val="C0C0C0"/>
                </a:highlight>
                <a:latin typeface="微软雅黑" panose="020B0503020204020204" charset="-122"/>
              </a:rPr>
              <a:t>04</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算法性能</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对比</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
        <p:nvSpPr>
          <p:cNvPr id="8" name="New shape"/>
          <p:cNvSpPr/>
          <p:nvPr/>
        </p:nvSpPr>
        <p:spPr>
          <a:xfrm>
            <a:off x="6097905" y="4693920"/>
            <a:ext cx="506666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lnSpc>
                <a:spcPct val="150000"/>
              </a:lnSpc>
            </a:pPr>
            <a:r>
              <a:rPr sz="2400" b="1">
                <a:solidFill>
                  <a:srgbClr val="002B7F"/>
                </a:solidFill>
                <a:highlight>
                  <a:srgbClr val="C0C0C0"/>
                </a:highlight>
                <a:latin typeface="微软雅黑" panose="020B0503020204020204" charset="-122"/>
              </a:rPr>
              <a:t>0</a:t>
            </a:r>
            <a:r>
              <a:rPr lang="en-US" sz="2400" b="1">
                <a:solidFill>
                  <a:srgbClr val="002B7F"/>
                </a:solidFill>
                <a:highlight>
                  <a:srgbClr val="C0C0C0"/>
                </a:highlight>
                <a:latin typeface="微软雅黑" panose="020B0503020204020204" charset="-122"/>
              </a:rPr>
              <a:t>5</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实验</a:t>
            </a:r>
            <a:r>
              <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rPr>
              <a:t>总结</a:t>
            </a:r>
            <a:endParaRPr lang="zh-CN" altLang="en-US" sz="2400">
              <a:solidFill>
                <a:schemeClr val="tx1"/>
              </a:solidFill>
              <a:effectLst>
                <a:outerShdw blurRad="38100" dist="19050" dir="2700000" algn="tl" rotWithShape="0">
                  <a:schemeClr val="dk1">
                    <a:alpha val="40000"/>
                  </a:schemeClr>
                </a:outerShdw>
              </a:effectLst>
              <a:latin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01</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4800" b="1" i="0">
                <a:solidFill>
                  <a:srgbClr val="0055FF"/>
                </a:solidFill>
                <a:highlight>
                  <a:srgbClr val="FFFFFF">
                    <a:alpha val="0"/>
                  </a:srgbClr>
                </a:highlight>
                <a:latin typeface="微软雅黑" panose="020B0503020204020204" charset="-122"/>
              </a:rPr>
              <a:t>准备基准图</a:t>
            </a:r>
            <a:r>
              <a:rPr lang="zh-CN" altLang="en-US" sz="4800" b="1" i="0">
                <a:solidFill>
                  <a:srgbClr val="0055FF"/>
                </a:solidFill>
                <a:highlight>
                  <a:srgbClr val="FFFFFF">
                    <a:alpha val="0"/>
                  </a:srgbClr>
                </a:highlight>
                <a:latin typeface="微软雅黑" panose="020B0503020204020204" charset="-122"/>
              </a:rPr>
              <a:t>数据</a:t>
            </a:r>
            <a:endParaRPr lang="zh-CN" altLang="en-US"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构造基准图</a:t>
            </a:r>
            <a:r>
              <a:rPr lang="zh-CN" altLang="en-US" sz="3000" b="1" i="0">
                <a:solidFill>
                  <a:schemeClr val="accent1"/>
                </a:solidFill>
                <a:highlight>
                  <a:srgbClr val="FFFFFF">
                    <a:alpha val="0"/>
                  </a:srgbClr>
                </a:highlight>
                <a:latin typeface="微软雅黑" panose="020B0503020204020204" charset="-122"/>
              </a:rPr>
              <a:t>数据</a:t>
            </a:r>
            <a:endParaRPr lang="zh-CN" altLang="en-US" sz="3000" b="1" i="0">
              <a:solidFill>
                <a:schemeClr val="accent1"/>
              </a:solidFill>
              <a:highlight>
                <a:srgbClr val="FFFFFF">
                  <a:alpha val="0"/>
                </a:srgbClr>
              </a:highlight>
              <a:latin typeface="微软雅黑" panose="020B0503020204020204" charset="-122"/>
            </a:endParaRPr>
          </a:p>
        </p:txBody>
      </p:sp>
      <p:pic>
        <p:nvPicPr>
          <p:cNvPr id="4" name="图片 -2147482620"/>
          <p:cNvPicPr>
            <a:picLocks noChangeAspect="1"/>
          </p:cNvPicPr>
          <p:nvPr/>
        </p:nvPicPr>
        <p:blipFill>
          <a:blip r:embed="rId3"/>
          <a:stretch>
            <a:fillRect/>
          </a:stretch>
        </p:blipFill>
        <p:spPr>
          <a:xfrm>
            <a:off x="4943793" y="2204720"/>
            <a:ext cx="1908531" cy="2160000"/>
          </a:xfrm>
          <a:prstGeom prst="rect">
            <a:avLst/>
          </a:prstGeom>
          <a:noFill/>
          <a:ln w="9525">
            <a:noFill/>
          </a:ln>
        </p:spPr>
      </p:pic>
      <p:pic>
        <p:nvPicPr>
          <p:cNvPr id="5" name="图片 -2147482619"/>
          <p:cNvPicPr>
            <a:picLocks noChangeAspect="1"/>
          </p:cNvPicPr>
          <p:nvPr/>
        </p:nvPicPr>
        <p:blipFill>
          <a:blip r:embed="rId4"/>
          <a:stretch>
            <a:fillRect/>
          </a:stretch>
        </p:blipFill>
        <p:spPr>
          <a:xfrm>
            <a:off x="8832215" y="1718628"/>
            <a:ext cx="2057501" cy="3240000"/>
          </a:xfrm>
          <a:prstGeom prst="rect">
            <a:avLst/>
          </a:prstGeom>
          <a:noFill/>
          <a:ln w="9525">
            <a:noFill/>
          </a:ln>
        </p:spPr>
      </p:pic>
      <p:pic>
        <p:nvPicPr>
          <p:cNvPr id="6" name="图片 -2147482621" descr="https://upload.wikimedia.org/wikipedia/commons/thumb/d/df/Graph_cut_edges.svg/200px-Graph_cut_edges.svg.png"/>
          <p:cNvPicPr>
            <a:picLocks noChangeAspect="1"/>
          </p:cNvPicPr>
          <p:nvPr/>
        </p:nvPicPr>
        <p:blipFill>
          <a:blip r:embed="rId5"/>
          <a:stretch>
            <a:fillRect/>
          </a:stretch>
        </p:blipFill>
        <p:spPr>
          <a:xfrm>
            <a:off x="1199515" y="2258695"/>
            <a:ext cx="2160000" cy="2160000"/>
          </a:xfrm>
          <a:prstGeom prst="rect">
            <a:avLst/>
          </a:prstGeom>
          <a:noFill/>
          <a:ln w="9525">
            <a:noFill/>
          </a:ln>
        </p:spPr>
      </p:pic>
      <p:sp>
        <p:nvSpPr>
          <p:cNvPr id="7" name="右箭头 6"/>
          <p:cNvSpPr/>
          <p:nvPr/>
        </p:nvSpPr>
        <p:spPr>
          <a:xfrm>
            <a:off x="3575685" y="3068955"/>
            <a:ext cx="1008380" cy="431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3719830" y="2780665"/>
            <a:ext cx="750570" cy="368300"/>
          </a:xfrm>
          <a:prstGeom prst="rect">
            <a:avLst/>
          </a:prstGeom>
          <a:noFill/>
        </p:spPr>
        <p:txBody>
          <a:bodyPr wrap="square" rtlCol="0">
            <a:spAutoFit/>
          </a:bodyPr>
          <a:p>
            <a:r>
              <a:rPr lang="zh-CN" altLang="en-US"/>
              <a:t>编号</a:t>
            </a:r>
            <a:endParaRPr lang="zh-CN" altLang="en-US"/>
          </a:p>
        </p:txBody>
      </p:sp>
      <p:sp>
        <p:nvSpPr>
          <p:cNvPr id="9" name="右箭头 8"/>
          <p:cNvSpPr/>
          <p:nvPr/>
        </p:nvSpPr>
        <p:spPr>
          <a:xfrm>
            <a:off x="7314565" y="3122930"/>
            <a:ext cx="1008380" cy="431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7458710" y="2834640"/>
            <a:ext cx="750570" cy="368300"/>
          </a:xfrm>
          <a:prstGeom prst="rect">
            <a:avLst/>
          </a:prstGeom>
          <a:noFill/>
        </p:spPr>
        <p:txBody>
          <a:bodyPr wrap="square" rtlCol="0">
            <a:spAutoFit/>
          </a:bodyPr>
          <a:p>
            <a:r>
              <a:rPr lang="zh-CN" altLang="en-US"/>
              <a:t>构造</a:t>
            </a:r>
            <a:endParaRPr lang="zh-CN" altLang="en-US"/>
          </a:p>
        </p:txBody>
      </p:sp>
      <p:cxnSp>
        <p:nvCxnSpPr>
          <p:cNvPr id="11" name="直接箭头连接符 10"/>
          <p:cNvCxnSpPr/>
          <p:nvPr/>
        </p:nvCxnSpPr>
        <p:spPr>
          <a:xfrm flipV="1">
            <a:off x="9061450" y="2420620"/>
            <a:ext cx="635000" cy="304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a:off x="9061450" y="2622550"/>
            <a:ext cx="635000" cy="863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9696450" y="2258695"/>
            <a:ext cx="1005205" cy="583565"/>
          </a:xfrm>
          <a:prstGeom prst="rect">
            <a:avLst/>
          </a:prstGeom>
          <a:noFill/>
        </p:spPr>
        <p:txBody>
          <a:bodyPr wrap="square" rtlCol="0">
            <a:spAutoFit/>
          </a:bodyPr>
          <a:p>
            <a:r>
              <a:rPr lang="zh-CN" altLang="en-US" sz="1600"/>
              <a:t>顶点数</a:t>
            </a:r>
            <a:endParaRPr lang="zh-CN" altLang="en-US" sz="1600"/>
          </a:p>
          <a:p>
            <a:r>
              <a:rPr lang="zh-CN" altLang="en-US" sz="1600"/>
              <a:t>边数</a:t>
            </a:r>
            <a:endParaRPr lang="zh-CN" altLang="en-US" sz="160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02</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基准算法</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算法思</a:t>
            </a:r>
            <a:r>
              <a:rPr lang="zh-CN" altLang="en-US" sz="3000" b="1" i="0">
                <a:solidFill>
                  <a:schemeClr val="accent1"/>
                </a:solidFill>
                <a:highlight>
                  <a:srgbClr val="FFFFFF">
                    <a:alpha val="0"/>
                  </a:srgbClr>
                </a:highlight>
                <a:latin typeface="微软雅黑" panose="020B0503020204020204" charset="-122"/>
              </a:rPr>
              <a:t>路</a:t>
            </a:r>
            <a:endParaRPr lang="zh-CN" altLang="en-US" sz="3000" b="1" i="0">
              <a:solidFill>
                <a:schemeClr val="accent1"/>
              </a:solidFill>
              <a:highlight>
                <a:srgbClr val="FFFFFF">
                  <a:alpha val="0"/>
                </a:srgbClr>
              </a:highlight>
              <a:latin typeface="微软雅黑" panose="020B0503020204020204" charset="-122"/>
            </a:endParaRPr>
          </a:p>
        </p:txBody>
      </p:sp>
      <p:sp>
        <p:nvSpPr>
          <p:cNvPr id="6" name="文本框 5"/>
          <p:cNvSpPr txBox="1"/>
          <p:nvPr/>
        </p:nvSpPr>
        <p:spPr>
          <a:xfrm>
            <a:off x="1439545" y="1475740"/>
            <a:ext cx="3575050" cy="1553210"/>
          </a:xfrm>
          <a:prstGeom prst="rect">
            <a:avLst/>
          </a:prstGeom>
          <a:noFill/>
        </p:spPr>
        <p:txBody>
          <a:bodyPr wrap="square" rtlCol="0">
            <a:spAutoFit/>
          </a:bodyPr>
          <a:p>
            <a:pPr>
              <a:lnSpc>
                <a:spcPct val="100000"/>
              </a:lnSpc>
              <a:spcBef>
                <a:spcPts val="0"/>
              </a:spcBef>
              <a:spcAft>
                <a:spcPts val="6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r>
              <a:rPr lang="zh-CN" altLang="en-US"/>
              <a:t>使用暴力法对图中的每一条边进行测试，来判断它是否是桥。如果一条边是桥，删除它会增加图的连通分量的数量。</a:t>
            </a:r>
            <a:endParaRPr lang="zh-CN" altLang="en-US"/>
          </a:p>
        </p:txBody>
      </p:sp>
      <p:sp>
        <p:nvSpPr>
          <p:cNvPr id="10" name="文本框 9"/>
          <p:cNvSpPr txBox="1"/>
          <p:nvPr/>
        </p:nvSpPr>
        <p:spPr>
          <a:xfrm>
            <a:off x="1439545" y="3573145"/>
            <a:ext cx="2980055" cy="1691640"/>
          </a:xfrm>
          <a:prstGeom prst="rect">
            <a:avLst/>
          </a:prstGeom>
          <a:noFill/>
        </p:spPr>
        <p:txBody>
          <a:bodyPr wrap="square" rtlCol="0">
            <a:spAutoFit/>
          </a:bodyPr>
          <a:p>
            <a:pPr>
              <a:lnSpc>
                <a:spcPct val="100000"/>
              </a:lnSpc>
              <a:spcBef>
                <a:spcPts val="0"/>
              </a:spcBef>
              <a:spcAft>
                <a:spcPts val="600"/>
              </a:spcAft>
            </a:pPr>
            <a:r>
              <a:rPr lang="zh-CN" altLang="en-US">
                <a:solidFill>
                  <a:schemeClr val="accent1"/>
                </a:solidFill>
                <a:effectLst>
                  <a:outerShdw blurRad="38100" dist="25400" dir="5400000" algn="ctr" rotWithShape="0">
                    <a:srgbClr val="6E747A">
                      <a:alpha val="43000"/>
                    </a:srgbClr>
                  </a:outerShdw>
                </a:effectLst>
              </a:rPr>
              <a:t>实现思路：</a:t>
            </a:r>
            <a:endParaRPr lang="zh-CN" altLang="en-US">
              <a:solidFill>
                <a:schemeClr val="accent1"/>
              </a:solidFill>
              <a:effectLst>
                <a:outerShdw blurRad="38100" dist="25400" dir="5400000" algn="ctr" rotWithShape="0">
                  <a:srgbClr val="6E747A">
                    <a:alpha val="43000"/>
                  </a:srgbClr>
                </a:outerShdw>
              </a:effectLst>
            </a:endParaRPr>
          </a:p>
          <a:p>
            <a:pPr>
              <a:lnSpc>
                <a:spcPct val="150000"/>
              </a:lnSpc>
            </a:pPr>
            <a:r>
              <a:rPr lang="zh-CN" altLang="en-US"/>
              <a:t>①移除边（u，v）</a:t>
            </a:r>
            <a:endParaRPr lang="zh-CN" altLang="en-US"/>
          </a:p>
          <a:p>
            <a:pPr>
              <a:lnSpc>
                <a:spcPct val="150000"/>
              </a:lnSpc>
            </a:pPr>
            <a:r>
              <a:rPr lang="zh-CN" altLang="en-US"/>
              <a:t>②检查连通数目是否增加</a:t>
            </a:r>
            <a:endParaRPr lang="zh-CN" altLang="en-US"/>
          </a:p>
          <a:p>
            <a:pPr>
              <a:lnSpc>
                <a:spcPct val="150000"/>
              </a:lnSpc>
            </a:pPr>
            <a:r>
              <a:rPr lang="zh-CN" altLang="en-US"/>
              <a:t>③恢复边（u，v）</a:t>
            </a:r>
            <a:endParaRPr lang="zh-CN" altLang="en-US"/>
          </a:p>
        </p:txBody>
      </p:sp>
      <p:sp>
        <p:nvSpPr>
          <p:cNvPr id="11" name="文本框 10"/>
          <p:cNvSpPr txBox="1"/>
          <p:nvPr/>
        </p:nvSpPr>
        <p:spPr>
          <a:xfrm>
            <a:off x="6312535" y="980440"/>
            <a:ext cx="4454525" cy="2106930"/>
          </a:xfrm>
          <a:prstGeom prst="rect">
            <a:avLst/>
          </a:prstGeom>
          <a:noFill/>
        </p:spPr>
        <p:txBody>
          <a:bodyPr wrap="square" rtlCol="0">
            <a:spAutoFit/>
          </a:bodyPr>
          <a:p>
            <a:pPr>
              <a:lnSpc>
                <a:spcPct val="100000"/>
              </a:lnSpc>
              <a:spcBef>
                <a:spcPts val="0"/>
              </a:spcBef>
              <a:spcAft>
                <a:spcPts val="600"/>
              </a:spcAft>
            </a:pPr>
            <a:r>
              <a:rPr lang="zh-CN" altLang="en-US">
                <a:solidFill>
                  <a:schemeClr val="accent1"/>
                </a:solidFill>
                <a:effectLst>
                  <a:outerShdw blurRad="38100" dist="25400" dir="5400000" algn="ctr" rotWithShape="0">
                    <a:srgbClr val="6E747A">
                      <a:alpha val="43000"/>
                    </a:srgbClr>
                  </a:outerShdw>
                </a:effectLst>
              </a:rPr>
              <a:t>数据结构：</a:t>
            </a:r>
            <a:endParaRPr lang="zh-CN" altLang="en-US">
              <a:solidFill>
                <a:schemeClr val="accent1"/>
              </a:solidFill>
              <a:effectLst>
                <a:outerShdw blurRad="38100" dist="25400" dir="5400000" algn="ctr" rotWithShape="0">
                  <a:srgbClr val="6E747A">
                    <a:alpha val="43000"/>
                  </a:srgbClr>
                </a:outerShdw>
              </a:effectLst>
            </a:endParaRPr>
          </a:p>
          <a:p>
            <a:r>
              <a:rPr lang="zh-CN" altLang="en-US"/>
              <a:t>邻接表的优点：</a:t>
            </a:r>
            <a:endParaRPr lang="zh-CN" altLang="en-US"/>
          </a:p>
          <a:p>
            <a:pPr marL="342900" indent="-342900">
              <a:buAutoNum type="arabicPeriod"/>
            </a:pPr>
            <a:r>
              <a:rPr lang="zh-CN" altLang="en-US"/>
              <a:t>节省空间</a:t>
            </a:r>
            <a:endParaRPr lang="zh-CN" altLang="en-US"/>
          </a:p>
          <a:p>
            <a:pPr marL="342900" indent="-342900">
              <a:buAutoNum type="arabicPeriod"/>
            </a:pPr>
            <a:r>
              <a:rPr lang="zh-CN" altLang="en-US"/>
              <a:t>插入和删除操作高效</a:t>
            </a:r>
            <a:endParaRPr lang="zh-CN" altLang="en-US"/>
          </a:p>
          <a:p>
            <a:pPr marL="342900" indent="-342900">
              <a:buAutoNum type="arabicPeriod"/>
            </a:pPr>
            <a:r>
              <a:rPr lang="zh-CN" altLang="en-US"/>
              <a:t>适用于图的遍历</a:t>
            </a:r>
            <a:endParaRPr lang="zh-CN" altLang="en-US"/>
          </a:p>
          <a:p>
            <a:pPr marL="342900" indent="-342900">
              <a:buAutoNum type="arabicPeriod"/>
            </a:pPr>
            <a:r>
              <a:rPr lang="zh-CN" altLang="en-US"/>
              <a:t>适用于稀疏图</a:t>
            </a:r>
            <a:endParaRPr lang="zh-CN" altLang="en-US"/>
          </a:p>
          <a:p>
            <a:endParaRPr lang="zh-CN" altLang="en-US"/>
          </a:p>
        </p:txBody>
      </p:sp>
      <p:pic>
        <p:nvPicPr>
          <p:cNvPr id="4" name="图片 -2147482616"/>
          <p:cNvPicPr>
            <a:picLocks noChangeAspect="1"/>
          </p:cNvPicPr>
          <p:nvPr/>
        </p:nvPicPr>
        <p:blipFill>
          <a:blip r:embed="rId3"/>
          <a:stretch>
            <a:fillRect/>
          </a:stretch>
        </p:blipFill>
        <p:spPr>
          <a:xfrm>
            <a:off x="6000433" y="5479415"/>
            <a:ext cx="4618384" cy="432000"/>
          </a:xfrm>
          <a:prstGeom prst="rect">
            <a:avLst/>
          </a:prstGeom>
          <a:noFill/>
          <a:ln w="9525">
            <a:noFill/>
          </a:ln>
        </p:spPr>
      </p:pic>
      <p:sp>
        <p:nvSpPr>
          <p:cNvPr id="13" name="文本框 12"/>
          <p:cNvSpPr txBox="1"/>
          <p:nvPr/>
        </p:nvSpPr>
        <p:spPr>
          <a:xfrm>
            <a:off x="6202045" y="2999105"/>
            <a:ext cx="1847215" cy="368300"/>
          </a:xfrm>
          <a:prstGeom prst="rect">
            <a:avLst/>
          </a:prstGeom>
          <a:noFill/>
        </p:spPr>
        <p:txBody>
          <a:bodyPr wrap="square" rtlCol="0">
            <a:spAutoFit/>
          </a:bodyPr>
          <a:p>
            <a:r>
              <a:rPr lang="zh-CN" altLang="en-US"/>
              <a:t>移除、恢复</a:t>
            </a:r>
            <a:r>
              <a:rPr lang="zh-CN" altLang="en-US"/>
              <a:t>边</a:t>
            </a:r>
            <a:endParaRPr lang="zh-CN" altLang="en-US"/>
          </a:p>
        </p:txBody>
      </p:sp>
      <p:sp>
        <p:nvSpPr>
          <p:cNvPr id="14" name="文本框 13"/>
          <p:cNvSpPr txBox="1"/>
          <p:nvPr/>
        </p:nvSpPr>
        <p:spPr>
          <a:xfrm>
            <a:off x="6454775" y="3418840"/>
            <a:ext cx="1576070" cy="368300"/>
          </a:xfrm>
          <a:prstGeom prst="rect">
            <a:avLst/>
          </a:prstGeom>
          <a:noFill/>
        </p:spPr>
        <p:txBody>
          <a:bodyPr wrap="square" rtlCol="0">
            <a:spAutoFit/>
          </a:bodyPr>
          <a:p>
            <a:r>
              <a:rPr lang="zh-CN" altLang="en-US"/>
              <a:t>遍历整</a:t>
            </a:r>
            <a:r>
              <a:rPr lang="zh-CN" altLang="en-US"/>
              <a:t>个图</a:t>
            </a:r>
            <a:endParaRPr lang="zh-CN" altLang="en-US"/>
          </a:p>
        </p:txBody>
      </p:sp>
      <p:sp>
        <p:nvSpPr>
          <p:cNvPr id="15" name="文本框 14"/>
          <p:cNvSpPr txBox="1"/>
          <p:nvPr/>
        </p:nvSpPr>
        <p:spPr>
          <a:xfrm>
            <a:off x="6887210" y="3838575"/>
            <a:ext cx="1004570" cy="368300"/>
          </a:xfrm>
          <a:prstGeom prst="rect">
            <a:avLst/>
          </a:prstGeom>
          <a:noFill/>
        </p:spPr>
        <p:txBody>
          <a:bodyPr wrap="square" rtlCol="0">
            <a:spAutoFit/>
          </a:bodyPr>
          <a:p>
            <a:r>
              <a:rPr lang="zh-CN" altLang="en-US"/>
              <a:t>稀疏</a:t>
            </a:r>
            <a:r>
              <a:rPr lang="zh-CN" altLang="en-US"/>
              <a:t>图</a:t>
            </a:r>
            <a:endParaRPr lang="zh-CN" altLang="en-US"/>
          </a:p>
        </p:txBody>
      </p:sp>
      <p:sp>
        <p:nvSpPr>
          <p:cNvPr id="17" name="右大括号 16"/>
          <p:cNvSpPr/>
          <p:nvPr/>
        </p:nvSpPr>
        <p:spPr>
          <a:xfrm>
            <a:off x="7750810" y="3068955"/>
            <a:ext cx="432435" cy="10801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文本框 17"/>
          <p:cNvSpPr txBox="1"/>
          <p:nvPr/>
        </p:nvSpPr>
        <p:spPr>
          <a:xfrm>
            <a:off x="8326755" y="3429000"/>
            <a:ext cx="2199640" cy="368300"/>
          </a:xfrm>
          <a:prstGeom prst="rect">
            <a:avLst/>
          </a:prstGeom>
          <a:noFill/>
        </p:spPr>
        <p:txBody>
          <a:bodyPr wrap="square" rtlCol="0">
            <a:spAutoFit/>
          </a:bodyPr>
          <a:p>
            <a:r>
              <a:rPr lang="zh-CN" altLang="en-US"/>
              <a:t>邻接表存储</a:t>
            </a:r>
            <a:r>
              <a:rPr lang="zh-CN" altLang="en-US"/>
              <a:t>图</a:t>
            </a:r>
            <a:endParaRPr lang="zh-CN" altLang="en-US"/>
          </a:p>
        </p:txBody>
      </p:sp>
      <p:sp>
        <p:nvSpPr>
          <p:cNvPr id="19" name="文本框 18"/>
          <p:cNvSpPr txBox="1"/>
          <p:nvPr/>
        </p:nvSpPr>
        <p:spPr>
          <a:xfrm>
            <a:off x="6528435" y="4467225"/>
            <a:ext cx="1158875" cy="368300"/>
          </a:xfrm>
          <a:prstGeom prst="rect">
            <a:avLst/>
          </a:prstGeom>
          <a:noFill/>
        </p:spPr>
        <p:txBody>
          <a:bodyPr wrap="square" rtlCol="0">
            <a:spAutoFit/>
          </a:bodyPr>
          <a:p>
            <a:r>
              <a:rPr lang="zh-CN" altLang="en-US"/>
              <a:t>动态</a:t>
            </a:r>
            <a:r>
              <a:rPr lang="zh-CN" altLang="en-US"/>
              <a:t>扩展</a:t>
            </a:r>
            <a:endParaRPr lang="zh-CN" altLang="en-US"/>
          </a:p>
        </p:txBody>
      </p:sp>
      <p:sp>
        <p:nvSpPr>
          <p:cNvPr id="20" name="文本框 19"/>
          <p:cNvSpPr txBox="1"/>
          <p:nvPr/>
        </p:nvSpPr>
        <p:spPr>
          <a:xfrm>
            <a:off x="6526530" y="4848860"/>
            <a:ext cx="1355725" cy="368300"/>
          </a:xfrm>
          <a:prstGeom prst="rect">
            <a:avLst/>
          </a:prstGeom>
          <a:noFill/>
        </p:spPr>
        <p:txBody>
          <a:bodyPr wrap="square" rtlCol="0">
            <a:spAutoFit/>
          </a:bodyPr>
          <a:p>
            <a:r>
              <a:rPr lang="zh-CN" altLang="en-US"/>
              <a:t>数据</a:t>
            </a:r>
            <a:r>
              <a:rPr lang="zh-CN" altLang="en-US"/>
              <a:t>安全</a:t>
            </a:r>
            <a:endParaRPr lang="zh-CN" altLang="en-US"/>
          </a:p>
        </p:txBody>
      </p:sp>
      <p:sp>
        <p:nvSpPr>
          <p:cNvPr id="21" name="右大括号 20"/>
          <p:cNvSpPr/>
          <p:nvPr/>
        </p:nvSpPr>
        <p:spPr>
          <a:xfrm>
            <a:off x="7750810" y="4509135"/>
            <a:ext cx="431800" cy="6483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8326755" y="4653280"/>
            <a:ext cx="2292350" cy="368300"/>
          </a:xfrm>
          <a:prstGeom prst="rect">
            <a:avLst/>
          </a:prstGeom>
          <a:noFill/>
        </p:spPr>
        <p:txBody>
          <a:bodyPr wrap="square" rtlCol="0">
            <a:spAutoFit/>
          </a:bodyPr>
          <a:p>
            <a:r>
              <a:rPr lang="en-US" altLang="zh-CN"/>
              <a:t>vector</a:t>
            </a:r>
            <a:r>
              <a:rPr lang="zh-CN" altLang="en-US"/>
              <a:t>容器存储边</a:t>
            </a:r>
            <a:r>
              <a:rPr lang="zh-CN" altLang="en-US"/>
              <a:t>集</a:t>
            </a:r>
            <a:endParaRPr lang="zh-CN" altLang="en-US"/>
          </a:p>
        </p:txBody>
      </p:sp>
    </p:spTree>
  </p:cSld>
  <p:clrMapOvr>
    <a:masterClrMapping/>
  </p:clrMapOvr>
  <p:transition/>
  <p:timing>
    <p:tnLst>
      <p:par>
        <p:cTn id="1" dur="indefinite" restart="never" fill="hold"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a:t>
            </a:r>
            <a:r>
              <a:rPr lang="zh-CN" altLang="en-US" sz="3000" b="1" i="0">
                <a:solidFill>
                  <a:schemeClr val="accent1"/>
                </a:solidFill>
                <a:highlight>
                  <a:srgbClr val="FFFFFF">
                    <a:alpha val="0"/>
                  </a:srgbClr>
                </a:highlight>
                <a:latin typeface="微软雅黑" panose="020B0503020204020204" charset="-122"/>
              </a:rPr>
              <a:t>实现</a:t>
            </a:r>
            <a:endParaRPr lang="zh-CN" altLang="en-US" sz="3000" b="1" i="0">
              <a:solidFill>
                <a:schemeClr val="accent1"/>
              </a:solidFill>
              <a:highlight>
                <a:srgbClr val="FFFFFF">
                  <a:alpha val="0"/>
                </a:srgbClr>
              </a:highlight>
              <a:latin typeface="微软雅黑" panose="020B0503020204020204" charset="-122"/>
            </a:endParaRPr>
          </a:p>
        </p:txBody>
      </p:sp>
      <p:pic>
        <p:nvPicPr>
          <p:cNvPr id="5" name="图片 4"/>
          <p:cNvPicPr>
            <a:picLocks noChangeAspect="1"/>
          </p:cNvPicPr>
          <p:nvPr/>
        </p:nvPicPr>
        <p:blipFill>
          <a:blip r:embed="rId3"/>
          <a:stretch>
            <a:fillRect/>
          </a:stretch>
        </p:blipFill>
        <p:spPr>
          <a:xfrm>
            <a:off x="982980" y="1988820"/>
            <a:ext cx="4699000" cy="3397885"/>
          </a:xfrm>
          <a:prstGeom prst="rect">
            <a:avLst/>
          </a:prstGeom>
        </p:spPr>
      </p:pic>
      <p:sp>
        <p:nvSpPr>
          <p:cNvPr id="7" name="文本框 6"/>
          <p:cNvSpPr txBox="1"/>
          <p:nvPr/>
        </p:nvSpPr>
        <p:spPr>
          <a:xfrm>
            <a:off x="6384290" y="1988820"/>
            <a:ext cx="5124450" cy="276352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时间复杂度分析：</a:t>
            </a:r>
            <a:r>
              <a:rPr lang="zh-CN" altLang="en-US"/>
              <a:t>（</a:t>
            </a:r>
            <a:r>
              <a:rPr lang="zh-CN" altLang="en-US">
                <a:sym typeface="+mn-ea"/>
              </a:rPr>
              <a:t>v个顶点，e条边</a:t>
            </a:r>
            <a:r>
              <a:rPr lang="zh-CN" altLang="en-US"/>
              <a:t>）</a:t>
            </a:r>
            <a:endParaRPr lang="zh-CN" altLang="en-US"/>
          </a:p>
          <a:p>
            <a:r>
              <a:rPr lang="zh-CN" altLang="en-US"/>
              <a:t>遍历删除每一条边</a:t>
            </a:r>
            <a:r>
              <a:rPr lang="en-US" altLang="zh-CN"/>
              <a:t>		</a:t>
            </a:r>
            <a:r>
              <a:rPr lang="zh-CN" altLang="en-US"/>
              <a:t>O(e)</a:t>
            </a:r>
            <a:endParaRPr lang="zh-CN" altLang="en-US"/>
          </a:p>
          <a:p>
            <a:r>
              <a:rPr lang="zh-CN" altLang="en-US"/>
              <a:t>求连通分量数目</a:t>
            </a:r>
            <a:r>
              <a:rPr lang="en-US" altLang="zh-CN"/>
              <a:t>			</a:t>
            </a:r>
            <a:r>
              <a:rPr lang="zh-CN" altLang="en-US"/>
              <a:t>O(v+e)。</a:t>
            </a:r>
            <a:endParaRPr lang="zh-CN" altLang="en-US"/>
          </a:p>
          <a:p>
            <a:endParaRPr lang="zh-CN" altLang="en-US"/>
          </a:p>
          <a:p>
            <a:pPr>
              <a:lnSpc>
                <a:spcPct val="100000"/>
              </a:lnSpc>
              <a:spcBef>
                <a:spcPts val="0"/>
              </a:spcBef>
              <a:spcAft>
                <a:spcPts val="600"/>
              </a:spcAft>
            </a:pPr>
            <a:r>
              <a:rPr lang="zh-CN" altLang="en-US">
                <a:solidFill>
                  <a:schemeClr val="accent1"/>
                </a:solidFill>
                <a:effectLst>
                  <a:outerShdw blurRad="38100" dist="25400" dir="5400000" algn="ctr" rotWithShape="0">
                    <a:srgbClr val="6E747A">
                      <a:alpha val="43000"/>
                    </a:srgbClr>
                  </a:outerShdw>
                </a:effectLst>
              </a:rPr>
              <a:t>时间复杂度：</a:t>
            </a:r>
            <a:endParaRPr lang="zh-CN" altLang="en-US">
              <a:solidFill>
                <a:schemeClr val="accent1"/>
              </a:solidFill>
              <a:effectLst>
                <a:outerShdw blurRad="38100" dist="25400" dir="5400000" algn="ctr" rotWithShape="0">
                  <a:srgbClr val="6E747A">
                    <a:alpha val="43000"/>
                  </a:srgbClr>
                </a:outerShdw>
              </a:effectLst>
            </a:endParaRPr>
          </a:p>
          <a:p>
            <a:r>
              <a:rPr lang="zh-CN" altLang="en-US"/>
              <a:t>T = O(e)×O(v+e) = </a:t>
            </a:r>
            <a:r>
              <a:rPr lang="zh-CN" altLang="en-US">
                <a:solidFill>
                  <a:srgbClr val="FF0000"/>
                </a:solidFill>
              </a:rPr>
              <a:t>O(e²+ev)</a:t>
            </a:r>
            <a:endParaRPr lang="zh-CN" altLang="en-US"/>
          </a:p>
          <a:p>
            <a:endParaRPr lang="zh-CN" altLang="en-US"/>
          </a:p>
          <a:p>
            <a:r>
              <a:rPr lang="zh-CN" altLang="en-US"/>
              <a:t>令</a:t>
            </a:r>
            <a:r>
              <a:rPr lang="en-US" altLang="zh-CN"/>
              <a:t>v = e</a:t>
            </a:r>
            <a:r>
              <a:rPr lang="zh-CN" altLang="en-US"/>
              <a:t>，稀疏图中，e ∝ n，T = O（n²）；</a:t>
            </a:r>
            <a:endParaRPr lang="zh-CN" altLang="en-US"/>
          </a:p>
          <a:p>
            <a:pPr marL="457200" lvl="1" indent="457200"/>
            <a:r>
              <a:rPr lang="zh-CN" altLang="en-US"/>
              <a:t>稠密图中，e ∝ n²，T = O（n</a:t>
            </a:r>
            <a:r>
              <a:rPr lang="zh-CN" altLang="en-US" baseline="30000"/>
              <a:t>4</a:t>
            </a:r>
            <a:r>
              <a:rPr lang="zh-CN" altLang="en-US"/>
              <a:t>）。</a:t>
            </a:r>
            <a:endParaRPr lang="zh-CN" altLang="en-US"/>
          </a:p>
        </p:txBody>
      </p:sp>
      <p:sp>
        <p:nvSpPr>
          <p:cNvPr id="8" name="右箭头 7"/>
          <p:cNvSpPr/>
          <p:nvPr/>
        </p:nvSpPr>
        <p:spPr>
          <a:xfrm>
            <a:off x="9336405" y="2493010"/>
            <a:ext cx="575945" cy="1441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右箭头 8"/>
          <p:cNvSpPr/>
          <p:nvPr/>
        </p:nvSpPr>
        <p:spPr>
          <a:xfrm>
            <a:off x="9336405" y="2764155"/>
            <a:ext cx="575945" cy="1441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9408160" y="2925445"/>
            <a:ext cx="648335" cy="306705"/>
          </a:xfrm>
          <a:prstGeom prst="rect">
            <a:avLst/>
          </a:prstGeom>
          <a:noFill/>
        </p:spPr>
        <p:txBody>
          <a:bodyPr wrap="square" rtlCol="0">
            <a:spAutoFit/>
          </a:bodyPr>
          <a:p>
            <a:r>
              <a:rPr lang="en-US" altLang="zh-CN" sz="1400">
                <a:solidFill>
                  <a:schemeClr val="accent1"/>
                </a:solidFill>
                <a:effectLst>
                  <a:outerShdw blurRad="38100" dist="25400" dir="5400000" algn="ctr" rotWithShape="0">
                    <a:srgbClr val="6E747A">
                      <a:alpha val="43000"/>
                    </a:srgbClr>
                  </a:outerShdw>
                </a:effectLst>
              </a:rPr>
              <a:t>dfs</a:t>
            </a:r>
            <a:endParaRPr lang="en-US" altLang="zh-CN" sz="1400">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timing>
    <p:tnLst>
      <p:par>
        <p:cTn id="1" dur="indefinite" restart="never" fill="hold"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测试</a:t>
            </a:r>
            <a:r>
              <a:rPr lang="zh-CN" altLang="en-US" sz="3000" b="1" i="0">
                <a:solidFill>
                  <a:schemeClr val="accent1"/>
                </a:solidFill>
                <a:highlight>
                  <a:srgbClr val="FFFFFF">
                    <a:alpha val="0"/>
                  </a:srgbClr>
                </a:highlight>
                <a:latin typeface="微软雅黑" panose="020B0503020204020204" charset="-122"/>
              </a:rPr>
              <a:t>结果</a:t>
            </a:r>
            <a:endParaRPr lang="zh-CN" altLang="en-US" sz="3000" b="1" i="0">
              <a:solidFill>
                <a:schemeClr val="accent1"/>
              </a:solidFill>
              <a:highlight>
                <a:srgbClr val="FFFFFF">
                  <a:alpha val="0"/>
                </a:srgbClr>
              </a:highlight>
              <a:latin typeface="微软雅黑" panose="020B0503020204020204" charset="-122"/>
            </a:endParaRPr>
          </a:p>
        </p:txBody>
      </p:sp>
      <p:pic>
        <p:nvPicPr>
          <p:cNvPr id="4" name="图片 -2147482617"/>
          <p:cNvPicPr>
            <a:picLocks noChangeAspect="1"/>
          </p:cNvPicPr>
          <p:nvPr/>
        </p:nvPicPr>
        <p:blipFill>
          <a:blip r:embed="rId3"/>
          <a:stretch>
            <a:fillRect/>
          </a:stretch>
        </p:blipFill>
        <p:spPr>
          <a:xfrm>
            <a:off x="1416050" y="2348865"/>
            <a:ext cx="5899785" cy="2263140"/>
          </a:xfrm>
          <a:prstGeom prst="rect">
            <a:avLst/>
          </a:prstGeom>
          <a:noFill/>
          <a:ln w="9525">
            <a:noFill/>
          </a:ln>
        </p:spPr>
      </p:pic>
      <p:sp>
        <p:nvSpPr>
          <p:cNvPr id="9" name="文本框 8"/>
          <p:cNvSpPr txBox="1"/>
          <p:nvPr/>
        </p:nvSpPr>
        <p:spPr>
          <a:xfrm>
            <a:off x="8470265" y="2634615"/>
            <a:ext cx="1452245" cy="1753235"/>
          </a:xfrm>
          <a:prstGeom prst="rect">
            <a:avLst/>
          </a:prstGeom>
          <a:noFill/>
        </p:spPr>
        <p:txBody>
          <a:bodyPr wrap="square" rtlCol="0">
            <a:spAutoFit/>
          </a:bodyPr>
          <a:p>
            <a:r>
              <a:rPr lang="zh-CN" altLang="en-US"/>
              <a:t>（</a:t>
            </a:r>
            <a:r>
              <a:rPr lang="en-US" altLang="zh-CN"/>
              <a:t>1</a:t>
            </a:r>
            <a:r>
              <a:rPr lang="zh-CN" altLang="en-US"/>
              <a:t>，</a:t>
            </a:r>
            <a:r>
              <a:rPr lang="en-US" altLang="zh-CN"/>
              <a:t>2</a:t>
            </a:r>
            <a:r>
              <a:rPr lang="zh-CN" altLang="en-US"/>
              <a:t>）</a:t>
            </a:r>
            <a:endParaRPr lang="zh-CN" altLang="en-US"/>
          </a:p>
          <a:p>
            <a:r>
              <a:rPr lang="zh-CN" altLang="en-US"/>
              <a:t>（</a:t>
            </a:r>
            <a:r>
              <a:rPr lang="en-US" altLang="zh-CN"/>
              <a:t>3</a:t>
            </a:r>
            <a:r>
              <a:rPr lang="zh-CN" altLang="en-US"/>
              <a:t>，</a:t>
            </a:r>
            <a:r>
              <a:rPr lang="en-US" altLang="zh-CN"/>
              <a:t>4</a:t>
            </a:r>
            <a:r>
              <a:rPr lang="zh-CN" altLang="en-US"/>
              <a:t>）</a:t>
            </a:r>
            <a:endParaRPr lang="zh-CN" altLang="en-US"/>
          </a:p>
          <a:p>
            <a:r>
              <a:rPr lang="zh-CN" altLang="en-US"/>
              <a:t>（</a:t>
            </a:r>
            <a:r>
              <a:rPr lang="en-US" altLang="zh-CN"/>
              <a:t>3</a:t>
            </a:r>
            <a:r>
              <a:rPr lang="zh-CN" altLang="en-US"/>
              <a:t>，</a:t>
            </a:r>
            <a:r>
              <a:rPr lang="en-US" altLang="zh-CN"/>
              <a:t>7</a:t>
            </a:r>
            <a:r>
              <a:rPr lang="zh-CN" altLang="en-US"/>
              <a:t>）</a:t>
            </a:r>
            <a:endParaRPr lang="zh-CN" altLang="en-US"/>
          </a:p>
          <a:p>
            <a:r>
              <a:rPr lang="zh-CN" altLang="en-US"/>
              <a:t>（</a:t>
            </a:r>
            <a:r>
              <a:rPr lang="en-US" altLang="zh-CN"/>
              <a:t>7</a:t>
            </a:r>
            <a:r>
              <a:rPr lang="zh-CN" altLang="en-US"/>
              <a:t>，</a:t>
            </a:r>
            <a:r>
              <a:rPr lang="en-US" altLang="zh-CN"/>
              <a:t>8</a:t>
            </a:r>
            <a:r>
              <a:rPr lang="zh-CN" altLang="en-US"/>
              <a:t>）</a:t>
            </a:r>
            <a:endParaRPr lang="zh-CN" altLang="en-US"/>
          </a:p>
          <a:p>
            <a:r>
              <a:rPr lang="zh-CN" altLang="en-US"/>
              <a:t>（</a:t>
            </a:r>
            <a:r>
              <a:rPr lang="en-US" altLang="zh-CN"/>
              <a:t>10</a:t>
            </a:r>
            <a:r>
              <a:rPr lang="zh-CN" altLang="en-US"/>
              <a:t>，</a:t>
            </a:r>
            <a:r>
              <a:rPr lang="en-US" altLang="zh-CN"/>
              <a:t>11</a:t>
            </a:r>
            <a:r>
              <a:rPr lang="zh-CN" altLang="en-US"/>
              <a:t>）</a:t>
            </a:r>
            <a:endParaRPr lang="zh-CN" altLang="en-US"/>
          </a:p>
          <a:p>
            <a:r>
              <a:rPr lang="zh-CN" altLang="en-US"/>
              <a:t>（</a:t>
            </a:r>
            <a:r>
              <a:rPr lang="en-US" altLang="zh-CN"/>
              <a:t>13</a:t>
            </a:r>
            <a:r>
              <a:rPr lang="zh-CN" altLang="en-US"/>
              <a:t>，</a:t>
            </a:r>
            <a:r>
              <a:rPr lang="en-US" altLang="zh-CN"/>
              <a:t>14</a:t>
            </a:r>
            <a:r>
              <a:rPr lang="zh-CN" altLang="en-US"/>
              <a:t>）</a:t>
            </a:r>
            <a:endParaRPr lang="zh-CN" altLang="en-US"/>
          </a:p>
        </p:txBody>
      </p:sp>
      <p:sp>
        <p:nvSpPr>
          <p:cNvPr id="10" name="右大括号 9"/>
          <p:cNvSpPr/>
          <p:nvPr/>
        </p:nvSpPr>
        <p:spPr>
          <a:xfrm>
            <a:off x="9694545" y="2682875"/>
            <a:ext cx="360045" cy="1656080"/>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文本框 10"/>
          <p:cNvSpPr txBox="1"/>
          <p:nvPr/>
        </p:nvSpPr>
        <p:spPr>
          <a:xfrm>
            <a:off x="10193020" y="3327400"/>
            <a:ext cx="979805" cy="368300"/>
          </a:xfrm>
          <a:prstGeom prst="rect">
            <a:avLst/>
          </a:prstGeom>
          <a:noFill/>
        </p:spPr>
        <p:txBody>
          <a:bodyPr wrap="square" rtlCol="0">
            <a:spAutoFit/>
          </a:bodyPr>
          <a:p>
            <a:r>
              <a:rPr lang="en-US" altLang="zh-CN"/>
              <a:t>6</a:t>
            </a:r>
            <a:r>
              <a:rPr lang="zh-CN" altLang="en-US"/>
              <a:t>座</a:t>
            </a:r>
            <a:r>
              <a:rPr lang="en-US" altLang="zh-CN"/>
              <a:t>“</a:t>
            </a:r>
            <a:r>
              <a:rPr lang="zh-CN" altLang="en-US"/>
              <a:t>桥</a:t>
            </a:r>
            <a:r>
              <a:rPr lang="en-US" altLang="zh-CN"/>
              <a:t>”</a:t>
            </a:r>
            <a:endParaRPr lang="en-US" altLang="zh-CN"/>
          </a:p>
        </p:txBody>
      </p:sp>
      <p:sp>
        <p:nvSpPr>
          <p:cNvPr id="12" name="右箭头 11"/>
          <p:cNvSpPr/>
          <p:nvPr/>
        </p:nvSpPr>
        <p:spPr>
          <a:xfrm>
            <a:off x="7607935" y="3284855"/>
            <a:ext cx="864235" cy="431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fill="hold"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03</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高效算法</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基准 + 并查集</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775460" y="1339850"/>
            <a:ext cx="8905240" cy="1604645"/>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r>
              <a:rPr lang="zh-CN" altLang="en-US"/>
              <a:t>优化基准算法对于</a:t>
            </a:r>
            <a:r>
              <a:rPr lang="zh-CN" altLang="en-US">
                <a:solidFill>
                  <a:schemeClr val="accent1"/>
                </a:solidFill>
                <a:effectLst>
                  <a:outerShdw blurRad="38100" dist="25400" dir="5400000" algn="ctr" rotWithShape="0">
                    <a:srgbClr val="6E747A">
                      <a:alpha val="43000"/>
                    </a:srgbClr>
                  </a:outerShdw>
                </a:effectLst>
              </a:rPr>
              <a:t>连通分量数目</a:t>
            </a:r>
            <a:r>
              <a:rPr lang="zh-CN" altLang="en-US"/>
              <a:t>的计算，不直接使用</a:t>
            </a:r>
            <a:r>
              <a:rPr lang="en-US" altLang="zh-CN"/>
              <a:t>DFS</a:t>
            </a:r>
            <a:r>
              <a:rPr lang="zh-CN" altLang="en-US"/>
              <a:t>，而是使用</a:t>
            </a:r>
            <a:r>
              <a:rPr lang="zh-CN" altLang="en-US"/>
              <a:t>并查集。</a:t>
            </a:r>
            <a:endParaRPr lang="zh-CN" altLang="en-US"/>
          </a:p>
          <a:p>
            <a:pPr indent="457200"/>
            <a:r>
              <a:rPr lang="zh-CN" altLang="en-US"/>
              <a:t>并查集计算连通分支数目的步骤为：枚举边，对每个边上的两点v1和v2，</a:t>
            </a:r>
            <a:r>
              <a:rPr lang="zh-CN" altLang="en-US">
                <a:solidFill>
                  <a:schemeClr val="accent1"/>
                </a:solidFill>
                <a:effectLst>
                  <a:outerShdw blurRad="38100" dist="25400" dir="5400000" algn="ctr" rotWithShape="0">
                    <a:srgbClr val="6E747A">
                      <a:alpha val="43000"/>
                    </a:srgbClr>
                  </a:outerShdw>
                </a:effectLst>
              </a:rPr>
              <a:t>查询</a:t>
            </a:r>
            <a:r>
              <a:rPr lang="zh-CN" altLang="en-US"/>
              <a:t>v1和v2所属的集合f1, f2，如果v1和v2不在同一个集合则</a:t>
            </a:r>
            <a:r>
              <a:rPr lang="zh-CN" altLang="en-US">
                <a:solidFill>
                  <a:schemeClr val="accent1"/>
                </a:solidFill>
                <a:effectLst>
                  <a:outerShdw blurRad="38100" dist="25400" dir="5400000" algn="ctr" rotWithShape="0">
                    <a:srgbClr val="6E747A">
                      <a:alpha val="43000"/>
                    </a:srgbClr>
                  </a:outerShdw>
                </a:effectLst>
              </a:rPr>
              <a:t>合并</a:t>
            </a:r>
            <a:r>
              <a:rPr lang="zh-CN" altLang="en-US"/>
              <a:t>v1和v2所属的两个集合，最后统计集合的个数，即为连通分支数目。</a:t>
            </a:r>
            <a:endParaRPr lang="zh-CN" altLang="en-US"/>
          </a:p>
        </p:txBody>
      </p:sp>
      <p:sp>
        <p:nvSpPr>
          <p:cNvPr id="13" name="文本框 12"/>
          <p:cNvSpPr txBox="1"/>
          <p:nvPr/>
        </p:nvSpPr>
        <p:spPr>
          <a:xfrm>
            <a:off x="1767205" y="3716020"/>
            <a:ext cx="8937625" cy="1743075"/>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实现思路：</a:t>
            </a:r>
            <a:endParaRPr lang="zh-CN" altLang="en-US">
              <a:solidFill>
                <a:schemeClr val="accent1"/>
              </a:solidFill>
              <a:effectLst>
                <a:outerShdw blurRad="38100" dist="25400" dir="5400000" algn="ctr" rotWithShape="0">
                  <a:srgbClr val="6E747A">
                    <a:alpha val="43000"/>
                  </a:srgbClr>
                </a:outerShdw>
              </a:effectLst>
            </a:endParaRPr>
          </a:p>
          <a:p>
            <a:pPr>
              <a:lnSpc>
                <a:spcPct val="150000"/>
              </a:lnSpc>
            </a:pPr>
            <a:r>
              <a:rPr lang="zh-CN" altLang="en-US"/>
              <a:t>①移除边（u，v）：首先，从图中暂时移除边 (u, v)，这样就将两个顶点 u 和 v 分割开来。</a:t>
            </a:r>
            <a:endParaRPr lang="zh-CN" altLang="en-US"/>
          </a:p>
          <a:p>
            <a:pPr>
              <a:lnSpc>
                <a:spcPct val="150000"/>
              </a:lnSpc>
            </a:pPr>
            <a:r>
              <a:rPr lang="zh-CN" altLang="en-US"/>
              <a:t>②计算连通分量数目：使用并查集计算连通块数量，对比移除前后</a:t>
            </a:r>
            <a:r>
              <a:rPr lang="zh-CN" altLang="en-US"/>
              <a:t>其数量是否</a:t>
            </a:r>
            <a:r>
              <a:rPr lang="zh-CN" altLang="en-US"/>
              <a:t>增加。</a:t>
            </a:r>
            <a:endParaRPr lang="zh-CN" altLang="en-US"/>
          </a:p>
          <a:p>
            <a:pPr>
              <a:lnSpc>
                <a:spcPct val="150000"/>
              </a:lnSpc>
            </a:pPr>
            <a:r>
              <a:rPr lang="zh-CN" altLang="en-US"/>
              <a:t>③恢复边（u，v）：如果边 (u, v) 不是桥，将其重新添加回图中，以保持图的原始结构。</a:t>
            </a:r>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基准 + 并查集</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2276475" y="1196975"/>
            <a:ext cx="6836410" cy="168148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数据结构：</a:t>
            </a:r>
            <a:endParaRPr lang="zh-CN" altLang="en-US">
              <a:solidFill>
                <a:schemeClr val="accent1"/>
              </a:solidFill>
              <a:effectLst>
                <a:outerShdw blurRad="38100" dist="25400" dir="5400000" algn="ctr" rotWithShape="0">
                  <a:srgbClr val="6E747A">
                    <a:alpha val="43000"/>
                  </a:srgbClr>
                </a:outerShdw>
              </a:effectLst>
            </a:endParaRPr>
          </a:p>
          <a:p>
            <a:pPr>
              <a:lnSpc>
                <a:spcPct val="100000"/>
              </a:lnSpc>
              <a:spcBef>
                <a:spcPts val="0"/>
              </a:spcBef>
              <a:spcAft>
                <a:spcPts val="800"/>
              </a:spcAft>
            </a:pPr>
            <a:r>
              <a:rPr lang="zh-CN" altLang="en-US"/>
              <a:t>并查集</a:t>
            </a:r>
            <a:r>
              <a:rPr lang="en-US" altLang="zh-CN"/>
              <a:t>—— </a:t>
            </a:r>
            <a:r>
              <a:rPr lang="zh-CN" altLang="en-US"/>
              <a:t>一种用于管理元素所属</a:t>
            </a:r>
            <a:r>
              <a:rPr lang="zh-CN" altLang="en-US">
                <a:ln w="22225">
                  <a:solidFill>
                    <a:schemeClr val="accent2"/>
                  </a:solidFill>
                  <a:prstDash val="solid"/>
                </a:ln>
                <a:solidFill>
                  <a:schemeClr val="accent2">
                    <a:lumMod val="40000"/>
                    <a:lumOff val="60000"/>
                  </a:schemeClr>
                </a:solidFill>
                <a:effectLst/>
              </a:rPr>
              <a:t>集合</a:t>
            </a:r>
            <a:r>
              <a:rPr lang="zh-CN" altLang="en-US"/>
              <a:t>的数据结构</a:t>
            </a:r>
            <a:endParaRPr lang="zh-CN" altLang="en-US"/>
          </a:p>
          <a:p>
            <a:r>
              <a:rPr lang="zh-CN" altLang="en-US"/>
              <a:t>并</a:t>
            </a:r>
            <a:endParaRPr lang="zh-CN" altLang="en-US"/>
          </a:p>
          <a:p>
            <a:r>
              <a:rPr lang="zh-CN" altLang="en-US"/>
              <a:t>查</a:t>
            </a:r>
            <a:endParaRPr lang="zh-CN" altLang="en-US"/>
          </a:p>
          <a:p>
            <a:r>
              <a:rPr lang="zh-CN" altLang="en-US"/>
              <a:t>集</a:t>
            </a:r>
            <a:endParaRPr lang="zh-CN" altLang="en-US"/>
          </a:p>
        </p:txBody>
      </p:sp>
      <p:sp>
        <p:nvSpPr>
          <p:cNvPr id="6" name="圆角矩形 5"/>
          <p:cNvSpPr/>
          <p:nvPr/>
        </p:nvSpPr>
        <p:spPr>
          <a:xfrm>
            <a:off x="2348230" y="1983740"/>
            <a:ext cx="288290" cy="863600"/>
          </a:xfrm>
          <a:prstGeom prst="roundRect">
            <a:avLst/>
          </a:prstGeom>
          <a:noFill/>
          <a:ln>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右箭头 7"/>
          <p:cNvSpPr/>
          <p:nvPr/>
        </p:nvSpPr>
        <p:spPr>
          <a:xfrm>
            <a:off x="2780030" y="2060575"/>
            <a:ext cx="648335" cy="1441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右箭头 8"/>
          <p:cNvSpPr/>
          <p:nvPr/>
        </p:nvSpPr>
        <p:spPr>
          <a:xfrm>
            <a:off x="2780030" y="2493010"/>
            <a:ext cx="648335" cy="1441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716655" y="1963420"/>
            <a:ext cx="5895340" cy="368300"/>
          </a:xfrm>
          <a:prstGeom prst="rect">
            <a:avLst/>
          </a:prstGeom>
          <a:noFill/>
        </p:spPr>
        <p:txBody>
          <a:bodyPr wrap="square" rtlCol="0">
            <a:spAutoFit/>
          </a:bodyPr>
          <a:p>
            <a:r>
              <a:rPr lang="zh-CN" altLang="en-US"/>
              <a:t>合并：将有边相连的两个节点合并到同个集合中</a:t>
            </a:r>
            <a:endParaRPr lang="zh-CN" altLang="en-US"/>
          </a:p>
        </p:txBody>
      </p:sp>
      <p:sp>
        <p:nvSpPr>
          <p:cNvPr id="11" name="文本框 10"/>
          <p:cNvSpPr txBox="1"/>
          <p:nvPr/>
        </p:nvSpPr>
        <p:spPr>
          <a:xfrm>
            <a:off x="3716655" y="2420620"/>
            <a:ext cx="4771390" cy="368300"/>
          </a:xfrm>
          <a:prstGeom prst="rect">
            <a:avLst/>
          </a:prstGeom>
          <a:noFill/>
        </p:spPr>
        <p:txBody>
          <a:bodyPr wrap="square" rtlCol="0">
            <a:spAutoFit/>
          </a:bodyPr>
          <a:p>
            <a:r>
              <a:rPr lang="zh-CN" altLang="en-US"/>
              <a:t>查询：返回查询节点所属集合的代表节点</a:t>
            </a:r>
            <a:endParaRPr lang="zh-CN" altLang="en-US"/>
          </a:p>
        </p:txBody>
      </p:sp>
      <p:sp>
        <p:nvSpPr>
          <p:cNvPr id="12" name="文本框 11"/>
          <p:cNvSpPr txBox="1"/>
          <p:nvPr/>
        </p:nvSpPr>
        <p:spPr>
          <a:xfrm>
            <a:off x="2276475" y="3356610"/>
            <a:ext cx="406400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优化查询效率——路径压缩：</a:t>
            </a:r>
            <a:endParaRPr lang="zh-CN" altLang="en-US">
              <a:solidFill>
                <a:schemeClr val="accent1"/>
              </a:solidFill>
              <a:effectLst>
                <a:outerShdw blurRad="38100" dist="25400" dir="5400000" algn="ctr" rotWithShape="0">
                  <a:srgbClr val="6E747A">
                    <a:alpha val="43000"/>
                  </a:srgbClr>
                </a:outerShdw>
              </a:effectLst>
            </a:endParaRPr>
          </a:p>
        </p:txBody>
      </p:sp>
      <p:pic>
        <p:nvPicPr>
          <p:cNvPr id="5" name="图片 -2147482615"/>
          <p:cNvPicPr>
            <a:picLocks noChangeAspect="1"/>
          </p:cNvPicPr>
          <p:nvPr/>
        </p:nvPicPr>
        <p:blipFill>
          <a:blip r:embed="rId3"/>
          <a:stretch>
            <a:fillRect/>
          </a:stretch>
        </p:blipFill>
        <p:spPr>
          <a:xfrm>
            <a:off x="3359785" y="3963670"/>
            <a:ext cx="5415915" cy="2292350"/>
          </a:xfrm>
          <a:prstGeom prst="rect">
            <a:avLst/>
          </a:prstGeom>
          <a:noFill/>
          <a:ln w="9525">
            <a:noFill/>
          </a:ln>
        </p:spPr>
      </p:pic>
      <p:sp>
        <p:nvSpPr>
          <p:cNvPr id="15" name="文本框 14"/>
          <p:cNvSpPr txBox="1"/>
          <p:nvPr/>
        </p:nvSpPr>
        <p:spPr>
          <a:xfrm>
            <a:off x="5286375" y="4372610"/>
            <a:ext cx="1054100" cy="368300"/>
          </a:xfrm>
          <a:prstGeom prst="rect">
            <a:avLst/>
          </a:prstGeom>
          <a:noFill/>
        </p:spPr>
        <p:txBody>
          <a:bodyPr wrap="square" rtlCol="0">
            <a:spAutoFit/>
          </a:bodyPr>
          <a:p>
            <a:r>
              <a:rPr lang="zh-CN" altLang="en-US"/>
              <a:t>扁平</a:t>
            </a:r>
            <a:r>
              <a:rPr lang="zh-CN" altLang="en-US"/>
              <a:t>化</a:t>
            </a:r>
            <a:endParaRPr lang="zh-CN" altLang="en-US"/>
          </a:p>
        </p:txBody>
      </p:sp>
      <p:cxnSp>
        <p:nvCxnSpPr>
          <p:cNvPr id="16" name="直接箭头连接符 15"/>
          <p:cNvCxnSpPr/>
          <p:nvPr/>
        </p:nvCxnSpPr>
        <p:spPr>
          <a:xfrm>
            <a:off x="7948295" y="2639695"/>
            <a:ext cx="380365" cy="2857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6696075" y="2997200"/>
            <a:ext cx="3475355" cy="368300"/>
          </a:xfrm>
          <a:prstGeom prst="rect">
            <a:avLst/>
          </a:prstGeom>
          <a:noFill/>
        </p:spPr>
        <p:txBody>
          <a:bodyPr wrap="square" rtlCol="0">
            <a:spAutoFit/>
          </a:bodyPr>
          <a:p>
            <a:r>
              <a:rPr lang="zh-CN" altLang="en-US" u="sng">
                <a:solidFill>
                  <a:srgbClr val="FF0000"/>
                </a:solidFill>
              </a:rPr>
              <a:t>代表节点相同</a:t>
            </a:r>
            <a:r>
              <a:rPr lang="en-US" altLang="zh-CN" u="sng">
                <a:solidFill>
                  <a:srgbClr val="FF0000"/>
                </a:solidFill>
              </a:rPr>
              <a:t>  ==&gt; </a:t>
            </a:r>
            <a:r>
              <a:rPr lang="zh-CN" altLang="en-US" u="sng">
                <a:solidFill>
                  <a:srgbClr val="FF0000"/>
                </a:solidFill>
              </a:rPr>
              <a:t>同个连通分量</a:t>
            </a:r>
            <a:endParaRPr lang="zh-CN" altLang="en-US" u="sng">
              <a:solidFill>
                <a:srgbClr val="FF0000"/>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基准 + 并查集</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414145" y="1124585"/>
            <a:ext cx="127635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算法实现：</a:t>
            </a:r>
            <a:endParaRPr lang="zh-CN" altLang="en-US">
              <a:solidFill>
                <a:schemeClr val="accent1"/>
              </a:solidFill>
              <a:effectLst>
                <a:outerShdw blurRad="38100" dist="25400" dir="5400000" algn="ctr" rotWithShape="0">
                  <a:srgbClr val="6E747A">
                    <a:alpha val="43000"/>
                  </a:srgbClr>
                </a:outerShdw>
              </a:effectLst>
            </a:endParaRPr>
          </a:p>
        </p:txBody>
      </p:sp>
      <p:pic>
        <p:nvPicPr>
          <p:cNvPr id="7" name="图片 6"/>
          <p:cNvPicPr>
            <a:picLocks noChangeAspect="1"/>
          </p:cNvPicPr>
          <p:nvPr/>
        </p:nvPicPr>
        <p:blipFill>
          <a:blip r:embed="rId3"/>
          <a:stretch>
            <a:fillRect/>
          </a:stretch>
        </p:blipFill>
        <p:spPr>
          <a:xfrm>
            <a:off x="1702435" y="1628775"/>
            <a:ext cx="3975735" cy="4099560"/>
          </a:xfrm>
          <a:prstGeom prst="rect">
            <a:avLst/>
          </a:prstGeom>
        </p:spPr>
      </p:pic>
      <p:sp>
        <p:nvSpPr>
          <p:cNvPr id="8" name="文本框 7"/>
          <p:cNvSpPr txBox="1"/>
          <p:nvPr/>
        </p:nvSpPr>
        <p:spPr>
          <a:xfrm>
            <a:off x="6456680" y="2780665"/>
            <a:ext cx="4358640" cy="1994535"/>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时间复杂度分析：</a:t>
            </a:r>
            <a:endParaRPr lang="zh-CN" altLang="en-US">
              <a:solidFill>
                <a:schemeClr val="accent1"/>
              </a:solidFill>
              <a:effectLst>
                <a:outerShdw blurRad="38100" dist="25400" dir="5400000" algn="ctr" rotWithShape="0">
                  <a:srgbClr val="6E747A">
                    <a:alpha val="43000"/>
                  </a:srgbClr>
                </a:outerShdw>
              </a:effectLst>
            </a:endParaRPr>
          </a:p>
          <a:p>
            <a:pPr>
              <a:lnSpc>
                <a:spcPct val="150000"/>
              </a:lnSpc>
            </a:pPr>
            <a:r>
              <a:rPr lang="zh-CN" altLang="en-US">
                <a:solidFill>
                  <a:schemeClr val="tx1"/>
                </a:solidFill>
                <a:effectLst/>
              </a:rPr>
              <a:t>两层循环</a:t>
            </a:r>
            <a:r>
              <a:rPr lang="en-US" altLang="zh-CN">
                <a:solidFill>
                  <a:schemeClr val="tx1"/>
                </a:solidFill>
                <a:effectLst/>
              </a:rPr>
              <a:t>	      </a:t>
            </a:r>
            <a:r>
              <a:rPr lang="zh-CN" altLang="en-US">
                <a:solidFill>
                  <a:schemeClr val="tx1"/>
                </a:solidFill>
                <a:effectLst/>
              </a:rPr>
              <a:t>O(e</a:t>
            </a:r>
            <a:r>
              <a:rPr lang="zh-CN" altLang="en-US" baseline="30000">
                <a:solidFill>
                  <a:schemeClr val="tx1"/>
                </a:solidFill>
                <a:effectLst/>
              </a:rPr>
              <a:t>2</a:t>
            </a:r>
            <a:r>
              <a:rPr lang="zh-CN" altLang="en-US">
                <a:solidFill>
                  <a:schemeClr val="tx1"/>
                </a:solidFill>
                <a:effectLst/>
              </a:rPr>
              <a:t>)</a:t>
            </a:r>
            <a:endParaRPr lang="zh-CN" altLang="en-US">
              <a:solidFill>
                <a:schemeClr val="tx1"/>
              </a:solidFill>
              <a:effectLst/>
            </a:endParaRPr>
          </a:p>
          <a:p>
            <a:pPr>
              <a:lnSpc>
                <a:spcPct val="150000"/>
              </a:lnSpc>
            </a:pPr>
            <a:r>
              <a:rPr lang="zh-CN" altLang="en-US">
                <a:solidFill>
                  <a:schemeClr val="tx1"/>
                </a:solidFill>
                <a:effectLst/>
              </a:rPr>
              <a:t>查询所属集合</a:t>
            </a:r>
            <a:r>
              <a:rPr lang="en-US" altLang="zh-CN">
                <a:solidFill>
                  <a:schemeClr val="tx1"/>
                </a:solidFill>
                <a:effectLst/>
              </a:rPr>
              <a:t>	      </a:t>
            </a:r>
            <a:r>
              <a:rPr lang="zh-CN" altLang="en-US">
                <a:solidFill>
                  <a:schemeClr val="tx1"/>
                </a:solidFill>
                <a:effectLst/>
              </a:rPr>
              <a:t>O(1)</a:t>
            </a:r>
            <a:endParaRPr lang="zh-CN" altLang="en-US">
              <a:solidFill>
                <a:schemeClr val="tx1"/>
              </a:solidFill>
              <a:effectLst/>
            </a:endParaRPr>
          </a:p>
          <a:p>
            <a:pPr>
              <a:lnSpc>
                <a:spcPct val="150000"/>
              </a:lnSpc>
            </a:pPr>
            <a:r>
              <a:rPr lang="zh-CN" altLang="en-US">
                <a:solidFill>
                  <a:schemeClr val="tx1"/>
                </a:solidFill>
                <a:effectLst/>
              </a:rPr>
              <a:t>令v</a:t>
            </a:r>
            <a:r>
              <a:rPr lang="en-US" altLang="zh-CN">
                <a:solidFill>
                  <a:schemeClr val="tx1"/>
                </a:solidFill>
                <a:effectLst/>
              </a:rPr>
              <a:t> </a:t>
            </a:r>
            <a:r>
              <a:rPr lang="zh-CN" altLang="en-US">
                <a:solidFill>
                  <a:schemeClr val="tx1"/>
                </a:solidFill>
                <a:effectLst/>
              </a:rPr>
              <a:t>=</a:t>
            </a:r>
            <a:r>
              <a:rPr lang="en-US" altLang="zh-CN">
                <a:solidFill>
                  <a:schemeClr val="tx1"/>
                </a:solidFill>
                <a:effectLst/>
              </a:rPr>
              <a:t> </a:t>
            </a:r>
            <a:r>
              <a:rPr lang="zh-CN" altLang="en-US">
                <a:solidFill>
                  <a:schemeClr val="tx1"/>
                </a:solidFill>
                <a:effectLst/>
              </a:rPr>
              <a:t>n，</a:t>
            </a:r>
            <a:r>
              <a:rPr lang="en-US" altLang="zh-CN">
                <a:solidFill>
                  <a:schemeClr val="tx1"/>
                </a:solidFill>
                <a:effectLst/>
              </a:rPr>
              <a:t> </a:t>
            </a:r>
            <a:r>
              <a:rPr lang="zh-CN" altLang="en-US">
                <a:solidFill>
                  <a:schemeClr val="tx1"/>
                </a:solidFill>
                <a:effectLst/>
              </a:rPr>
              <a:t>稀疏图中，e ∝ n，T = O（n²）</a:t>
            </a:r>
            <a:endParaRPr lang="zh-CN" altLang="en-US">
              <a:solidFill>
                <a:schemeClr val="tx1"/>
              </a:solidFill>
              <a:effectLst/>
            </a:endParaRPr>
          </a:p>
          <a:p>
            <a:pPr marL="457200" lvl="1" indent="457200"/>
            <a:r>
              <a:rPr lang="zh-CN" altLang="en-US">
                <a:solidFill>
                  <a:schemeClr val="tx1"/>
                </a:solidFill>
                <a:effectLst/>
              </a:rPr>
              <a:t>稠密图中，e ∝ n²，T = O（n</a:t>
            </a:r>
            <a:r>
              <a:rPr lang="zh-CN" altLang="en-US" baseline="30000">
                <a:solidFill>
                  <a:schemeClr val="tx1"/>
                </a:solidFill>
                <a:effectLst/>
              </a:rPr>
              <a:t>4</a:t>
            </a:r>
            <a:r>
              <a:rPr lang="zh-CN" altLang="en-US">
                <a:solidFill>
                  <a:schemeClr val="tx1"/>
                </a:solidFill>
                <a:effectLst/>
              </a:rPr>
              <a:t>）</a:t>
            </a:r>
            <a:endParaRPr lang="zh-CN" altLang="en-US">
              <a:solidFill>
                <a:schemeClr val="tx1"/>
              </a:solidFill>
              <a:effectLst/>
            </a:endParaRPr>
          </a:p>
        </p:txBody>
      </p:sp>
      <p:sp>
        <p:nvSpPr>
          <p:cNvPr id="9" name="右箭头 8"/>
          <p:cNvSpPr/>
          <p:nvPr/>
        </p:nvSpPr>
        <p:spPr>
          <a:xfrm>
            <a:off x="8041005" y="3356610"/>
            <a:ext cx="503555" cy="21653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右箭头 9"/>
          <p:cNvSpPr/>
          <p:nvPr/>
        </p:nvSpPr>
        <p:spPr>
          <a:xfrm>
            <a:off x="8041005" y="3789045"/>
            <a:ext cx="503555" cy="21653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右大括号 10"/>
          <p:cNvSpPr/>
          <p:nvPr/>
        </p:nvSpPr>
        <p:spPr>
          <a:xfrm>
            <a:off x="9265285" y="3356610"/>
            <a:ext cx="215900" cy="6483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文本框 11"/>
          <p:cNvSpPr txBox="1"/>
          <p:nvPr/>
        </p:nvSpPr>
        <p:spPr>
          <a:xfrm>
            <a:off x="9625330" y="3494405"/>
            <a:ext cx="677545" cy="368300"/>
          </a:xfrm>
          <a:prstGeom prst="rect">
            <a:avLst/>
          </a:prstGeom>
          <a:noFill/>
        </p:spPr>
        <p:txBody>
          <a:bodyPr wrap="square" rtlCol="0">
            <a:spAutoFit/>
          </a:bodyPr>
          <a:p>
            <a:r>
              <a:rPr lang="en-US" altLang="zh-CN"/>
              <a:t>O(e</a:t>
            </a:r>
            <a:r>
              <a:rPr lang="en-US" altLang="zh-CN" baseline="30000"/>
              <a:t>2</a:t>
            </a:r>
            <a:r>
              <a:rPr lang="en-US" altLang="zh-CN"/>
              <a:t>)</a:t>
            </a:r>
            <a:endParaRPr lang="en-US" altLang="zh-CN"/>
          </a:p>
        </p:txBody>
      </p:sp>
      <p:sp>
        <p:nvSpPr>
          <p:cNvPr id="14" name="文本框 13"/>
          <p:cNvSpPr txBox="1"/>
          <p:nvPr/>
        </p:nvSpPr>
        <p:spPr>
          <a:xfrm>
            <a:off x="8616950" y="1260475"/>
            <a:ext cx="2395220" cy="368300"/>
          </a:xfrm>
          <a:prstGeom prst="rect">
            <a:avLst/>
          </a:prstGeom>
          <a:noFill/>
        </p:spPr>
        <p:txBody>
          <a:bodyPr wrap="square" rtlCol="0">
            <a:spAutoFit/>
          </a:bodyPr>
          <a:p>
            <a:r>
              <a:rPr lang="zh-CN" altLang="en-US">
                <a:sym typeface="+mn-ea"/>
              </a:rPr>
              <a:t>基准算法</a:t>
            </a:r>
            <a:r>
              <a:rPr lang="en-US" altLang="zh-CN">
                <a:sym typeface="+mn-ea"/>
              </a:rPr>
              <a:t>—— </a:t>
            </a:r>
            <a:r>
              <a:rPr lang="zh-CN" altLang="en-US">
                <a:sym typeface="+mn-ea"/>
              </a:rPr>
              <a:t>O(e²+ev)</a:t>
            </a:r>
            <a:endParaRPr lang="zh-CN" altLang="en-US"/>
          </a:p>
        </p:txBody>
      </p:sp>
      <p:cxnSp>
        <p:nvCxnSpPr>
          <p:cNvPr id="15" name="直接箭头连接符 14"/>
          <p:cNvCxnSpPr/>
          <p:nvPr/>
        </p:nvCxnSpPr>
        <p:spPr>
          <a:xfrm flipH="1">
            <a:off x="9912985" y="1670050"/>
            <a:ext cx="7620" cy="18307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并查集</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生成树</a:t>
            </a:r>
            <a:r>
              <a:rPr lang="en-US" altLang="zh-CN" sz="3000" b="1" i="0">
                <a:solidFill>
                  <a:schemeClr val="accent1"/>
                </a:solidFill>
                <a:highlight>
                  <a:srgbClr val="FFFFFF">
                    <a:alpha val="0"/>
                  </a:srgbClr>
                </a:highlight>
                <a:latin typeface="微软雅黑" panose="020B0503020204020204" charset="-122"/>
              </a:rPr>
              <a:t>+</a:t>
            </a:r>
            <a:r>
              <a:rPr lang="en-US" altLang="zh-CN" sz="3000" b="1" i="0">
                <a:solidFill>
                  <a:schemeClr val="accent1"/>
                </a:solidFill>
                <a:highlight>
                  <a:srgbClr val="FFFFFF">
                    <a:alpha val="0"/>
                  </a:srgbClr>
                </a:highlight>
                <a:latin typeface="微软雅黑" panose="020B0503020204020204" charset="-122"/>
              </a:rPr>
              <a:t>LCA</a:t>
            </a:r>
            <a:endParaRPr lang="en-US" alt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703705" y="958850"/>
            <a:ext cx="8905240" cy="1871345"/>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算法思想：</a:t>
            </a:r>
            <a:endParaRPr lang="zh-CN" altLang="en-US">
              <a:solidFill>
                <a:schemeClr val="accent1"/>
              </a:solidFill>
              <a:effectLst>
                <a:outerShdw blurRad="38100" dist="25400" dir="5400000" algn="ctr" rotWithShape="0">
                  <a:srgbClr val="6E747A">
                    <a:alpha val="43000"/>
                  </a:srgbClr>
                </a:outerShdw>
              </a:effectLst>
            </a:endParaRPr>
          </a:p>
          <a:p>
            <a:pPr indent="457200">
              <a:lnSpc>
                <a:spcPct val="150000"/>
              </a:lnSpc>
              <a:spcBef>
                <a:spcPts val="0"/>
              </a:spcBef>
              <a:spcAft>
                <a:spcPts val="1000"/>
              </a:spcAft>
            </a:pPr>
            <a:r>
              <a:rPr lang="en-US" altLang="zh-CN"/>
              <a:t>    </a:t>
            </a:r>
            <a:r>
              <a:rPr lang="zh-CN" altLang="en-US"/>
              <a:t>通过连通分量找桥边</a:t>
            </a:r>
            <a:r>
              <a:rPr lang="en-US" altLang="zh-CN"/>
              <a:t>     ==&gt;     </a:t>
            </a:r>
            <a:r>
              <a:rPr lang="zh-CN" altLang="en-US">
                <a:solidFill>
                  <a:schemeClr val="accent1"/>
                </a:solidFill>
                <a:effectLst>
                  <a:outerShdw blurRad="38100" dist="25400" dir="5400000" algn="ctr" rotWithShape="0">
                    <a:srgbClr val="6E747A">
                      <a:alpha val="43000"/>
                    </a:srgbClr>
                  </a:outerShdw>
                </a:effectLst>
                <a:sym typeface="+mn-ea"/>
              </a:rPr>
              <a:t>排除所有不是桥的边，剩下的都是桥</a:t>
            </a:r>
            <a:endParaRPr lang="zh-CN" altLang="en-US">
              <a:solidFill>
                <a:schemeClr val="accent1"/>
              </a:solidFill>
              <a:effectLst>
                <a:outerShdw blurRad="38100" dist="25400" dir="5400000" algn="ctr" rotWithShape="0">
                  <a:srgbClr val="6E747A">
                    <a:alpha val="43000"/>
                  </a:srgbClr>
                </a:outerShdw>
              </a:effectLst>
              <a:sym typeface="+mn-ea"/>
            </a:endParaRPr>
          </a:p>
          <a:p>
            <a:pPr marL="457200" lvl="1" indent="457200">
              <a:lnSpc>
                <a:spcPct val="150000"/>
              </a:lnSpc>
            </a:pPr>
            <a:r>
              <a:rPr lang="zh-CN" altLang="en-US"/>
              <a:t>图的生成树上的边</a:t>
            </a:r>
            <a:r>
              <a:rPr lang="en-US" altLang="zh-CN"/>
              <a:t>     ==&gt;     </a:t>
            </a:r>
            <a:r>
              <a:rPr lang="zh-CN" altLang="en-US">
                <a:solidFill>
                  <a:schemeClr val="accent1"/>
                </a:solidFill>
                <a:effectLst>
                  <a:outerShdw blurRad="38100" dist="25400" dir="5400000" algn="ctr" rotWithShape="0">
                    <a:srgbClr val="6E747A">
                      <a:alpha val="43000"/>
                    </a:srgbClr>
                  </a:outerShdw>
                </a:effectLst>
              </a:rPr>
              <a:t>可能为桥</a:t>
            </a:r>
            <a:endParaRPr lang="zh-CN" altLang="en-US">
              <a:solidFill>
                <a:schemeClr val="accent1"/>
              </a:solidFill>
              <a:effectLst>
                <a:outerShdw blurRad="38100" dist="25400" dir="5400000" algn="ctr" rotWithShape="0">
                  <a:srgbClr val="6E747A">
                    <a:alpha val="43000"/>
                  </a:srgbClr>
                </a:outerShdw>
              </a:effectLst>
            </a:endParaRPr>
          </a:p>
          <a:p>
            <a:pPr marL="457200" lvl="1" indent="457200">
              <a:lnSpc>
                <a:spcPct val="150000"/>
              </a:lnSpc>
            </a:pPr>
            <a:r>
              <a:rPr lang="en-US" altLang="zh-CN"/>
              <a:t>最近公共祖先</a:t>
            </a:r>
            <a:r>
              <a:rPr lang="zh-CN" altLang="en-US"/>
              <a:t>（</a:t>
            </a:r>
            <a:r>
              <a:rPr lang="en-US" altLang="zh-CN"/>
              <a:t>LCA</a:t>
            </a:r>
            <a:r>
              <a:rPr lang="zh-CN" altLang="en-US"/>
              <a:t>）</a:t>
            </a:r>
            <a:r>
              <a:rPr lang="en-US" altLang="zh-CN"/>
              <a:t>==&gt;     </a:t>
            </a:r>
            <a:r>
              <a:rPr lang="zh-CN" altLang="en-US">
                <a:solidFill>
                  <a:schemeClr val="accent1"/>
                </a:solidFill>
                <a:effectLst>
                  <a:outerShdw blurRad="38100" dist="25400" dir="5400000" algn="ctr" rotWithShape="0">
                    <a:srgbClr val="6E747A">
                      <a:alpha val="43000"/>
                    </a:srgbClr>
                  </a:outerShdw>
                </a:effectLst>
              </a:rPr>
              <a:t>排除环边</a:t>
            </a:r>
            <a:endParaRPr lang="zh-CN" altLang="en-US"/>
          </a:p>
        </p:txBody>
      </p:sp>
      <p:sp>
        <p:nvSpPr>
          <p:cNvPr id="13" name="文本框 12"/>
          <p:cNvSpPr txBox="1"/>
          <p:nvPr/>
        </p:nvSpPr>
        <p:spPr>
          <a:xfrm>
            <a:off x="1626870" y="4076065"/>
            <a:ext cx="8937625" cy="1743075"/>
          </a:xfrm>
          <a:prstGeom prst="rect">
            <a:avLst/>
          </a:prstGeom>
          <a:noFill/>
        </p:spPr>
        <p:txBody>
          <a:bodyPr wrap="square" rtlCol="0">
            <a:spAutoFit/>
          </a:bodyPr>
          <a:p>
            <a:pPr>
              <a:lnSpc>
                <a:spcPct val="100000"/>
              </a:lnSpc>
              <a:spcBef>
                <a:spcPts val="0"/>
              </a:spcBef>
              <a:spcAft>
                <a:spcPts val="1000"/>
              </a:spcAft>
            </a:pPr>
            <a:r>
              <a:rPr lang="zh-CN" altLang="en-US">
                <a:solidFill>
                  <a:schemeClr val="accent1"/>
                </a:solidFill>
                <a:effectLst>
                  <a:outerShdw blurRad="38100" dist="25400" dir="5400000" algn="ctr" rotWithShape="0">
                    <a:srgbClr val="6E747A">
                      <a:alpha val="43000"/>
                    </a:srgbClr>
                  </a:outerShdw>
                </a:effectLst>
              </a:rPr>
              <a:t>实现思路：</a:t>
            </a:r>
            <a:endParaRPr lang="zh-CN" altLang="en-US">
              <a:solidFill>
                <a:schemeClr val="accent1"/>
              </a:solidFill>
              <a:effectLst>
                <a:outerShdw blurRad="38100" dist="25400" dir="5400000" algn="ctr" rotWithShape="0">
                  <a:srgbClr val="6E747A">
                    <a:alpha val="43000"/>
                  </a:srgbClr>
                </a:outerShdw>
              </a:effectLst>
            </a:endParaRPr>
          </a:p>
          <a:p>
            <a:pPr>
              <a:lnSpc>
                <a:spcPct val="150000"/>
              </a:lnSpc>
            </a:pPr>
            <a:r>
              <a:rPr lang="zh-CN" altLang="en-US"/>
              <a:t>①</a:t>
            </a:r>
            <a:r>
              <a:rPr lang="en-US" altLang="zh-CN"/>
              <a:t>DFS</a:t>
            </a:r>
            <a:r>
              <a:rPr lang="zh-CN" altLang="en-US"/>
              <a:t>构建生成树森林，并标记生成树的</a:t>
            </a:r>
            <a:r>
              <a:rPr lang="zh-CN" altLang="en-US"/>
              <a:t>边</a:t>
            </a:r>
            <a:endParaRPr lang="zh-CN" altLang="en-US"/>
          </a:p>
          <a:p>
            <a:pPr>
              <a:lnSpc>
                <a:spcPct val="150000"/>
              </a:lnSpc>
            </a:pPr>
            <a:r>
              <a:rPr lang="zh-CN" altLang="en-US"/>
              <a:t>②将每一条非生成树边加入生成树，通过LCA方法排除掉生成树上</a:t>
            </a:r>
            <a:r>
              <a:rPr lang="zh-CN" altLang="en-US"/>
              <a:t>的环边</a:t>
            </a:r>
            <a:endParaRPr lang="zh-CN" altLang="en-US"/>
          </a:p>
          <a:p>
            <a:pPr>
              <a:lnSpc>
                <a:spcPct val="150000"/>
              </a:lnSpc>
            </a:pPr>
            <a:r>
              <a:rPr lang="zh-CN" altLang="en-US"/>
              <a:t>③生成树上的边</a:t>
            </a:r>
            <a:r>
              <a:rPr lang="en-US" altLang="zh-CN"/>
              <a:t> — </a:t>
            </a:r>
            <a:r>
              <a:rPr lang="zh-CN" altLang="en-US"/>
              <a:t>被排除的环边</a:t>
            </a:r>
            <a:r>
              <a:rPr lang="en-US" altLang="zh-CN"/>
              <a:t>  =  </a:t>
            </a:r>
            <a:r>
              <a:rPr lang="zh-CN" altLang="en-US"/>
              <a:t>所有</a:t>
            </a:r>
            <a:r>
              <a:rPr lang="zh-CN" altLang="en-US"/>
              <a:t>的“桥”。</a:t>
            </a:r>
            <a:endParaRPr lang="zh-CN" altLang="en-US"/>
          </a:p>
        </p:txBody>
      </p:sp>
      <p:sp>
        <p:nvSpPr>
          <p:cNvPr id="6" name="文本框 5"/>
          <p:cNvSpPr txBox="1"/>
          <p:nvPr/>
        </p:nvSpPr>
        <p:spPr>
          <a:xfrm>
            <a:off x="3072130" y="3356610"/>
            <a:ext cx="4579620" cy="368300"/>
          </a:xfrm>
          <a:prstGeom prst="rect">
            <a:avLst/>
          </a:prstGeom>
          <a:noFill/>
        </p:spPr>
        <p:txBody>
          <a:bodyPr wrap="square" rtlCol="0">
            <a:spAutoFit/>
          </a:bodyPr>
          <a:p>
            <a:r>
              <a:rPr lang="zh-CN" altLang="en-US" u="sng">
                <a:solidFill>
                  <a:srgbClr val="FF0000"/>
                </a:solidFill>
                <a:sym typeface="+mn-ea"/>
              </a:rPr>
              <a:t>桥的数量 = 生成树的边数 - LCA排除的环边</a:t>
            </a:r>
            <a:endParaRPr lang="zh-CN" altLang="en-US" u="sng">
              <a:solidFill>
                <a:srgbClr val="FF0000"/>
              </a:solidFill>
              <a:sym typeface="+mn-ea"/>
            </a:endParaRPr>
          </a:p>
        </p:txBody>
      </p:sp>
      <p:sp>
        <p:nvSpPr>
          <p:cNvPr id="7" name="下箭头 6"/>
          <p:cNvSpPr/>
          <p:nvPr/>
        </p:nvSpPr>
        <p:spPr>
          <a:xfrm>
            <a:off x="4728210" y="2853055"/>
            <a:ext cx="504190" cy="46291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并查集</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生成树</a:t>
            </a:r>
            <a:r>
              <a:rPr lang="en-US" altLang="zh-CN" sz="3000" b="1" i="0">
                <a:solidFill>
                  <a:schemeClr val="accent1"/>
                </a:solidFill>
                <a:highlight>
                  <a:srgbClr val="FFFFFF">
                    <a:alpha val="0"/>
                  </a:srgbClr>
                </a:highlight>
                <a:latin typeface="微软雅黑" panose="020B0503020204020204" charset="-122"/>
              </a:rPr>
              <a:t>+</a:t>
            </a:r>
            <a:r>
              <a:rPr lang="en-US" altLang="zh-CN" sz="3000" b="1" i="0">
                <a:solidFill>
                  <a:schemeClr val="accent1"/>
                </a:solidFill>
                <a:highlight>
                  <a:srgbClr val="FFFFFF">
                    <a:alpha val="0"/>
                  </a:srgbClr>
                </a:highlight>
                <a:latin typeface="微软雅黑" panose="020B0503020204020204" charset="-122"/>
              </a:rPr>
              <a:t>LCA</a:t>
            </a:r>
            <a:endParaRPr lang="en-US" alt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057275" y="1340485"/>
            <a:ext cx="4388485" cy="157861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LCA寻找环边：</a:t>
            </a:r>
            <a:endParaRPr lang="zh-CN" altLang="en-US">
              <a:solidFill>
                <a:schemeClr val="accent1"/>
              </a:solidFill>
              <a:effectLst>
                <a:outerShdw blurRad="38100" dist="25400" dir="5400000" algn="ctr" rotWithShape="0">
                  <a:srgbClr val="6E747A">
                    <a:alpha val="43000"/>
                  </a:srgbClr>
                </a:outerShdw>
              </a:effectLst>
            </a:endParaRPr>
          </a:p>
          <a:p>
            <a:pPr indent="457200"/>
            <a:r>
              <a:rPr lang="zh-CN" altLang="en-US"/>
              <a:t>添加非生成树边（</a:t>
            </a:r>
            <a:r>
              <a:rPr lang="en-US" altLang="zh-CN"/>
              <a:t>v1</a:t>
            </a:r>
            <a:r>
              <a:rPr lang="zh-CN" altLang="en-US"/>
              <a:t>，</a:t>
            </a:r>
            <a:r>
              <a:rPr lang="en-US" altLang="zh-CN"/>
              <a:t>v2</a:t>
            </a:r>
            <a:r>
              <a:rPr lang="zh-CN" altLang="en-US"/>
              <a:t>），寻找其端点v1，v2的</a:t>
            </a:r>
            <a:r>
              <a:rPr lang="zh-CN" altLang="en-US">
                <a:solidFill>
                  <a:srgbClr val="FF0000"/>
                </a:solidFill>
              </a:rPr>
              <a:t>最近公共祖先</a:t>
            </a:r>
            <a:r>
              <a:rPr lang="zh-CN" altLang="en-US"/>
              <a:t>，两端点到最近公共祖先的路径可以形成一个环，环中的边被标记为</a:t>
            </a:r>
            <a:r>
              <a:rPr lang="zh-CN" altLang="en-US">
                <a:solidFill>
                  <a:srgbClr val="FF0000"/>
                </a:solidFill>
              </a:rPr>
              <a:t>环边</a:t>
            </a:r>
            <a:r>
              <a:rPr lang="zh-CN" altLang="en-US"/>
              <a:t>，一定不是“桥”。</a:t>
            </a:r>
            <a:endParaRPr lang="zh-CN" altLang="en-US"/>
          </a:p>
        </p:txBody>
      </p:sp>
      <p:pic>
        <p:nvPicPr>
          <p:cNvPr id="5" name="图片 -2147482614"/>
          <p:cNvPicPr>
            <a:picLocks noChangeAspect="1"/>
          </p:cNvPicPr>
          <p:nvPr/>
        </p:nvPicPr>
        <p:blipFill>
          <a:blip r:embed="rId3"/>
          <a:stretch>
            <a:fillRect/>
          </a:stretch>
        </p:blipFill>
        <p:spPr>
          <a:xfrm>
            <a:off x="1043940" y="3313430"/>
            <a:ext cx="4284345" cy="2059940"/>
          </a:xfrm>
          <a:prstGeom prst="rect">
            <a:avLst/>
          </a:prstGeom>
          <a:noFill/>
          <a:ln w="9525">
            <a:noFill/>
          </a:ln>
        </p:spPr>
      </p:pic>
      <p:sp>
        <p:nvSpPr>
          <p:cNvPr id="6" name="文本框 5"/>
          <p:cNvSpPr txBox="1"/>
          <p:nvPr/>
        </p:nvSpPr>
        <p:spPr>
          <a:xfrm>
            <a:off x="5928360" y="1340485"/>
            <a:ext cx="5501640" cy="185547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路径压缩：</a:t>
            </a:r>
            <a:endParaRPr lang="zh-CN" altLang="en-US">
              <a:solidFill>
                <a:schemeClr val="accent1"/>
              </a:solidFill>
              <a:effectLst>
                <a:outerShdw blurRad="38100" dist="25400" dir="5400000" algn="ctr" rotWithShape="0">
                  <a:srgbClr val="6E747A">
                    <a:alpha val="43000"/>
                  </a:srgbClr>
                </a:outerShdw>
              </a:effectLst>
            </a:endParaRPr>
          </a:p>
          <a:p>
            <a:pPr indent="457200"/>
            <a:r>
              <a:rPr lang="zh-CN" altLang="en-US"/>
              <a:t>在所找到的环边中，</a:t>
            </a:r>
            <a:r>
              <a:rPr lang="zh-CN" altLang="en-US">
                <a:solidFill>
                  <a:srgbClr val="FF0000"/>
                </a:solidFill>
              </a:rPr>
              <a:t>将最近公共祖先结点以外的点的父亲结点，都设置为最近公共祖先</a:t>
            </a:r>
            <a:r>
              <a:rPr lang="zh-CN" altLang="en-US"/>
              <a:t>，则可以避免重复。首先将环边上的两个结点先调整至同一高度，然后</a:t>
            </a:r>
            <a:r>
              <a:rPr lang="zh-CN" altLang="en-US"/>
              <a:t>同时向上找两个结点的公共祖先，找到后将路径都标记环边。</a:t>
            </a:r>
            <a:endParaRPr lang="zh-CN" altLang="en-US"/>
          </a:p>
        </p:txBody>
      </p:sp>
      <p:pic>
        <p:nvPicPr>
          <p:cNvPr id="7" name="图片 12"/>
          <p:cNvPicPr>
            <a:picLocks noChangeAspect="1"/>
          </p:cNvPicPr>
          <p:nvPr/>
        </p:nvPicPr>
        <p:blipFill>
          <a:blip r:embed="rId4"/>
          <a:stretch>
            <a:fillRect/>
          </a:stretch>
        </p:blipFill>
        <p:spPr>
          <a:xfrm>
            <a:off x="5514340" y="3571875"/>
            <a:ext cx="6308090" cy="2139950"/>
          </a:xfrm>
          <a:prstGeom prst="rect">
            <a:avLst/>
          </a:prstGeom>
          <a:noFill/>
          <a:ln w="9525">
            <a:noFill/>
          </a:ln>
        </p:spPr>
      </p:pic>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3843655" y="4034155"/>
              <a:ext cx="546100" cy="1219200"/>
            </p14:xfrm>
          </p:contentPart>
        </mc:Choice>
        <mc:Fallback xmlns="">
          <p:pic>
            <p:nvPicPr>
              <p:cNvPr id="8" name="墨迹 7"/>
            </p:nvPicPr>
            <p:blipFill>
              <a:blip r:embed="rId6"/>
            </p:blipFill>
            <p:spPr>
              <a:xfrm>
                <a:off x="3843655" y="4034155"/>
                <a:ext cx="546100" cy="1219200"/>
              </a:xfrm>
              <a:prstGeom prst="rect"/>
            </p:spPr>
          </p:pic>
        </mc:Fallback>
      </mc:AlternateContent>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并查集</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生成树</a:t>
            </a:r>
            <a:r>
              <a:rPr lang="en-US" altLang="zh-CN" sz="3000" b="1" i="0">
                <a:solidFill>
                  <a:schemeClr val="accent1"/>
                </a:solidFill>
                <a:highlight>
                  <a:srgbClr val="FFFFFF">
                    <a:alpha val="0"/>
                  </a:srgbClr>
                </a:highlight>
                <a:latin typeface="微软雅黑" panose="020B0503020204020204" charset="-122"/>
              </a:rPr>
              <a:t>+</a:t>
            </a:r>
            <a:r>
              <a:rPr lang="en-US" altLang="zh-CN" sz="3000" b="1" i="0">
                <a:solidFill>
                  <a:schemeClr val="accent1"/>
                </a:solidFill>
                <a:highlight>
                  <a:srgbClr val="FFFFFF">
                    <a:alpha val="0"/>
                  </a:srgbClr>
                </a:highlight>
                <a:latin typeface="微软雅黑" panose="020B0503020204020204" charset="-122"/>
              </a:rPr>
              <a:t>LCA</a:t>
            </a:r>
            <a:endParaRPr lang="en-US" alt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162685" y="967105"/>
            <a:ext cx="4710430" cy="1800225"/>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数据结构：</a:t>
            </a:r>
            <a:endParaRPr lang="zh-CN" altLang="en-US">
              <a:solidFill>
                <a:schemeClr val="accent1"/>
              </a:solidFill>
              <a:effectLst>
                <a:outerShdw blurRad="38100" dist="25400" dir="5400000" algn="ctr" rotWithShape="0">
                  <a:srgbClr val="6E747A">
                    <a:alpha val="43000"/>
                  </a:srgbClr>
                </a:outerShdw>
              </a:effectLst>
            </a:endParaRPr>
          </a:p>
          <a:p>
            <a:pPr>
              <a:lnSpc>
                <a:spcPct val="160000"/>
              </a:lnSpc>
              <a:spcBef>
                <a:spcPts val="0"/>
              </a:spcBef>
              <a:spcAft>
                <a:spcPts val="0"/>
              </a:spcAft>
            </a:pPr>
            <a:r>
              <a:rPr lang="zh-CN" altLang="en-US"/>
              <a:t>生成树</a:t>
            </a:r>
            <a:r>
              <a:rPr lang="en-US" altLang="zh-CN"/>
              <a:t>		</a:t>
            </a:r>
            <a:r>
              <a:rPr lang="zh-CN" altLang="en-US"/>
              <a:t>并查集数组father[ ]</a:t>
            </a:r>
            <a:endParaRPr lang="zh-CN" altLang="en-US"/>
          </a:p>
          <a:p>
            <a:pPr>
              <a:lnSpc>
                <a:spcPct val="160000"/>
              </a:lnSpc>
              <a:spcBef>
                <a:spcPts val="0"/>
              </a:spcBef>
              <a:spcAft>
                <a:spcPts val="0"/>
              </a:spcAft>
            </a:pPr>
            <a:r>
              <a:rPr lang="zh-CN" altLang="en-US"/>
              <a:t>节点的深度</a:t>
            </a:r>
            <a:r>
              <a:rPr lang="en-US" altLang="zh-CN"/>
              <a:t>	depth[ ]数组</a:t>
            </a:r>
            <a:endParaRPr lang="en-US" altLang="zh-CN"/>
          </a:p>
          <a:p>
            <a:pPr>
              <a:lnSpc>
                <a:spcPct val="160000"/>
              </a:lnSpc>
              <a:spcBef>
                <a:spcPts val="0"/>
              </a:spcBef>
              <a:spcAft>
                <a:spcPts val="0"/>
              </a:spcAft>
            </a:pPr>
            <a:r>
              <a:rPr lang="en-US" altLang="zh-CN"/>
              <a:t>“桥”边</a:t>
            </a:r>
            <a:r>
              <a:rPr lang="zh-CN" altLang="en-US"/>
              <a:t>集合</a:t>
            </a:r>
            <a:r>
              <a:rPr lang="en-US" altLang="zh-CN"/>
              <a:t>	以点代边数组bridgeTag[ ]</a:t>
            </a:r>
            <a:endParaRPr lang="en-US" altLang="zh-CN"/>
          </a:p>
        </p:txBody>
      </p:sp>
      <p:sp>
        <p:nvSpPr>
          <p:cNvPr id="6" name="右箭头 5"/>
          <p:cNvSpPr/>
          <p:nvPr/>
        </p:nvSpPr>
        <p:spPr>
          <a:xfrm>
            <a:off x="2495550" y="2421890"/>
            <a:ext cx="504190" cy="2159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右箭头 6"/>
          <p:cNvSpPr/>
          <p:nvPr/>
        </p:nvSpPr>
        <p:spPr>
          <a:xfrm>
            <a:off x="2495550" y="1990090"/>
            <a:ext cx="504190" cy="2159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右箭头 7"/>
          <p:cNvSpPr/>
          <p:nvPr/>
        </p:nvSpPr>
        <p:spPr>
          <a:xfrm>
            <a:off x="2495550" y="1557655"/>
            <a:ext cx="504190" cy="2159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箭头连接符 8"/>
          <p:cNvCxnSpPr/>
          <p:nvPr/>
        </p:nvCxnSpPr>
        <p:spPr>
          <a:xfrm flipH="1">
            <a:off x="3072130" y="2679065"/>
            <a:ext cx="360045" cy="9664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1198880" y="3645535"/>
            <a:ext cx="4064000" cy="368300"/>
          </a:xfrm>
          <a:prstGeom prst="rect">
            <a:avLst/>
          </a:prstGeom>
          <a:noFill/>
        </p:spPr>
        <p:txBody>
          <a:bodyPr wrap="square" rtlCol="0">
            <a:spAutoFit/>
          </a:bodyPr>
          <a:p>
            <a:r>
              <a:rPr lang="zh-CN" altLang="en-US"/>
              <a:t>用生成树边的</a:t>
            </a:r>
            <a:r>
              <a:rPr lang="zh-CN" altLang="en-US">
                <a:solidFill>
                  <a:schemeClr val="accent1"/>
                </a:solidFill>
                <a:effectLst>
                  <a:outerShdw blurRad="38100" dist="25400" dir="5400000" algn="ctr" rotWithShape="0">
                    <a:srgbClr val="6E747A">
                      <a:alpha val="43000"/>
                    </a:srgbClr>
                  </a:outerShdw>
                </a:effectLst>
              </a:rPr>
              <a:t>孩子节点</a:t>
            </a:r>
            <a:r>
              <a:rPr lang="en-US" altLang="zh-CN"/>
              <a:t> </a:t>
            </a:r>
            <a:r>
              <a:rPr lang="zh-CN" altLang="en-US"/>
              <a:t>表示</a:t>
            </a:r>
            <a:r>
              <a:rPr lang="en-US" altLang="zh-CN"/>
              <a:t> </a:t>
            </a:r>
            <a:r>
              <a:rPr lang="zh-CN" altLang="en-US">
                <a:solidFill>
                  <a:schemeClr val="accent1"/>
                </a:solidFill>
                <a:effectLst>
                  <a:outerShdw blurRad="38100" dist="25400" dir="5400000" algn="ctr" rotWithShape="0">
                    <a:srgbClr val="6E747A">
                      <a:alpha val="43000"/>
                    </a:srgbClr>
                  </a:outerShdw>
                </a:effectLst>
              </a:rPr>
              <a:t>这条边</a:t>
            </a:r>
            <a:endParaRPr lang="zh-CN" altLang="en-US">
              <a:solidFill>
                <a:schemeClr val="accent1"/>
              </a:solidFill>
              <a:effectLst>
                <a:outerShdw blurRad="38100" dist="25400" dir="5400000" algn="ctr" rotWithShape="0">
                  <a:srgbClr val="6E747A">
                    <a:alpha val="43000"/>
                  </a:srgbClr>
                </a:outerShdw>
              </a:effectLst>
            </a:endParaRPr>
          </a:p>
        </p:txBody>
      </p:sp>
      <p:cxnSp>
        <p:nvCxnSpPr>
          <p:cNvPr id="11" name="直接箭头连接符 10"/>
          <p:cNvCxnSpPr/>
          <p:nvPr/>
        </p:nvCxnSpPr>
        <p:spPr>
          <a:xfrm>
            <a:off x="3910330" y="2667635"/>
            <a:ext cx="385445" cy="9779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6638925" y="967105"/>
            <a:ext cx="4064000" cy="36830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算法实现：</a:t>
            </a:r>
            <a:endParaRPr lang="zh-CN" altLang="en-US">
              <a:solidFill>
                <a:schemeClr val="accent1"/>
              </a:solidFill>
              <a:effectLst>
                <a:outerShdw blurRad="38100" dist="25400" dir="5400000" algn="ctr" rotWithShape="0">
                  <a:srgbClr val="6E747A">
                    <a:alpha val="43000"/>
                  </a:srgbClr>
                </a:outerShdw>
              </a:effectLst>
            </a:endParaRPr>
          </a:p>
        </p:txBody>
      </p:sp>
      <p:pic>
        <p:nvPicPr>
          <p:cNvPr id="14" name="图片 13"/>
          <p:cNvPicPr>
            <a:picLocks noChangeAspect="1"/>
          </p:cNvPicPr>
          <p:nvPr/>
        </p:nvPicPr>
        <p:blipFill>
          <a:blip r:embed="rId3"/>
          <a:stretch>
            <a:fillRect/>
          </a:stretch>
        </p:blipFill>
        <p:spPr>
          <a:xfrm>
            <a:off x="6742430" y="1413510"/>
            <a:ext cx="3794760" cy="2584450"/>
          </a:xfrm>
          <a:prstGeom prst="rect">
            <a:avLst/>
          </a:prstGeom>
        </p:spPr>
      </p:pic>
      <p:sp>
        <p:nvSpPr>
          <p:cNvPr id="15" name="文本框 14"/>
          <p:cNvSpPr txBox="1"/>
          <p:nvPr/>
        </p:nvSpPr>
        <p:spPr>
          <a:xfrm>
            <a:off x="1199515" y="4345305"/>
            <a:ext cx="5119370" cy="198374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时间复杂度：</a:t>
            </a:r>
            <a:endParaRPr lang="zh-CN" altLang="en-US">
              <a:solidFill>
                <a:schemeClr val="accent1"/>
              </a:solidFill>
              <a:effectLst>
                <a:outerShdw blurRad="38100" dist="25400" dir="5400000" algn="ctr" rotWithShape="0">
                  <a:srgbClr val="6E747A">
                    <a:alpha val="43000"/>
                  </a:srgbClr>
                </a:outerShdw>
              </a:effectLst>
            </a:endParaRPr>
          </a:p>
          <a:p>
            <a:r>
              <a:rPr lang="zh-CN" altLang="en-US"/>
              <a:t>主要耗时</a:t>
            </a:r>
            <a:r>
              <a:rPr lang="en-US" altLang="zh-CN"/>
              <a:t>——</a:t>
            </a:r>
            <a:r>
              <a:rPr lang="zh-CN" altLang="en-US"/>
              <a:t>遍历非生成树边并使用LCA排除环边。</a:t>
            </a:r>
            <a:endParaRPr lang="zh-CN" altLang="en-US"/>
          </a:p>
          <a:p>
            <a:endParaRPr lang="zh-CN" altLang="en-US"/>
          </a:p>
          <a:p>
            <a:pPr marL="914400" lvl="2" indent="457200">
              <a:lnSpc>
                <a:spcPct val="100000"/>
              </a:lnSpc>
              <a:spcBef>
                <a:spcPts val="0"/>
              </a:spcBef>
              <a:spcAft>
                <a:spcPts val="1000"/>
              </a:spcAft>
            </a:pPr>
            <a:r>
              <a:rPr lang="zh-CN" altLang="en-US">
                <a:sym typeface="+mn-ea"/>
              </a:rPr>
              <a:t>T </a:t>
            </a:r>
            <a:r>
              <a:rPr lang="en-US" altLang="zh-CN">
                <a:sym typeface="+mn-ea"/>
              </a:rPr>
              <a:t> </a:t>
            </a:r>
            <a:r>
              <a:rPr lang="zh-CN" altLang="en-US">
                <a:sym typeface="+mn-ea"/>
              </a:rPr>
              <a:t>= </a:t>
            </a:r>
            <a:r>
              <a:rPr lang="en-US" altLang="zh-CN">
                <a:sym typeface="+mn-ea"/>
              </a:rPr>
              <a:t> </a:t>
            </a:r>
            <a:r>
              <a:rPr lang="zh-CN" altLang="en-US">
                <a:sym typeface="+mn-ea"/>
              </a:rPr>
              <a:t>O(e)</a:t>
            </a:r>
            <a:r>
              <a:rPr lang="en-US" altLang="zh-CN">
                <a:sym typeface="+mn-ea"/>
              </a:rPr>
              <a:t> </a:t>
            </a:r>
            <a:r>
              <a:rPr lang="zh-CN" altLang="en-US">
                <a:sym typeface="+mn-ea"/>
              </a:rPr>
              <a:t>×</a:t>
            </a:r>
            <a:r>
              <a:rPr lang="en-US" altLang="zh-CN">
                <a:sym typeface="+mn-ea"/>
              </a:rPr>
              <a:t> </a:t>
            </a:r>
            <a:r>
              <a:rPr lang="zh-CN" altLang="en-US">
                <a:sym typeface="+mn-ea"/>
              </a:rPr>
              <a:t>O(</a:t>
            </a:r>
            <a:r>
              <a:rPr lang="en-US" altLang="zh-CN">
                <a:sym typeface="+mn-ea"/>
              </a:rPr>
              <a:t>1</a:t>
            </a:r>
            <a:r>
              <a:rPr lang="zh-CN" altLang="en-US">
                <a:sym typeface="+mn-ea"/>
              </a:rPr>
              <a:t>) </a:t>
            </a:r>
            <a:r>
              <a:rPr lang="en-US" altLang="zh-CN">
                <a:sym typeface="+mn-ea"/>
              </a:rPr>
              <a:t> </a:t>
            </a:r>
            <a:r>
              <a:rPr lang="zh-CN" altLang="en-US">
                <a:sym typeface="+mn-ea"/>
              </a:rPr>
              <a:t>= </a:t>
            </a:r>
            <a:r>
              <a:rPr lang="en-US" altLang="zh-CN">
                <a:sym typeface="+mn-ea"/>
              </a:rPr>
              <a:t> </a:t>
            </a:r>
            <a:r>
              <a:rPr lang="zh-CN" altLang="en-US">
                <a:sym typeface="+mn-ea"/>
              </a:rPr>
              <a:t>O(e)</a:t>
            </a:r>
            <a:endParaRPr lang="zh-CN" altLang="en-US"/>
          </a:p>
          <a:p>
            <a:r>
              <a:rPr lang="zh-CN" altLang="en-US"/>
              <a:t>令e = n，稀疏图中：O(e) * O(1)  =  O(n) </a:t>
            </a:r>
            <a:endParaRPr lang="zh-CN" altLang="en-US"/>
          </a:p>
          <a:p>
            <a:pPr marL="457200" lvl="1" indent="457200"/>
            <a:r>
              <a:rPr lang="zh-CN" altLang="en-US"/>
              <a:t>稠密图中：O(e) * O(1)  =  O(n²)。</a:t>
            </a:r>
            <a:endParaRPr lang="zh-CN" altLang="en-US"/>
          </a:p>
        </p:txBody>
      </p:sp>
      <p:cxnSp>
        <p:nvCxnSpPr>
          <p:cNvPr id="16" name="直接箭头连接符 15"/>
          <p:cNvCxnSpPr/>
          <p:nvPr/>
        </p:nvCxnSpPr>
        <p:spPr>
          <a:xfrm>
            <a:off x="2957195" y="4982210"/>
            <a:ext cx="258445" cy="3187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a:off x="4152265" y="5009515"/>
            <a:ext cx="859790" cy="2914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6638925" y="4345305"/>
            <a:ext cx="4155440" cy="748030"/>
          </a:xfrm>
          <a:prstGeom prst="rect">
            <a:avLst/>
          </a:prstGeom>
          <a:noFill/>
        </p:spPr>
        <p:txBody>
          <a:bodyPr wrap="square" rtlCol="0">
            <a:spAutoFit/>
          </a:bodyPr>
          <a:p>
            <a:pPr>
              <a:lnSpc>
                <a:spcPct val="100000"/>
              </a:lnSpc>
              <a:spcBef>
                <a:spcPts val="0"/>
              </a:spcBef>
              <a:spcAft>
                <a:spcPts val="800"/>
              </a:spcAft>
            </a:pPr>
            <a:r>
              <a:rPr lang="zh-CN" altLang="en-US">
                <a:solidFill>
                  <a:schemeClr val="accent1"/>
                </a:solidFill>
                <a:effectLst>
                  <a:outerShdw blurRad="38100" dist="25400" dir="5400000" algn="ctr" rotWithShape="0">
                    <a:srgbClr val="6E747A">
                      <a:alpha val="43000"/>
                    </a:srgbClr>
                  </a:outerShdw>
                </a:effectLst>
              </a:rPr>
              <a:t>空间复杂度：</a:t>
            </a:r>
            <a:endParaRPr lang="zh-CN" altLang="en-US">
              <a:solidFill>
                <a:schemeClr val="accent1"/>
              </a:solidFill>
              <a:effectLst>
                <a:outerShdw blurRad="38100" dist="25400" dir="5400000" algn="ctr" rotWithShape="0">
                  <a:srgbClr val="6E747A">
                    <a:alpha val="43000"/>
                  </a:srgbClr>
                </a:outerShdw>
              </a:effectLst>
            </a:endParaRPr>
          </a:p>
          <a:p>
            <a:r>
              <a:rPr lang="en-US" altLang="zh-CN"/>
              <a:t>1e6的</a:t>
            </a:r>
            <a:r>
              <a:rPr lang="zh-CN" altLang="en-US"/>
              <a:t>数据</a:t>
            </a:r>
            <a:r>
              <a:rPr lang="en-US" altLang="zh-CN"/>
              <a:t>量级 ==&gt;  DFS</a:t>
            </a:r>
            <a:r>
              <a:rPr lang="zh-CN" altLang="en-US"/>
              <a:t>递归栈溢出！</a:t>
            </a:r>
            <a:endParaRPr lang="zh-CN" altLang="en-US"/>
          </a:p>
        </p:txBody>
      </p:sp>
      <p:pic>
        <p:nvPicPr>
          <p:cNvPr id="5" name="图片 -2147482610"/>
          <p:cNvPicPr>
            <a:picLocks noChangeAspect="1"/>
          </p:cNvPicPr>
          <p:nvPr/>
        </p:nvPicPr>
        <p:blipFill>
          <a:blip r:embed="rId4"/>
          <a:stretch>
            <a:fillRect/>
          </a:stretch>
        </p:blipFill>
        <p:spPr>
          <a:xfrm>
            <a:off x="6742430" y="5157470"/>
            <a:ext cx="4221480" cy="396240"/>
          </a:xfrm>
          <a:prstGeom prst="rect">
            <a:avLst/>
          </a:prstGeom>
          <a:noFill/>
          <a:ln w="9525">
            <a:noFill/>
          </a:ln>
        </p:spPr>
      </p:pic>
      <p:sp>
        <p:nvSpPr>
          <p:cNvPr id="21" name="文本框 20"/>
          <p:cNvSpPr txBox="1"/>
          <p:nvPr/>
        </p:nvSpPr>
        <p:spPr>
          <a:xfrm>
            <a:off x="7680325" y="5949315"/>
            <a:ext cx="2511425" cy="368300"/>
          </a:xfrm>
          <a:prstGeom prst="rect">
            <a:avLst/>
          </a:prstGeom>
          <a:noFill/>
        </p:spPr>
        <p:txBody>
          <a:bodyPr wrap="square" rtlCol="0">
            <a:spAutoFit/>
          </a:bodyPr>
          <a:p>
            <a:r>
              <a:rPr lang="zh-CN" altLang="en-US"/>
              <a:t>换用</a:t>
            </a:r>
            <a:r>
              <a:rPr lang="en-US" altLang="zh-CN"/>
              <a:t> </a:t>
            </a:r>
            <a:r>
              <a:rPr lang="en-US" altLang="zh-CN"/>
              <a:t>BFS </a:t>
            </a:r>
            <a:r>
              <a:rPr lang="zh-CN" altLang="en-US"/>
              <a:t>来构造</a:t>
            </a:r>
            <a:r>
              <a:rPr lang="zh-CN" altLang="en-US"/>
              <a:t>生成树</a:t>
            </a:r>
            <a:endParaRPr lang="zh-CN" altLang="en-US"/>
          </a:p>
        </p:txBody>
      </p:sp>
      <p:cxnSp>
        <p:nvCxnSpPr>
          <p:cNvPr id="22" name="直接箭头连接符 21"/>
          <p:cNvCxnSpPr/>
          <p:nvPr/>
        </p:nvCxnSpPr>
        <p:spPr>
          <a:xfrm flipH="1">
            <a:off x="8472170" y="5015865"/>
            <a:ext cx="445135" cy="100520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3" name="圆角矩形 22"/>
          <p:cNvSpPr/>
          <p:nvPr/>
        </p:nvSpPr>
        <p:spPr>
          <a:xfrm>
            <a:off x="1199515" y="2420620"/>
            <a:ext cx="4392930" cy="28829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并查集</a:t>
            </a:r>
            <a:r>
              <a:rPr lang="en-US" altLang="zh-CN" sz="3000" b="1" i="0">
                <a:solidFill>
                  <a:schemeClr val="accent1"/>
                </a:solidFill>
                <a:highlight>
                  <a:srgbClr val="FFFFFF">
                    <a:alpha val="0"/>
                  </a:srgbClr>
                </a:highlight>
                <a:latin typeface="微软雅黑" panose="020B0503020204020204" charset="-122"/>
              </a:rPr>
              <a:t>+</a:t>
            </a:r>
            <a:r>
              <a:rPr lang="zh-CN" altLang="en-US" sz="3000" b="1" i="0">
                <a:solidFill>
                  <a:schemeClr val="accent1"/>
                </a:solidFill>
                <a:highlight>
                  <a:srgbClr val="FFFFFF">
                    <a:alpha val="0"/>
                  </a:srgbClr>
                </a:highlight>
                <a:latin typeface="微软雅黑" panose="020B0503020204020204" charset="-122"/>
              </a:rPr>
              <a:t>生成树</a:t>
            </a:r>
            <a:r>
              <a:rPr lang="en-US" altLang="zh-CN" sz="3000" b="1" i="0">
                <a:solidFill>
                  <a:schemeClr val="accent1"/>
                </a:solidFill>
                <a:highlight>
                  <a:srgbClr val="FFFFFF">
                    <a:alpha val="0"/>
                  </a:srgbClr>
                </a:highlight>
                <a:latin typeface="微软雅黑" panose="020B0503020204020204" charset="-122"/>
              </a:rPr>
              <a:t>+</a:t>
            </a:r>
            <a:r>
              <a:rPr lang="en-US" altLang="zh-CN" sz="3000" b="1" i="0">
                <a:solidFill>
                  <a:schemeClr val="accent1"/>
                </a:solidFill>
                <a:highlight>
                  <a:srgbClr val="FFFFFF">
                    <a:alpha val="0"/>
                  </a:srgbClr>
                </a:highlight>
                <a:latin typeface="微软雅黑" panose="020B0503020204020204" charset="-122"/>
              </a:rPr>
              <a:t>LCA</a:t>
            </a:r>
            <a:endParaRPr lang="en-US" altLang="zh-CN" sz="3000" b="1" i="0">
              <a:solidFill>
                <a:schemeClr val="accent1"/>
              </a:solidFill>
              <a:highlight>
                <a:srgbClr val="FFFFFF">
                  <a:alpha val="0"/>
                </a:srgbClr>
              </a:highlight>
              <a:latin typeface="微软雅黑" panose="020B0503020204020204" charset="-122"/>
            </a:endParaRPr>
          </a:p>
        </p:txBody>
      </p:sp>
      <p:pic>
        <p:nvPicPr>
          <p:cNvPr id="4" name="图片 3"/>
          <p:cNvPicPr>
            <a:picLocks noChangeAspect="1"/>
          </p:cNvPicPr>
          <p:nvPr/>
        </p:nvPicPr>
        <p:blipFill>
          <a:blip r:embed="rId3"/>
          <a:stretch>
            <a:fillRect/>
          </a:stretch>
        </p:blipFill>
        <p:spPr>
          <a:xfrm>
            <a:off x="1779270" y="1980565"/>
            <a:ext cx="5161280" cy="4191635"/>
          </a:xfrm>
          <a:prstGeom prst="rect">
            <a:avLst/>
          </a:prstGeom>
        </p:spPr>
      </p:pic>
      <p:sp>
        <p:nvSpPr>
          <p:cNvPr id="6" name="文本框 5"/>
          <p:cNvSpPr txBox="1"/>
          <p:nvPr/>
        </p:nvSpPr>
        <p:spPr>
          <a:xfrm>
            <a:off x="1764665" y="1315720"/>
            <a:ext cx="4794885" cy="368300"/>
          </a:xfrm>
          <a:prstGeom prst="rect">
            <a:avLst/>
          </a:prstGeom>
          <a:noFill/>
        </p:spPr>
        <p:txBody>
          <a:bodyPr wrap="square" rtlCol="0">
            <a:spAutoFit/>
          </a:bodyPr>
          <a:p>
            <a:r>
              <a:rPr lang="en-US" altLang="zh-CN"/>
              <a:t>DFS</a:t>
            </a:r>
            <a:r>
              <a:rPr lang="zh-CN" altLang="en-US"/>
              <a:t>改用为</a:t>
            </a:r>
            <a:r>
              <a:rPr lang="en-US" altLang="zh-CN"/>
              <a:t>BFS</a:t>
            </a:r>
            <a:r>
              <a:rPr lang="zh-CN" altLang="en-US"/>
              <a:t>，利用队列来减少递归栈的</a:t>
            </a:r>
            <a:r>
              <a:rPr lang="zh-CN" altLang="en-US"/>
              <a:t>使用！</a:t>
            </a:r>
            <a:endParaRPr lang="zh-CN" altLang="en-US"/>
          </a:p>
        </p:txBody>
      </p:sp>
      <p:sp>
        <p:nvSpPr>
          <p:cNvPr id="10" name="文本框 9"/>
          <p:cNvSpPr txBox="1"/>
          <p:nvPr/>
        </p:nvSpPr>
        <p:spPr>
          <a:xfrm>
            <a:off x="7680325" y="2052320"/>
            <a:ext cx="3054350" cy="368300"/>
          </a:xfrm>
          <a:prstGeom prst="rect">
            <a:avLst/>
          </a:prstGeom>
          <a:noFill/>
        </p:spPr>
        <p:txBody>
          <a:bodyPr wrap="square" rtlCol="0">
            <a:spAutoFit/>
          </a:bodyPr>
          <a:p>
            <a:r>
              <a:rPr lang="en-US" altLang="zh-CN"/>
              <a:t>BFS</a:t>
            </a:r>
            <a:r>
              <a:rPr lang="zh-CN" altLang="en-US"/>
              <a:t>构造的生成树高度较</a:t>
            </a:r>
            <a:r>
              <a:rPr lang="zh-CN" altLang="en-US"/>
              <a:t>小</a:t>
            </a:r>
            <a:endParaRPr lang="zh-CN" altLang="en-US"/>
          </a:p>
        </p:txBody>
      </p:sp>
      <p:sp>
        <p:nvSpPr>
          <p:cNvPr id="11" name="下箭头 10"/>
          <p:cNvSpPr/>
          <p:nvPr/>
        </p:nvSpPr>
        <p:spPr>
          <a:xfrm>
            <a:off x="8832215" y="2564130"/>
            <a:ext cx="648335" cy="187261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915910" y="4652645"/>
            <a:ext cx="2481580" cy="368300"/>
          </a:xfrm>
          <a:prstGeom prst="rect">
            <a:avLst/>
          </a:prstGeom>
          <a:noFill/>
        </p:spPr>
        <p:txBody>
          <a:bodyPr wrap="square" rtlCol="0">
            <a:spAutoFit/>
          </a:bodyPr>
          <a:p>
            <a:r>
              <a:rPr lang="zh-CN" altLang="en-US"/>
              <a:t>小幅度优化</a:t>
            </a:r>
            <a:r>
              <a:rPr lang="en-US" altLang="zh-CN"/>
              <a:t>LCA</a:t>
            </a:r>
            <a:r>
              <a:rPr lang="zh-CN" altLang="en-US"/>
              <a:t>的</a:t>
            </a:r>
            <a:r>
              <a:rPr lang="zh-CN" altLang="en-US"/>
              <a:t>效率</a:t>
            </a:r>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4</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1119505" y="2487930"/>
            <a:ext cx="7853045"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算法性能</a:t>
            </a:r>
            <a:r>
              <a:rPr lang="zh-CN" sz="4800" b="1" i="0">
                <a:solidFill>
                  <a:srgbClr val="0055FF"/>
                </a:solidFill>
                <a:highlight>
                  <a:srgbClr val="FFFFFF">
                    <a:alpha val="0"/>
                  </a:srgbClr>
                </a:highlight>
                <a:latin typeface="微软雅黑" panose="020B0503020204020204" charset="-122"/>
              </a:rPr>
              <a:t>对比</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算法性能</a:t>
            </a:r>
            <a:r>
              <a:rPr lang="zh-CN" altLang="en-US" sz="3000" b="1" i="0">
                <a:solidFill>
                  <a:schemeClr val="accent1"/>
                </a:solidFill>
                <a:highlight>
                  <a:srgbClr val="FFFFFF">
                    <a:alpha val="0"/>
                  </a:srgbClr>
                </a:highlight>
                <a:latin typeface="微软雅黑" panose="020B0503020204020204" charset="-122"/>
              </a:rPr>
              <a:t>对比</a:t>
            </a:r>
            <a:endParaRPr lang="zh-CN" altLang="en-US" sz="3000" b="1" i="0">
              <a:solidFill>
                <a:schemeClr val="accent1"/>
              </a:solidFill>
              <a:highlight>
                <a:srgbClr val="FFFFFF">
                  <a:alpha val="0"/>
                </a:srgbClr>
              </a:highlight>
              <a:latin typeface="微软雅黑" panose="020B0503020204020204" charset="-122"/>
            </a:endParaRPr>
          </a:p>
        </p:txBody>
      </p:sp>
      <p:graphicFrame>
        <p:nvGraphicFramePr>
          <p:cNvPr id="5" name="表格 4"/>
          <p:cNvGraphicFramePr/>
          <p:nvPr/>
        </p:nvGraphicFramePr>
        <p:xfrm>
          <a:off x="1054418" y="2560955"/>
          <a:ext cx="4391025" cy="1714500"/>
        </p:xfrm>
        <a:graphic>
          <a:graphicData uri="http://schemas.openxmlformats.org/drawingml/2006/table">
            <a:tbl>
              <a:tblPr/>
              <a:tblGrid>
                <a:gridCol w="1690688"/>
                <a:gridCol w="900112"/>
                <a:gridCol w="900113"/>
                <a:gridCol w="900112"/>
              </a:tblGrid>
              <a:tr h="444500">
                <a:tc>
                  <a:txBody>
                    <a:bodyPr/>
                    <a:p>
                      <a:pPr indent="0">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图集算法（耗时 ms）</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图2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mediumDG</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largeG</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基准算法</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1.003</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1.132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栈溢出</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基准+并查集</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1.159</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1.004</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运行超时</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并查集+dfs生成树+LCA</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栈溢出</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并查集+bfs生成树+LCA</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1.004</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1822.87</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答案（桥的数量）</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6</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8</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6" name="表格 5"/>
          <p:cNvGraphicFramePr/>
          <p:nvPr/>
        </p:nvGraphicFramePr>
        <p:xfrm>
          <a:off x="6672263" y="2560955"/>
          <a:ext cx="4391025" cy="1714500"/>
        </p:xfrm>
        <a:graphic>
          <a:graphicData uri="http://schemas.openxmlformats.org/drawingml/2006/table">
            <a:tbl>
              <a:tblPr/>
              <a:tblGrid>
                <a:gridCol w="1690688"/>
                <a:gridCol w="900112"/>
                <a:gridCol w="900113"/>
                <a:gridCol w="900112"/>
              </a:tblGrid>
              <a:tr h="444500">
                <a:tc>
                  <a:txBody>
                    <a:bodyPr/>
                    <a:p>
                      <a:pPr indent="0">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图集算法（耗时 ms）</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图2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mediumDG</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largeG</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基准算法</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2.044</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运行超时</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基准+并查集</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1.044</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1.003</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运行超时</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并查集+dfs生成树+LCA</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栈溢出</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并查集+bfs生成树+LCA</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1.002</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1628.35</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000">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答案（桥的数量）</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6</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100" b="0">
                          <a:solidFill>
                            <a:srgbClr val="000000"/>
                          </a:solidFill>
                          <a:latin typeface="宋体" panose="02010600030101010101" pitchFamily="2" charset="-122"/>
                          <a:ea typeface="宋体" panose="02010600030101010101" pitchFamily="2" charset="-122"/>
                          <a:cs typeface="宋体" panose="02010600030101010101" pitchFamily="2" charset="-122"/>
                        </a:rPr>
                        <a:t>8</a:t>
                      </a:r>
                      <a:endParaRPr lang="en-US" altLang="en-US" sz="11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 name="右箭头 6"/>
          <p:cNvSpPr/>
          <p:nvPr/>
        </p:nvSpPr>
        <p:spPr>
          <a:xfrm>
            <a:off x="5664200" y="3209290"/>
            <a:ext cx="791845" cy="3600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5607685" y="2849245"/>
            <a:ext cx="977265" cy="337185"/>
          </a:xfrm>
          <a:prstGeom prst="rect">
            <a:avLst/>
          </a:prstGeom>
          <a:noFill/>
        </p:spPr>
        <p:txBody>
          <a:bodyPr wrap="square" rtlCol="0">
            <a:spAutoFit/>
          </a:bodyPr>
          <a:p>
            <a:r>
              <a:rPr lang="en-US" altLang="zh-CN" sz="1600"/>
              <a:t>O3</a:t>
            </a:r>
            <a:r>
              <a:rPr lang="zh-CN" altLang="en-US" sz="1600"/>
              <a:t>优化</a:t>
            </a:r>
            <a:endParaRPr lang="zh-CN" altLang="en-US" sz="1600"/>
          </a:p>
        </p:txBody>
      </p:sp>
      <p:sp>
        <p:nvSpPr>
          <p:cNvPr id="9" name="文本框 8"/>
          <p:cNvSpPr txBox="1"/>
          <p:nvPr/>
        </p:nvSpPr>
        <p:spPr>
          <a:xfrm>
            <a:off x="5590540" y="3641090"/>
            <a:ext cx="939165" cy="337185"/>
          </a:xfrm>
          <a:prstGeom prst="rect">
            <a:avLst/>
          </a:prstGeom>
          <a:noFill/>
        </p:spPr>
        <p:txBody>
          <a:bodyPr wrap="square" rtlCol="0">
            <a:spAutoFit/>
          </a:bodyPr>
          <a:p>
            <a:r>
              <a:rPr lang="zh-CN" altLang="en-US" sz="1600"/>
              <a:t>改用</a:t>
            </a:r>
            <a:r>
              <a:rPr lang="en-US" altLang="zh-CN" sz="1600"/>
              <a:t>BFS</a:t>
            </a:r>
            <a:endParaRPr lang="en-US" altLang="zh-CN" sz="1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7" grpId="1" animBg="1"/>
      <p:bldP spid="8" grpId="1"/>
      <p:bldP spid="9"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5</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实验</a:t>
            </a:r>
            <a:r>
              <a:rPr lang="zh-CN" sz="4800" b="1" i="0">
                <a:solidFill>
                  <a:srgbClr val="0055FF"/>
                </a:solidFill>
                <a:highlight>
                  <a:srgbClr val="FFFFFF">
                    <a:alpha val="0"/>
                  </a:srgbClr>
                </a:highlight>
                <a:latin typeface="微软雅黑" panose="020B0503020204020204" charset="-122"/>
              </a:rPr>
              <a:t>总结</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实验</a:t>
            </a:r>
            <a:r>
              <a:rPr lang="zh-CN" sz="3000" b="1" i="0">
                <a:solidFill>
                  <a:schemeClr val="accent1"/>
                </a:solidFill>
                <a:highlight>
                  <a:srgbClr val="FFFFFF">
                    <a:alpha val="0"/>
                  </a:srgbClr>
                </a:highlight>
                <a:latin typeface="微软雅黑" panose="020B0503020204020204" charset="-122"/>
              </a:rPr>
              <a:t>总结</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911225" y="1197610"/>
            <a:ext cx="10494645" cy="3784600"/>
          </a:xfrm>
          <a:prstGeom prst="rect">
            <a:avLst/>
          </a:prstGeom>
          <a:noFill/>
        </p:spPr>
        <p:txBody>
          <a:bodyPr wrap="square" rtlCol="0">
            <a:spAutoFit/>
          </a:bodyPr>
          <a:p>
            <a:pPr marL="342900" indent="-342900">
              <a:lnSpc>
                <a:spcPct val="200000"/>
              </a:lnSpc>
              <a:buAutoNum type="arabicPeriod"/>
            </a:pPr>
            <a:r>
              <a:rPr lang="zh-CN" altLang="en-US" sz="2000"/>
              <a:t>借助树面优化图论算法，如生成树</a:t>
            </a:r>
            <a:r>
              <a:rPr lang="en-US" altLang="zh-CN" sz="2000"/>
              <a:t>...</a:t>
            </a:r>
            <a:endParaRPr lang="zh-CN" altLang="en-US" sz="2000"/>
          </a:p>
          <a:p>
            <a:pPr marL="342900" indent="-342900">
              <a:lnSpc>
                <a:spcPct val="200000"/>
              </a:lnSpc>
              <a:buAutoNum type="arabicPeriod"/>
            </a:pPr>
            <a:r>
              <a:rPr lang="en-US" altLang="zh-CN" sz="2000"/>
              <a:t>“</a:t>
            </a:r>
            <a:r>
              <a:rPr lang="zh-CN" altLang="en-US" sz="2000"/>
              <a:t>正难则反</a:t>
            </a:r>
            <a:r>
              <a:rPr lang="en-US" altLang="zh-CN" sz="2000"/>
              <a:t>”</a:t>
            </a:r>
            <a:r>
              <a:rPr lang="zh-CN" altLang="en-US" sz="2000"/>
              <a:t>解决</a:t>
            </a:r>
            <a:r>
              <a:rPr lang="en-US" altLang="zh-CN" sz="2000"/>
              <a:t>“</a:t>
            </a:r>
            <a:r>
              <a:rPr lang="zh-CN" altLang="en-US" sz="2000"/>
              <a:t>桥</a:t>
            </a:r>
            <a:r>
              <a:rPr lang="en-US" altLang="zh-CN" sz="2000"/>
              <a:t>”</a:t>
            </a:r>
            <a:r>
              <a:rPr lang="zh-CN" altLang="en-US" sz="2000"/>
              <a:t>的问题</a:t>
            </a:r>
            <a:endParaRPr lang="zh-CN" altLang="en-US" sz="2000"/>
          </a:p>
          <a:p>
            <a:pPr marL="342900" indent="-342900">
              <a:lnSpc>
                <a:spcPct val="200000"/>
              </a:lnSpc>
              <a:buAutoNum type="arabicPeriod"/>
            </a:pPr>
            <a:r>
              <a:rPr lang="zh-CN" altLang="en-US" sz="2000"/>
              <a:t>邻接表：适用于图的遍历，节省空间，适用于稀疏图，且插入和删除操作高效</a:t>
            </a:r>
            <a:endParaRPr lang="zh-CN" altLang="en-US" sz="2000"/>
          </a:p>
          <a:p>
            <a:pPr marL="342900" indent="-342900">
              <a:lnSpc>
                <a:spcPct val="200000"/>
              </a:lnSpc>
              <a:buAutoNum type="arabicPeriod"/>
            </a:pPr>
            <a:r>
              <a:rPr lang="zh-CN" altLang="en-US" sz="2000"/>
              <a:t>并查集：用于管理元素所属集合，适用于处理图连通性问题，支持快速的合并和查询操作</a:t>
            </a:r>
            <a:endParaRPr lang="zh-CN" altLang="en-US" sz="2000"/>
          </a:p>
          <a:p>
            <a:pPr marL="342900" indent="-342900">
              <a:lnSpc>
                <a:spcPct val="200000"/>
              </a:lnSpc>
              <a:buAutoNum type="arabicPeriod"/>
            </a:pPr>
            <a:r>
              <a:rPr lang="zh-CN" altLang="en-US" sz="2000"/>
              <a:t>使用</a:t>
            </a:r>
            <a:r>
              <a:rPr lang="en-US" altLang="zh-CN" sz="2000"/>
              <a:t>BFS</a:t>
            </a:r>
            <a:r>
              <a:rPr lang="zh-CN" altLang="en-US" sz="2000"/>
              <a:t>替代</a:t>
            </a:r>
            <a:r>
              <a:rPr lang="en-US" altLang="zh-CN" sz="2000"/>
              <a:t>DFS</a:t>
            </a:r>
            <a:r>
              <a:rPr lang="zh-CN" altLang="en-US" sz="2000"/>
              <a:t>从而解决</a:t>
            </a:r>
            <a:r>
              <a:rPr lang="en-US" altLang="zh-CN" sz="2000"/>
              <a:t>“</a:t>
            </a:r>
            <a:r>
              <a:rPr lang="zh-CN" altLang="en-US" sz="2000"/>
              <a:t>栈溢出</a:t>
            </a:r>
            <a:r>
              <a:rPr lang="en-US" altLang="zh-CN" sz="2000"/>
              <a:t>”</a:t>
            </a:r>
            <a:r>
              <a:rPr lang="zh-CN" altLang="en-US" sz="2000"/>
              <a:t>问题</a:t>
            </a:r>
            <a:endParaRPr lang="zh-CN" altLang="en-US" sz="2000"/>
          </a:p>
          <a:p>
            <a:pPr marL="342900" indent="-342900">
              <a:lnSpc>
                <a:spcPct val="200000"/>
              </a:lnSpc>
              <a:buAutoNum type="arabicPeriod"/>
            </a:pPr>
            <a:r>
              <a:rPr lang="zh-CN" altLang="en-US" sz="2000"/>
              <a:t>O3是GCC和Clang编译器中的</a:t>
            </a:r>
            <a:r>
              <a:rPr lang="zh-CN" altLang="en-US" sz="2000">
                <a:sym typeface="+mn-ea"/>
              </a:rPr>
              <a:t>最高</a:t>
            </a:r>
            <a:r>
              <a:rPr lang="zh-CN" altLang="en-US" sz="2000"/>
              <a:t>优化级别，我们可以使用O3</a:t>
            </a:r>
            <a:r>
              <a:rPr lang="zh-CN" altLang="en-US" sz="2000"/>
              <a:t>编译优化来提高程序的性能。</a:t>
            </a:r>
            <a:endParaRPr lang="zh-CN" altLang="en-US" sz="20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200712"/>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感</a:t>
            </a:r>
            <a:r>
              <a:rPr sz="4800" b="1" i="0">
                <a:solidFill>
                  <a:srgbClr val="000000"/>
                </a:solidFill>
                <a:highlight>
                  <a:srgbClr val="FFFFFF">
                    <a:alpha val="0"/>
                  </a:srgbClr>
                </a:highlight>
                <a:latin typeface="微软雅黑" panose="020B0503020204020204" charset="-122"/>
              </a:rPr>
              <a:t> 谢 </a:t>
            </a:r>
            <a:r>
              <a:rPr lang="zh-CN" sz="4800" b="1" i="0">
                <a:solidFill>
                  <a:srgbClr val="000000"/>
                </a:solidFill>
                <a:highlight>
                  <a:srgbClr val="FFFFFF">
                    <a:alpha val="0"/>
                  </a:srgbClr>
                </a:highlight>
                <a:latin typeface="微软雅黑" panose="020B0503020204020204" charset="-122"/>
              </a:rPr>
              <a:t>观</a:t>
            </a:r>
            <a:r>
              <a:rPr lang="en-US" altLang="zh-CN" sz="4800" b="1" i="0">
                <a:solidFill>
                  <a:srgbClr val="000000"/>
                </a:solidFill>
                <a:highlight>
                  <a:srgbClr val="FFFFFF">
                    <a:alpha val="0"/>
                  </a:srgbClr>
                </a:highlight>
                <a:latin typeface="微软雅黑" panose="020B0503020204020204" charset="-122"/>
              </a:rPr>
              <a:t> </a:t>
            </a:r>
            <a:r>
              <a:rPr lang="zh-CN" sz="4800" b="1" i="0">
                <a:solidFill>
                  <a:srgbClr val="000000"/>
                </a:solidFill>
                <a:highlight>
                  <a:srgbClr val="FFFFFF">
                    <a:alpha val="0"/>
                  </a:srgbClr>
                </a:highlight>
                <a:latin typeface="微软雅黑" panose="020B0503020204020204" charset="-122"/>
              </a:rPr>
              <a:t>看</a:t>
            </a:r>
            <a:endParaRPr lang="zh-CN" sz="4800" b="1" i="0">
              <a:solidFill>
                <a:srgbClr val="000000"/>
              </a:solidFill>
              <a:highlight>
                <a:srgbClr val="FFFFFF">
                  <a:alpha val="0"/>
                </a:srgbClr>
              </a:highlight>
              <a:latin typeface="微软雅黑" panose="020B0503020204020204" charset="-122"/>
            </a:endParaRPr>
          </a:p>
        </p:txBody>
      </p:sp>
      <p:sp>
        <p:nvSpPr>
          <p:cNvPr id="4" name="文本框 3"/>
          <p:cNvSpPr txBox="1"/>
          <p:nvPr/>
        </p:nvSpPr>
        <p:spPr>
          <a:xfrm>
            <a:off x="4295775" y="4293235"/>
            <a:ext cx="3657600" cy="368300"/>
          </a:xfrm>
          <a:prstGeom prst="rect">
            <a:avLst/>
          </a:prstGeom>
          <a:noFill/>
        </p:spPr>
        <p:txBody>
          <a:bodyPr wrap="square" rtlCol="0">
            <a:spAutoFit/>
          </a:bodyPr>
          <a:p>
            <a:r>
              <a:rPr lang="zh-CN" altLang="en-US">
                <a:solidFill>
                  <a:schemeClr val="accent1"/>
                </a:solidFill>
              </a:rPr>
              <a:t>指导老师：刘刚</a:t>
            </a:r>
            <a:r>
              <a:rPr lang="en-US" altLang="zh-CN">
                <a:solidFill>
                  <a:schemeClr val="accent1"/>
                </a:solidFill>
              </a:rPr>
              <a:t>	</a:t>
            </a:r>
            <a:r>
              <a:rPr lang="zh-CN" altLang="en-US">
                <a:solidFill>
                  <a:schemeClr val="accent1"/>
                </a:solidFill>
              </a:rPr>
              <a:t>分享人：</a:t>
            </a:r>
            <a:r>
              <a:rPr lang="zh-CN" altLang="en-US">
                <a:solidFill>
                  <a:schemeClr val="accent1"/>
                </a:solidFill>
              </a:rPr>
              <a:t>杨皓翔</a:t>
            </a:r>
            <a:endParaRPr lang="zh-CN" altLang="en-US">
              <a:solidFill>
                <a:schemeClr val="accent1"/>
              </a:solidFill>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2.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3.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4.xml><?xml version="1.0" encoding="utf-8"?>
<p:tagLst xmlns:p="http://schemas.openxmlformats.org/presentationml/2006/main">
  <p:tag name="KSO_WM_DIAGRAM_VIRTUALLY_FRAME" val="{&quot;height&quot;:283.88929133858267,&quot;left&quot;:480.00196850393706,&quot;top&quot;:42.71070866141732,&quot;width&quot;:340.79803149606295}"/>
</p:tagLst>
</file>

<file path=ppt/tags/tag5.xml><?xml version="1.0" encoding="utf-8"?>
<p:tagLst xmlns:p="http://schemas.openxmlformats.org/presentationml/2006/main">
  <p:tag name="AS_NET" val="Unix 5.4 unknown"/>
  <p:tag name="AS_OS" val="Unix 5.4 unknown"/>
  <p:tag name="AS_RELEASE_DATE" val="2013.12.17"/>
  <p:tag name="AS_TITLE" val="Spire.Presentation for .NET "/>
  <p:tag name="AS_VERSION" val="2.1.0.0"/>
  <p:tag name="COMMONDATA" val="eyJoZGlkIjoiOTc3M2Y5NzIzMDFlZjAyY2Q4Njk5ODkyYjFjNzBiNTQifQ=="/>
  <p:tag name="commondata" val="eyJoZGlkIjoiNGYwODNlYjhiYmEyY2FmYzRkZGIyNDc5ZTM2Zjk2NWY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2199</Words>
  <Application>WPS 演示</Application>
  <PresentationFormat>宽屏</PresentationFormat>
  <Paragraphs>317</Paragraphs>
  <Slides>21</Slides>
  <Notes>39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Arial</vt:lpstr>
      <vt:lpstr>宋体</vt:lpstr>
      <vt:lpstr>Wingdings</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对方正在输入...</cp:lastModifiedBy>
  <cp:revision>252</cp:revision>
  <dcterms:created xsi:type="dcterms:W3CDTF">2024-03-27T00:31:00Z</dcterms:created>
  <dcterms:modified xsi:type="dcterms:W3CDTF">2025-06-17T02:55:16Z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FB7A891FF09F4B4CA53B03D5072DD70B_12</vt:lpwstr>
  </property>
  <property fmtid="{D5CDD505-2E9C-101B-9397-08002B2CF9AE}" pid="3" name="KSOProductBuildVer">
    <vt:lpwstr>2052-12.1.0.16729</vt:lpwstr>
  </property>
</Properties>
</file>