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6" r:id="rId1"/>
  </p:sldMasterIdLst>
  <p:notesMasterIdLst>
    <p:notesMasterId r:id="rId9"/>
  </p:notesMasterIdLst>
  <p:handoutMasterIdLst>
    <p:handoutMasterId r:id="rId10"/>
  </p:handoutMasterIdLst>
  <p:sldIdLst>
    <p:sldId id="260" r:id="rId2"/>
    <p:sldId id="279" r:id="rId3"/>
    <p:sldId id="281" r:id="rId4"/>
    <p:sldId id="282" r:id="rId5"/>
    <p:sldId id="283" r:id="rId6"/>
    <p:sldId id="284" r:id="rId7"/>
    <p:sldId id="285" r:id="rId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C739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87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78" d="100"/>
          <a:sy n="78" d="100"/>
        </p:scale>
        <p:origin x="3066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50CE8F07-9C8C-74E7-F675-65EA54A36E6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95AE106-5529-9EEA-681C-15C8551B2FC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08EF70-F239-4FD0-BAB8-E5A99D2FA672}" type="datetimeFigureOut">
              <a:rPr lang="zh-CN" altLang="en-US" smtClean="0"/>
              <a:t>2024/3/26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34F6C7E4-C061-390B-9E08-E6E7C2291BC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9884012-EBC5-6AEB-DFEE-025232EC1D2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7E264B4-A752-417E-A464-7B5B1CE5A11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971361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C60B34-9269-4A8F-A560-20F17463476D}" type="datetimeFigureOut">
              <a:rPr lang="zh-CN" altLang="en-US" smtClean="0"/>
              <a:t>2024/3/26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8ABC02-F57D-4B68-BD45-912D5AAE143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28481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C0FD55-1BFE-4170-A33F-CDE13985B4C9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54054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C0FD55-1BFE-4170-A33F-CDE13985B4C9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369091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C0FD55-1BFE-4170-A33F-CDE13985B4C9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93078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C0FD55-1BFE-4170-A33F-CDE13985B4C9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7610862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C0FD55-1BFE-4170-A33F-CDE13985B4C9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1966548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C0FD55-1BFE-4170-A33F-CDE13985B4C9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53805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7F23A66-B503-A484-7E8C-74098801A3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FD80AB1-FEAC-B7E0-2B33-A628945FC8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58D54A7-849E-335E-6ACA-19A55FF484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541B0-1800-4D46-995B-BAAF8C27BC2C}" type="datetimeFigureOut">
              <a:rPr lang="zh-CN" altLang="en-US" smtClean="0"/>
              <a:t>2024/3/26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C23CF9B-112F-F41D-4B9D-C6F3C28D2C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B42F35A-4FC7-1B2C-180B-FE9A4B1BD7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5A9A58-D89F-44DF-A600-DC18A368859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07898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283B3A7-4F67-BFBB-346A-541CC279C0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F4BD4FA-D2D3-DC02-6DAE-038E5AD8C4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AAA32D7-47BE-FA14-AF1B-CD053A33AD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541B0-1800-4D46-995B-BAAF8C27BC2C}" type="datetimeFigureOut">
              <a:rPr lang="zh-CN" altLang="en-US" smtClean="0"/>
              <a:t>2024/3/26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DCD4142-447F-BC01-9AE6-EB9ABEF739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232D4F4-2ED8-C1E4-CB1B-74843968D7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5A9A58-D89F-44DF-A600-DC18A368859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765236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D443E3C-4667-2761-88D8-86A83A220A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E85BF82-3777-0584-2004-102771B613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DE42E1F-25C3-0F2B-A1AD-7EE221656F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541B0-1800-4D46-995B-BAAF8C27BC2C}" type="datetimeFigureOut">
              <a:rPr lang="zh-CN" altLang="en-US" smtClean="0"/>
              <a:t>2024/3/26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3B8E59D-78DF-F8D6-9DDC-23CF66B145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B20BFFC-CC80-E763-6837-F751C0E519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5A9A58-D89F-44DF-A600-DC18A368859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46422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7D41218-EF2D-877A-701C-1714A5A156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6399E64-A481-107A-3EE7-AF3B24E0D19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BAFA7D2-F8A9-C916-8B1F-1AE5EADC52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1CB1A57-20D1-8EDE-A7CB-1486EF0268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541B0-1800-4D46-995B-BAAF8C27BC2C}" type="datetimeFigureOut">
              <a:rPr lang="zh-CN" altLang="en-US" smtClean="0"/>
              <a:t>2024/3/26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6360AE4-F598-CDE7-3047-68C15B3915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A716C18-6EB2-442A-1A81-D74B2379A1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5A9A58-D89F-44DF-A600-DC18A368859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97881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47B4C7-BD07-4F6C-F988-FC10089066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8A47C5A-1D69-6A74-F307-8D50C07302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A060EAC-B00E-627B-9DCB-5943B27125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14B9A426-C595-F389-4C9D-61142BDB11A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D5A3A37C-CCBD-CB10-44C6-EBE9C644215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235D8FD1-0D8A-8AD7-55C8-E96CE9CDD0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541B0-1800-4D46-995B-BAAF8C27BC2C}" type="datetimeFigureOut">
              <a:rPr lang="zh-CN" altLang="en-US" smtClean="0"/>
              <a:t>2024/3/26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636A372E-B472-8CD1-FBEC-B60F516720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2D1C2EA7-7363-5E9D-DE91-459929E793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5A9A58-D89F-44DF-A600-DC18A368859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78943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C0B80E2-3413-522C-9249-E88F9A1F83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A2778E4F-C8F1-D159-1CFC-1C1892C909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541B0-1800-4D46-995B-BAAF8C27BC2C}" type="datetimeFigureOut">
              <a:rPr lang="zh-CN" altLang="en-US" smtClean="0"/>
              <a:t>2024/3/26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40FA404F-6FD0-B17C-3975-F3AEC34CEE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B210310-8F3C-C4D2-9823-A1D987D631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5A9A58-D89F-44DF-A600-DC18A368859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568306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A55D0C8-E3EC-5DAC-F729-D3D4CDA3F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541B0-1800-4D46-995B-BAAF8C27BC2C}" type="datetimeFigureOut">
              <a:rPr lang="zh-CN" altLang="en-US" smtClean="0"/>
              <a:t>2024/3/26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6FF90C10-E835-E2B5-6210-8242D75593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18C545C-FAD5-E5EA-13BE-BA91FC8840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5A9A58-D89F-44DF-A600-DC18A368859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786748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B519324-0890-486E-CD09-4BDDAA9E38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8CBD332-2789-07CC-FF7C-0D8D8EB045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5BA85B2-CEEA-6678-DDB8-BBBB893FD1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94AA7B9-2CF5-1A0B-032E-9C1FD41664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541B0-1800-4D46-995B-BAAF8C27BC2C}" type="datetimeFigureOut">
              <a:rPr lang="zh-CN" altLang="en-US" smtClean="0"/>
              <a:t>2024/3/26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6777D58-DCD9-8628-9F4E-84983D4EEC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27E8CB3-432E-A5B9-01AA-220F24D1A9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5A9A58-D89F-44DF-A600-DC18A368859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505486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D42AF0F-0401-D850-28CB-610B094636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F77447EE-9C80-60D6-CB89-173C3B5D073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5D5474F-ADBA-2241-84C2-070C60938A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EA17C05-4C40-5EE3-85BB-C1F1243867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541B0-1800-4D46-995B-BAAF8C27BC2C}" type="datetimeFigureOut">
              <a:rPr lang="zh-CN" altLang="en-US" smtClean="0"/>
              <a:t>2024/3/26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055B2FF-D7EE-F0DE-65A1-2C4F20BB9C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24AB489-74DD-3073-DADC-E714D9E0C4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5A9A58-D89F-44DF-A600-DC18A368859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77114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C83D9CA-0E33-3728-824B-AEACF92C6D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46C8340-B4CE-200E-F084-DF40F03EDF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9DE7D7F-86C1-E897-A478-D7E17D927F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541B0-1800-4D46-995B-BAAF8C27BC2C}" type="datetimeFigureOut">
              <a:rPr lang="zh-CN" altLang="en-US" smtClean="0"/>
              <a:t>2024/3/26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4D18CAD-427F-2729-6A03-A2128EB11E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D610962-940E-CF6A-9090-30B1E439D8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5A9A58-D89F-44DF-A600-DC18A368859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91258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CDFD156C-1444-BAA1-F3EB-FBE50CB5E90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82CED79-8042-AD9A-7562-1810FD842F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A83B03F-81EF-D556-83D7-1159D72956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541B0-1800-4D46-995B-BAAF8C27BC2C}" type="datetimeFigureOut">
              <a:rPr lang="zh-CN" altLang="en-US" smtClean="0"/>
              <a:t>2024/3/26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201E492-95C7-E900-69A5-D6126CE8C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999185F-53D8-FA3F-1D73-CCE0F5D518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5A9A58-D89F-44DF-A600-DC18A368859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469531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870276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D3421468-339B-8BA4-AD67-5D510D9AA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D063DA1-A373-8EC3-810E-35BB728979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9DCC28F-A0E6-7FA1-2216-5EB57CA2FF0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B541B0-1800-4D46-995B-BAAF8C27BC2C}" type="datetimeFigureOut">
              <a:rPr lang="zh-CN" altLang="en-US" smtClean="0"/>
              <a:t>2024/3/26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D3BB2E7-C941-1D39-0A5A-D51F04520F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56BC055-A5B3-1AC4-B217-07F32768AF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5A9A58-D89F-44DF-A600-DC18A368859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59662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58" r:id="rId2"/>
    <p:sldLayoutId id="2147483659" r:id="rId3"/>
    <p:sldLayoutId id="2147483660" r:id="rId4"/>
    <p:sldLayoutId id="2147483661" r:id="rId5"/>
    <p:sldLayoutId id="2147483662" r:id="rId6"/>
    <p:sldLayoutId id="2147483663" r:id="rId7"/>
    <p:sldLayoutId id="2147483664" r:id="rId8"/>
    <p:sldLayoutId id="2147483665" r:id="rId9"/>
    <p:sldLayoutId id="2147483666" r:id="rId10"/>
    <p:sldLayoutId id="2147483667" r:id="rId11"/>
    <p:sldLayoutId id="2147483668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57C9DF69-B0E2-11F9-1E43-4E67A89CA8C8}"/>
              </a:ext>
            </a:extLst>
          </p:cNvPr>
          <p:cNvSpPr txBox="1"/>
          <p:nvPr/>
        </p:nvSpPr>
        <p:spPr>
          <a:xfrm>
            <a:off x="3951823" y="152400"/>
            <a:ext cx="42883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dirty="0">
                <a:solidFill>
                  <a:schemeClr val="bg1"/>
                </a:solidFill>
              </a:rPr>
              <a:t>排序算法性能分析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18AD550-9776-37A7-2537-1BF37F087413}"/>
              </a:ext>
            </a:extLst>
          </p:cNvPr>
          <p:cNvSpPr txBox="1"/>
          <p:nvPr/>
        </p:nvSpPr>
        <p:spPr>
          <a:xfrm>
            <a:off x="1071066" y="1382286"/>
            <a:ext cx="5761514" cy="40934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/>
              <a:t>实验分享目录：</a:t>
            </a:r>
            <a:endParaRPr lang="en-US" altLang="zh-CN" sz="2000" dirty="0"/>
          </a:p>
          <a:p>
            <a:r>
              <a:rPr lang="en-US" altLang="zh-CN" sz="2000" dirty="0"/>
              <a:t>1.</a:t>
            </a:r>
            <a:r>
              <a:rPr lang="zh-CN" altLang="en-US" sz="2000" dirty="0"/>
              <a:t>解题思路简述</a:t>
            </a:r>
            <a:endParaRPr lang="en-US" altLang="zh-CN" sz="2000" dirty="0"/>
          </a:p>
          <a:p>
            <a:r>
              <a:rPr lang="en-US" altLang="zh-CN" sz="2000" dirty="0"/>
              <a:t>2.</a:t>
            </a:r>
            <a:r>
              <a:rPr lang="zh-CN" altLang="en-US" sz="2000" dirty="0"/>
              <a:t>算法实现的核心伪代码</a:t>
            </a:r>
            <a:endParaRPr lang="en-US" altLang="zh-CN" sz="2000" dirty="0"/>
          </a:p>
          <a:p>
            <a:r>
              <a:rPr lang="en-US" altLang="zh-CN" sz="2000" dirty="0"/>
              <a:t>3.</a:t>
            </a:r>
            <a:r>
              <a:rPr lang="zh-CN" altLang="en-US" sz="2000" dirty="0"/>
              <a:t>算法测试结果及效率分析</a:t>
            </a:r>
            <a:endParaRPr lang="en-US" altLang="zh-CN" sz="2000" dirty="0"/>
          </a:p>
          <a:p>
            <a:r>
              <a:rPr lang="en-US" altLang="zh-CN" sz="2000" dirty="0"/>
              <a:t>4.</a:t>
            </a:r>
            <a:r>
              <a:rPr lang="zh-CN" altLang="en-US" sz="2000" dirty="0"/>
              <a:t>在上一步基础上，进行理论与实际效率对比分析</a:t>
            </a:r>
            <a:endParaRPr lang="en-US" altLang="zh-CN" sz="2000" dirty="0"/>
          </a:p>
          <a:p>
            <a:r>
              <a:rPr lang="en-US" altLang="zh-CN" sz="2000" dirty="0"/>
              <a:t>5.</a:t>
            </a:r>
            <a:r>
              <a:rPr lang="zh-CN" altLang="en-US" sz="2000" dirty="0"/>
              <a:t>求解</a:t>
            </a:r>
            <a:r>
              <a:rPr lang="en-US" altLang="zh-CN" sz="2000" dirty="0"/>
              <a:t>TOP.K</a:t>
            </a:r>
            <a:r>
              <a:rPr lang="zh-CN" altLang="en-US" sz="2000" dirty="0"/>
              <a:t>问题</a:t>
            </a:r>
            <a:endParaRPr lang="en-US" altLang="zh-CN" sz="2000" dirty="0"/>
          </a:p>
          <a:p>
            <a:endParaRPr lang="en-US" altLang="zh-CN" sz="2000" dirty="0"/>
          </a:p>
          <a:p>
            <a:endParaRPr lang="en-US" altLang="zh-CN" sz="2000" dirty="0"/>
          </a:p>
          <a:p>
            <a:endParaRPr lang="en-US" altLang="zh-CN" sz="2000" dirty="0"/>
          </a:p>
          <a:p>
            <a:endParaRPr lang="en-US" altLang="zh-CN" sz="2000" dirty="0"/>
          </a:p>
          <a:p>
            <a:r>
              <a:rPr lang="zh-CN" altLang="en-US" sz="2000" dirty="0"/>
              <a:t>组员：</a:t>
            </a:r>
            <a:endParaRPr lang="en-US" altLang="zh-CN" sz="2000" dirty="0"/>
          </a:p>
          <a:p>
            <a:r>
              <a:rPr lang="en-US" altLang="zh-CN" sz="2000" dirty="0"/>
              <a:t>             2022155036 </a:t>
            </a:r>
            <a:r>
              <a:rPr lang="zh-CN" altLang="en-US" sz="2000" dirty="0"/>
              <a:t>金皓宇</a:t>
            </a:r>
            <a:endParaRPr lang="en-US" altLang="zh-CN" sz="2000" dirty="0"/>
          </a:p>
          <a:p>
            <a:r>
              <a:rPr lang="en-US" altLang="zh-CN" sz="2000" dirty="0"/>
              <a:t>	2022155035 </a:t>
            </a:r>
            <a:r>
              <a:rPr lang="zh-CN" altLang="en-US" sz="2000" dirty="0"/>
              <a:t>孟涛</a:t>
            </a:r>
          </a:p>
        </p:txBody>
      </p:sp>
      <p:sp>
        <p:nvSpPr>
          <p:cNvPr id="4" name="圆角矩形 5">
            <a:extLst>
              <a:ext uri="{FF2B5EF4-FFF2-40B4-BE49-F238E27FC236}">
                <a16:creationId xmlns:a16="http://schemas.microsoft.com/office/drawing/2014/main" id="{800577E7-5E6C-13A5-700F-E4BB0E9C0D2D}"/>
              </a:ext>
            </a:extLst>
          </p:cNvPr>
          <p:cNvSpPr/>
          <p:nvPr/>
        </p:nvSpPr>
        <p:spPr>
          <a:xfrm>
            <a:off x="0" y="-602"/>
            <a:ext cx="12192000" cy="990600"/>
          </a:xfrm>
          <a:prstGeom prst="roundRect">
            <a:avLst/>
          </a:prstGeom>
          <a:solidFill>
            <a:schemeClr val="accent5"/>
          </a:solidFill>
          <a:ln>
            <a:solidFill>
              <a:schemeClr val="accent5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4400" dirty="0">
                <a:latin typeface="Calibri" panose="020F0502020204030204" charset="0"/>
                <a:ea typeface="黑体" panose="02010609060101010101" pitchFamily="49" charset="-122"/>
                <a:cs typeface="Calibri" panose="020F0502020204030204" charset="0"/>
              </a:rPr>
              <a:t>排序算法性能分析</a:t>
            </a:r>
            <a:endParaRPr lang="en-US" altLang="zh-CN" sz="4400" dirty="0">
              <a:latin typeface="Calibri" panose="020F0502020204030204" charset="0"/>
              <a:ea typeface="黑体" panose="02010609060101010101" pitchFamily="49" charset="-122"/>
              <a:cs typeface="Calibri" panose="020F0502020204030204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190BE02-88CE-5EBA-A202-7D94BF76B67B}"/>
              </a:ext>
            </a:extLst>
          </p:cNvPr>
          <p:cNvSpPr/>
          <p:nvPr/>
        </p:nvSpPr>
        <p:spPr>
          <a:xfrm>
            <a:off x="0" y="6517196"/>
            <a:ext cx="12192000" cy="369332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46480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>
            <a:extLst>
              <a:ext uri="{FF2B5EF4-FFF2-40B4-BE49-F238E27FC236}">
                <a16:creationId xmlns:a16="http://schemas.microsoft.com/office/drawing/2014/main" id="{C8204145-7348-A62A-D645-254804840394}"/>
              </a:ext>
            </a:extLst>
          </p:cNvPr>
          <p:cNvSpPr/>
          <p:nvPr/>
        </p:nvSpPr>
        <p:spPr>
          <a:xfrm>
            <a:off x="0" y="6517196"/>
            <a:ext cx="12192000" cy="369332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8" name="圆角矩形 5">
            <a:extLst>
              <a:ext uri="{FF2B5EF4-FFF2-40B4-BE49-F238E27FC236}">
                <a16:creationId xmlns:a16="http://schemas.microsoft.com/office/drawing/2014/main" id="{83377F40-D60A-BF33-D5BB-A16E1388A7A4}"/>
              </a:ext>
            </a:extLst>
          </p:cNvPr>
          <p:cNvSpPr/>
          <p:nvPr/>
        </p:nvSpPr>
        <p:spPr>
          <a:xfrm>
            <a:off x="1342356" y="-602"/>
            <a:ext cx="10849644" cy="990600"/>
          </a:xfrm>
          <a:prstGeom prst="roundRect">
            <a:avLst/>
          </a:prstGeom>
          <a:solidFill>
            <a:schemeClr val="accent5"/>
          </a:solidFill>
          <a:ln>
            <a:solidFill>
              <a:schemeClr val="accent5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4400" dirty="0"/>
              <a:t>解题思路简述</a:t>
            </a:r>
            <a:endParaRPr lang="en-US" altLang="zh-CN" sz="4400" dirty="0">
              <a:latin typeface="Calibri" panose="020F0502020204030204" charset="0"/>
              <a:ea typeface="黑体" panose="02010609060101010101" pitchFamily="49" charset="-122"/>
              <a:cs typeface="Calibri" panose="020F0502020204030204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FC815CA-4DA2-4910-9052-F06FE8AC0546}"/>
              </a:ext>
            </a:extLst>
          </p:cNvPr>
          <p:cNvSpPr/>
          <p:nvPr/>
        </p:nvSpPr>
        <p:spPr>
          <a:xfrm>
            <a:off x="1" y="0"/>
            <a:ext cx="1752140" cy="6886528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2D2FFB3F-541E-4744-88C1-6A009510D922}"/>
              </a:ext>
            </a:extLst>
          </p:cNvPr>
          <p:cNvGrpSpPr/>
          <p:nvPr/>
        </p:nvGrpSpPr>
        <p:grpSpPr>
          <a:xfrm>
            <a:off x="-114299" y="2038447"/>
            <a:ext cx="2247899" cy="1301295"/>
            <a:chOff x="2266950" y="2025747"/>
            <a:chExt cx="5794972" cy="1232516"/>
          </a:xfrm>
          <a:effectLst>
            <a:outerShdw blurRad="127000" dist="63500" dir="2700000" algn="tl" rotWithShape="0">
              <a:prstClr val="black">
                <a:alpha val="30000"/>
              </a:prstClr>
            </a:outerShdw>
          </a:effectLst>
        </p:grpSpPr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71FD88E8-F6A1-4ABF-AC2A-184B1B811E62}"/>
                </a:ext>
              </a:extLst>
            </p:cNvPr>
            <p:cNvSpPr/>
            <p:nvPr/>
          </p:nvSpPr>
          <p:spPr>
            <a:xfrm>
              <a:off x="2266950" y="2025747"/>
              <a:ext cx="4697829" cy="123251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等腰三角形 6">
              <a:extLst>
                <a:ext uri="{FF2B5EF4-FFF2-40B4-BE49-F238E27FC236}">
                  <a16:creationId xmlns:a16="http://schemas.microsoft.com/office/drawing/2014/main" id="{1FD72B20-378C-4F00-AEE8-E5FAC151E55E}"/>
                </a:ext>
              </a:extLst>
            </p:cNvPr>
            <p:cNvSpPr/>
            <p:nvPr/>
          </p:nvSpPr>
          <p:spPr>
            <a:xfrm rot="5400000">
              <a:off x="6898951" y="2091575"/>
              <a:ext cx="1228799" cy="1097143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89FCFC02-838E-E9AB-BC04-902004C49FF8}"/>
              </a:ext>
            </a:extLst>
          </p:cNvPr>
          <p:cNvSpPr txBox="1"/>
          <p:nvPr/>
        </p:nvSpPr>
        <p:spPr>
          <a:xfrm>
            <a:off x="257387" y="2333189"/>
            <a:ext cx="123736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rgbClr val="5C739C"/>
                </a:solidFill>
              </a:rPr>
              <a:t>解题思路简述</a:t>
            </a:r>
            <a:endParaRPr lang="zh-CN" altLang="en-US" sz="2400" dirty="0">
              <a:solidFill>
                <a:srgbClr val="5C739C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A201A750-18FC-7F1C-8337-0E3FB996C754}"/>
              </a:ext>
            </a:extLst>
          </p:cNvPr>
          <p:cNvSpPr txBox="1"/>
          <p:nvPr/>
        </p:nvSpPr>
        <p:spPr>
          <a:xfrm>
            <a:off x="2555425" y="1902302"/>
            <a:ext cx="8423505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-285750">
              <a:buFont typeface="Arial" panose="020B0604020202020204" pitchFamily="34" charset="0"/>
              <a:buChar char="•"/>
            </a:pPr>
            <a:r>
              <a:rPr lang="zh-CN" altLang="zh-CN" sz="2000" dirty="0"/>
              <a:t>相关准备工作：如生成随机数的函数、判断排序是否正确完成的函数以及用于计时的函数</a:t>
            </a:r>
          </a:p>
          <a:p>
            <a:pPr indent="-285750">
              <a:buFont typeface="Arial" panose="020B0604020202020204" pitchFamily="34" charset="0"/>
              <a:buChar char="•"/>
            </a:pPr>
            <a:r>
              <a:rPr lang="zh-CN" altLang="zh-CN" sz="2000" dirty="0"/>
              <a:t>编写五个排序函数，实现选择排序、冒泡排序、插入排序、合并排序和快速排序，实现的方法详见下个部分。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B5439FB-D8DF-39AD-0089-82576CFB5EB3}"/>
              </a:ext>
            </a:extLst>
          </p:cNvPr>
          <p:cNvSpPr txBox="1"/>
          <p:nvPr/>
        </p:nvSpPr>
        <p:spPr>
          <a:xfrm>
            <a:off x="129147" y="4326342"/>
            <a:ext cx="146706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测试与分析</a:t>
            </a:r>
            <a:endParaRPr lang="zh-CN" altLang="en-US" sz="20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2958090-5DAC-02C3-4ADA-A8AE757AFAAF}"/>
              </a:ext>
            </a:extLst>
          </p:cNvPr>
          <p:cNvSpPr txBox="1"/>
          <p:nvPr/>
        </p:nvSpPr>
        <p:spPr>
          <a:xfrm>
            <a:off x="257387" y="3699903"/>
            <a:ext cx="1210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算法代码</a:t>
            </a:r>
            <a:endParaRPr lang="zh-CN" altLang="en-US" sz="20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F684C13C-F268-803F-37BB-42681BB983F9}"/>
              </a:ext>
            </a:extLst>
          </p:cNvPr>
          <p:cNvSpPr txBox="1"/>
          <p:nvPr/>
        </p:nvSpPr>
        <p:spPr>
          <a:xfrm>
            <a:off x="257387" y="5021659"/>
            <a:ext cx="157927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实际对比</a:t>
            </a:r>
            <a:endParaRPr lang="zh-CN" altLang="en-US" sz="20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0270B68A-D889-76AA-2407-D15B6B72F965}"/>
              </a:ext>
            </a:extLst>
          </p:cNvPr>
          <p:cNvSpPr txBox="1"/>
          <p:nvPr/>
        </p:nvSpPr>
        <p:spPr>
          <a:xfrm>
            <a:off x="-28046" y="5743280"/>
            <a:ext cx="215014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求解</a:t>
            </a:r>
            <a:r>
              <a:rPr lang="en-US" altLang="zh-CN" sz="20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TOP.K</a:t>
            </a:r>
            <a:r>
              <a:rPr lang="zh-CN" altLang="en-US" sz="20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问题</a:t>
            </a:r>
            <a:endParaRPr lang="zh-CN" altLang="en-US" sz="20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71146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>
            <a:extLst>
              <a:ext uri="{FF2B5EF4-FFF2-40B4-BE49-F238E27FC236}">
                <a16:creationId xmlns:a16="http://schemas.microsoft.com/office/drawing/2014/main" id="{C8204145-7348-A62A-D645-254804840394}"/>
              </a:ext>
            </a:extLst>
          </p:cNvPr>
          <p:cNvSpPr/>
          <p:nvPr/>
        </p:nvSpPr>
        <p:spPr>
          <a:xfrm>
            <a:off x="0" y="6517196"/>
            <a:ext cx="12192000" cy="369332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8" name="圆角矩形 5">
            <a:extLst>
              <a:ext uri="{FF2B5EF4-FFF2-40B4-BE49-F238E27FC236}">
                <a16:creationId xmlns:a16="http://schemas.microsoft.com/office/drawing/2014/main" id="{83377F40-D60A-BF33-D5BB-A16E1388A7A4}"/>
              </a:ext>
            </a:extLst>
          </p:cNvPr>
          <p:cNvSpPr/>
          <p:nvPr/>
        </p:nvSpPr>
        <p:spPr>
          <a:xfrm>
            <a:off x="1342356" y="-602"/>
            <a:ext cx="10849644" cy="990600"/>
          </a:xfrm>
          <a:prstGeom prst="roundRect">
            <a:avLst/>
          </a:prstGeom>
          <a:solidFill>
            <a:schemeClr val="accent5"/>
          </a:solidFill>
          <a:ln>
            <a:solidFill>
              <a:schemeClr val="accent5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4400" dirty="0"/>
              <a:t>算法实现的核心伪代码</a:t>
            </a:r>
            <a:endParaRPr lang="en-US" altLang="zh-CN" sz="4400" dirty="0">
              <a:latin typeface="Calibri" panose="020F0502020204030204" charset="0"/>
              <a:ea typeface="黑体" panose="02010609060101010101" pitchFamily="49" charset="-122"/>
              <a:cs typeface="Calibri" panose="020F0502020204030204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FC815CA-4DA2-4910-9052-F06FE8AC0546}"/>
              </a:ext>
            </a:extLst>
          </p:cNvPr>
          <p:cNvSpPr/>
          <p:nvPr/>
        </p:nvSpPr>
        <p:spPr>
          <a:xfrm>
            <a:off x="1" y="0"/>
            <a:ext cx="1752140" cy="6886528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2D2FFB3F-541E-4744-88C1-6A009510D922}"/>
              </a:ext>
            </a:extLst>
          </p:cNvPr>
          <p:cNvGrpSpPr/>
          <p:nvPr/>
        </p:nvGrpSpPr>
        <p:grpSpPr>
          <a:xfrm>
            <a:off x="-94116" y="2561303"/>
            <a:ext cx="2247899" cy="1301295"/>
            <a:chOff x="2266950" y="2025747"/>
            <a:chExt cx="5794972" cy="1232516"/>
          </a:xfrm>
          <a:effectLst>
            <a:outerShdw blurRad="127000" dist="63500" dir="2700000" algn="tl" rotWithShape="0">
              <a:prstClr val="black">
                <a:alpha val="30000"/>
              </a:prstClr>
            </a:outerShdw>
          </a:effectLst>
        </p:grpSpPr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71FD88E8-F6A1-4ABF-AC2A-184B1B811E62}"/>
                </a:ext>
              </a:extLst>
            </p:cNvPr>
            <p:cNvSpPr/>
            <p:nvPr/>
          </p:nvSpPr>
          <p:spPr>
            <a:xfrm>
              <a:off x="2266950" y="2025747"/>
              <a:ext cx="4697829" cy="123251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等腰三角形 6">
              <a:extLst>
                <a:ext uri="{FF2B5EF4-FFF2-40B4-BE49-F238E27FC236}">
                  <a16:creationId xmlns:a16="http://schemas.microsoft.com/office/drawing/2014/main" id="{1FD72B20-378C-4F00-AEE8-E5FAC151E55E}"/>
                </a:ext>
              </a:extLst>
            </p:cNvPr>
            <p:cNvSpPr/>
            <p:nvPr/>
          </p:nvSpPr>
          <p:spPr>
            <a:xfrm rot="5400000">
              <a:off x="6898951" y="2091575"/>
              <a:ext cx="1228799" cy="1097143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89FCFC02-838E-E9AB-BC04-902004C49FF8}"/>
              </a:ext>
            </a:extLst>
          </p:cNvPr>
          <p:cNvSpPr txBox="1"/>
          <p:nvPr/>
        </p:nvSpPr>
        <p:spPr>
          <a:xfrm>
            <a:off x="311173" y="1589472"/>
            <a:ext cx="103118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chemeClr val="bg1"/>
                </a:solidFill>
              </a:rPr>
              <a:t>解题思路简述</a:t>
            </a:r>
            <a:endParaRPr lang="zh-CN" altLang="en-US" sz="2000" dirty="0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A201A750-18FC-7F1C-8337-0E3FB996C754}"/>
              </a:ext>
            </a:extLst>
          </p:cNvPr>
          <p:cNvSpPr txBox="1"/>
          <p:nvPr/>
        </p:nvSpPr>
        <p:spPr>
          <a:xfrm>
            <a:off x="1881287" y="1100173"/>
            <a:ext cx="5304218" cy="45550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67970"/>
            <a:r>
              <a:rPr lang="en-US" altLang="zh-CN" dirty="0"/>
              <a:t>1.</a:t>
            </a:r>
            <a:r>
              <a:rPr lang="zh-CN" altLang="zh-CN" dirty="0"/>
              <a:t>选择排序：</a:t>
            </a:r>
          </a:p>
          <a:p>
            <a:pPr indent="267970"/>
            <a:r>
              <a:rPr lang="en-US" altLang="zh-CN" dirty="0"/>
              <a:t>for </a:t>
            </a:r>
            <a:r>
              <a:rPr lang="en-US" altLang="zh-CN" dirty="0" err="1"/>
              <a:t>i</a:t>
            </a:r>
            <a:r>
              <a:rPr lang="en-US" altLang="zh-CN" dirty="0"/>
              <a:t> from 0 to len-1</a:t>
            </a:r>
            <a:endParaRPr lang="zh-CN" altLang="zh-CN" dirty="0"/>
          </a:p>
          <a:p>
            <a:pPr indent="267970"/>
            <a:r>
              <a:rPr lang="en-US" altLang="zh-CN" dirty="0"/>
              <a:t>	for j from i+1 to </a:t>
            </a:r>
            <a:r>
              <a:rPr lang="en-US" altLang="zh-CN" dirty="0" err="1"/>
              <a:t>len</a:t>
            </a:r>
            <a:endParaRPr lang="zh-CN" altLang="zh-CN" dirty="0"/>
          </a:p>
          <a:p>
            <a:pPr indent="267970"/>
            <a:r>
              <a:rPr lang="en-US" altLang="zh-CN" dirty="0"/>
              <a:t>		find min a[j]//</a:t>
            </a:r>
            <a:r>
              <a:rPr lang="zh-CN" altLang="zh-CN" dirty="0"/>
              <a:t>找到最小的</a:t>
            </a:r>
            <a:r>
              <a:rPr lang="en-US" altLang="zh-CN" dirty="0"/>
              <a:t>a[j]</a:t>
            </a:r>
            <a:r>
              <a:rPr lang="zh-CN" altLang="zh-CN" dirty="0"/>
              <a:t>，记录这个</a:t>
            </a:r>
            <a:r>
              <a:rPr lang="en-US" altLang="zh-CN" dirty="0"/>
              <a:t>j</a:t>
            </a:r>
            <a:endParaRPr lang="zh-CN" altLang="zh-CN" dirty="0"/>
          </a:p>
          <a:p>
            <a:pPr indent="267970"/>
            <a:r>
              <a:rPr lang="en-US" altLang="zh-CN" dirty="0"/>
              <a:t>	swap a[</a:t>
            </a:r>
            <a:r>
              <a:rPr lang="en-US" altLang="zh-CN" dirty="0" err="1"/>
              <a:t>i</a:t>
            </a:r>
            <a:r>
              <a:rPr lang="en-US" altLang="zh-CN" dirty="0"/>
              <a:t>],a[j]</a:t>
            </a:r>
            <a:endParaRPr lang="zh-CN" altLang="zh-CN" dirty="0"/>
          </a:p>
          <a:p>
            <a:pPr indent="267970"/>
            <a:r>
              <a:rPr lang="en-US" altLang="zh-CN" dirty="0"/>
              <a:t> </a:t>
            </a:r>
          </a:p>
          <a:p>
            <a:pPr indent="267970"/>
            <a:r>
              <a:rPr lang="en-US" altLang="zh-CN" dirty="0"/>
              <a:t>------------------------------------------ </a:t>
            </a:r>
          </a:p>
          <a:p>
            <a:pPr indent="267970"/>
            <a:endParaRPr lang="en-US" altLang="zh-CN" dirty="0"/>
          </a:p>
          <a:p>
            <a:pPr indent="267970"/>
            <a:r>
              <a:rPr lang="en-US" altLang="zh-CN" dirty="0"/>
              <a:t>2.</a:t>
            </a:r>
            <a:r>
              <a:rPr lang="zh-CN" altLang="zh-CN" dirty="0"/>
              <a:t>冒泡排序：</a:t>
            </a:r>
          </a:p>
          <a:p>
            <a:pPr indent="267970"/>
            <a:r>
              <a:rPr lang="en-US" altLang="zh-CN" dirty="0"/>
              <a:t>for </a:t>
            </a:r>
            <a:r>
              <a:rPr lang="en-US" altLang="zh-CN" dirty="0" err="1"/>
              <a:t>i</a:t>
            </a:r>
            <a:r>
              <a:rPr lang="en-US" altLang="zh-CN" dirty="0"/>
              <a:t> from 0 to </a:t>
            </a:r>
            <a:r>
              <a:rPr lang="en-US" altLang="zh-CN" dirty="0" err="1"/>
              <a:t>len</a:t>
            </a:r>
            <a:endParaRPr lang="zh-CN" altLang="zh-CN" dirty="0"/>
          </a:p>
          <a:p>
            <a:pPr indent="267970"/>
            <a:r>
              <a:rPr lang="en-US" altLang="zh-CN" dirty="0"/>
              <a:t>	for j from 0 to </a:t>
            </a:r>
            <a:r>
              <a:rPr lang="en-US" altLang="zh-CN" dirty="0" err="1"/>
              <a:t>i</a:t>
            </a:r>
            <a:endParaRPr lang="zh-CN" altLang="zh-CN" dirty="0"/>
          </a:p>
          <a:p>
            <a:pPr indent="267970"/>
            <a:r>
              <a:rPr lang="en-US" altLang="zh-CN" dirty="0"/>
              <a:t>		if a[j]&lt;a[j-1]</a:t>
            </a:r>
            <a:endParaRPr lang="zh-CN" altLang="zh-CN" dirty="0"/>
          </a:p>
          <a:p>
            <a:pPr indent="267970"/>
            <a:r>
              <a:rPr lang="en-US" altLang="zh-CN" dirty="0"/>
              <a:t>		swap a[j],a[j-1]</a:t>
            </a:r>
            <a:endParaRPr lang="zh-CN" altLang="zh-CN" dirty="0"/>
          </a:p>
          <a:p>
            <a:pPr indent="267970"/>
            <a:r>
              <a:rPr lang="en-US" altLang="zh-CN" dirty="0"/>
              <a:t> </a:t>
            </a:r>
            <a:endParaRPr lang="zh-CN" altLang="zh-CN" dirty="0"/>
          </a:p>
          <a:p>
            <a:pPr indent="267970" algn="just"/>
            <a:endParaRPr lang="zh-CN" altLang="zh-CN" sz="2000" kern="100" dirty="0">
              <a:effectLst/>
              <a:latin typeface="Calibri" panose="020F0502020204030204" pitchFamily="34" charset="0"/>
              <a:ea typeface="楷体" panose="02010609060101010101" pitchFamily="49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B5439FB-D8DF-39AD-0089-82576CFB5EB3}"/>
              </a:ext>
            </a:extLst>
          </p:cNvPr>
          <p:cNvSpPr txBox="1"/>
          <p:nvPr/>
        </p:nvSpPr>
        <p:spPr>
          <a:xfrm>
            <a:off x="129147" y="4326342"/>
            <a:ext cx="146706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测试与分析</a:t>
            </a:r>
            <a:endParaRPr lang="zh-CN" altLang="en-US" sz="20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2958090-5DAC-02C3-4ADA-A8AE757AFAAF}"/>
              </a:ext>
            </a:extLst>
          </p:cNvPr>
          <p:cNvSpPr txBox="1"/>
          <p:nvPr/>
        </p:nvSpPr>
        <p:spPr>
          <a:xfrm>
            <a:off x="180443" y="2994754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solidFill>
                  <a:srgbClr val="5C739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算法代码</a:t>
            </a:r>
            <a:endParaRPr lang="zh-CN" altLang="en-US" sz="2400" dirty="0">
              <a:solidFill>
                <a:srgbClr val="5C739C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F684C13C-F268-803F-37BB-42681BB983F9}"/>
              </a:ext>
            </a:extLst>
          </p:cNvPr>
          <p:cNvSpPr txBox="1"/>
          <p:nvPr/>
        </p:nvSpPr>
        <p:spPr>
          <a:xfrm>
            <a:off x="257387" y="5021659"/>
            <a:ext cx="157927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实际对比</a:t>
            </a:r>
            <a:endParaRPr lang="zh-CN" altLang="en-US" sz="20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0270B68A-D889-76AA-2407-D15B6B72F965}"/>
              </a:ext>
            </a:extLst>
          </p:cNvPr>
          <p:cNvSpPr txBox="1"/>
          <p:nvPr/>
        </p:nvSpPr>
        <p:spPr>
          <a:xfrm>
            <a:off x="-28046" y="5743280"/>
            <a:ext cx="215014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求解</a:t>
            </a:r>
            <a:r>
              <a:rPr lang="en-US" altLang="zh-CN" sz="20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TOP.K</a:t>
            </a:r>
            <a:r>
              <a:rPr lang="zh-CN" altLang="en-US" sz="20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问题</a:t>
            </a:r>
            <a:endParaRPr lang="zh-CN" altLang="en-US" sz="20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2C83179-2719-4CE2-B26C-94041157604C}"/>
              </a:ext>
            </a:extLst>
          </p:cNvPr>
          <p:cNvSpPr txBox="1"/>
          <p:nvPr/>
        </p:nvSpPr>
        <p:spPr>
          <a:xfrm>
            <a:off x="7019429" y="1130142"/>
            <a:ext cx="619125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67970"/>
            <a:r>
              <a:rPr lang="en-US" altLang="zh-CN" dirty="0"/>
              <a:t>3.</a:t>
            </a:r>
            <a:r>
              <a:rPr lang="zh-CN" altLang="zh-CN" dirty="0"/>
              <a:t>插入排序：</a:t>
            </a:r>
          </a:p>
          <a:p>
            <a:pPr indent="267970"/>
            <a:r>
              <a:rPr lang="en-US" altLang="zh-CN" dirty="0"/>
              <a:t>for </a:t>
            </a:r>
            <a:r>
              <a:rPr lang="en-US" altLang="zh-CN" dirty="0" err="1"/>
              <a:t>i</a:t>
            </a:r>
            <a:r>
              <a:rPr lang="en-US" altLang="zh-CN" dirty="0"/>
              <a:t> from 1 to </a:t>
            </a:r>
            <a:r>
              <a:rPr lang="en-US" altLang="zh-CN" dirty="0" err="1"/>
              <a:t>len</a:t>
            </a:r>
            <a:endParaRPr lang="zh-CN" altLang="zh-CN" dirty="0"/>
          </a:p>
          <a:p>
            <a:pPr indent="267970"/>
            <a:r>
              <a:rPr lang="en-US" altLang="zh-CN" dirty="0"/>
              <a:t>	temp=a[</a:t>
            </a:r>
            <a:r>
              <a:rPr lang="en-US" altLang="zh-CN" dirty="0" err="1"/>
              <a:t>i</a:t>
            </a:r>
            <a:r>
              <a:rPr lang="en-US" altLang="zh-CN" dirty="0"/>
              <a:t>]</a:t>
            </a:r>
            <a:endParaRPr lang="zh-CN" altLang="zh-CN" dirty="0"/>
          </a:p>
          <a:p>
            <a:pPr indent="267970"/>
            <a:r>
              <a:rPr lang="en-US" altLang="zh-CN" dirty="0"/>
              <a:t>	j=i-1</a:t>
            </a:r>
            <a:endParaRPr lang="zh-CN" altLang="zh-CN" dirty="0"/>
          </a:p>
          <a:p>
            <a:pPr indent="267970"/>
            <a:r>
              <a:rPr lang="en-US" altLang="zh-CN" dirty="0"/>
              <a:t>	while a[j]&gt;temp</a:t>
            </a:r>
            <a:endParaRPr lang="zh-CN" altLang="zh-CN" dirty="0"/>
          </a:p>
          <a:p>
            <a:pPr indent="267970"/>
            <a:r>
              <a:rPr lang="en-US" altLang="zh-CN" dirty="0"/>
              <a:t>		a[j]=a[j-1]</a:t>
            </a:r>
            <a:endParaRPr lang="zh-CN" altLang="zh-CN" dirty="0"/>
          </a:p>
          <a:p>
            <a:pPr indent="267970"/>
            <a:r>
              <a:rPr lang="en-US" altLang="zh-CN" dirty="0"/>
              <a:t>		j-=1</a:t>
            </a:r>
            <a:endParaRPr lang="zh-CN" altLang="zh-CN" dirty="0"/>
          </a:p>
          <a:p>
            <a:pPr indent="267970"/>
            <a:r>
              <a:rPr lang="en-US" altLang="zh-CN" dirty="0"/>
              <a:t>	a[j+1]=temp</a:t>
            </a:r>
            <a:endParaRPr lang="zh-CN" altLang="zh-CN" dirty="0"/>
          </a:p>
          <a:p>
            <a:pPr indent="267970"/>
            <a:r>
              <a:rPr lang="en-US" altLang="zh-CN" dirty="0"/>
              <a:t> </a:t>
            </a:r>
            <a:endParaRPr lang="zh-CN" altLang="zh-CN" dirty="0"/>
          </a:p>
        </p:txBody>
      </p:sp>
    </p:spTree>
    <p:extLst>
      <p:ext uri="{BB962C8B-B14F-4D97-AF65-F5344CB8AC3E}">
        <p14:creationId xmlns:p14="http://schemas.microsoft.com/office/powerpoint/2010/main" val="159942843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>
            <a:extLst>
              <a:ext uri="{FF2B5EF4-FFF2-40B4-BE49-F238E27FC236}">
                <a16:creationId xmlns:a16="http://schemas.microsoft.com/office/drawing/2014/main" id="{C8204145-7348-A62A-D645-254804840394}"/>
              </a:ext>
            </a:extLst>
          </p:cNvPr>
          <p:cNvSpPr/>
          <p:nvPr/>
        </p:nvSpPr>
        <p:spPr>
          <a:xfrm>
            <a:off x="0" y="6517196"/>
            <a:ext cx="12192000" cy="369332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8" name="圆角矩形 5">
            <a:extLst>
              <a:ext uri="{FF2B5EF4-FFF2-40B4-BE49-F238E27FC236}">
                <a16:creationId xmlns:a16="http://schemas.microsoft.com/office/drawing/2014/main" id="{83377F40-D60A-BF33-D5BB-A16E1388A7A4}"/>
              </a:ext>
            </a:extLst>
          </p:cNvPr>
          <p:cNvSpPr/>
          <p:nvPr/>
        </p:nvSpPr>
        <p:spPr>
          <a:xfrm>
            <a:off x="1342356" y="-602"/>
            <a:ext cx="10849644" cy="990600"/>
          </a:xfrm>
          <a:prstGeom prst="roundRect">
            <a:avLst/>
          </a:prstGeom>
          <a:solidFill>
            <a:schemeClr val="accent5"/>
          </a:solidFill>
          <a:ln>
            <a:solidFill>
              <a:schemeClr val="accent5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4400" dirty="0"/>
              <a:t>算法实现的核心伪代码</a:t>
            </a:r>
            <a:endParaRPr lang="en-US" altLang="zh-CN" sz="4400" dirty="0">
              <a:latin typeface="Calibri" panose="020F0502020204030204" charset="0"/>
              <a:ea typeface="黑体" panose="02010609060101010101" pitchFamily="49" charset="-122"/>
              <a:cs typeface="Calibri" panose="020F0502020204030204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FC815CA-4DA2-4910-9052-F06FE8AC0546}"/>
              </a:ext>
            </a:extLst>
          </p:cNvPr>
          <p:cNvSpPr/>
          <p:nvPr/>
        </p:nvSpPr>
        <p:spPr>
          <a:xfrm>
            <a:off x="1" y="0"/>
            <a:ext cx="1752140" cy="6886528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2D2FFB3F-541E-4744-88C1-6A009510D922}"/>
              </a:ext>
            </a:extLst>
          </p:cNvPr>
          <p:cNvGrpSpPr/>
          <p:nvPr/>
        </p:nvGrpSpPr>
        <p:grpSpPr>
          <a:xfrm>
            <a:off x="-94116" y="2561303"/>
            <a:ext cx="2247899" cy="1301295"/>
            <a:chOff x="2266950" y="2025747"/>
            <a:chExt cx="5794972" cy="1232516"/>
          </a:xfrm>
          <a:effectLst>
            <a:outerShdw blurRad="127000" dist="63500" dir="2700000" algn="tl" rotWithShape="0">
              <a:prstClr val="black">
                <a:alpha val="30000"/>
              </a:prstClr>
            </a:outerShdw>
          </a:effectLst>
        </p:grpSpPr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71FD88E8-F6A1-4ABF-AC2A-184B1B811E62}"/>
                </a:ext>
              </a:extLst>
            </p:cNvPr>
            <p:cNvSpPr/>
            <p:nvPr/>
          </p:nvSpPr>
          <p:spPr>
            <a:xfrm>
              <a:off x="2266950" y="2025747"/>
              <a:ext cx="4697829" cy="123251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等腰三角形 6">
              <a:extLst>
                <a:ext uri="{FF2B5EF4-FFF2-40B4-BE49-F238E27FC236}">
                  <a16:creationId xmlns:a16="http://schemas.microsoft.com/office/drawing/2014/main" id="{1FD72B20-378C-4F00-AEE8-E5FAC151E55E}"/>
                </a:ext>
              </a:extLst>
            </p:cNvPr>
            <p:cNvSpPr/>
            <p:nvPr/>
          </p:nvSpPr>
          <p:spPr>
            <a:xfrm rot="5400000">
              <a:off x="6898951" y="2091575"/>
              <a:ext cx="1228799" cy="1097143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89FCFC02-838E-E9AB-BC04-902004C49FF8}"/>
              </a:ext>
            </a:extLst>
          </p:cNvPr>
          <p:cNvSpPr txBox="1"/>
          <p:nvPr/>
        </p:nvSpPr>
        <p:spPr>
          <a:xfrm>
            <a:off x="311173" y="1589472"/>
            <a:ext cx="103118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chemeClr val="bg1"/>
                </a:solidFill>
              </a:rPr>
              <a:t>解题思路简述</a:t>
            </a:r>
            <a:endParaRPr lang="zh-CN" altLang="en-US" sz="2000" dirty="0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B5439FB-D8DF-39AD-0089-82576CFB5EB3}"/>
              </a:ext>
            </a:extLst>
          </p:cNvPr>
          <p:cNvSpPr txBox="1"/>
          <p:nvPr/>
        </p:nvSpPr>
        <p:spPr>
          <a:xfrm>
            <a:off x="129147" y="4326342"/>
            <a:ext cx="146706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测试与分析</a:t>
            </a:r>
            <a:endParaRPr lang="zh-CN" altLang="en-US" sz="20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2958090-5DAC-02C3-4ADA-A8AE757AFAAF}"/>
              </a:ext>
            </a:extLst>
          </p:cNvPr>
          <p:cNvSpPr txBox="1"/>
          <p:nvPr/>
        </p:nvSpPr>
        <p:spPr>
          <a:xfrm>
            <a:off x="180443" y="2994754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solidFill>
                  <a:srgbClr val="5C739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算法代码</a:t>
            </a:r>
            <a:endParaRPr lang="zh-CN" altLang="en-US" sz="2400" dirty="0">
              <a:solidFill>
                <a:srgbClr val="5C739C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F684C13C-F268-803F-37BB-42681BB983F9}"/>
              </a:ext>
            </a:extLst>
          </p:cNvPr>
          <p:cNvSpPr txBox="1"/>
          <p:nvPr/>
        </p:nvSpPr>
        <p:spPr>
          <a:xfrm>
            <a:off x="257387" y="5021659"/>
            <a:ext cx="157927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实际对比</a:t>
            </a:r>
            <a:endParaRPr lang="zh-CN" altLang="en-US" sz="20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0270B68A-D889-76AA-2407-D15B6B72F965}"/>
              </a:ext>
            </a:extLst>
          </p:cNvPr>
          <p:cNvSpPr txBox="1"/>
          <p:nvPr/>
        </p:nvSpPr>
        <p:spPr>
          <a:xfrm>
            <a:off x="-28046" y="5743280"/>
            <a:ext cx="215014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求解</a:t>
            </a:r>
            <a:r>
              <a:rPr lang="en-US" altLang="zh-CN" sz="20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TOP.K</a:t>
            </a:r>
            <a:r>
              <a:rPr lang="zh-CN" altLang="en-US" sz="20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问题</a:t>
            </a:r>
            <a:endParaRPr lang="zh-CN" altLang="en-US" sz="20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BF3828BD-DCF7-64F5-4294-E684FD7CEF14}"/>
              </a:ext>
            </a:extLst>
          </p:cNvPr>
          <p:cNvSpPr txBox="1"/>
          <p:nvPr/>
        </p:nvSpPr>
        <p:spPr>
          <a:xfrm>
            <a:off x="1728196" y="1130142"/>
            <a:ext cx="4957835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67970"/>
            <a:r>
              <a:rPr lang="en-US" altLang="zh-CN" dirty="0"/>
              <a:t>4.</a:t>
            </a:r>
            <a:r>
              <a:rPr lang="zh-CN" altLang="zh-CN" dirty="0"/>
              <a:t>合并（归并）排序：</a:t>
            </a:r>
          </a:p>
          <a:p>
            <a:pPr indent="267970"/>
            <a:r>
              <a:rPr lang="zh-CN" altLang="zh-CN" dirty="0"/>
              <a:t>函数定义：</a:t>
            </a:r>
            <a:r>
              <a:rPr lang="en-US" altLang="zh-CN" dirty="0" err="1"/>
              <a:t>Mergesort</a:t>
            </a:r>
            <a:r>
              <a:rPr lang="en-US" altLang="zh-CN" dirty="0"/>
              <a:t>(int a[],int </a:t>
            </a:r>
            <a:r>
              <a:rPr lang="en-US" altLang="zh-CN" dirty="0" err="1"/>
              <a:t>begin,int</a:t>
            </a:r>
            <a:r>
              <a:rPr lang="en-US" altLang="zh-CN" dirty="0"/>
              <a:t> end)</a:t>
            </a:r>
            <a:r>
              <a:rPr lang="zh-CN" altLang="zh-CN" dirty="0"/>
              <a:t>，其中参数分别为：待排序数组，起点索引，终点索引；</a:t>
            </a:r>
            <a:r>
              <a:rPr lang="en-US" altLang="zh-CN" dirty="0"/>
              <a:t>Merge(int a[],int </a:t>
            </a:r>
            <a:r>
              <a:rPr lang="en-US" altLang="zh-CN" dirty="0" err="1"/>
              <a:t>begin,int</a:t>
            </a:r>
            <a:r>
              <a:rPr lang="en-US" altLang="zh-CN" dirty="0"/>
              <a:t> end)</a:t>
            </a:r>
            <a:r>
              <a:rPr lang="zh-CN" altLang="zh-CN" dirty="0"/>
              <a:t>，表示将</a:t>
            </a:r>
            <a:r>
              <a:rPr lang="en-US" altLang="zh-CN" dirty="0"/>
              <a:t>begin</a:t>
            </a:r>
            <a:r>
              <a:rPr lang="zh-CN" altLang="zh-CN" dirty="0"/>
              <a:t>到</a:t>
            </a:r>
            <a:r>
              <a:rPr lang="en-US" altLang="zh-CN" dirty="0"/>
              <a:t>mid</a:t>
            </a:r>
            <a:r>
              <a:rPr lang="zh-CN" altLang="zh-CN" dirty="0"/>
              <a:t>，</a:t>
            </a:r>
            <a:r>
              <a:rPr lang="en-US" altLang="zh-CN" dirty="0"/>
              <a:t>mid+1</a:t>
            </a:r>
            <a:r>
              <a:rPr lang="zh-CN" altLang="zh-CN" dirty="0"/>
              <a:t>到</a:t>
            </a:r>
            <a:r>
              <a:rPr lang="en-US" altLang="zh-CN" dirty="0"/>
              <a:t>end</a:t>
            </a:r>
            <a:r>
              <a:rPr lang="zh-CN" altLang="zh-CN" dirty="0"/>
              <a:t>这两段已经排好序的数组进行合并</a:t>
            </a:r>
            <a:endParaRPr lang="en-US" altLang="zh-CN" dirty="0"/>
          </a:p>
          <a:p>
            <a:pPr indent="267970"/>
            <a:endParaRPr lang="zh-CN" altLang="zh-CN" dirty="0"/>
          </a:p>
          <a:p>
            <a:pPr indent="267970"/>
            <a:r>
              <a:rPr lang="en-US" altLang="zh-CN" dirty="0"/>
              <a:t>if begin &gt;end return</a:t>
            </a:r>
            <a:endParaRPr lang="zh-CN" altLang="zh-CN" dirty="0"/>
          </a:p>
          <a:p>
            <a:pPr indent="267970"/>
            <a:r>
              <a:rPr lang="en-US" altLang="zh-CN" dirty="0"/>
              <a:t>mid = (</a:t>
            </a:r>
            <a:r>
              <a:rPr lang="en-US" altLang="zh-CN" dirty="0" err="1"/>
              <a:t>begin+end</a:t>
            </a:r>
            <a:r>
              <a:rPr lang="en-US" altLang="zh-CN" dirty="0"/>
              <a:t>)/2</a:t>
            </a:r>
            <a:endParaRPr lang="zh-CN" altLang="zh-CN" dirty="0"/>
          </a:p>
          <a:p>
            <a:pPr indent="267970"/>
            <a:r>
              <a:rPr lang="en-US" altLang="zh-CN" dirty="0" err="1"/>
              <a:t>Mergesort</a:t>
            </a:r>
            <a:r>
              <a:rPr lang="en-US" altLang="zh-CN" dirty="0"/>
              <a:t>(</a:t>
            </a:r>
            <a:r>
              <a:rPr lang="en-US" altLang="zh-CN" dirty="0" err="1"/>
              <a:t>a,begin,mid</a:t>
            </a:r>
            <a:r>
              <a:rPr lang="en-US" altLang="zh-CN" dirty="0"/>
              <a:t>)</a:t>
            </a:r>
            <a:endParaRPr lang="zh-CN" altLang="zh-CN" dirty="0"/>
          </a:p>
          <a:p>
            <a:pPr indent="267970"/>
            <a:r>
              <a:rPr lang="en-US" altLang="zh-CN" dirty="0" err="1"/>
              <a:t>Mergesort</a:t>
            </a:r>
            <a:r>
              <a:rPr lang="en-US" altLang="zh-CN" dirty="0"/>
              <a:t>(a,mid+1,end)</a:t>
            </a:r>
            <a:endParaRPr lang="zh-CN" altLang="zh-CN" dirty="0"/>
          </a:p>
          <a:p>
            <a:pPr indent="267970"/>
            <a:r>
              <a:rPr lang="en-US" altLang="zh-CN" dirty="0"/>
              <a:t>Merge(</a:t>
            </a:r>
            <a:r>
              <a:rPr lang="en-US" altLang="zh-CN" dirty="0" err="1"/>
              <a:t>a,begin,end</a:t>
            </a:r>
            <a:r>
              <a:rPr lang="en-US" altLang="zh-CN" dirty="0"/>
              <a:t>)</a:t>
            </a:r>
            <a:endParaRPr lang="zh-CN" altLang="zh-CN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C567F87-E88D-1AFC-9FB9-AFA0ADD61BE0}"/>
              </a:ext>
            </a:extLst>
          </p:cNvPr>
          <p:cNvSpPr txBox="1"/>
          <p:nvPr/>
        </p:nvSpPr>
        <p:spPr>
          <a:xfrm>
            <a:off x="6794500" y="989999"/>
            <a:ext cx="5397499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67970"/>
            <a:r>
              <a:rPr lang="en-US" altLang="zh-CN" dirty="0"/>
              <a:t>5.</a:t>
            </a:r>
            <a:r>
              <a:rPr lang="zh-CN" altLang="zh-CN" dirty="0"/>
              <a:t>快速排序：</a:t>
            </a:r>
          </a:p>
          <a:p>
            <a:pPr indent="267970"/>
            <a:r>
              <a:rPr lang="zh-CN" altLang="zh-CN" dirty="0"/>
              <a:t>函数定义：</a:t>
            </a:r>
            <a:r>
              <a:rPr lang="en-US" altLang="zh-CN" dirty="0"/>
              <a:t>Quicksort(int a[],int </a:t>
            </a:r>
            <a:r>
              <a:rPr lang="en-US" altLang="zh-CN" dirty="0" err="1"/>
              <a:t>begin,int</a:t>
            </a:r>
            <a:r>
              <a:rPr lang="en-US" altLang="zh-CN" dirty="0"/>
              <a:t> end)</a:t>
            </a:r>
            <a:r>
              <a:rPr lang="zh-CN" altLang="zh-CN" dirty="0"/>
              <a:t>，各参数定义与</a:t>
            </a:r>
            <a:r>
              <a:rPr lang="en-US" altLang="zh-CN" dirty="0" err="1"/>
              <a:t>Mergesort</a:t>
            </a:r>
            <a:r>
              <a:rPr lang="zh-CN" altLang="zh-CN" dirty="0"/>
              <a:t>相同。</a:t>
            </a:r>
            <a:endParaRPr lang="en-US" altLang="zh-CN" dirty="0"/>
          </a:p>
          <a:p>
            <a:pPr indent="267970"/>
            <a:endParaRPr lang="zh-CN" altLang="zh-CN" dirty="0"/>
          </a:p>
          <a:p>
            <a:pPr indent="267970"/>
            <a:r>
              <a:rPr lang="en-US" altLang="zh-CN" dirty="0"/>
              <a:t>if begin &gt;end return</a:t>
            </a:r>
            <a:endParaRPr lang="zh-CN" altLang="zh-CN" dirty="0"/>
          </a:p>
          <a:p>
            <a:pPr indent="267970"/>
            <a:r>
              <a:rPr lang="en-US" altLang="zh-CN" dirty="0"/>
              <a:t>key=a[begin]</a:t>
            </a:r>
            <a:endParaRPr lang="zh-CN" altLang="zh-CN" dirty="0"/>
          </a:p>
          <a:p>
            <a:pPr indent="267970"/>
            <a:r>
              <a:rPr lang="en-US" altLang="zh-CN" dirty="0"/>
              <a:t>p1=begin,p2=end</a:t>
            </a:r>
            <a:endParaRPr lang="zh-CN" altLang="zh-CN" dirty="0"/>
          </a:p>
          <a:p>
            <a:pPr indent="267970"/>
            <a:r>
              <a:rPr lang="en-US" altLang="zh-CN" dirty="0"/>
              <a:t>while p2 &gt; p1</a:t>
            </a:r>
            <a:endParaRPr lang="zh-CN" altLang="zh-CN" dirty="0"/>
          </a:p>
          <a:p>
            <a:pPr indent="267970"/>
            <a:r>
              <a:rPr lang="en-US" altLang="zh-CN" dirty="0"/>
              <a:t>	while a[p2] &gt;= key &amp; p1 &lt; p2) </a:t>
            </a:r>
            <a:endParaRPr lang="zh-CN" altLang="zh-CN" dirty="0"/>
          </a:p>
          <a:p>
            <a:pPr indent="267970"/>
            <a:r>
              <a:rPr lang="en-US" altLang="zh-CN" dirty="0"/>
              <a:t>		p2-=1	</a:t>
            </a:r>
            <a:endParaRPr lang="zh-CN" altLang="zh-CN" dirty="0"/>
          </a:p>
          <a:p>
            <a:pPr indent="267970"/>
            <a:r>
              <a:rPr lang="en-US" altLang="zh-CN" dirty="0"/>
              <a:t>		swap a[p1],a[p2]</a:t>
            </a:r>
            <a:endParaRPr lang="zh-CN" altLang="zh-CN" dirty="0"/>
          </a:p>
          <a:p>
            <a:pPr indent="267970"/>
            <a:r>
              <a:rPr lang="en-US" altLang="zh-CN" dirty="0"/>
              <a:t>	while a[p1] &lt; key &amp; p1 &lt; p2</a:t>
            </a:r>
            <a:endParaRPr lang="zh-CN" altLang="zh-CN" dirty="0"/>
          </a:p>
          <a:p>
            <a:pPr indent="267970"/>
            <a:r>
              <a:rPr lang="en-US" altLang="zh-CN" dirty="0"/>
              <a:t>			p1+=1	</a:t>
            </a:r>
            <a:endParaRPr lang="zh-CN" altLang="zh-CN" dirty="0"/>
          </a:p>
          <a:p>
            <a:pPr indent="267970"/>
            <a:r>
              <a:rPr lang="en-US" altLang="zh-CN" dirty="0"/>
              <a:t>	swap a[p1],a[p2]</a:t>
            </a:r>
            <a:endParaRPr lang="zh-CN" altLang="zh-CN" dirty="0"/>
          </a:p>
          <a:p>
            <a:pPr indent="267970"/>
            <a:r>
              <a:rPr lang="en-US" altLang="zh-CN" dirty="0"/>
              <a:t>Quicksort(a, begin, p1 - 1)</a:t>
            </a:r>
            <a:endParaRPr lang="zh-CN" altLang="zh-CN" dirty="0"/>
          </a:p>
          <a:p>
            <a:pPr indent="267970"/>
            <a:r>
              <a:rPr lang="en-US" altLang="zh-CN" dirty="0"/>
              <a:t>Quicksort(a, p1 + 1, end)</a:t>
            </a:r>
            <a:endParaRPr lang="zh-CN" altLang="zh-CN" dirty="0"/>
          </a:p>
        </p:txBody>
      </p:sp>
    </p:spTree>
    <p:extLst>
      <p:ext uri="{BB962C8B-B14F-4D97-AF65-F5344CB8AC3E}">
        <p14:creationId xmlns:p14="http://schemas.microsoft.com/office/powerpoint/2010/main" val="3908150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>
            <a:extLst>
              <a:ext uri="{FF2B5EF4-FFF2-40B4-BE49-F238E27FC236}">
                <a16:creationId xmlns:a16="http://schemas.microsoft.com/office/drawing/2014/main" id="{C8204145-7348-A62A-D645-254804840394}"/>
              </a:ext>
            </a:extLst>
          </p:cNvPr>
          <p:cNvSpPr/>
          <p:nvPr/>
        </p:nvSpPr>
        <p:spPr>
          <a:xfrm>
            <a:off x="0" y="6517196"/>
            <a:ext cx="12192000" cy="369332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8" name="圆角矩形 5">
            <a:extLst>
              <a:ext uri="{FF2B5EF4-FFF2-40B4-BE49-F238E27FC236}">
                <a16:creationId xmlns:a16="http://schemas.microsoft.com/office/drawing/2014/main" id="{83377F40-D60A-BF33-D5BB-A16E1388A7A4}"/>
              </a:ext>
            </a:extLst>
          </p:cNvPr>
          <p:cNvSpPr/>
          <p:nvPr/>
        </p:nvSpPr>
        <p:spPr>
          <a:xfrm>
            <a:off x="1342356" y="-602"/>
            <a:ext cx="10849644" cy="990600"/>
          </a:xfrm>
          <a:prstGeom prst="roundRect">
            <a:avLst/>
          </a:prstGeom>
          <a:solidFill>
            <a:schemeClr val="accent5"/>
          </a:solidFill>
          <a:ln>
            <a:solidFill>
              <a:schemeClr val="accent5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4400" dirty="0"/>
              <a:t>算法测试结果及效率分析</a:t>
            </a:r>
            <a:endParaRPr lang="en-US" altLang="zh-CN" sz="4400" dirty="0">
              <a:latin typeface="Calibri" panose="020F0502020204030204" charset="0"/>
              <a:ea typeface="黑体" panose="02010609060101010101" pitchFamily="49" charset="-122"/>
              <a:cs typeface="Calibri" panose="020F0502020204030204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FC815CA-4DA2-4910-9052-F06FE8AC0546}"/>
              </a:ext>
            </a:extLst>
          </p:cNvPr>
          <p:cNvSpPr/>
          <p:nvPr/>
        </p:nvSpPr>
        <p:spPr>
          <a:xfrm>
            <a:off x="1" y="0"/>
            <a:ext cx="1752140" cy="6886528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bg1"/>
              </a:solidFill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2D2FFB3F-541E-4744-88C1-6A009510D922}"/>
              </a:ext>
            </a:extLst>
          </p:cNvPr>
          <p:cNvGrpSpPr/>
          <p:nvPr/>
        </p:nvGrpSpPr>
        <p:grpSpPr>
          <a:xfrm>
            <a:off x="-125801" y="3318164"/>
            <a:ext cx="2247899" cy="1301295"/>
            <a:chOff x="2266950" y="2025747"/>
            <a:chExt cx="5794972" cy="1232516"/>
          </a:xfrm>
          <a:effectLst>
            <a:outerShdw blurRad="127000" dist="63500" dir="2700000" algn="tl" rotWithShape="0">
              <a:prstClr val="black">
                <a:alpha val="30000"/>
              </a:prstClr>
            </a:outerShdw>
          </a:effectLst>
        </p:grpSpPr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71FD88E8-F6A1-4ABF-AC2A-184B1B811E62}"/>
                </a:ext>
              </a:extLst>
            </p:cNvPr>
            <p:cNvSpPr/>
            <p:nvPr/>
          </p:nvSpPr>
          <p:spPr>
            <a:xfrm>
              <a:off x="2266950" y="2025747"/>
              <a:ext cx="4697829" cy="123251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等腰三角形 6">
              <a:extLst>
                <a:ext uri="{FF2B5EF4-FFF2-40B4-BE49-F238E27FC236}">
                  <a16:creationId xmlns:a16="http://schemas.microsoft.com/office/drawing/2014/main" id="{1FD72B20-378C-4F00-AEE8-E5FAC151E55E}"/>
                </a:ext>
              </a:extLst>
            </p:cNvPr>
            <p:cNvSpPr/>
            <p:nvPr/>
          </p:nvSpPr>
          <p:spPr>
            <a:xfrm rot="5400000">
              <a:off x="6898951" y="2091575"/>
              <a:ext cx="1228799" cy="1097143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89FCFC02-838E-E9AB-BC04-902004C49FF8}"/>
              </a:ext>
            </a:extLst>
          </p:cNvPr>
          <p:cNvSpPr txBox="1"/>
          <p:nvPr/>
        </p:nvSpPr>
        <p:spPr>
          <a:xfrm>
            <a:off x="311173" y="1589472"/>
            <a:ext cx="103118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chemeClr val="bg1"/>
                </a:solidFill>
              </a:rPr>
              <a:t>解题思路简述</a:t>
            </a:r>
            <a:endParaRPr lang="zh-CN" altLang="en-US" sz="2000" dirty="0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B5439FB-D8DF-39AD-0089-82576CFB5EB3}"/>
              </a:ext>
            </a:extLst>
          </p:cNvPr>
          <p:cNvSpPr txBox="1"/>
          <p:nvPr/>
        </p:nvSpPr>
        <p:spPr>
          <a:xfrm>
            <a:off x="28592" y="3695396"/>
            <a:ext cx="17235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solidFill>
                  <a:srgbClr val="5C739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测试与分析</a:t>
            </a:r>
            <a:endParaRPr lang="zh-CN" altLang="en-US" sz="2400" dirty="0">
              <a:solidFill>
                <a:srgbClr val="5C739C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2958090-5DAC-02C3-4ADA-A8AE757AFAAF}"/>
              </a:ext>
            </a:extLst>
          </p:cNvPr>
          <p:cNvSpPr txBox="1"/>
          <p:nvPr/>
        </p:nvSpPr>
        <p:spPr>
          <a:xfrm>
            <a:off x="221470" y="2618869"/>
            <a:ext cx="1210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算法代码</a:t>
            </a:r>
            <a:endParaRPr lang="zh-CN" altLang="en-US" sz="20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F684C13C-F268-803F-37BB-42681BB983F9}"/>
              </a:ext>
            </a:extLst>
          </p:cNvPr>
          <p:cNvSpPr txBox="1"/>
          <p:nvPr/>
        </p:nvSpPr>
        <p:spPr>
          <a:xfrm>
            <a:off x="257387" y="5021659"/>
            <a:ext cx="157927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实际对比</a:t>
            </a:r>
            <a:endParaRPr lang="zh-CN" altLang="en-US" sz="20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0270B68A-D889-76AA-2407-D15B6B72F965}"/>
              </a:ext>
            </a:extLst>
          </p:cNvPr>
          <p:cNvSpPr txBox="1"/>
          <p:nvPr/>
        </p:nvSpPr>
        <p:spPr>
          <a:xfrm>
            <a:off x="-28046" y="5743280"/>
            <a:ext cx="215014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求解</a:t>
            </a:r>
            <a:r>
              <a:rPr lang="en-US" altLang="zh-CN" sz="20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TOP.K</a:t>
            </a:r>
            <a:r>
              <a:rPr lang="zh-CN" altLang="en-US" sz="20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问题</a:t>
            </a:r>
            <a:endParaRPr lang="zh-CN" altLang="en-US" sz="20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C16955AA-86E0-0F8B-8D90-0613FC572E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2605" y="2658787"/>
            <a:ext cx="4785995" cy="956310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F6756D8E-49A4-C0C6-E906-280C7E08AF89}"/>
              </a:ext>
            </a:extLst>
          </p:cNvPr>
          <p:cNvSpPr txBox="1"/>
          <p:nvPr/>
        </p:nvSpPr>
        <p:spPr>
          <a:xfrm>
            <a:off x="2023007" y="1665965"/>
            <a:ext cx="509481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67970"/>
            <a:r>
              <a:rPr lang="zh-CN" altLang="zh-CN" dirty="0"/>
              <a:t>这五个算法分别在不同大小数据集下的运行效率测试结果如图所示：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01A7D10E-6C45-B67C-4D6D-CEEFFAC23124}"/>
              </a:ext>
            </a:extLst>
          </p:cNvPr>
          <p:cNvSpPr txBox="1"/>
          <p:nvPr/>
        </p:nvSpPr>
        <p:spPr>
          <a:xfrm>
            <a:off x="2182604" y="3615097"/>
            <a:ext cx="478599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67970" algn="ctr"/>
            <a:r>
              <a:rPr lang="zh-CN" altLang="zh-CN" sz="11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图：算法的运行效率测试结果</a:t>
            </a:r>
            <a:endParaRPr lang="zh-CN" altLang="zh-CN" sz="11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70A4C12C-D839-4181-E5A1-EAC2ABC913F7}"/>
              </a:ext>
            </a:extLst>
          </p:cNvPr>
          <p:cNvSpPr txBox="1"/>
          <p:nvPr/>
        </p:nvSpPr>
        <p:spPr>
          <a:xfrm>
            <a:off x="7264862" y="1665965"/>
            <a:ext cx="62055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67970" algn="just"/>
            <a:r>
              <a:rPr lang="zh-CN" altLang="zh-CN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绘制成图表如图所示：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22" name="图片 21">
            <a:extLst>
              <a:ext uri="{FF2B5EF4-FFF2-40B4-BE49-F238E27FC236}">
                <a16:creationId xmlns:a16="http://schemas.microsoft.com/office/drawing/2014/main" id="{8F96C7C2-FBD8-193C-25AA-2D4D24FF85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03915" y="2127567"/>
            <a:ext cx="4111625" cy="2602865"/>
          </a:xfrm>
          <a:prstGeom prst="rect">
            <a:avLst/>
          </a:prstGeom>
        </p:spPr>
      </p:pic>
      <p:sp>
        <p:nvSpPr>
          <p:cNvPr id="24" name="文本框 23">
            <a:extLst>
              <a:ext uri="{FF2B5EF4-FFF2-40B4-BE49-F238E27FC236}">
                <a16:creationId xmlns:a16="http://schemas.microsoft.com/office/drawing/2014/main" id="{A14B434D-B2FD-61CD-9428-ABBD0C0E43B8}"/>
              </a:ext>
            </a:extLst>
          </p:cNvPr>
          <p:cNvSpPr txBox="1"/>
          <p:nvPr/>
        </p:nvSpPr>
        <p:spPr>
          <a:xfrm>
            <a:off x="2238235" y="4222539"/>
            <a:ext cx="478599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67970"/>
            <a:r>
              <a:rPr lang="zh-CN" altLang="zh-CN" dirty="0"/>
              <a:t>其中，时间的单位为毫秒，</a:t>
            </a:r>
            <a:r>
              <a:rPr lang="en-US" altLang="zh-CN" dirty="0"/>
              <a:t>sample size</a:t>
            </a:r>
            <a:r>
              <a:rPr lang="zh-CN" altLang="zh-CN" dirty="0"/>
              <a:t>表示数组的长度。</a:t>
            </a:r>
          </a:p>
        </p:txBody>
      </p:sp>
    </p:spTree>
    <p:extLst>
      <p:ext uri="{BB962C8B-B14F-4D97-AF65-F5344CB8AC3E}">
        <p14:creationId xmlns:p14="http://schemas.microsoft.com/office/powerpoint/2010/main" val="25062073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>
            <a:extLst>
              <a:ext uri="{FF2B5EF4-FFF2-40B4-BE49-F238E27FC236}">
                <a16:creationId xmlns:a16="http://schemas.microsoft.com/office/drawing/2014/main" id="{C8204145-7348-A62A-D645-254804840394}"/>
              </a:ext>
            </a:extLst>
          </p:cNvPr>
          <p:cNvSpPr/>
          <p:nvPr/>
        </p:nvSpPr>
        <p:spPr>
          <a:xfrm>
            <a:off x="0" y="6517196"/>
            <a:ext cx="12192000" cy="369332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8" name="圆角矩形 5">
            <a:extLst>
              <a:ext uri="{FF2B5EF4-FFF2-40B4-BE49-F238E27FC236}">
                <a16:creationId xmlns:a16="http://schemas.microsoft.com/office/drawing/2014/main" id="{83377F40-D60A-BF33-D5BB-A16E1388A7A4}"/>
              </a:ext>
            </a:extLst>
          </p:cNvPr>
          <p:cNvSpPr/>
          <p:nvPr/>
        </p:nvSpPr>
        <p:spPr>
          <a:xfrm>
            <a:off x="1342356" y="-602"/>
            <a:ext cx="10849644" cy="990600"/>
          </a:xfrm>
          <a:prstGeom prst="roundRect">
            <a:avLst/>
          </a:prstGeom>
          <a:solidFill>
            <a:schemeClr val="accent5"/>
          </a:solidFill>
          <a:ln>
            <a:solidFill>
              <a:schemeClr val="accent5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4400" dirty="0"/>
              <a:t>理论与实际效率对比分析</a:t>
            </a:r>
            <a:endParaRPr lang="en-US" altLang="zh-CN" sz="4400" dirty="0">
              <a:latin typeface="Calibri" panose="020F0502020204030204" charset="0"/>
              <a:ea typeface="黑体" panose="02010609060101010101" pitchFamily="49" charset="-122"/>
              <a:cs typeface="Calibri" panose="020F0502020204030204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FC815CA-4DA2-4910-9052-F06FE8AC0546}"/>
              </a:ext>
            </a:extLst>
          </p:cNvPr>
          <p:cNvSpPr/>
          <p:nvPr/>
        </p:nvSpPr>
        <p:spPr>
          <a:xfrm>
            <a:off x="1" y="0"/>
            <a:ext cx="1752140" cy="6886528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bg1"/>
              </a:solidFill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2D2FFB3F-541E-4744-88C1-6A009510D922}"/>
              </a:ext>
            </a:extLst>
          </p:cNvPr>
          <p:cNvGrpSpPr/>
          <p:nvPr/>
        </p:nvGrpSpPr>
        <p:grpSpPr>
          <a:xfrm>
            <a:off x="-125801" y="3885787"/>
            <a:ext cx="2247899" cy="1301295"/>
            <a:chOff x="2266950" y="2025747"/>
            <a:chExt cx="5794972" cy="1232516"/>
          </a:xfrm>
          <a:effectLst>
            <a:outerShdw blurRad="127000" dist="63500" dir="2700000" algn="tl" rotWithShape="0">
              <a:prstClr val="black">
                <a:alpha val="30000"/>
              </a:prstClr>
            </a:outerShdw>
          </a:effectLst>
        </p:grpSpPr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71FD88E8-F6A1-4ABF-AC2A-184B1B811E62}"/>
                </a:ext>
              </a:extLst>
            </p:cNvPr>
            <p:cNvSpPr/>
            <p:nvPr/>
          </p:nvSpPr>
          <p:spPr>
            <a:xfrm>
              <a:off x="2266950" y="2025747"/>
              <a:ext cx="4697829" cy="123251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等腰三角形 6">
              <a:extLst>
                <a:ext uri="{FF2B5EF4-FFF2-40B4-BE49-F238E27FC236}">
                  <a16:creationId xmlns:a16="http://schemas.microsoft.com/office/drawing/2014/main" id="{1FD72B20-378C-4F00-AEE8-E5FAC151E55E}"/>
                </a:ext>
              </a:extLst>
            </p:cNvPr>
            <p:cNvSpPr/>
            <p:nvPr/>
          </p:nvSpPr>
          <p:spPr>
            <a:xfrm rot="5400000">
              <a:off x="6898951" y="2091575"/>
              <a:ext cx="1228799" cy="1097143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89FCFC02-838E-E9AB-BC04-902004C49FF8}"/>
              </a:ext>
            </a:extLst>
          </p:cNvPr>
          <p:cNvSpPr txBox="1"/>
          <p:nvPr/>
        </p:nvSpPr>
        <p:spPr>
          <a:xfrm>
            <a:off x="311173" y="1589472"/>
            <a:ext cx="103118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chemeClr val="bg1"/>
                </a:solidFill>
              </a:rPr>
              <a:t>解题思路简述</a:t>
            </a:r>
            <a:endParaRPr lang="zh-CN" altLang="en-US" sz="2000" dirty="0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B5439FB-D8DF-39AD-0089-82576CFB5EB3}"/>
              </a:ext>
            </a:extLst>
          </p:cNvPr>
          <p:cNvSpPr txBox="1"/>
          <p:nvPr/>
        </p:nvSpPr>
        <p:spPr>
          <a:xfrm>
            <a:off x="80220" y="3259269"/>
            <a:ext cx="146706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测试与分析</a:t>
            </a:r>
            <a:endParaRPr lang="zh-CN" altLang="en-US" sz="20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2958090-5DAC-02C3-4ADA-A8AE757AFAAF}"/>
              </a:ext>
            </a:extLst>
          </p:cNvPr>
          <p:cNvSpPr txBox="1"/>
          <p:nvPr/>
        </p:nvSpPr>
        <p:spPr>
          <a:xfrm>
            <a:off x="221470" y="2618869"/>
            <a:ext cx="1210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算法代码</a:t>
            </a:r>
            <a:endParaRPr lang="zh-CN" altLang="en-US" sz="20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F684C13C-F268-803F-37BB-42681BB983F9}"/>
              </a:ext>
            </a:extLst>
          </p:cNvPr>
          <p:cNvSpPr txBox="1"/>
          <p:nvPr/>
        </p:nvSpPr>
        <p:spPr>
          <a:xfrm>
            <a:off x="117651" y="4314871"/>
            <a:ext cx="157927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>
                <a:solidFill>
                  <a:srgbClr val="5C739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实际对比</a:t>
            </a:r>
            <a:endParaRPr lang="zh-CN" altLang="en-US" sz="2400" dirty="0">
              <a:solidFill>
                <a:srgbClr val="5C739C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0270B68A-D889-76AA-2407-D15B6B72F965}"/>
              </a:ext>
            </a:extLst>
          </p:cNvPr>
          <p:cNvSpPr txBox="1"/>
          <p:nvPr/>
        </p:nvSpPr>
        <p:spPr>
          <a:xfrm>
            <a:off x="-24738" y="5650122"/>
            <a:ext cx="215014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求解</a:t>
            </a:r>
            <a:r>
              <a:rPr lang="en-US" altLang="zh-CN" sz="20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TOP.K</a:t>
            </a:r>
            <a:r>
              <a:rPr lang="zh-CN" altLang="en-US" sz="20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问题</a:t>
            </a:r>
            <a:endParaRPr lang="zh-CN" altLang="en-US" sz="20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23E159B6-C6EE-C075-6A4B-6084180B1B3B}"/>
              </a:ext>
            </a:extLst>
          </p:cNvPr>
          <p:cNvSpPr txBox="1"/>
          <p:nvPr/>
        </p:nvSpPr>
        <p:spPr>
          <a:xfrm>
            <a:off x="3533934" y="1130183"/>
            <a:ext cx="620553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67970" algn="l"/>
            <a:r>
              <a:rPr lang="zh-CN" altLang="zh-CN" dirty="0"/>
              <a:t>以数据集大小</a:t>
            </a:r>
            <a:r>
              <a:rPr lang="en-US" altLang="zh-CN" dirty="0"/>
              <a:t>10</a:t>
            </a:r>
            <a:r>
              <a:rPr lang="zh-CN" altLang="zh-CN" dirty="0"/>
              <a:t>万为基准，计算各个排序的理论运行效率，结果如图：</a:t>
            </a: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EDBA25EB-BCBC-EFF3-F932-2CD1B802E6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3869" y="1773023"/>
            <a:ext cx="4685665" cy="948055"/>
          </a:xfrm>
          <a:prstGeom prst="rect">
            <a:avLst/>
          </a:prstGeom>
        </p:spPr>
      </p:pic>
      <p:sp>
        <p:nvSpPr>
          <p:cNvPr id="20" name="文本框 19">
            <a:extLst>
              <a:ext uri="{FF2B5EF4-FFF2-40B4-BE49-F238E27FC236}">
                <a16:creationId xmlns:a16="http://schemas.microsoft.com/office/drawing/2014/main" id="{FCE4FDC1-EEAB-7EB7-1D6E-BA095B9794F2}"/>
              </a:ext>
            </a:extLst>
          </p:cNvPr>
          <p:cNvSpPr txBox="1"/>
          <p:nvPr/>
        </p:nvSpPr>
        <p:spPr>
          <a:xfrm>
            <a:off x="4293869" y="2721078"/>
            <a:ext cx="468566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67970" algn="ctr"/>
            <a:r>
              <a:rPr lang="zh-CN" altLang="zh-CN" sz="1200" dirty="0"/>
              <a:t>图：算法的运行的理论效率</a:t>
            </a:r>
          </a:p>
        </p:txBody>
      </p:sp>
      <p:pic>
        <p:nvPicPr>
          <p:cNvPr id="23" name="图片 22">
            <a:extLst>
              <a:ext uri="{FF2B5EF4-FFF2-40B4-BE49-F238E27FC236}">
                <a16:creationId xmlns:a16="http://schemas.microsoft.com/office/drawing/2014/main" id="{C3B225FE-EE7C-ADF6-87CF-344B0643CE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8339" y="3353401"/>
            <a:ext cx="4481195" cy="2560955"/>
          </a:xfrm>
          <a:prstGeom prst="rect">
            <a:avLst/>
          </a:prstGeom>
        </p:spPr>
      </p:pic>
      <p:sp>
        <p:nvSpPr>
          <p:cNvPr id="26" name="文本框 25">
            <a:extLst>
              <a:ext uri="{FF2B5EF4-FFF2-40B4-BE49-F238E27FC236}">
                <a16:creationId xmlns:a16="http://schemas.microsoft.com/office/drawing/2014/main" id="{FAD01BF0-96E7-916B-5941-200512A1EA19}"/>
              </a:ext>
            </a:extLst>
          </p:cNvPr>
          <p:cNvSpPr txBox="1"/>
          <p:nvPr/>
        </p:nvSpPr>
        <p:spPr>
          <a:xfrm>
            <a:off x="4498339" y="5956024"/>
            <a:ext cx="448119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67970" algn="ctr"/>
            <a:r>
              <a:rPr lang="zh-CN" altLang="zh-CN" sz="1200" dirty="0"/>
              <a:t>图：理论与实际运行效率的对比</a:t>
            </a:r>
          </a:p>
        </p:txBody>
      </p:sp>
    </p:spTree>
    <p:extLst>
      <p:ext uri="{BB962C8B-B14F-4D97-AF65-F5344CB8AC3E}">
        <p14:creationId xmlns:p14="http://schemas.microsoft.com/office/powerpoint/2010/main" val="31915859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>
            <a:extLst>
              <a:ext uri="{FF2B5EF4-FFF2-40B4-BE49-F238E27FC236}">
                <a16:creationId xmlns:a16="http://schemas.microsoft.com/office/drawing/2014/main" id="{C8204145-7348-A62A-D645-254804840394}"/>
              </a:ext>
            </a:extLst>
          </p:cNvPr>
          <p:cNvSpPr/>
          <p:nvPr/>
        </p:nvSpPr>
        <p:spPr>
          <a:xfrm>
            <a:off x="0" y="6517196"/>
            <a:ext cx="12192000" cy="369332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8" name="圆角矩形 5">
            <a:extLst>
              <a:ext uri="{FF2B5EF4-FFF2-40B4-BE49-F238E27FC236}">
                <a16:creationId xmlns:a16="http://schemas.microsoft.com/office/drawing/2014/main" id="{83377F40-D60A-BF33-D5BB-A16E1388A7A4}"/>
              </a:ext>
            </a:extLst>
          </p:cNvPr>
          <p:cNvSpPr/>
          <p:nvPr/>
        </p:nvSpPr>
        <p:spPr>
          <a:xfrm>
            <a:off x="1342356" y="-602"/>
            <a:ext cx="10849644" cy="990600"/>
          </a:xfrm>
          <a:prstGeom prst="roundRect">
            <a:avLst/>
          </a:prstGeom>
          <a:solidFill>
            <a:schemeClr val="accent5"/>
          </a:solidFill>
          <a:ln>
            <a:solidFill>
              <a:schemeClr val="accent5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4400" dirty="0"/>
              <a:t>求解</a:t>
            </a:r>
            <a:r>
              <a:rPr lang="en-US" altLang="zh-CN" sz="4400" dirty="0"/>
              <a:t>TOP.K</a:t>
            </a:r>
            <a:r>
              <a:rPr lang="zh-CN" altLang="en-US" sz="4400" dirty="0"/>
              <a:t>问题</a:t>
            </a:r>
            <a:endParaRPr lang="en-US" altLang="zh-CN" sz="4400" dirty="0">
              <a:latin typeface="Calibri" panose="020F0502020204030204" charset="0"/>
              <a:ea typeface="黑体" panose="02010609060101010101" pitchFamily="49" charset="-122"/>
              <a:cs typeface="Calibri" panose="020F0502020204030204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FC815CA-4DA2-4910-9052-F06FE8AC0546}"/>
              </a:ext>
            </a:extLst>
          </p:cNvPr>
          <p:cNvSpPr/>
          <p:nvPr/>
        </p:nvSpPr>
        <p:spPr>
          <a:xfrm>
            <a:off x="1" y="0"/>
            <a:ext cx="1752140" cy="6886528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bg1"/>
              </a:solidFill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2D2FFB3F-541E-4744-88C1-6A009510D922}"/>
              </a:ext>
            </a:extLst>
          </p:cNvPr>
          <p:cNvGrpSpPr/>
          <p:nvPr/>
        </p:nvGrpSpPr>
        <p:grpSpPr>
          <a:xfrm>
            <a:off x="0" y="4555468"/>
            <a:ext cx="2206601" cy="1307618"/>
            <a:chOff x="2484797" y="2458576"/>
            <a:chExt cx="5688508" cy="1238505"/>
          </a:xfrm>
          <a:effectLst>
            <a:outerShdw blurRad="127000" dist="63500" dir="2700000" algn="tl" rotWithShape="0">
              <a:prstClr val="black">
                <a:alpha val="30000"/>
              </a:prstClr>
            </a:outerShdw>
          </a:effectLst>
        </p:grpSpPr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71FD88E8-F6A1-4ABF-AC2A-184B1B811E62}"/>
                </a:ext>
              </a:extLst>
            </p:cNvPr>
            <p:cNvSpPr/>
            <p:nvPr/>
          </p:nvSpPr>
          <p:spPr>
            <a:xfrm>
              <a:off x="2484797" y="2458576"/>
              <a:ext cx="4697830" cy="123251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" name="等腰三角形 6">
              <a:extLst>
                <a:ext uri="{FF2B5EF4-FFF2-40B4-BE49-F238E27FC236}">
                  <a16:creationId xmlns:a16="http://schemas.microsoft.com/office/drawing/2014/main" id="{1FD72B20-378C-4F00-AEE8-E5FAC151E55E}"/>
                </a:ext>
              </a:extLst>
            </p:cNvPr>
            <p:cNvSpPr/>
            <p:nvPr/>
          </p:nvSpPr>
          <p:spPr>
            <a:xfrm rot="5400000">
              <a:off x="7010334" y="2534111"/>
              <a:ext cx="1228799" cy="1097142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89FCFC02-838E-E9AB-BC04-902004C49FF8}"/>
              </a:ext>
            </a:extLst>
          </p:cNvPr>
          <p:cNvSpPr txBox="1"/>
          <p:nvPr/>
        </p:nvSpPr>
        <p:spPr>
          <a:xfrm>
            <a:off x="360479" y="1591121"/>
            <a:ext cx="103118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chemeClr val="bg1"/>
                </a:solidFill>
              </a:rPr>
              <a:t>解题思路简述</a:t>
            </a:r>
            <a:endParaRPr lang="zh-CN" altLang="en-US" sz="2000" dirty="0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B5439FB-D8DF-39AD-0089-82576CFB5EB3}"/>
              </a:ext>
            </a:extLst>
          </p:cNvPr>
          <p:cNvSpPr txBox="1"/>
          <p:nvPr/>
        </p:nvSpPr>
        <p:spPr>
          <a:xfrm>
            <a:off x="93230" y="3286500"/>
            <a:ext cx="146706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测试与分析</a:t>
            </a:r>
            <a:endParaRPr lang="zh-CN" altLang="en-US" sz="20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2958090-5DAC-02C3-4ADA-A8AE757AFAAF}"/>
              </a:ext>
            </a:extLst>
          </p:cNvPr>
          <p:cNvSpPr txBox="1"/>
          <p:nvPr/>
        </p:nvSpPr>
        <p:spPr>
          <a:xfrm>
            <a:off x="221470" y="2618869"/>
            <a:ext cx="1210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算法代码</a:t>
            </a:r>
            <a:endParaRPr lang="zh-CN" altLang="en-US" sz="20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F684C13C-F268-803F-37BB-42681BB983F9}"/>
              </a:ext>
            </a:extLst>
          </p:cNvPr>
          <p:cNvSpPr txBox="1"/>
          <p:nvPr/>
        </p:nvSpPr>
        <p:spPr>
          <a:xfrm>
            <a:off x="207949" y="3954131"/>
            <a:ext cx="157927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实际对比</a:t>
            </a:r>
            <a:endParaRPr lang="zh-CN" altLang="en-US" sz="20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0270B68A-D889-76AA-2407-D15B6B72F965}"/>
              </a:ext>
            </a:extLst>
          </p:cNvPr>
          <p:cNvSpPr txBox="1"/>
          <p:nvPr/>
        </p:nvSpPr>
        <p:spPr>
          <a:xfrm>
            <a:off x="0" y="4983568"/>
            <a:ext cx="215014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>
                <a:solidFill>
                  <a:srgbClr val="5C739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求解</a:t>
            </a:r>
            <a:r>
              <a:rPr lang="en-US" altLang="zh-CN" sz="2400" dirty="0">
                <a:solidFill>
                  <a:srgbClr val="5C739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TOP.K</a:t>
            </a:r>
            <a:r>
              <a:rPr lang="zh-CN" altLang="en-US" sz="2400" dirty="0">
                <a:solidFill>
                  <a:srgbClr val="5C739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问题</a:t>
            </a:r>
            <a:endParaRPr lang="zh-CN" altLang="en-US" sz="2400" dirty="0">
              <a:solidFill>
                <a:srgbClr val="5C739C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EDD73E63-9BD8-B09F-C37A-5DA21360D0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82977" y="2148206"/>
            <a:ext cx="7578187" cy="1741546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485F4C81-518A-3672-FD24-F36C8A336D11}"/>
              </a:ext>
            </a:extLst>
          </p:cNvPr>
          <p:cNvSpPr txBox="1"/>
          <p:nvPr/>
        </p:nvSpPr>
        <p:spPr>
          <a:xfrm>
            <a:off x="3602855" y="3900593"/>
            <a:ext cx="614838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zh-CN" sz="1400" dirty="0"/>
              <a:t>图：一千万数据集下的测试结果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523A213B-081E-79F9-AED5-DDEC598ACB7C}"/>
              </a:ext>
            </a:extLst>
          </p:cNvPr>
          <p:cNvSpPr txBox="1"/>
          <p:nvPr/>
        </p:nvSpPr>
        <p:spPr>
          <a:xfrm>
            <a:off x="3176611" y="1585489"/>
            <a:ext cx="68868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+mn-ea"/>
              </a:rPr>
              <a:t>结论</a:t>
            </a:r>
            <a:r>
              <a:rPr lang="en-US" altLang="zh-CN" dirty="0">
                <a:latin typeface="+mn-ea"/>
              </a:rPr>
              <a:t>:   </a:t>
            </a:r>
            <a:r>
              <a:rPr lang="zh-CN" altLang="en-US" dirty="0">
                <a:latin typeface="+mn-ea"/>
              </a:rPr>
              <a:t>快速排序是一种简单的排序方法，除此之外堆排也可以使用</a:t>
            </a:r>
          </a:p>
        </p:txBody>
      </p:sp>
    </p:spTree>
    <p:extLst>
      <p:ext uri="{BB962C8B-B14F-4D97-AF65-F5344CB8AC3E}">
        <p14:creationId xmlns:p14="http://schemas.microsoft.com/office/powerpoint/2010/main" val="20187588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59</TotalTime>
  <Words>740</Words>
  <Application>Microsoft Office PowerPoint</Application>
  <PresentationFormat>宽屏</PresentationFormat>
  <Paragraphs>114</Paragraphs>
  <Slides>7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5" baseType="lpstr">
      <vt:lpstr>等线</vt:lpstr>
      <vt:lpstr>等线 Light</vt:lpstr>
      <vt:lpstr>黑体</vt:lpstr>
      <vt:lpstr>楷体</vt:lpstr>
      <vt:lpstr>Arial</vt:lpstr>
      <vt:lpstr>Calibri</vt:lpstr>
      <vt:lpstr>Times New Roman</vt:lpstr>
      <vt:lpstr>自定义设计方案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涛 孟</dc:creator>
  <cp:lastModifiedBy>涛 孟</cp:lastModifiedBy>
  <cp:revision>156</cp:revision>
  <dcterms:created xsi:type="dcterms:W3CDTF">2024-03-26T10:14:11Z</dcterms:created>
  <dcterms:modified xsi:type="dcterms:W3CDTF">2024-03-26T11:13:47Z</dcterms:modified>
</cp:coreProperties>
</file>