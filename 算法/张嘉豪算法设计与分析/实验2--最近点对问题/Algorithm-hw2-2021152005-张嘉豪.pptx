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73" r:id="rId4"/>
    <p:sldId id="261" r:id="rId5"/>
    <p:sldId id="276" r:id="rId6"/>
    <p:sldId id="275" r:id="rId7"/>
    <p:sldId id="277" r:id="rId8"/>
    <p:sldId id="278" r:id="rId9"/>
    <p:sldId id="282" r:id="rId10"/>
    <p:sldId id="281" r:id="rId11"/>
    <p:sldId id="280" r:id="rId12"/>
    <p:sldId id="283" r:id="rId13"/>
    <p:sldId id="300" r:id="rId14"/>
    <p:sldId id="284" r:id="rId15"/>
    <p:sldId id="293" r:id="rId16"/>
    <p:sldId id="294" r:id="rId17"/>
    <p:sldId id="297" r:id="rId18"/>
    <p:sldId id="301" r:id="rId19"/>
    <p:sldId id="299" r:id="rId20"/>
    <p:sldId id="27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0041"/>
    <a:srgbClr val="940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182" y="138"/>
      </p:cViewPr>
      <p:guideLst>
        <p:guide orient="horz" pos="2155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25FF6-7AC4-49C7-9C4D-F7CD10F7C8E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jpe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28" b="21884"/>
          <a:stretch>
            <a:fillRect/>
          </a:stretch>
        </p:blipFill>
        <p:spPr>
          <a:xfrm>
            <a:off x="0" y="-31750"/>
            <a:ext cx="12192000" cy="130429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-31750"/>
            <a:ext cx="12192000" cy="1304290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-1886018" y="-4009350"/>
            <a:ext cx="9321276" cy="3397261"/>
          </a:xfrm>
          <a:prstGeom prst="rect">
            <a:avLst/>
          </a:prstGeom>
          <a:blipFill dpi="0" rotWithShape="1">
            <a:blip r:embed="rId3">
              <a:alphaModFix amt="18000"/>
              <a:lum bright="70000" contrast="-7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0218" y="2501085"/>
            <a:ext cx="104915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kern="0" dirty="0">
                <a:uFillTx/>
                <a:latin typeface="宋体" panose="02010600030101010101" pitchFamily="2" charset="-122"/>
                <a:ea typeface="宋体" panose="02010600030101010101" pitchFamily="2" charset="-122"/>
                <a:cs typeface="Franklin Gothic Medium" panose="020B0603020102020204" charset="0"/>
              </a:rPr>
              <a:t>实验二</a:t>
            </a:r>
            <a:endParaRPr lang="en-US" altLang="zh-CN" sz="5400" b="1" kern="0" dirty="0">
              <a:uFillTx/>
              <a:latin typeface="宋体" panose="02010600030101010101" pitchFamily="2" charset="-122"/>
              <a:ea typeface="宋体" panose="02010600030101010101" pitchFamily="2" charset="-122"/>
              <a:cs typeface="Franklin Gothic Medium" panose="020B0603020102020204" charset="0"/>
            </a:endParaRPr>
          </a:p>
          <a:p>
            <a:pPr algn="ctr"/>
            <a:r>
              <a:rPr lang="zh-CN" altLang="en-US" sz="5400" b="1" kern="0" dirty="0">
                <a:latin typeface="宋体" panose="02010600030101010101" pitchFamily="2" charset="-122"/>
                <a:ea typeface="宋体" panose="02010600030101010101" pitchFamily="2" charset="-122"/>
                <a:cs typeface="Franklin Gothic Medium" panose="020B0603020102020204" charset="0"/>
              </a:rPr>
              <a:t>分治法求最近点对问题</a:t>
            </a:r>
            <a:endParaRPr lang="en-US" altLang="zh-CN" sz="5400" b="1" kern="0" dirty="0">
              <a:uFillTx/>
              <a:latin typeface="宋体" panose="02010600030101010101" pitchFamily="2" charset="-122"/>
              <a:ea typeface="宋体" panose="02010600030101010101" pitchFamily="2" charset="-122"/>
              <a:cs typeface="Franklin Gothic Medium" panose="020B06030201020202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91" y="245252"/>
            <a:ext cx="2162218" cy="2054575"/>
          </a:xfrm>
          <a:prstGeom prst="rect">
            <a:avLst/>
          </a:prstGeom>
          <a:effectLst>
            <a:outerShdw blurRad="292100" dist="25400" dir="5400000" algn="t" rotWithShape="0">
              <a:prstClr val="black">
                <a:alpha val="59000"/>
              </a:prst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3903994" y="4395946"/>
            <a:ext cx="4384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000" dirty="0"/>
              <a:t>计算机与软件学院</a:t>
            </a:r>
            <a:r>
              <a:rPr lang="en-US" altLang="zh-CN" sz="2000" dirty="0"/>
              <a:t>2021</a:t>
            </a:r>
            <a:r>
              <a:rPr lang="zh-CN" altLang="en-US" sz="2000" dirty="0"/>
              <a:t>级计科卓越班</a:t>
            </a:r>
            <a:endParaRPr lang="en-US" altLang="zh-CN" sz="2000" dirty="0"/>
          </a:p>
          <a:p>
            <a:pPr algn="ctr"/>
            <a:r>
              <a:rPr lang="zh-CN" altLang="en-US" sz="2000" dirty="0"/>
              <a:t>张嘉豪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702945" y="5244367"/>
            <a:ext cx="2786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指导教师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卢亚辉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5" t="394" r="51375" b="-655"/>
          <a:stretch>
            <a:fillRect/>
          </a:stretch>
        </p:blipFill>
        <p:spPr>
          <a:xfrm>
            <a:off x="0" y="-15240"/>
            <a:ext cx="2944495" cy="69418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-15240"/>
            <a:ext cx="2944495" cy="6873240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52533" y="1296484"/>
            <a:ext cx="5786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 / </a:t>
            </a:r>
            <a:r>
              <a:rPr lang="zh-CN" altLang="en-US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前置工作</a:t>
            </a:r>
            <a:endParaRPr lang="en-US" altLang="zh-CN" sz="3200" dirty="0">
              <a:solidFill>
                <a:schemeClr val="accent4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52533" y="2555818"/>
            <a:ext cx="5786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 / </a:t>
            </a:r>
            <a:r>
              <a:rPr lang="zh-CN" altLang="en-US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蛮力法与分治法的研究</a:t>
            </a:r>
            <a:endParaRPr lang="en-US" altLang="zh-CN" sz="3200" dirty="0">
              <a:solidFill>
                <a:schemeClr val="accent4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52533" y="3815152"/>
            <a:ext cx="7364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 / </a:t>
            </a:r>
            <a:r>
              <a:rPr lang="zh-CN" altLang="en-US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蛮力法</a:t>
            </a:r>
            <a:r>
              <a:rPr lang="en-US" altLang="zh-CN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分治法的比较与分析</a:t>
            </a:r>
            <a:endParaRPr lang="en-US" altLang="zh-CN" sz="3200" dirty="0">
              <a:solidFill>
                <a:schemeClr val="accent4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52533" y="5074486"/>
            <a:ext cx="5786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 / </a:t>
            </a:r>
            <a:r>
              <a:rPr lang="zh-CN" altLang="en-US" sz="3200" dirty="0">
                <a:solidFill>
                  <a:schemeClr val="accent4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总结</a:t>
            </a:r>
            <a:endParaRPr lang="en-US" altLang="zh-CN" sz="3200" dirty="0">
              <a:solidFill>
                <a:schemeClr val="accent4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5119" y="2786650"/>
            <a:ext cx="2426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cs typeface="Franklin Gothic Medium" panose="020B0603020102020204" charset="0"/>
                <a:sym typeface="+mn-ea"/>
              </a:rPr>
              <a:t>Catalog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5" t="394" r="51375" b="-655"/>
          <a:stretch>
            <a:fillRect/>
          </a:stretch>
        </p:blipFill>
        <p:spPr>
          <a:xfrm>
            <a:off x="0" y="-15240"/>
            <a:ext cx="2944495" cy="69418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-15240"/>
            <a:ext cx="2944495" cy="6873240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5120" y="3041015"/>
            <a:ext cx="2294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cs typeface="Franklin Gothic Medium" panose="020B0603020102020204" charset="0"/>
                <a:sym typeface="+mn-ea"/>
              </a:rPr>
              <a:t>Part 1</a:t>
            </a:r>
          </a:p>
        </p:txBody>
      </p:sp>
      <p:sp>
        <p:nvSpPr>
          <p:cNvPr id="9" name="菠萝大侠：文本框 23"/>
          <p:cNvSpPr txBox="1"/>
          <p:nvPr/>
        </p:nvSpPr>
        <p:spPr>
          <a:xfrm>
            <a:off x="1978483" y="2947838"/>
            <a:ext cx="8794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390" dirty="0">
                <a:solidFill>
                  <a:srgbClr val="213497"/>
                </a:solidFill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前置工作</a:t>
            </a:r>
            <a:endParaRPr lang="zh-CN" altLang="zh-CN" sz="6000" spc="390" dirty="0">
              <a:solidFill>
                <a:srgbClr val="213497"/>
              </a:solidFill>
              <a:uFillTx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59866" y="981885"/>
            <a:ext cx="2472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问题陈述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265767" y="2252901"/>
            <a:ext cx="94699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对于平面上给定的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个点，给出所有点对的最短距离，即，输入是平面上的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个点，输出是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点中具有最短距离的两点。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、要求随机生成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个点的平面坐标，应用蛮力法编程计算出所有点对的最短距离。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要求随机生成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个点的平面坐标，应用分治法编程计算出所有点对的最短距离。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、分别对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N=100,1000,10000,100000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，统计算法运行时间，比较理论效率与实测效率的差异，同时对蛮力法和分治法的算法效率进行分析和比较。</a:t>
            </a:r>
            <a:endParaRPr lang="zh-CN" altLang="en-US" sz="2800" b="1" dirty="0">
              <a:solidFill>
                <a:schemeClr val="accent4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564466" y="973426"/>
            <a:ext cx="5063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数据生成及计时工作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27341" y="2117709"/>
            <a:ext cx="690033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如图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所示，调用该函数产生随机点对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并限制在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	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-200000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到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200000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的范围内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、如图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所示，通过两个</a:t>
            </a:r>
            <a:r>
              <a:rPr lang="en-US" altLang="zh-CN" sz="2000" b="1" kern="100" dirty="0" err="1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clock_t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变量的值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来计时（在小规模数据中，会除以循环的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次数）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41960" y="3684166"/>
            <a:ext cx="305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图一  随机点对生成函数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200899" y="5699908"/>
            <a:ext cx="285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图二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计时工作示意图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779" y="4505272"/>
            <a:ext cx="5608155" cy="112381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238" y="1629025"/>
            <a:ext cx="3409524" cy="1988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852334" y="981885"/>
            <a:ext cx="405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算法正确性检验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81368" y="2139409"/>
            <a:ext cx="690033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如图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三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所示，在随机数数据生成函数中添加输出语句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、如图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四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所示，在蛮力法中添加结果输出语句。小规模测试，输出找到的最近点对及其距离</a:t>
            </a:r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并与随机点对中的数据进行比较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。判断距离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是否为最小，点对是否正确。并将距离与分治法得到的结果对比检验正确性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algn="just"/>
            <a:r>
              <a:rPr lang="en-US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zh-CN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说明：该检验在一个综合文件中进行，小规模数据多次测试确认正确后。再建立文件对各算法单独进行实验与研究。</a:t>
            </a:r>
            <a:endParaRPr lang="zh-CN" altLang="en-US" sz="2800" b="1" dirty="0">
              <a:solidFill>
                <a:schemeClr val="accent4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3413452"/>
            <a:ext cx="3128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图三  输出随机点对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907868" y="5827430"/>
            <a:ext cx="320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图四  输出最近点对及其距离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571" y="1936037"/>
            <a:ext cx="4009524" cy="131428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526" y="5103620"/>
            <a:ext cx="5095238" cy="723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5" t="394" r="51375" b="-655"/>
          <a:stretch>
            <a:fillRect/>
          </a:stretch>
        </p:blipFill>
        <p:spPr>
          <a:xfrm>
            <a:off x="0" y="-15240"/>
            <a:ext cx="2944495" cy="69418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-15240"/>
            <a:ext cx="2944495" cy="6873240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5119" y="2718265"/>
            <a:ext cx="2294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cs typeface="Franklin Gothic Medium" panose="020B0603020102020204" charset="0"/>
                <a:sym typeface="+mn-ea"/>
              </a:rPr>
              <a:t>Part 2</a:t>
            </a:r>
          </a:p>
        </p:txBody>
      </p:sp>
      <p:sp>
        <p:nvSpPr>
          <p:cNvPr id="9" name="菠萝大侠：文本框 23"/>
          <p:cNvSpPr txBox="1"/>
          <p:nvPr/>
        </p:nvSpPr>
        <p:spPr>
          <a:xfrm>
            <a:off x="2326974" y="2625893"/>
            <a:ext cx="10213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390" dirty="0">
                <a:solidFill>
                  <a:srgbClr val="213497"/>
                </a:solidFill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蛮力法与分治法的研究</a:t>
            </a:r>
            <a:endParaRPr lang="zh-CN" altLang="zh-CN" sz="6000" spc="390" dirty="0">
              <a:solidFill>
                <a:srgbClr val="213497"/>
              </a:solidFill>
              <a:uFillTx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61265" y="5774267"/>
            <a:ext cx="814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说明：之后部分的截图多为实验报告中所截，所以图的编号遵循实验报告所示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部分图片来源于网络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82634" y="865636"/>
            <a:ext cx="2226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蛮力法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45810" y="3798119"/>
            <a:ext cx="6787853" cy="140519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455930" indent="-200025">
              <a:lnSpc>
                <a:spcPct val="150000"/>
              </a:lnSpc>
            </a:pP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算法思路：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>
              <a:lnSpc>
                <a:spcPct val="150000"/>
              </a:lnSpc>
            </a:pPr>
            <a:r>
              <a:rPr lang="zh-CN" altLang="en-US" sz="2000" kern="100" dirty="0"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遍历求出每个点之间的距离</a:t>
            </a:r>
            <a:r>
              <a:rPr lang="en-US" altLang="zh-CN" sz="2000" kern="100" dirty="0"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, </a:t>
            </a:r>
            <a:r>
              <a:rPr lang="zh-CN" altLang="en-US" sz="2000" kern="100" dirty="0"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并不断比较最后返回最</a:t>
            </a:r>
            <a:endParaRPr lang="en-US" altLang="zh-CN" sz="2000" kern="100" dirty="0"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短</a:t>
            </a:r>
            <a:r>
              <a:rPr lang="zh-CN" altLang="en-US" sz="2000" kern="100" dirty="0"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距离。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45" y="2135365"/>
            <a:ext cx="5571429" cy="14285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766" y="1640782"/>
            <a:ext cx="5176057" cy="4304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82634" y="865636"/>
            <a:ext cx="2226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算法分析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345966" y="2494190"/>
            <a:ext cx="7500067" cy="2379745"/>
          </a:xfrm>
          <a:prstGeom prst="rect">
            <a:avLst/>
          </a:prstGeom>
          <a:noFill/>
        </p:spPr>
        <p:txBody>
          <a:bodyPr wrap="square" tIns="72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时间复杂度</a:t>
            </a:r>
            <a:endParaRPr lang="en-US" altLang="zh-CN" sz="28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① 外层循环：循环次数为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num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次，表示从第一个点开始遍历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② 内层循环：循环次数为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num-i-1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次，计算点</a:t>
            </a: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到点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j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的距离，并不断比较③ 类似于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点无向完全图，需要计算的边有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n(n-1)/2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条，所以时间复杂度为 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O(n²)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82634" y="865636"/>
            <a:ext cx="2226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结果分析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82634" y="3236560"/>
            <a:ext cx="6976534" cy="1310542"/>
          </a:xfrm>
          <a:prstGeom prst="rect">
            <a:avLst/>
          </a:prstGeom>
          <a:noFill/>
        </p:spPr>
        <p:txBody>
          <a:bodyPr wrap="square" tIns="72000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蛮力法中</a:t>
            </a:r>
            <a:r>
              <a: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理论时间与实际时间拟合程度</a:t>
            </a:r>
            <a:endParaRPr lang="en-US" altLang="zh-CN" sz="28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效果较好</a:t>
            </a:r>
            <a:endParaRPr lang="zh-CN" altLang="zh-CN" sz="1800" b="1" u="sng" kern="100" dirty="0"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4" y="1726919"/>
            <a:ext cx="5135210" cy="13047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4" y="3568666"/>
            <a:ext cx="4171429" cy="24476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82634" y="741131"/>
            <a:ext cx="2226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分治法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55134" y="1257550"/>
            <a:ext cx="10287000" cy="240065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455930" indent="-200025" fontAlgn="ctr">
              <a:lnSpc>
                <a:spcPct val="150000"/>
              </a:lnSpc>
            </a:pPr>
            <a:r>
              <a:rPr lang="zh-CN" altLang="en-US" sz="2000" b="1" kern="100" dirty="0"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算法思路：</a:t>
            </a:r>
            <a:endParaRPr lang="en-US" altLang="zh-CN" sz="2000" b="1" kern="100" dirty="0"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fontAlgn="ctr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分治法的核心：分而治之，将问题分解为一个个子问题。</a:t>
            </a:r>
            <a:endParaRPr lang="en-US" altLang="zh-CN" sz="2000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fontAlgn="ctr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在该问题中将点对集合按照</a:t>
            </a:r>
            <a:r>
              <a:rPr lang="en-US" altLang="zh-CN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x</a:t>
            </a: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轴坐标大小分成左右两个子集</a:t>
            </a:r>
            <a:r>
              <a:rPr lang="en-US" altLang="zh-CN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, </a:t>
            </a: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然后在两个子集中分别递归</a:t>
            </a:r>
            <a:endParaRPr lang="en-US" altLang="zh-CN" sz="2000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455930" indent="-200025" fontAlgn="ctr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寻找其最短距离</a:t>
            </a:r>
            <a:r>
              <a:rPr lang="en-US" altLang="zh-CN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, </a:t>
            </a: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最后寻找跨过两个子集的最短距离</a:t>
            </a:r>
            <a:r>
              <a:rPr lang="en-US" altLang="zh-CN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, </a:t>
            </a:r>
          </a:p>
          <a:p>
            <a:pPr marL="455930" indent="-200025" fontAlgn="ctr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三者距离中最小的即为整个点集的最短距离。</a:t>
            </a:r>
            <a:endParaRPr lang="en-US" altLang="zh-CN" sz="2000" kern="100" dirty="0"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427" y="3591295"/>
            <a:ext cx="6004914" cy="2961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82634" y="679039"/>
            <a:ext cx="2226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算法分析</a:t>
            </a:r>
          </a:p>
        </p:txBody>
      </p:sp>
      <p:pic>
        <p:nvPicPr>
          <p:cNvPr id="10" name="图片 9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8663" y="1514526"/>
            <a:ext cx="5266055" cy="1887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90464" y="1628017"/>
            <a:ext cx="2684669" cy="151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11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17255" y="1536878"/>
            <a:ext cx="3090545" cy="1697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/>
          <p:cNvSpPr txBox="1"/>
          <p:nvPr/>
        </p:nvSpPr>
        <p:spPr>
          <a:xfrm>
            <a:off x="2703942" y="3314730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848347" y="3314730"/>
            <a:ext cx="365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833378" y="33147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③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21" y="3961502"/>
            <a:ext cx="1800000" cy="1685714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77222" y="5435755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2162421" y="431197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321372" y="5846236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④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789" y="4009121"/>
            <a:ext cx="1647619" cy="163809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5402849" y="5849976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⑤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7255" y="4013977"/>
            <a:ext cx="1590476" cy="163809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9165704" y="5874902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⑥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360731" y="4610261"/>
            <a:ext cx="138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左边一点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439266" y="4619693"/>
            <a:ext cx="138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极限情况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0248876" y="4622347"/>
            <a:ext cx="138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最多</a:t>
            </a:r>
            <a:r>
              <a:rPr lang="en-US" altLang="zh-CN" dirty="0"/>
              <a:t>6</a:t>
            </a:r>
            <a:r>
              <a:rPr lang="zh-CN" altLang="en-US" dirty="0"/>
              <a:t>点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745" y="1386564"/>
            <a:ext cx="5351074" cy="460755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" y="2025650"/>
            <a:ext cx="6187086" cy="30799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  <p:bldP spid="18" grpId="0"/>
      <p:bldP spid="18" grpId="1"/>
      <p:bldP spid="21" grpId="0"/>
      <p:bldP spid="21" grpId="1"/>
      <p:bldP spid="23" grpId="0"/>
      <p:bldP spid="23" grpId="1"/>
      <p:bldP spid="26" grpId="0"/>
      <p:bldP spid="26" grpId="1"/>
      <p:bldP spid="29" grpId="0"/>
      <p:bldP spid="29" grpId="1"/>
      <p:bldP spid="27" grpId="0"/>
      <p:bldP spid="27" grpId="1"/>
      <p:bldP spid="31" grpId="0"/>
      <p:bldP spid="31" grpId="1"/>
      <p:bldP spid="32" grpId="0"/>
      <p:bldP spid="3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82634" y="865636"/>
            <a:ext cx="2226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算法分析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862665" y="1935863"/>
            <a:ext cx="8610601" cy="3193237"/>
          </a:xfrm>
          <a:prstGeom prst="rect">
            <a:avLst/>
          </a:prstGeom>
          <a:noFill/>
        </p:spPr>
        <p:txBody>
          <a:bodyPr wrap="square" tIns="72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时间复杂度</a:t>
            </a:r>
            <a:endParaRPr lang="en-US" altLang="zh-CN" sz="28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① 虽然在该函数中包含双重循环，但是内层循环的次数为常量级，所以其时间复杂度并不是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O(n²)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，而是为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O(n)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② 分治所消耗的时间为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O(n)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，合并所消耗的时间为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O(n)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，而该算法时间复杂度的递推公式如图所示，根据主定理可得时间复杂度应为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O(</a:t>
            </a: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nlogn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排序影响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pic>
        <p:nvPicPr>
          <p:cNvPr id="16" name="图片 15"/>
          <p:cNvPicPr/>
          <p:nvPr/>
        </p:nvPicPr>
        <p:blipFill>
          <a:blip r:embed="rId4"/>
          <a:stretch>
            <a:fillRect/>
          </a:stretch>
        </p:blipFill>
        <p:spPr>
          <a:xfrm>
            <a:off x="4982633" y="4795725"/>
            <a:ext cx="2146299" cy="10124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82634" y="783507"/>
            <a:ext cx="2226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结果分析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715114" y="1757097"/>
            <a:ext cx="7115500" cy="3931901"/>
          </a:xfrm>
          <a:prstGeom prst="rect">
            <a:avLst/>
          </a:prstGeom>
          <a:noFill/>
        </p:spPr>
        <p:txBody>
          <a:bodyPr wrap="square" tIns="72000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①</a:t>
            </a:r>
            <a:r>
              <a:rPr lang="zh-CN" altLang="en-US" kern="100" dirty="0">
                <a:latin typeface="幼圆" panose="02010509060101010101" pitchFamily="49" charset="-122"/>
                <a:ea typeface="幼圆" panose="02010509060101010101" pitchFamily="49" charset="-122"/>
              </a:rPr>
              <a:t>由图可以看出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实际时间的曲线与理论时间的曲线拟合程度良好。但在数据规模较小时实际时间大于理论时间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②</a:t>
            </a:r>
            <a:r>
              <a:rPr lang="zh-CN" altLang="en-US" b="1" kern="100" dirty="0">
                <a:latin typeface="幼圆" panose="02010509060101010101" pitchFamily="49" charset="-122"/>
                <a:ea typeface="幼圆" panose="02010509060101010101" pitchFamily="49" charset="-122"/>
              </a:rPr>
              <a:t>其原因可能在于</a:t>
            </a:r>
            <a:r>
              <a:rPr lang="en-US" altLang="zh-CN" b="1" kern="100" dirty="0"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</a:p>
          <a:p>
            <a:pPr indent="266700" algn="just">
              <a:lnSpc>
                <a:spcPct val="150000"/>
              </a:lnSpc>
            </a:pPr>
            <a:r>
              <a:rPr lang="zh-CN" altLang="en-US" b="1" kern="100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zh-CN" altLang="en-US" kern="100" dirty="0">
                <a:latin typeface="幼圆" panose="02010509060101010101" pitchFamily="49" charset="-122"/>
                <a:ea typeface="幼圆" panose="02010509060101010101" pitchFamily="49" charset="-122"/>
              </a:rPr>
              <a:t>非递归函数的开销，为了便于计算规模较小时的平均时间，循环运行了多次，导致了生成随机数函数消耗时间的占比较大</a:t>
            </a:r>
            <a:endParaRPr lang="en-US" altLang="zh-CN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分治法调用递归函数需要开辟空间，递归栈的迭代与开辟内存空间均需要消耗时间，而在数据规模较小时，该部分时间的占比会较大，因此使得实际的时间会大于理论的时间。</a:t>
            </a:r>
            <a:endParaRPr lang="zh-CN" altLang="en-US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91393"/>
            <a:ext cx="4602532" cy="2133333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5"/>
          <a:stretch>
            <a:fillRect/>
          </a:stretch>
        </p:blipFill>
        <p:spPr>
          <a:xfrm>
            <a:off x="154992" y="3860059"/>
            <a:ext cx="4447540" cy="2609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5" t="394" r="51375" b="-655"/>
          <a:stretch>
            <a:fillRect/>
          </a:stretch>
        </p:blipFill>
        <p:spPr>
          <a:xfrm>
            <a:off x="0" y="-15240"/>
            <a:ext cx="2944495" cy="69418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-15240"/>
            <a:ext cx="2944495" cy="6873240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4386" y="2840684"/>
            <a:ext cx="2294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cs typeface="Franklin Gothic Medium" panose="020B0603020102020204" charset="0"/>
                <a:sym typeface="+mn-ea"/>
              </a:rPr>
              <a:t>Part 3</a:t>
            </a:r>
          </a:p>
        </p:txBody>
      </p:sp>
      <p:sp>
        <p:nvSpPr>
          <p:cNvPr id="9" name="菠萝大侠：文本框 23"/>
          <p:cNvSpPr txBox="1"/>
          <p:nvPr/>
        </p:nvSpPr>
        <p:spPr>
          <a:xfrm>
            <a:off x="1995416" y="2805342"/>
            <a:ext cx="10467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spc="390" dirty="0">
                <a:solidFill>
                  <a:srgbClr val="213497"/>
                </a:solidFill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蛮力法与分治法的比较分析</a:t>
            </a:r>
            <a:endParaRPr lang="zh-CN" altLang="zh-CN" sz="4800" spc="390" dirty="0">
              <a:solidFill>
                <a:srgbClr val="213497"/>
              </a:solidFill>
              <a:uFillTx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82634" y="783507"/>
            <a:ext cx="2226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结果展示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774265" y="1939464"/>
            <a:ext cx="6477002" cy="3759482"/>
          </a:xfrm>
          <a:prstGeom prst="rect">
            <a:avLst/>
          </a:prstGeom>
          <a:noFill/>
        </p:spPr>
        <p:txBody>
          <a:bodyPr wrap="square" tIns="72000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从图中可以看出</a:t>
            </a:r>
            <a:endParaRPr lang="en-US" altLang="zh-CN" sz="2000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000" b="1" kern="100" dirty="0">
                <a:latin typeface="幼圆" panose="02010509060101010101" pitchFamily="49" charset="-122"/>
                <a:ea typeface="幼圆" panose="02010509060101010101" pitchFamily="49" charset="-122"/>
              </a:rPr>
              <a:t>在规模较小的时候，蛮力法的时间要小于分治法。</a:t>
            </a: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分</a:t>
            </a:r>
            <a:endParaRPr lang="en-US" altLang="zh-CN" sz="2000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析是因为分治法的递归调用生成空间，在小规模数据</a:t>
            </a:r>
            <a:endParaRPr lang="en-US" altLang="zh-CN" sz="2000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下，消耗的时间占比较高。</a:t>
            </a:r>
            <a:endParaRPr lang="en-US" altLang="zh-CN" sz="2000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endParaRPr lang="en-US" altLang="zh-CN" sz="2000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000" b="1" kern="100" dirty="0">
                <a:latin typeface="幼圆" panose="02010509060101010101" pitchFamily="49" charset="-122"/>
                <a:ea typeface="幼圆" panose="02010509060101010101" pitchFamily="49" charset="-122"/>
              </a:rPr>
              <a:t>而规模增长之后，分治法的效率均高于蛮力法</a:t>
            </a: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。因为</a:t>
            </a:r>
            <a:endParaRPr lang="en-US" altLang="zh-CN" sz="2000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其时间复杂度</a:t>
            </a:r>
            <a:r>
              <a:rPr lang="en-US" altLang="zh-CN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O(</a:t>
            </a:r>
            <a:r>
              <a:rPr lang="en-US" altLang="zh-CN" sz="2000" kern="100" dirty="0" err="1">
                <a:latin typeface="幼圆" panose="02010509060101010101" pitchFamily="49" charset="-122"/>
                <a:ea typeface="幼圆" panose="02010509060101010101" pitchFamily="49" charset="-122"/>
              </a:rPr>
              <a:t>nlogn</a:t>
            </a:r>
            <a:r>
              <a:rPr lang="en-US" altLang="zh-CN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，效率快于蛮力法的时间复杂</a:t>
            </a:r>
            <a:endParaRPr lang="en-US" altLang="zh-CN" sz="2000" kern="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度</a:t>
            </a:r>
            <a:r>
              <a:rPr lang="en-US" altLang="zh-CN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O(n²)</a:t>
            </a:r>
            <a:r>
              <a:rPr lang="zh-CN" altLang="en-US" sz="2000" kern="1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37684"/>
            <a:ext cx="5774267" cy="1152381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43239" y="2343527"/>
            <a:ext cx="4887787" cy="3222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5" t="394" r="51375" b="-655"/>
          <a:stretch>
            <a:fillRect/>
          </a:stretch>
        </p:blipFill>
        <p:spPr>
          <a:xfrm>
            <a:off x="0" y="-15240"/>
            <a:ext cx="2944495" cy="69418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-15240"/>
            <a:ext cx="2944495" cy="6873240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5120" y="3006407"/>
            <a:ext cx="2294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cs typeface="Franklin Gothic Medium" panose="020B0603020102020204" charset="0"/>
                <a:sym typeface="+mn-ea"/>
              </a:rPr>
              <a:t>Part 4</a:t>
            </a:r>
          </a:p>
        </p:txBody>
      </p:sp>
      <p:sp>
        <p:nvSpPr>
          <p:cNvPr id="9" name="菠萝大侠：文本框 23"/>
          <p:cNvSpPr txBox="1"/>
          <p:nvPr/>
        </p:nvSpPr>
        <p:spPr>
          <a:xfrm>
            <a:off x="2944495" y="2855297"/>
            <a:ext cx="8794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390" dirty="0">
                <a:solidFill>
                  <a:srgbClr val="213497"/>
                </a:solidFill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总结</a:t>
            </a:r>
            <a:endParaRPr lang="zh-CN" altLang="zh-CN" sz="6000" spc="390" dirty="0">
              <a:solidFill>
                <a:srgbClr val="213497"/>
              </a:solidFill>
              <a:uFillTx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049867" y="1870449"/>
            <a:ext cx="10092266" cy="3356294"/>
          </a:xfrm>
          <a:prstGeom prst="rect">
            <a:avLst/>
          </a:prstGeom>
          <a:noFill/>
        </p:spPr>
        <p:txBody>
          <a:bodyPr wrap="square" tIns="7200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① 分治法的时间复杂度为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O(</a:t>
            </a:r>
            <a:r>
              <a:rPr lang="en-US" altLang="zh-CN" sz="2400" b="1" dirty="0" err="1">
                <a:latin typeface="幼圆" panose="02010509060101010101" pitchFamily="49" charset="-122"/>
                <a:ea typeface="幼圆" panose="02010509060101010101" pitchFamily="49" charset="-122"/>
              </a:rPr>
              <a:t>nlogn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，在规模较大时效率远高于蛮力法的时间复杂度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O(n²)</a:t>
            </a:r>
          </a:p>
          <a:p>
            <a:pPr>
              <a:lnSpc>
                <a:spcPct val="150000"/>
              </a:lnSpc>
            </a:pPr>
            <a:endParaRPr lang="zh-CN" altLang="en-US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② 分治法的核心思想，分而治之，在解决许多问题中都具有非常重要的作用。在面对一个复杂问题时，可以尝试将其分解成几个子问题，考虑进一步分解子问题，解决。从而达到解决复杂问题的目的。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9867" y="1599515"/>
            <a:ext cx="10092266" cy="4464290"/>
          </a:xfrm>
          <a:prstGeom prst="rect">
            <a:avLst/>
          </a:prstGeom>
          <a:noFill/>
        </p:spPr>
        <p:txBody>
          <a:bodyPr wrap="square" tIns="7200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③ 在调试程序时，多次因为空间过大导致程序崩溃。因此设计算法时，不仅要考虑到算法的时间复杂度，还要考虑到空间复杂度，以及因为开辟空间而带来的时间消耗，在该方面进行分析与优化有具有一定意义的。</a:t>
            </a:r>
            <a:endParaRPr lang="en-US" altLang="zh-CN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④ 将二维最近点对的问题可以适当延申至三维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分析得同样可以用分治法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只需在每次按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y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轴坐标升序排序的同时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对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z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轴坐标也进行排序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之后对竖直带形区的点集判断时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对每个点进行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24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个点的判断与计算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时间复杂度仍为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O(</a:t>
            </a:r>
            <a:r>
              <a:rPr lang="en-US" altLang="zh-CN" sz="2400" b="1" dirty="0" err="1">
                <a:latin typeface="幼圆" panose="02010509060101010101" pitchFamily="49" charset="-122"/>
                <a:ea typeface="幼圆" panose="02010509060101010101" pitchFamily="49" charset="-122"/>
              </a:rPr>
              <a:t>nlogn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</a:p>
        </p:txBody>
      </p:sp>
      <p:sp>
        <p:nvSpPr>
          <p:cNvPr id="3" name="立方体 2"/>
          <p:cNvSpPr/>
          <p:nvPr/>
        </p:nvSpPr>
        <p:spPr>
          <a:xfrm>
            <a:off x="8827135" y="3770630"/>
            <a:ext cx="2734310" cy="262128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>
            <a:stCxn id="3" idx="1"/>
            <a:endCxn id="3" idx="3"/>
          </p:cNvCxnSpPr>
          <p:nvPr/>
        </p:nvCxnSpPr>
        <p:spPr>
          <a:xfrm>
            <a:off x="9866630" y="4425950"/>
            <a:ext cx="0" cy="196596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9140190" y="4068445"/>
            <a:ext cx="2108835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28" b="21884"/>
          <a:stretch>
            <a:fillRect/>
          </a:stretch>
        </p:blipFill>
        <p:spPr>
          <a:xfrm>
            <a:off x="0" y="-31750"/>
            <a:ext cx="12192000" cy="130429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-31750"/>
            <a:ext cx="12192000" cy="1304290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-1886018" y="-4009350"/>
            <a:ext cx="9321276" cy="3397261"/>
          </a:xfrm>
          <a:prstGeom prst="rect">
            <a:avLst/>
          </a:prstGeom>
          <a:blipFill dpi="0" rotWithShape="1">
            <a:blip r:embed="rId3">
              <a:alphaModFix amt="18000"/>
              <a:lum bright="70000" contrast="-7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4174" y="2967990"/>
            <a:ext cx="112998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accent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Franklin Gothic Medium" panose="020B0603020102020204" charset="0"/>
                <a:sym typeface="+mn-ea"/>
              </a:rPr>
              <a:t>Thanks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78" y="352811"/>
            <a:ext cx="2162218" cy="2054575"/>
          </a:xfrm>
          <a:prstGeom prst="rect">
            <a:avLst/>
          </a:prstGeom>
          <a:effectLst>
            <a:outerShdw blurRad="292100" dist="25400" dir="5400000" algn="t" rotWithShape="0">
              <a:prstClr val="black">
                <a:alpha val="59000"/>
              </a:prst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3712082" y="4112643"/>
            <a:ext cx="4384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计算机与软件学院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2021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级计科卓越班</a:t>
            </a:r>
            <a:endParaRPr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张嘉豪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11033" y="5043162"/>
            <a:ext cx="2786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指导教师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 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卢亚辉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50041"/>
      </a:accent1>
      <a:accent2>
        <a:srgbClr val="4A2739"/>
      </a:accent2>
      <a:accent3>
        <a:srgbClr val="81156C"/>
      </a:accent3>
      <a:accent4>
        <a:srgbClr val="500022"/>
      </a:accent4>
      <a:accent5>
        <a:srgbClr val="C490AA"/>
      </a:accent5>
      <a:accent6>
        <a:srgbClr val="70AD47"/>
      </a:accent6>
      <a:hlink>
        <a:srgbClr val="0563C1"/>
      </a:hlink>
      <a:folHlink>
        <a:srgbClr val="954F72"/>
      </a:folHlink>
    </a:clrScheme>
    <a:fontScheme name="常用模板">
      <a:majorFont>
        <a:latin typeface="Arial Black"/>
        <a:ea typeface="微软雅黑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1199</Words>
  <Application>Microsoft Office PowerPoint</Application>
  <PresentationFormat>宽屏</PresentationFormat>
  <Paragraphs>108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宋体</vt:lpstr>
      <vt:lpstr>幼圆</vt:lpstr>
      <vt:lpstr>Arial</vt:lpstr>
      <vt:lpstr>Arial Black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suxia</dc:creator>
  <cp:lastModifiedBy>谷 雨</cp:lastModifiedBy>
  <cp:revision>104</cp:revision>
  <dcterms:created xsi:type="dcterms:W3CDTF">2020-06-03T03:11:00Z</dcterms:created>
  <dcterms:modified xsi:type="dcterms:W3CDTF">2023-05-06T02:57:20Z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ICV">
    <vt:lpwstr>B57DD4DADEAF47C58F7ED59EB4D70F20</vt:lpwstr>
  </property>
</Properties>
</file>