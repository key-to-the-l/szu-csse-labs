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9" r:id="rId2"/>
    <p:sldId id="260" r:id="rId3"/>
    <p:sldId id="286" r:id="rId4"/>
    <p:sldId id="262" r:id="rId5"/>
    <p:sldId id="263" r:id="rId6"/>
    <p:sldId id="264" r:id="rId7"/>
    <p:sldId id="285" r:id="rId8"/>
    <p:sldId id="267" r:id="rId9"/>
    <p:sldId id="268" r:id="rId10"/>
    <p:sldId id="287" r:id="rId11"/>
    <p:sldId id="269" r:id="rId12"/>
    <p:sldId id="270" r:id="rId13"/>
    <p:sldId id="288" r:id="rId14"/>
    <p:sldId id="290" r:id="rId15"/>
    <p:sldId id="291" r:id="rId16"/>
    <p:sldId id="293" r:id="rId17"/>
    <p:sldId id="289" r:id="rId18"/>
    <p:sldId id="292" r:id="rId19"/>
    <p:sldId id="294" r:id="rId20"/>
    <p:sldId id="295" r:id="rId21"/>
    <p:sldId id="296" r:id="rId22"/>
    <p:sldId id="297" r:id="rId23"/>
    <p:sldId id="299" r:id="rId24"/>
    <p:sldId id="300" r:id="rId25"/>
    <p:sldId id="272" r:id="rId26"/>
    <p:sldId id="273" r:id="rId27"/>
    <p:sldId id="274" r:id="rId28"/>
    <p:sldId id="301" r:id="rId29"/>
    <p:sldId id="302" r:id="rId30"/>
    <p:sldId id="278" r:id="rId31"/>
    <p:sldId id="283" r:id="rId32"/>
  </p:sldIdLst>
  <p:sldSz cx="12192000" cy="6858000"/>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4D2D"/>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1" d="100"/>
          <a:sy n="51" d="100"/>
        </p:scale>
        <p:origin x="96" y="10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5512E-F84E-4531-96CD-898E3758A1A9}" type="datetimeFigureOut">
              <a:rPr lang="zh-CN" altLang="en-US" smtClean="0"/>
              <a:t>2023/5/11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3A315-C00B-4338-9756-B113D3866B4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C3A315-C00B-4338-9756-B113D3866B48}"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6858000"/>
          </a:xfrm>
          <a:prstGeom prst="rect">
            <a:avLst/>
          </a:prstGeom>
          <a:solidFill>
            <a:srgbClr val="E7E8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1683" y="2390485"/>
            <a:ext cx="10242884" cy="1569660"/>
          </a:xfrm>
          <a:prstGeom prst="rect">
            <a:avLst/>
          </a:prstGeom>
          <a:noFill/>
        </p:spPr>
        <p:txBody>
          <a:bodyPr wrap="square" rtlCol="0">
            <a:spAutoFit/>
          </a:bodyPr>
          <a:lstStyle/>
          <a:p>
            <a:pPr algn="ctr"/>
            <a:r>
              <a:rPr lang="zh-CN" altLang="en-US" sz="48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实验三</a:t>
            </a:r>
            <a:endParaRPr lang="en-US" altLang="zh-CN" sz="48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algn="ctr"/>
            <a:r>
              <a:rPr lang="zh-CN" altLang="en-US" sz="48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回溯法</a:t>
            </a:r>
            <a:r>
              <a:rPr lang="en-US" altLang="zh-CN" sz="48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a:t>
            </a:r>
            <a:r>
              <a:rPr lang="zh-CN" altLang="en-US" sz="48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地图填色问题 </a:t>
            </a:r>
          </a:p>
        </p:txBody>
      </p:sp>
      <p:cxnSp>
        <p:nvCxnSpPr>
          <p:cNvPr id="7" name="直接连接符 6"/>
          <p:cNvCxnSpPr/>
          <p:nvPr/>
        </p:nvCxnSpPr>
        <p:spPr>
          <a:xfrm flipV="1">
            <a:off x="7333195" y="1377942"/>
            <a:ext cx="1506434" cy="1165792"/>
          </a:xfrm>
          <a:prstGeom prst="line">
            <a:avLst/>
          </a:prstGeom>
          <a:ln>
            <a:solidFill>
              <a:srgbClr val="7F6531"/>
            </a:solidFill>
            <a:headEnd type="oval"/>
          </a:ln>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a:xfrm flipV="1">
            <a:off x="8112434" y="655868"/>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7894141" y="1155025"/>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839152" y="4354285"/>
            <a:ext cx="2279810" cy="341595"/>
          </a:xfrm>
          <a:prstGeom prst="rect">
            <a:avLst/>
          </a:prstGeom>
          <a:solidFill>
            <a:srgbClr val="E7E8E0"/>
          </a:solidFill>
          <a:ln>
            <a:solidFill>
              <a:srgbClr val="E7E8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54D2D"/>
              </a:solidFill>
              <a:latin typeface="幼圆" panose="02010509060101010101" pitchFamily="49" charset="-122"/>
              <a:ea typeface="幼圆" panose="02010509060101010101" pitchFamily="49" charset="-122"/>
            </a:endParaRPr>
          </a:p>
        </p:txBody>
      </p:sp>
      <p:cxnSp>
        <p:nvCxnSpPr>
          <p:cNvPr id="13" name="直接连接符 12"/>
          <p:cNvCxnSpPr/>
          <p:nvPr/>
        </p:nvCxnSpPr>
        <p:spPr>
          <a:xfrm flipV="1">
            <a:off x="1791159" y="5071503"/>
            <a:ext cx="1506434" cy="1165792"/>
          </a:xfrm>
          <a:prstGeom prst="line">
            <a:avLst/>
          </a:prstGeom>
          <a:ln>
            <a:solidFill>
              <a:srgbClr val="7F6531"/>
            </a:soli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flipV="1">
            <a:off x="2570398" y="4349429"/>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2352105" y="4848586"/>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096000" y="4382134"/>
            <a:ext cx="4384008" cy="707886"/>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sz="2000" b="1" dirty="0">
                <a:solidFill>
                  <a:srgbClr val="654D2D"/>
                </a:solidFill>
                <a:latin typeface="幼圆" panose="02010509060101010101" pitchFamily="49" charset="-122"/>
                <a:ea typeface="幼圆" panose="02010509060101010101" pitchFamily="49" charset="-122"/>
              </a:rPr>
              <a:t>计算机与软件学院</a:t>
            </a:r>
            <a:r>
              <a:rPr lang="en-US" altLang="zh-CN" sz="2000" b="1" dirty="0">
                <a:solidFill>
                  <a:srgbClr val="654D2D"/>
                </a:solidFill>
                <a:latin typeface="幼圆" panose="02010509060101010101" pitchFamily="49" charset="-122"/>
                <a:ea typeface="幼圆" panose="02010509060101010101" pitchFamily="49" charset="-122"/>
              </a:rPr>
              <a:t>2021</a:t>
            </a:r>
            <a:r>
              <a:rPr lang="zh-CN" altLang="en-US" sz="2000" b="1" dirty="0">
                <a:solidFill>
                  <a:srgbClr val="654D2D"/>
                </a:solidFill>
                <a:latin typeface="幼圆" panose="02010509060101010101" pitchFamily="49" charset="-122"/>
                <a:ea typeface="幼圆" panose="02010509060101010101" pitchFamily="49" charset="-122"/>
              </a:rPr>
              <a:t>级计科卓越班</a:t>
            </a:r>
            <a:endParaRPr lang="en-US" altLang="zh-CN" sz="2000" b="1" dirty="0">
              <a:solidFill>
                <a:srgbClr val="654D2D"/>
              </a:solidFill>
              <a:latin typeface="幼圆" panose="02010509060101010101" pitchFamily="49" charset="-122"/>
              <a:ea typeface="幼圆" panose="02010509060101010101" pitchFamily="49" charset="-122"/>
            </a:endParaRPr>
          </a:p>
          <a:p>
            <a:pPr algn="ctr"/>
            <a:r>
              <a:rPr lang="zh-CN" altLang="en-US" sz="2000" b="1" dirty="0">
                <a:solidFill>
                  <a:srgbClr val="654D2D"/>
                </a:solidFill>
                <a:latin typeface="幼圆" panose="02010509060101010101" pitchFamily="49" charset="-122"/>
                <a:ea typeface="幼圆" panose="02010509060101010101" pitchFamily="49" charset="-122"/>
              </a:rPr>
              <a:t>张嘉豪</a:t>
            </a:r>
          </a:p>
        </p:txBody>
      </p:sp>
      <p:sp>
        <p:nvSpPr>
          <p:cNvPr id="16" name="文本框 15"/>
          <p:cNvSpPr txBox="1"/>
          <p:nvPr/>
        </p:nvSpPr>
        <p:spPr>
          <a:xfrm>
            <a:off x="6894951" y="5230555"/>
            <a:ext cx="2786105" cy="461665"/>
          </a:xfrm>
          <a:prstGeom prst="rect">
            <a:avLst/>
          </a:prstGeom>
          <a:noFill/>
        </p:spPr>
        <p:txBody>
          <a:bodyPr wrap="square" rtlCol="0">
            <a:spAutoFit/>
          </a:bodyPr>
          <a:lstStyle/>
          <a:p>
            <a:r>
              <a:rPr lang="zh-CN" altLang="en-US" sz="2400" b="1" dirty="0">
                <a:solidFill>
                  <a:srgbClr val="654D2D"/>
                </a:solidFill>
                <a:latin typeface="幼圆" panose="02010509060101010101" pitchFamily="49" charset="-122"/>
                <a:ea typeface="幼圆" panose="02010509060101010101" pitchFamily="49" charset="-122"/>
              </a:rPr>
              <a:t>指导教师</a:t>
            </a:r>
            <a:r>
              <a:rPr lang="en-US" altLang="zh-CN" sz="2400" b="1" dirty="0">
                <a:solidFill>
                  <a:srgbClr val="654D2D"/>
                </a:solidFill>
                <a:latin typeface="幼圆" panose="02010509060101010101" pitchFamily="49" charset="-122"/>
                <a:ea typeface="幼圆" panose="02010509060101010101" pitchFamily="49" charset="-122"/>
              </a:rPr>
              <a:t>: </a:t>
            </a:r>
            <a:r>
              <a:rPr lang="zh-CN" altLang="en-US" sz="2400" b="1" dirty="0">
                <a:solidFill>
                  <a:srgbClr val="654D2D"/>
                </a:solidFill>
                <a:latin typeface="幼圆" panose="02010509060101010101" pitchFamily="49" charset="-122"/>
                <a:ea typeface="幼圆" panose="02010509060101010101" pitchFamily="49" charset="-122"/>
              </a:rPr>
              <a:t>卢亚辉</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3" fill="hold" nodeType="withEffect">
                                  <p:stCondLst>
                                    <p:cond delay="10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750" fill="hold"/>
                                        <p:tgtEl>
                                          <p:spTgt spid="8"/>
                                        </p:tgtEl>
                                        <p:attrNameLst>
                                          <p:attrName>ppt_x</p:attrName>
                                        </p:attrNameLst>
                                      </p:cBhvr>
                                      <p:tavLst>
                                        <p:tav tm="0">
                                          <p:val>
                                            <p:strVal val="1+#ppt_w/2"/>
                                          </p:val>
                                        </p:tav>
                                        <p:tav tm="100000">
                                          <p:val>
                                            <p:strVal val="#ppt_x"/>
                                          </p:val>
                                        </p:tav>
                                      </p:tavLst>
                                    </p:anim>
                                    <p:anim calcmode="lin" valueType="num">
                                      <p:cBhvr additive="base">
                                        <p:cTn id="11" dur="750" fill="hold"/>
                                        <p:tgtEl>
                                          <p:spTgt spid="8"/>
                                        </p:tgtEl>
                                        <p:attrNameLst>
                                          <p:attrName>ppt_y</p:attrName>
                                        </p:attrNameLst>
                                      </p:cBhvr>
                                      <p:tavLst>
                                        <p:tav tm="0">
                                          <p:val>
                                            <p:strVal val="0-#ppt_h/2"/>
                                          </p:val>
                                        </p:tav>
                                        <p:tav tm="100000">
                                          <p:val>
                                            <p:strVal val="#ppt_y"/>
                                          </p:val>
                                        </p:tav>
                                      </p:tavLst>
                                    </p:anim>
                                  </p:childTnLst>
                                </p:cTn>
                              </p:par>
                              <p:par>
                                <p:cTn id="12" presetID="2" presetClass="entr" presetSubtype="3" fill="hold" nodeType="withEffect">
                                  <p:stCondLst>
                                    <p:cond delay="100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750" fill="hold"/>
                                        <p:tgtEl>
                                          <p:spTgt spid="7"/>
                                        </p:tgtEl>
                                        <p:attrNameLst>
                                          <p:attrName>ppt_x</p:attrName>
                                        </p:attrNameLst>
                                      </p:cBhvr>
                                      <p:tavLst>
                                        <p:tav tm="0">
                                          <p:val>
                                            <p:strVal val="1+#ppt_w/2"/>
                                          </p:val>
                                        </p:tav>
                                        <p:tav tm="100000">
                                          <p:val>
                                            <p:strVal val="#ppt_x"/>
                                          </p:val>
                                        </p:tav>
                                      </p:tavLst>
                                    </p:anim>
                                    <p:anim calcmode="lin" valueType="num">
                                      <p:cBhvr additive="base">
                                        <p:cTn id="15" dur="750" fill="hold"/>
                                        <p:tgtEl>
                                          <p:spTgt spid="7"/>
                                        </p:tgtEl>
                                        <p:attrNameLst>
                                          <p:attrName>ppt_y</p:attrName>
                                        </p:attrNameLst>
                                      </p:cBhvr>
                                      <p:tavLst>
                                        <p:tav tm="0">
                                          <p:val>
                                            <p:strVal val="0-#ppt_h/2"/>
                                          </p:val>
                                        </p:tav>
                                        <p:tav tm="100000">
                                          <p:val>
                                            <p:strVal val="#ppt_y"/>
                                          </p:val>
                                        </p:tav>
                                      </p:tavLst>
                                    </p:anim>
                                  </p:childTnLst>
                                </p:cTn>
                              </p:par>
                              <p:par>
                                <p:cTn id="16" presetID="2" presetClass="entr" presetSubtype="3" fill="hold" nodeType="withEffect">
                                  <p:stCondLst>
                                    <p:cond delay="100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750" fill="hold"/>
                                        <p:tgtEl>
                                          <p:spTgt spid="9"/>
                                        </p:tgtEl>
                                        <p:attrNameLst>
                                          <p:attrName>ppt_x</p:attrName>
                                        </p:attrNameLst>
                                      </p:cBhvr>
                                      <p:tavLst>
                                        <p:tav tm="0">
                                          <p:val>
                                            <p:strVal val="1+#ppt_w/2"/>
                                          </p:val>
                                        </p:tav>
                                        <p:tav tm="100000">
                                          <p:val>
                                            <p:strVal val="#ppt_x"/>
                                          </p:val>
                                        </p:tav>
                                      </p:tavLst>
                                    </p:anim>
                                    <p:anim calcmode="lin" valueType="num">
                                      <p:cBhvr additive="base">
                                        <p:cTn id="19" dur="750" fill="hold"/>
                                        <p:tgtEl>
                                          <p:spTgt spid="9"/>
                                        </p:tgtEl>
                                        <p:attrNameLst>
                                          <p:attrName>ppt_y</p:attrName>
                                        </p:attrNameLst>
                                      </p:cBhvr>
                                      <p:tavLst>
                                        <p:tav tm="0">
                                          <p:val>
                                            <p:strVal val="0-#ppt_h/2"/>
                                          </p:val>
                                        </p:tav>
                                        <p:tav tm="100000">
                                          <p:val>
                                            <p:strVal val="#ppt_y"/>
                                          </p:val>
                                        </p:tav>
                                      </p:tavLst>
                                    </p:anim>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22" presetClass="entr" presetSubtype="1" fill="hold" nodeType="withEffect">
                                  <p:stCondLst>
                                    <p:cond delay="100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750"/>
                                        <p:tgtEl>
                                          <p:spTgt spid="14"/>
                                        </p:tgtEl>
                                      </p:cBhvr>
                                    </p:animEffect>
                                  </p:childTnLst>
                                </p:cTn>
                              </p:par>
                              <p:par>
                                <p:cTn id="27" presetID="22" presetClass="entr" presetSubtype="1" fill="hold" nodeType="withEffect">
                                  <p:stCondLst>
                                    <p:cond delay="1000"/>
                                  </p:stCondLst>
                                  <p:childTnLst>
                                    <p:set>
                                      <p:cBhvr>
                                        <p:cTn id="28" dur="1" fill="hold">
                                          <p:stCondLst>
                                            <p:cond delay="0"/>
                                          </p:stCondLst>
                                        </p:cTn>
                                        <p:tgtEl>
                                          <p:spTgt spid="13"/>
                                        </p:tgtEl>
                                        <p:attrNameLst>
                                          <p:attrName>style.visibility</p:attrName>
                                        </p:attrNameLst>
                                      </p:cBhvr>
                                      <p:to>
                                        <p:strVal val="visible"/>
                                      </p:to>
                                    </p:set>
                                    <p:animEffect transition="in" filter="wipe(up)">
                                      <p:cBhvr>
                                        <p:cTn id="29" dur="750"/>
                                        <p:tgtEl>
                                          <p:spTgt spid="13"/>
                                        </p:tgtEl>
                                      </p:cBhvr>
                                    </p:animEffect>
                                  </p:childTnLst>
                                </p:cTn>
                              </p:par>
                              <p:par>
                                <p:cTn id="30" presetID="22" presetClass="entr" presetSubtype="1" fill="hold" nodeType="withEffect">
                                  <p:stCondLst>
                                    <p:cond delay="100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750"/>
                                        <p:tgtEl>
                                          <p:spTgt spid="15"/>
                                        </p:tgtEl>
                                      </p:cBhvr>
                                    </p:animEffect>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animBg="1"/>
      <p:bldP spid="12"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70857" y="566057"/>
            <a:ext cx="544286" cy="544286"/>
          </a:xfrm>
          <a:prstGeom prst="rect">
            <a:avLst/>
          </a:prstGeom>
          <a:solidFill>
            <a:srgbClr val="8A6E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文本框 2"/>
          <p:cNvSpPr txBox="1"/>
          <p:nvPr/>
        </p:nvSpPr>
        <p:spPr>
          <a:xfrm>
            <a:off x="1582057" y="566057"/>
            <a:ext cx="1727200" cy="584775"/>
          </a:xfrm>
          <a:prstGeom prst="rect">
            <a:avLst/>
          </a:prstGeom>
          <a:noFill/>
        </p:spPr>
        <p:txBody>
          <a:bodyPr wrap="square" rtlCol="0">
            <a:spAutoFit/>
          </a:bodyPr>
          <a:lstStyle/>
          <a:p>
            <a:r>
              <a:rPr lang="zh-CN" altLang="en-US" sz="3200" b="1" dirty="0">
                <a:solidFill>
                  <a:srgbClr val="8A6E36"/>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目录</a:t>
            </a:r>
          </a:p>
        </p:txBody>
      </p:sp>
      <p:cxnSp>
        <p:nvCxnSpPr>
          <p:cNvPr id="4" name="直接连接符 3"/>
          <p:cNvCxnSpPr/>
          <p:nvPr/>
        </p:nvCxnSpPr>
        <p:spPr>
          <a:xfrm>
            <a:off x="1582057" y="1110343"/>
            <a:ext cx="1494972" cy="0"/>
          </a:xfrm>
          <a:prstGeom prst="line">
            <a:avLst/>
          </a:prstGeom>
          <a:ln>
            <a:solidFill>
              <a:srgbClr val="8A6E36"/>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392171" y="1150832"/>
            <a:ext cx="3904738" cy="523220"/>
          </a:xfrm>
          <a:prstGeom prst="rect">
            <a:avLst/>
          </a:prstGeom>
          <a:noFill/>
        </p:spPr>
        <p:txBody>
          <a:bodyPr wrap="square" rtlCol="0">
            <a:spAutoFit/>
          </a:bodyPr>
          <a:lstStyle/>
          <a:p>
            <a:r>
              <a:rPr lang="en-US" altLang="zh-CN" sz="2800" b="1" dirty="0">
                <a:solidFill>
                  <a:srgbClr val="8A6E36"/>
                </a:solidFill>
                <a:latin typeface="幼圆" panose="02010509060101010101" pitchFamily="49" charset="-122"/>
                <a:ea typeface="幼圆" panose="02010509060101010101" pitchFamily="49" charset="-122"/>
              </a:rPr>
              <a:t>I.  </a:t>
            </a:r>
            <a:r>
              <a:rPr lang="zh-CN" altLang="en-US" sz="2800" b="1" dirty="0">
                <a:solidFill>
                  <a:srgbClr val="8A6E36"/>
                </a:solidFill>
                <a:latin typeface="幼圆" panose="02010509060101010101" pitchFamily="49" charset="-122"/>
                <a:ea typeface="幼圆" panose="02010509060101010101" pitchFamily="49" charset="-122"/>
              </a:rPr>
              <a:t>回溯法的研究</a:t>
            </a:r>
          </a:p>
        </p:txBody>
      </p:sp>
      <p:sp>
        <p:nvSpPr>
          <p:cNvPr id="27" name="文本框 26"/>
          <p:cNvSpPr txBox="1"/>
          <p:nvPr/>
        </p:nvSpPr>
        <p:spPr>
          <a:xfrm>
            <a:off x="4392171" y="3733908"/>
            <a:ext cx="4216357" cy="523220"/>
          </a:xfrm>
          <a:prstGeom prst="rect">
            <a:avLst/>
          </a:prstGeom>
          <a:noFill/>
        </p:spPr>
        <p:txBody>
          <a:bodyPr wrap="square" rtlCol="0">
            <a:spAutoFit/>
          </a:bodyPr>
          <a:lstStyle/>
          <a:p>
            <a:r>
              <a:rPr lang="en-US" altLang="zh-CN" sz="2800" b="1" dirty="0">
                <a:solidFill>
                  <a:srgbClr val="8A6E36"/>
                </a:solidFill>
                <a:latin typeface="幼圆" panose="02010509060101010101" pitchFamily="49" charset="-122"/>
                <a:ea typeface="幼圆" panose="02010509060101010101" pitchFamily="49" charset="-122"/>
              </a:rPr>
              <a:t>III.</a:t>
            </a:r>
            <a:r>
              <a:rPr lang="zh-CN" altLang="en-US" sz="2800" b="1" dirty="0">
                <a:solidFill>
                  <a:srgbClr val="8A6E36"/>
                </a:solidFill>
                <a:latin typeface="幼圆" panose="02010509060101010101" pitchFamily="49" charset="-122"/>
                <a:ea typeface="幼圆" panose="02010509060101010101" pitchFamily="49" charset="-122"/>
              </a:rPr>
              <a:t>实验结果与分析</a:t>
            </a:r>
          </a:p>
        </p:txBody>
      </p:sp>
      <p:cxnSp>
        <p:nvCxnSpPr>
          <p:cNvPr id="32" name="曲线连接符 31"/>
          <p:cNvCxnSpPr/>
          <p:nvPr/>
        </p:nvCxnSpPr>
        <p:spPr>
          <a:xfrm flipV="1">
            <a:off x="4705470" y="5196896"/>
            <a:ext cx="3010932" cy="1051829"/>
          </a:xfrm>
          <a:prstGeom prst="curvedConnector3">
            <a:avLst>
              <a:gd name="adj1" fmla="val 50000"/>
            </a:avLst>
          </a:prstGeom>
          <a:ln>
            <a:gradFill>
              <a:gsLst>
                <a:gs pos="0">
                  <a:srgbClr val="DECDAC">
                    <a:alpha val="59000"/>
                  </a:srgbClr>
                </a:gs>
                <a:gs pos="97516">
                  <a:srgbClr val="DECDAC">
                    <a:alpha val="56000"/>
                  </a:srgbClr>
                </a:gs>
                <a:gs pos="45000">
                  <a:srgbClr val="9D7D3D"/>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14005" y="6248725"/>
            <a:ext cx="4277678" cy="0"/>
          </a:xfrm>
          <a:prstGeom prst="line">
            <a:avLst/>
          </a:prstGeom>
          <a:ln w="3175">
            <a:gradFill>
              <a:gsLst>
                <a:gs pos="50900">
                  <a:srgbClr val="9D7D3D"/>
                </a:gs>
                <a:gs pos="100000">
                  <a:srgbClr val="DECDAC">
                    <a:alpha val="61000"/>
                  </a:srgbClr>
                </a:gs>
                <a:gs pos="0">
                  <a:srgbClr val="DECDAC">
                    <a:alpha val="64000"/>
                  </a:srgbClr>
                </a:gs>
              </a:gsLst>
              <a:lin ang="4800000" scaled="0"/>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864459" y="5196896"/>
            <a:ext cx="4277678" cy="0"/>
          </a:xfrm>
          <a:prstGeom prst="line">
            <a:avLst/>
          </a:prstGeom>
          <a:ln w="3175">
            <a:gradFill>
              <a:gsLst>
                <a:gs pos="50900">
                  <a:srgbClr val="9D7D3D"/>
                </a:gs>
                <a:gs pos="100000">
                  <a:srgbClr val="DECDAC">
                    <a:alpha val="61000"/>
                  </a:srgbClr>
                </a:gs>
                <a:gs pos="0">
                  <a:srgbClr val="DECDAC">
                    <a:alpha val="64000"/>
                  </a:srgbClr>
                </a:gs>
              </a:gsLst>
              <a:lin ang="4800000" scaled="0"/>
            </a:gradFill>
          </a:ln>
        </p:spPr>
        <p:style>
          <a:lnRef idx="1">
            <a:schemeClr val="accent1"/>
          </a:lnRef>
          <a:fillRef idx="0">
            <a:schemeClr val="accent1"/>
          </a:fillRef>
          <a:effectRef idx="0">
            <a:schemeClr val="accent1"/>
          </a:effectRef>
          <a:fontRef idx="minor">
            <a:schemeClr val="tx1"/>
          </a:fontRef>
        </p:style>
      </p:cxnSp>
      <p:sp>
        <p:nvSpPr>
          <p:cNvPr id="35" name="六边形 34"/>
          <p:cNvSpPr/>
          <p:nvPr/>
        </p:nvSpPr>
        <p:spPr>
          <a:xfrm rot="5400000" flipV="1">
            <a:off x="2123898" y="6074584"/>
            <a:ext cx="404008" cy="348283"/>
          </a:xfrm>
          <a:prstGeom prst="hexagon">
            <a:avLst/>
          </a:prstGeom>
          <a:solidFill>
            <a:srgbClr val="7F65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6" name="六边形 35"/>
          <p:cNvSpPr/>
          <p:nvPr/>
        </p:nvSpPr>
        <p:spPr>
          <a:xfrm rot="5400000" flipV="1">
            <a:off x="8977901" y="4600313"/>
            <a:ext cx="404008" cy="704073"/>
          </a:xfrm>
          <a:prstGeom prst="hexagon">
            <a:avLst/>
          </a:prstGeom>
          <a:noFill/>
          <a:ln>
            <a:solidFill>
              <a:srgbClr val="7F6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幼圆" panose="02010509060101010101" pitchFamily="49" charset="-122"/>
              <a:ea typeface="幼圆" panose="02010509060101010101" pitchFamily="49" charset="-122"/>
            </a:endParaRPr>
          </a:p>
        </p:txBody>
      </p:sp>
      <p:sp>
        <p:nvSpPr>
          <p:cNvPr id="38" name="文本框 37"/>
          <p:cNvSpPr txBox="1"/>
          <p:nvPr/>
        </p:nvSpPr>
        <p:spPr>
          <a:xfrm>
            <a:off x="4392171" y="2442370"/>
            <a:ext cx="3170753" cy="523220"/>
          </a:xfrm>
          <a:prstGeom prst="rect">
            <a:avLst/>
          </a:prstGeom>
          <a:noFill/>
        </p:spPr>
        <p:txBody>
          <a:bodyPr wrap="square" rtlCol="0">
            <a:spAutoFit/>
          </a:bodyPr>
          <a:lstStyle/>
          <a:p>
            <a:r>
              <a:rPr lang="en-US" altLang="zh-CN" sz="2800" b="1" dirty="0">
                <a:solidFill>
                  <a:srgbClr val="8A6E36"/>
                </a:solidFill>
                <a:latin typeface="幼圆" panose="02010509060101010101" pitchFamily="49" charset="-122"/>
                <a:ea typeface="幼圆" panose="02010509060101010101" pitchFamily="49" charset="-122"/>
              </a:rPr>
              <a:t>II. </a:t>
            </a:r>
            <a:r>
              <a:rPr lang="zh-CN" altLang="en-US" sz="2800" b="1" dirty="0">
                <a:solidFill>
                  <a:srgbClr val="8A6E36"/>
                </a:solidFill>
                <a:latin typeface="幼圆" panose="02010509060101010101" pitchFamily="49" charset="-122"/>
                <a:ea typeface="幼圆" panose="02010509060101010101" pitchFamily="49" charset="-122"/>
              </a:rPr>
              <a:t>回溯法的优化</a:t>
            </a:r>
          </a:p>
        </p:txBody>
      </p:sp>
      <p:sp>
        <p:nvSpPr>
          <p:cNvPr id="23" name="文本框 22"/>
          <p:cNvSpPr txBox="1"/>
          <p:nvPr/>
        </p:nvSpPr>
        <p:spPr>
          <a:xfrm>
            <a:off x="4392171" y="5025446"/>
            <a:ext cx="2157664" cy="523220"/>
          </a:xfrm>
          <a:prstGeom prst="rect">
            <a:avLst/>
          </a:prstGeom>
          <a:noFill/>
        </p:spPr>
        <p:txBody>
          <a:bodyPr wrap="square" rtlCol="0">
            <a:spAutoFit/>
          </a:bodyPr>
          <a:lstStyle/>
          <a:p>
            <a:r>
              <a:rPr lang="en-US" altLang="zh-CN" sz="2800" b="1" dirty="0">
                <a:solidFill>
                  <a:srgbClr val="8A6E36"/>
                </a:solidFill>
                <a:latin typeface="幼圆" panose="02010509060101010101" pitchFamily="49" charset="-122"/>
                <a:ea typeface="幼圆" panose="02010509060101010101" pitchFamily="49" charset="-122"/>
              </a:rPr>
              <a:t>IV. </a:t>
            </a:r>
            <a:r>
              <a:rPr lang="zh-CN" altLang="en-US" sz="2800" b="1" dirty="0">
                <a:solidFill>
                  <a:srgbClr val="8A6E36"/>
                </a:solidFill>
                <a:latin typeface="幼圆" panose="02010509060101010101" pitchFamily="49" charset="-122"/>
                <a:ea typeface="幼圆" panose="02010509060101010101" pitchFamily="49" charset="-122"/>
              </a:rPr>
              <a:t>总结</a:t>
            </a:r>
          </a:p>
        </p:txBody>
      </p:sp>
    </p:spTree>
  </p:cSld>
  <p:clrMapOvr>
    <a:masterClrMapping/>
  </p:clrMapOvr>
  <mc:AlternateContent xmlns:mc="http://schemas.openxmlformats.org/markup-compatibility/2006" xmlns:p15="http://schemas.microsoft.com/office/powerpoint/2012/main">
    <mc:Choice Requires="p15">
      <p:transition spd="slow">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25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1000"/>
                                        <p:tgtEl>
                                          <p:spTgt spid="33"/>
                                        </p:tgtEl>
                                      </p:cBhvr>
                                    </p:animEffect>
                                  </p:childTnLst>
                                </p:cTn>
                              </p:par>
                              <p:par>
                                <p:cTn id="8" presetID="10" presetClass="entr" presetSubtype="0" fill="hold" grpId="0" nodeType="withEffect">
                                  <p:stCondLst>
                                    <p:cond delay="250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750"/>
                                        <p:tgtEl>
                                          <p:spTgt spid="35"/>
                                        </p:tgtEl>
                                      </p:cBhvr>
                                    </p:animEffect>
                                  </p:childTnLst>
                                </p:cTn>
                              </p:par>
                              <p:par>
                                <p:cTn id="11" presetID="22" presetClass="entr" presetSubtype="8" fill="hold" nodeType="withEffect">
                                  <p:stCondLst>
                                    <p:cond delay="2500"/>
                                  </p:stCondLst>
                                  <p:childTnLst>
                                    <p:set>
                                      <p:cBhvr>
                                        <p:cTn id="12" dur="1" fill="hold">
                                          <p:stCondLst>
                                            <p:cond delay="0"/>
                                          </p:stCondLst>
                                        </p:cTn>
                                        <p:tgtEl>
                                          <p:spTgt spid="32"/>
                                        </p:tgtEl>
                                        <p:attrNameLst>
                                          <p:attrName>style.visibility</p:attrName>
                                        </p:attrNameLst>
                                      </p:cBhvr>
                                      <p:to>
                                        <p:strVal val="visible"/>
                                      </p:to>
                                    </p:set>
                                    <p:animEffect transition="in" filter="wipe(left)">
                                      <p:cBhvr>
                                        <p:cTn id="13" dur="1000"/>
                                        <p:tgtEl>
                                          <p:spTgt spid="32"/>
                                        </p:tgtEl>
                                      </p:cBhvr>
                                    </p:animEffect>
                                  </p:childTnLst>
                                </p:cTn>
                              </p:par>
                              <p:par>
                                <p:cTn id="14" presetID="22" presetClass="entr" presetSubtype="8" fill="hold" nodeType="withEffect">
                                  <p:stCondLst>
                                    <p:cond delay="300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1000"/>
                                        <p:tgtEl>
                                          <p:spTgt spid="34"/>
                                        </p:tgtEl>
                                      </p:cBhvr>
                                    </p:animEffect>
                                  </p:childTnLst>
                                </p:cTn>
                              </p:par>
                              <p:par>
                                <p:cTn id="17" presetID="10" presetClass="entr" presetSubtype="0" fill="hold" grpId="0" nodeType="withEffect">
                                  <p:stCondLst>
                                    <p:cond delay="325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750"/>
                                        <p:tgtEl>
                                          <p:spTgt spid="36"/>
                                        </p:tgtEl>
                                      </p:cBhvr>
                                    </p:animEffect>
                                  </p:childTnLst>
                                </p:cTn>
                              </p:par>
                            </p:childTnLst>
                          </p:cTn>
                        </p:par>
                        <p:par>
                          <p:cTn id="20" fill="hold">
                            <p:stCondLst>
                              <p:cond delay="3250"/>
                            </p:stCondLst>
                            <p:childTnLst>
                              <p:par>
                                <p:cTn id="21" presetID="22" presetClass="entr" presetSubtype="8"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750"/>
                                        <p:tgtEl>
                                          <p:spTgt spid="2"/>
                                        </p:tgtEl>
                                      </p:cBhvr>
                                    </p:animEffect>
                                  </p:childTnLst>
                                </p:cTn>
                              </p:par>
                              <p:par>
                                <p:cTn id="24" presetID="16" presetClass="entr" presetSubtype="26" fill="hold" nodeType="withEffect">
                                  <p:stCondLst>
                                    <p:cond delay="500"/>
                                  </p:stCondLst>
                                  <p:childTnLst>
                                    <p:set>
                                      <p:cBhvr>
                                        <p:cTn id="25" dur="1" fill="hold">
                                          <p:stCondLst>
                                            <p:cond delay="0"/>
                                          </p:stCondLst>
                                        </p:cTn>
                                        <p:tgtEl>
                                          <p:spTgt spid="4"/>
                                        </p:tgtEl>
                                        <p:attrNameLst>
                                          <p:attrName>style.visibility</p:attrName>
                                        </p:attrNameLst>
                                      </p:cBhvr>
                                      <p:to>
                                        <p:strVal val="visible"/>
                                      </p:to>
                                    </p:set>
                                    <p:animEffect transition="in" filter="barn(inHorizontal)">
                                      <p:cBhvr>
                                        <p:cTn id="26" dur="1000"/>
                                        <p:tgtEl>
                                          <p:spTgt spid="4"/>
                                        </p:tgtEl>
                                      </p:cBhvr>
                                    </p:animEffect>
                                  </p:childTnLst>
                                </p:cTn>
                              </p:par>
                              <p:par>
                                <p:cTn id="27" presetID="16" presetClass="entr" presetSubtype="26" fill="hold" grpId="0" nodeType="withEffect">
                                  <p:stCondLst>
                                    <p:cond delay="500"/>
                                  </p:stCondLst>
                                  <p:childTnLst>
                                    <p:set>
                                      <p:cBhvr>
                                        <p:cTn id="28" dur="1" fill="hold">
                                          <p:stCondLst>
                                            <p:cond delay="0"/>
                                          </p:stCondLst>
                                        </p:cTn>
                                        <p:tgtEl>
                                          <p:spTgt spid="3"/>
                                        </p:tgtEl>
                                        <p:attrNameLst>
                                          <p:attrName>style.visibility</p:attrName>
                                        </p:attrNameLst>
                                      </p:cBhvr>
                                      <p:to>
                                        <p:strVal val="visible"/>
                                      </p:to>
                                    </p:set>
                                    <p:animEffect transition="in" filter="barn(inHorizontal)">
                                      <p:cBhvr>
                                        <p:cTn id="29" dur="1000"/>
                                        <p:tgtEl>
                                          <p:spTgt spid="3"/>
                                        </p:tgtEl>
                                      </p:cBhvr>
                                    </p:animEffect>
                                  </p:childTnLst>
                                </p:cTn>
                              </p:par>
                              <p:par>
                                <p:cTn id="30" presetID="31" presetClass="entr" presetSubtype="0" fill="hold" grpId="0" nodeType="withEffect">
                                  <p:stCondLst>
                                    <p:cond delay="500"/>
                                  </p:stCondLst>
                                  <p:childTnLst>
                                    <p:set>
                                      <p:cBhvr>
                                        <p:cTn id="31" dur="1" fill="hold">
                                          <p:stCondLst>
                                            <p:cond delay="0"/>
                                          </p:stCondLst>
                                        </p:cTn>
                                        <p:tgtEl>
                                          <p:spTgt spid="38"/>
                                        </p:tgtEl>
                                        <p:attrNameLst>
                                          <p:attrName>style.visibility</p:attrName>
                                        </p:attrNameLst>
                                      </p:cBhvr>
                                      <p:to>
                                        <p:strVal val="visible"/>
                                      </p:to>
                                    </p:set>
                                    <p:anim calcmode="lin" valueType="num">
                                      <p:cBhvr>
                                        <p:cTn id="32" dur="750" fill="hold"/>
                                        <p:tgtEl>
                                          <p:spTgt spid="38"/>
                                        </p:tgtEl>
                                        <p:attrNameLst>
                                          <p:attrName>ppt_w</p:attrName>
                                        </p:attrNameLst>
                                      </p:cBhvr>
                                      <p:tavLst>
                                        <p:tav tm="0">
                                          <p:val>
                                            <p:fltVal val="0"/>
                                          </p:val>
                                        </p:tav>
                                        <p:tav tm="100000">
                                          <p:val>
                                            <p:strVal val="#ppt_w"/>
                                          </p:val>
                                        </p:tav>
                                      </p:tavLst>
                                    </p:anim>
                                    <p:anim calcmode="lin" valueType="num">
                                      <p:cBhvr>
                                        <p:cTn id="33" dur="750" fill="hold"/>
                                        <p:tgtEl>
                                          <p:spTgt spid="38"/>
                                        </p:tgtEl>
                                        <p:attrNameLst>
                                          <p:attrName>ppt_h</p:attrName>
                                        </p:attrNameLst>
                                      </p:cBhvr>
                                      <p:tavLst>
                                        <p:tav tm="0">
                                          <p:val>
                                            <p:fltVal val="0"/>
                                          </p:val>
                                        </p:tav>
                                        <p:tav tm="100000">
                                          <p:val>
                                            <p:strVal val="#ppt_h"/>
                                          </p:val>
                                        </p:tav>
                                      </p:tavLst>
                                    </p:anim>
                                    <p:anim calcmode="lin" valueType="num">
                                      <p:cBhvr>
                                        <p:cTn id="34" dur="750" fill="hold"/>
                                        <p:tgtEl>
                                          <p:spTgt spid="38"/>
                                        </p:tgtEl>
                                        <p:attrNameLst>
                                          <p:attrName>style.rotation</p:attrName>
                                        </p:attrNameLst>
                                      </p:cBhvr>
                                      <p:tavLst>
                                        <p:tav tm="0">
                                          <p:val>
                                            <p:fltVal val="90"/>
                                          </p:val>
                                        </p:tav>
                                        <p:tav tm="100000">
                                          <p:val>
                                            <p:fltVal val="0"/>
                                          </p:val>
                                        </p:tav>
                                      </p:tavLst>
                                    </p:anim>
                                    <p:animEffect transition="in" filter="fade">
                                      <p:cBhvr>
                                        <p:cTn id="35" dur="750"/>
                                        <p:tgtEl>
                                          <p:spTgt spid="38"/>
                                        </p:tgtEl>
                                      </p:cBhvr>
                                    </p:animEffect>
                                  </p:childTnLst>
                                </p:cTn>
                              </p:par>
                              <p:par>
                                <p:cTn id="36" presetID="14" presetClass="entr" presetSubtype="10" fill="hold" grpId="0" nodeType="withEffect">
                                  <p:stCondLst>
                                    <p:cond delay="1000"/>
                                  </p:stCondLst>
                                  <p:childTnLst>
                                    <p:set>
                                      <p:cBhvr>
                                        <p:cTn id="37" dur="1" fill="hold">
                                          <p:stCondLst>
                                            <p:cond delay="0"/>
                                          </p:stCondLst>
                                        </p:cTn>
                                        <p:tgtEl>
                                          <p:spTgt spid="21"/>
                                        </p:tgtEl>
                                        <p:attrNameLst>
                                          <p:attrName>style.visibility</p:attrName>
                                        </p:attrNameLst>
                                      </p:cBhvr>
                                      <p:to>
                                        <p:strVal val="visible"/>
                                      </p:to>
                                    </p:set>
                                    <p:animEffect transition="in" filter="randombar(horizontal)">
                                      <p:cBhvr>
                                        <p:cTn id="38" dur="750"/>
                                        <p:tgtEl>
                                          <p:spTgt spid="21"/>
                                        </p:tgtEl>
                                      </p:cBhvr>
                                    </p:animEffect>
                                  </p:childTnLst>
                                </p:cTn>
                              </p:par>
                              <p:par>
                                <p:cTn id="39" presetID="42" presetClass="entr" presetSubtype="0" fill="hold" grpId="0" nodeType="withEffect">
                                  <p:stCondLst>
                                    <p:cond delay="150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750"/>
                                        <p:tgtEl>
                                          <p:spTgt spid="27"/>
                                        </p:tgtEl>
                                      </p:cBhvr>
                                    </p:animEffect>
                                    <p:anim calcmode="lin" valueType="num">
                                      <p:cBhvr>
                                        <p:cTn id="42" dur="750" fill="hold"/>
                                        <p:tgtEl>
                                          <p:spTgt spid="27"/>
                                        </p:tgtEl>
                                        <p:attrNameLst>
                                          <p:attrName>ppt_x</p:attrName>
                                        </p:attrNameLst>
                                      </p:cBhvr>
                                      <p:tavLst>
                                        <p:tav tm="0">
                                          <p:val>
                                            <p:strVal val="#ppt_x"/>
                                          </p:val>
                                        </p:tav>
                                        <p:tav tm="100000">
                                          <p:val>
                                            <p:strVal val="#ppt_x"/>
                                          </p:val>
                                        </p:tav>
                                      </p:tavLst>
                                    </p:anim>
                                    <p:anim calcmode="lin" valueType="num">
                                      <p:cBhvr>
                                        <p:cTn id="43" dur="750" fill="hold"/>
                                        <p:tgtEl>
                                          <p:spTgt spid="2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15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750"/>
                                        <p:tgtEl>
                                          <p:spTgt spid="23"/>
                                        </p:tgtEl>
                                      </p:cBhvr>
                                    </p:animEffect>
                                    <p:anim calcmode="lin" valueType="num">
                                      <p:cBhvr>
                                        <p:cTn id="47" dur="750" fill="hold"/>
                                        <p:tgtEl>
                                          <p:spTgt spid="23"/>
                                        </p:tgtEl>
                                        <p:attrNameLst>
                                          <p:attrName>ppt_x</p:attrName>
                                        </p:attrNameLst>
                                      </p:cBhvr>
                                      <p:tavLst>
                                        <p:tav tm="0">
                                          <p:val>
                                            <p:strVal val="#ppt_x"/>
                                          </p:val>
                                        </p:tav>
                                        <p:tav tm="100000">
                                          <p:val>
                                            <p:strVal val="#ppt_x"/>
                                          </p:val>
                                        </p:tav>
                                      </p:tavLst>
                                    </p:anim>
                                    <p:anim calcmode="lin" valueType="num">
                                      <p:cBhvr>
                                        <p:cTn id="48" dur="75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21" grpId="0"/>
      <p:bldP spid="27" grpId="0"/>
      <p:bldP spid="35" grpId="0" animBg="1"/>
      <p:bldP spid="36" grpId="0" animBg="1"/>
      <p:bldP spid="38"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858918" y="-507802"/>
            <a:ext cx="2749471" cy="6247864"/>
          </a:xfrm>
          <a:prstGeom prst="rect">
            <a:avLst/>
          </a:prstGeom>
          <a:noFill/>
        </p:spPr>
        <p:txBody>
          <a:bodyPr wrap="none" rtlCol="0">
            <a:spAutoFit/>
          </a:bodyPr>
          <a:lstStyle/>
          <a:p>
            <a:r>
              <a:rPr lang="en-US" altLang="zh-CN"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rPr>
              <a:t>1</a:t>
            </a:r>
            <a:endParaRPr lang="zh-CN" altLang="en-US"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endParaRPr>
          </a:p>
        </p:txBody>
      </p:sp>
      <p:sp>
        <p:nvSpPr>
          <p:cNvPr id="9" name="文本框 8"/>
          <p:cNvSpPr txBox="1"/>
          <p:nvPr/>
        </p:nvSpPr>
        <p:spPr>
          <a:xfrm>
            <a:off x="3933985" y="5028219"/>
            <a:ext cx="4599620" cy="923330"/>
          </a:xfrm>
          <a:prstGeom prst="rect">
            <a:avLst/>
          </a:prstGeom>
          <a:noFill/>
        </p:spPr>
        <p:txBody>
          <a:bodyPr wrap="square" rtlCol="0">
            <a:spAutoFit/>
          </a:bodyPr>
          <a:lstStyle/>
          <a:p>
            <a:r>
              <a:rPr lang="zh-CN" altLang="en-US" sz="5400" b="1" dirty="0">
                <a:solidFill>
                  <a:srgbClr val="8A6E36"/>
                </a:solidFill>
                <a:latin typeface="幼圆" panose="02010509060101010101" pitchFamily="49" charset="-122"/>
                <a:ea typeface="幼圆" panose="02010509060101010101" pitchFamily="49" charset="-122"/>
              </a:rPr>
              <a:t>回溯法的研究</a:t>
            </a:r>
          </a:p>
        </p:txBody>
      </p:sp>
      <p:cxnSp>
        <p:nvCxnSpPr>
          <p:cNvPr id="10" name="直接连接符 9"/>
          <p:cNvCxnSpPr/>
          <p:nvPr/>
        </p:nvCxnSpPr>
        <p:spPr>
          <a:xfrm flipV="1">
            <a:off x="8395810" y="2133791"/>
            <a:ext cx="1506434" cy="1165792"/>
          </a:xfrm>
          <a:prstGeom prst="line">
            <a:avLst/>
          </a:prstGeom>
          <a:ln>
            <a:solidFill>
              <a:srgbClr val="7F6531"/>
            </a:solidFill>
            <a:headEnd type="none"/>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V="1">
            <a:off x="9175049" y="1411717"/>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8956756" y="1910874"/>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511680" y="1729646"/>
            <a:ext cx="2998893" cy="3163679"/>
            <a:chOff x="1010131" y="1809293"/>
            <a:chExt cx="4283145" cy="4518500"/>
          </a:xfrm>
        </p:grpSpPr>
        <p:sp>
          <p:nvSpPr>
            <p:cNvPr id="22" name="等腰三角形 21"/>
            <p:cNvSpPr/>
            <p:nvPr/>
          </p:nvSpPr>
          <p:spPr>
            <a:xfrm flipV="1">
              <a:off x="1886858" y="2206171"/>
              <a:ext cx="2786742" cy="2540000"/>
            </a:xfrm>
            <a:prstGeom prst="triangle">
              <a:avLst/>
            </a:prstGeom>
            <a:noFill/>
            <a:ln>
              <a:solidFill>
                <a:srgbClr val="7F65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23" name="等腰三角形 22"/>
            <p:cNvSpPr/>
            <p:nvPr/>
          </p:nvSpPr>
          <p:spPr>
            <a:xfrm flipV="1">
              <a:off x="1295400" y="1809293"/>
              <a:ext cx="3813629" cy="3475965"/>
            </a:xfrm>
            <a:prstGeom prst="triangle">
              <a:avLst/>
            </a:prstGeom>
            <a:noFill/>
            <a:ln>
              <a:solidFill>
                <a:srgbClr val="C2A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24" name="等腰三角形 23"/>
            <p:cNvSpPr/>
            <p:nvPr/>
          </p:nvSpPr>
          <p:spPr>
            <a:xfrm flipV="1">
              <a:off x="1010131" y="2423884"/>
              <a:ext cx="4283145" cy="3903909"/>
            </a:xfrm>
            <a:prstGeom prst="triangle">
              <a:avLst/>
            </a:prstGeom>
            <a:noFill/>
            <a:ln>
              <a:solidFill>
                <a:srgbClr val="D5BF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25" name="等腰三角形 24"/>
            <p:cNvSpPr/>
            <p:nvPr/>
          </p:nvSpPr>
          <p:spPr>
            <a:xfrm>
              <a:off x="3151703" y="4051544"/>
              <a:ext cx="1456769" cy="1233714"/>
            </a:xfrm>
            <a:prstGeom prst="triangle">
              <a:avLst/>
            </a:prstGeom>
            <a:solidFill>
              <a:srgbClr val="9C7D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withEffect">
                                  <p:stCondLst>
                                    <p:cond delay="75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7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1+#ppt_w/2"/>
                                          </p:val>
                                        </p:tav>
                                        <p:tav tm="100000">
                                          <p:val>
                                            <p:strVal val="#ppt_x"/>
                                          </p:val>
                                        </p:tav>
                                      </p:tavLst>
                                    </p:anim>
                                    <p:anim calcmode="lin" valueType="num">
                                      <p:cBhvr additive="base">
                                        <p:cTn id="12" dur="1000" fill="hold"/>
                                        <p:tgtEl>
                                          <p:spTgt spid="10"/>
                                        </p:tgtEl>
                                        <p:attrNameLst>
                                          <p:attrName>ppt_y</p:attrName>
                                        </p:attrNameLst>
                                      </p:cBhvr>
                                      <p:tavLst>
                                        <p:tav tm="0">
                                          <p:val>
                                            <p:strVal val="0-#ppt_h/2"/>
                                          </p:val>
                                        </p:tav>
                                        <p:tav tm="100000">
                                          <p:val>
                                            <p:strVal val="#ppt_y"/>
                                          </p:val>
                                        </p:tav>
                                      </p:tavLst>
                                    </p:anim>
                                  </p:childTnLst>
                                </p:cTn>
                              </p:par>
                              <p:par>
                                <p:cTn id="13" presetID="2" presetClass="entr" presetSubtype="3" fill="hold" nodeType="withEffect">
                                  <p:stCondLst>
                                    <p:cond delay="7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6" presetClass="entr" presetSubtype="0" fill="hold" grpId="0" nodeType="withEffect">
                                  <p:stCondLst>
                                    <p:cond delay="175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435">
                                          <p:stCondLst>
                                            <p:cond delay="0"/>
                                          </p:stCondLst>
                                        </p:cTn>
                                        <p:tgtEl>
                                          <p:spTgt spid="7"/>
                                        </p:tgtEl>
                                      </p:cBhvr>
                                    </p:animEffect>
                                    <p:anim calcmode="lin" valueType="num">
                                      <p:cBhvr>
                                        <p:cTn id="20" dur="1367"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1" dur="498"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2" dur="498" tmFilter="0, 0; 0.125,0.2665; 0.25,0.4; 0.375,0.465; 0.5,0.5;  0.625,0.535; 0.75,0.6; 0.875,0.7335; 1,1">
                                          <p:stCondLst>
                                            <p:cond delay="498"/>
                                          </p:stCondLst>
                                        </p:cTn>
                                        <p:tgtEl>
                                          <p:spTgt spid="7"/>
                                        </p:tgtEl>
                                        <p:attrNameLst>
                                          <p:attrName>ppt_y</p:attrName>
                                        </p:attrNameLst>
                                      </p:cBhvr>
                                      <p:tavLst>
                                        <p:tav tm="0" fmla="#ppt_y-sin(pi*$)/9">
                                          <p:val>
                                            <p:fltVal val="0"/>
                                          </p:val>
                                        </p:tav>
                                        <p:tav tm="100000">
                                          <p:val>
                                            <p:fltVal val="1"/>
                                          </p:val>
                                        </p:tav>
                                      </p:tavLst>
                                    </p:anim>
                                    <p:anim calcmode="lin" valueType="num">
                                      <p:cBhvr>
                                        <p:cTn id="23" dur="249" tmFilter="0, 0; 0.125,0.2665; 0.25,0.4; 0.375,0.465; 0.5,0.5;  0.625,0.535; 0.75,0.6; 0.875,0.7335; 1,1">
                                          <p:stCondLst>
                                            <p:cond delay="993"/>
                                          </p:stCondLst>
                                        </p:cTn>
                                        <p:tgtEl>
                                          <p:spTgt spid="7"/>
                                        </p:tgtEl>
                                        <p:attrNameLst>
                                          <p:attrName>ppt_y</p:attrName>
                                        </p:attrNameLst>
                                      </p:cBhvr>
                                      <p:tavLst>
                                        <p:tav tm="0" fmla="#ppt_y-sin(pi*$)/27">
                                          <p:val>
                                            <p:fltVal val="0"/>
                                          </p:val>
                                        </p:tav>
                                        <p:tav tm="100000">
                                          <p:val>
                                            <p:fltVal val="1"/>
                                          </p:val>
                                        </p:tav>
                                      </p:tavLst>
                                    </p:anim>
                                    <p:anim calcmode="lin" valueType="num">
                                      <p:cBhvr>
                                        <p:cTn id="24" dur="123" tmFilter="0, 0; 0.125,0.2665; 0.25,0.4; 0.375,0.465; 0.5,0.5;  0.625,0.535; 0.75,0.6; 0.875,0.7335; 1,1">
                                          <p:stCondLst>
                                            <p:cond delay="1242"/>
                                          </p:stCondLst>
                                        </p:cTn>
                                        <p:tgtEl>
                                          <p:spTgt spid="7"/>
                                        </p:tgtEl>
                                        <p:attrNameLst>
                                          <p:attrName>ppt_y</p:attrName>
                                        </p:attrNameLst>
                                      </p:cBhvr>
                                      <p:tavLst>
                                        <p:tav tm="0" fmla="#ppt_y-sin(pi*$)/81">
                                          <p:val>
                                            <p:fltVal val="0"/>
                                          </p:val>
                                        </p:tav>
                                        <p:tav tm="100000">
                                          <p:val>
                                            <p:fltVal val="1"/>
                                          </p:val>
                                        </p:tav>
                                      </p:tavLst>
                                    </p:anim>
                                    <p:animScale>
                                      <p:cBhvr>
                                        <p:cTn id="25" dur="20">
                                          <p:stCondLst>
                                            <p:cond delay="487"/>
                                          </p:stCondLst>
                                        </p:cTn>
                                        <p:tgtEl>
                                          <p:spTgt spid="7"/>
                                        </p:tgtEl>
                                      </p:cBhvr>
                                      <p:to x="100000" y="60000"/>
                                    </p:animScale>
                                    <p:animScale>
                                      <p:cBhvr>
                                        <p:cTn id="26" dur="124" decel="50000">
                                          <p:stCondLst>
                                            <p:cond delay="507"/>
                                          </p:stCondLst>
                                        </p:cTn>
                                        <p:tgtEl>
                                          <p:spTgt spid="7"/>
                                        </p:tgtEl>
                                      </p:cBhvr>
                                      <p:to x="100000" y="100000"/>
                                    </p:animScale>
                                    <p:animScale>
                                      <p:cBhvr>
                                        <p:cTn id="27" dur="20">
                                          <p:stCondLst>
                                            <p:cond delay="984"/>
                                          </p:stCondLst>
                                        </p:cTn>
                                        <p:tgtEl>
                                          <p:spTgt spid="7"/>
                                        </p:tgtEl>
                                      </p:cBhvr>
                                      <p:to x="100000" y="80000"/>
                                    </p:animScale>
                                    <p:animScale>
                                      <p:cBhvr>
                                        <p:cTn id="28" dur="124" decel="50000">
                                          <p:stCondLst>
                                            <p:cond delay="1004"/>
                                          </p:stCondLst>
                                        </p:cTn>
                                        <p:tgtEl>
                                          <p:spTgt spid="7"/>
                                        </p:tgtEl>
                                      </p:cBhvr>
                                      <p:to x="100000" y="100000"/>
                                    </p:animScale>
                                    <p:animScale>
                                      <p:cBhvr>
                                        <p:cTn id="29" dur="20">
                                          <p:stCondLst>
                                            <p:cond delay="1231"/>
                                          </p:stCondLst>
                                        </p:cTn>
                                        <p:tgtEl>
                                          <p:spTgt spid="7"/>
                                        </p:tgtEl>
                                      </p:cBhvr>
                                      <p:to x="100000" y="90000"/>
                                    </p:animScale>
                                    <p:animScale>
                                      <p:cBhvr>
                                        <p:cTn id="30" dur="124" decel="50000">
                                          <p:stCondLst>
                                            <p:cond delay="1251"/>
                                          </p:stCondLst>
                                        </p:cTn>
                                        <p:tgtEl>
                                          <p:spTgt spid="7"/>
                                        </p:tgtEl>
                                      </p:cBhvr>
                                      <p:to x="100000" y="100000"/>
                                    </p:animScale>
                                    <p:animScale>
                                      <p:cBhvr>
                                        <p:cTn id="31" dur="20">
                                          <p:stCondLst>
                                            <p:cond delay="1356"/>
                                          </p:stCondLst>
                                        </p:cTn>
                                        <p:tgtEl>
                                          <p:spTgt spid="7"/>
                                        </p:tgtEl>
                                      </p:cBhvr>
                                      <p:to x="100000" y="95000"/>
                                    </p:animScale>
                                    <p:animScale>
                                      <p:cBhvr>
                                        <p:cTn id="32" dur="124" decel="50000">
                                          <p:stCondLst>
                                            <p:cond delay="1376"/>
                                          </p:stCondLst>
                                        </p:cTn>
                                        <p:tgtEl>
                                          <p:spTgt spid="7"/>
                                        </p:tgtEl>
                                      </p:cBhvr>
                                      <p:to x="100000" y="100000"/>
                                    </p:animScale>
                                  </p:childTnLst>
                                </p:cTn>
                              </p:par>
                            </p:childTnLst>
                          </p:cTn>
                        </p:par>
                        <p:par>
                          <p:cTn id="33" fill="hold">
                            <p:stCondLst>
                              <p:cond delay="1750"/>
                            </p:stCondLst>
                            <p:childTnLst>
                              <p:par>
                                <p:cTn id="34" presetID="2" presetClass="entr" presetSubtype="4"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par>
                          <p:cTn id="38" fill="hold">
                            <p:stCondLst>
                              <p:cond delay="2250"/>
                            </p:stCondLst>
                            <p:childTnLst>
                              <p:par>
                                <p:cTn id="39" presetID="6" presetClass="entr" presetSubtype="32" fill="hold"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circle(out)">
                                      <p:cBhvr>
                                        <p:cTn id="41"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10298" y="1398015"/>
            <a:ext cx="3771406" cy="269329"/>
            <a:chOff x="7198852" y="1472339"/>
            <a:chExt cx="3771406" cy="269329"/>
          </a:xfrm>
        </p:grpSpPr>
        <p:cxnSp>
          <p:nvCxnSpPr>
            <p:cNvPr id="10" name="直接连接符 9"/>
            <p:cNvCxnSpPr/>
            <p:nvPr/>
          </p:nvCxnSpPr>
          <p:spPr>
            <a:xfrm>
              <a:off x="7198852" y="1607004"/>
              <a:ext cx="3771406" cy="0"/>
            </a:xfrm>
            <a:prstGeom prst="line">
              <a:avLst/>
            </a:prstGeom>
            <a:ln>
              <a:solidFill>
                <a:srgbClr val="584622"/>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8949890" y="1472339"/>
              <a:ext cx="269329" cy="269329"/>
            </a:xfrm>
            <a:prstGeom prst="ellipse">
              <a:avLst/>
            </a:prstGeom>
            <a:solidFill>
              <a:srgbClr val="8A6E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幼圆" panose="02010509060101010101" pitchFamily="49" charset="-122"/>
                <a:ea typeface="幼圆" panose="02010509060101010101" pitchFamily="49" charset="-122"/>
              </a:endParaRPr>
            </a:p>
          </p:txBody>
        </p:sp>
      </p:grpSp>
      <p:sp>
        <p:nvSpPr>
          <p:cNvPr id="12" name="文本框 11"/>
          <p:cNvSpPr txBox="1"/>
          <p:nvPr/>
        </p:nvSpPr>
        <p:spPr>
          <a:xfrm>
            <a:off x="1188808" y="1776441"/>
            <a:ext cx="9814384" cy="706755"/>
          </a:xfrm>
          <a:prstGeom prst="rect">
            <a:avLst/>
          </a:prstGeom>
          <a:noFill/>
        </p:spPr>
        <p:txBody>
          <a:bodyPr wrap="square" rtlCol="0">
            <a:spAutoFit/>
          </a:bodyPr>
          <a:lstStyle/>
          <a:p>
            <a:pPr algn="ctr"/>
            <a:r>
              <a:rPr lang="zh-CN" altLang="en-US" sz="2000" dirty="0">
                <a:latin typeface="幼圆" panose="02010509060101010101" pitchFamily="49" charset="-122"/>
                <a:ea typeface="幼圆" panose="02010509060101010101" pitchFamily="49" charset="-122"/>
              </a:rPr>
              <a:t>回溯法是一种选优搜索法，按选优条件向前搜索</a:t>
            </a:r>
            <a:r>
              <a:rPr lang="en-US" altLang="zh-CN" sz="2000" dirty="0">
                <a:latin typeface="幼圆" panose="02010509060101010101" pitchFamily="49" charset="-122"/>
                <a:ea typeface="幼圆" panose="02010509060101010101" pitchFamily="49" charset="-122"/>
              </a:rPr>
              <a:t>——</a:t>
            </a:r>
            <a:r>
              <a:rPr lang="zh-CN" altLang="en-US" sz="2000" dirty="0">
                <a:latin typeface="幼圆" panose="02010509060101010101" pitchFamily="49" charset="-122"/>
                <a:ea typeface="幼圆" panose="02010509060101010101" pitchFamily="49" charset="-122"/>
              </a:rPr>
              <a:t>决策树的遍历</a:t>
            </a:r>
            <a:endParaRPr lang="en-US" altLang="zh-CN" sz="2000" dirty="0">
              <a:latin typeface="幼圆" panose="02010509060101010101" pitchFamily="49" charset="-122"/>
              <a:ea typeface="幼圆" panose="02010509060101010101" pitchFamily="49" charset="-122"/>
            </a:endParaRPr>
          </a:p>
          <a:p>
            <a:pPr algn="ctr"/>
            <a:r>
              <a:rPr lang="zh-CN" altLang="en-US" sz="2000" dirty="0">
                <a:latin typeface="幼圆" panose="02010509060101010101" pitchFamily="49" charset="-122"/>
                <a:ea typeface="幼圆" panose="02010509060101010101" pitchFamily="49" charset="-122"/>
              </a:rPr>
              <a:t>对决策树进行遍历探索</a:t>
            </a:r>
            <a:r>
              <a:rPr lang="en-US" altLang="zh-CN" sz="2000" dirty="0">
                <a:latin typeface="幼圆" panose="02010509060101010101" pitchFamily="49" charset="-122"/>
                <a:ea typeface="幼圆" panose="02010509060101010101" pitchFamily="49" charset="-122"/>
              </a:rPr>
              <a:t>,</a:t>
            </a:r>
            <a:r>
              <a:rPr lang="zh-CN" altLang="en-US" sz="2000" dirty="0">
                <a:latin typeface="幼圆" panose="02010509060101010101" pitchFamily="49" charset="-122"/>
                <a:ea typeface="幼圆" panose="02010509060101010101" pitchFamily="49" charset="-122"/>
              </a:rPr>
              <a:t>如果某结点包含问题的解</a:t>
            </a:r>
            <a:r>
              <a:rPr lang="en-US" altLang="zh-CN" sz="2000" dirty="0">
                <a:latin typeface="幼圆" panose="02010509060101010101" pitchFamily="49" charset="-122"/>
                <a:ea typeface="幼圆" panose="02010509060101010101" pitchFamily="49" charset="-122"/>
              </a:rPr>
              <a:t>,</a:t>
            </a:r>
            <a:r>
              <a:rPr lang="zh-CN" altLang="en-US" sz="2000" dirty="0">
                <a:latin typeface="幼圆" panose="02010509060101010101" pitchFamily="49" charset="-122"/>
                <a:ea typeface="幼圆" panose="02010509060101010101" pitchFamily="49" charset="-122"/>
              </a:rPr>
              <a:t>继续</a:t>
            </a:r>
            <a:r>
              <a:rPr lang="en-US" altLang="zh-CN" sz="2000" dirty="0">
                <a:latin typeface="幼圆" panose="02010509060101010101" pitchFamily="49" charset="-122"/>
                <a:ea typeface="幼圆" panose="02010509060101010101" pitchFamily="49" charset="-122"/>
              </a:rPr>
              <a:t>,</a:t>
            </a:r>
            <a:r>
              <a:rPr lang="zh-CN" altLang="en-US" sz="2000" dirty="0">
                <a:latin typeface="幼圆" panose="02010509060101010101" pitchFamily="49" charset="-122"/>
                <a:ea typeface="幼圆" panose="02010509060101010101" pitchFamily="49" charset="-122"/>
              </a:rPr>
              <a:t>否则回溯。</a:t>
            </a:r>
            <a:endParaRPr lang="zh-CN" altLang="en-US" sz="1600" dirty="0">
              <a:solidFill>
                <a:srgbClr val="A89A68"/>
              </a:solidFill>
              <a:latin typeface="幼圆" panose="02010509060101010101" pitchFamily="49" charset="-122"/>
              <a:ea typeface="幼圆" panose="02010509060101010101" pitchFamily="49" charset="-122"/>
            </a:endParaRPr>
          </a:p>
        </p:txBody>
      </p:sp>
      <p:sp>
        <p:nvSpPr>
          <p:cNvPr id="13" name="文本框 12"/>
          <p:cNvSpPr txBox="1"/>
          <p:nvPr/>
        </p:nvSpPr>
        <p:spPr>
          <a:xfrm>
            <a:off x="4677436" y="0"/>
            <a:ext cx="2837128" cy="523220"/>
          </a:xfrm>
          <a:prstGeom prst="rect">
            <a:avLst/>
          </a:prstGeom>
          <a:noFill/>
        </p:spPr>
        <p:txBody>
          <a:bodyPr wrap="square" rtlCol="0">
            <a:spAutoFit/>
          </a:bodyPr>
          <a:lstStyle/>
          <a:p>
            <a:pPr algn="ctr"/>
            <a:r>
              <a:rPr lang="zh-CN" altLang="en-US" sz="2800" b="1" dirty="0">
                <a:solidFill>
                  <a:srgbClr val="654D2D"/>
                </a:solidFill>
                <a:latin typeface="幼圆" panose="02010509060101010101" pitchFamily="49" charset="-122"/>
                <a:ea typeface="幼圆" panose="02010509060101010101" pitchFamily="49" charset="-122"/>
              </a:rPr>
              <a:t>回溯法</a:t>
            </a:r>
          </a:p>
        </p:txBody>
      </p:sp>
      <p:sp>
        <p:nvSpPr>
          <p:cNvPr id="18" name="文本框 17"/>
          <p:cNvSpPr txBox="1"/>
          <p:nvPr/>
        </p:nvSpPr>
        <p:spPr>
          <a:xfrm>
            <a:off x="5081337" y="879748"/>
            <a:ext cx="2029326" cy="523220"/>
          </a:xfrm>
          <a:prstGeom prst="rect">
            <a:avLst/>
          </a:prstGeom>
          <a:noFill/>
        </p:spPr>
        <p:txBody>
          <a:bodyPr wrap="square">
            <a:spAutoFit/>
          </a:bodyPr>
          <a:lstStyle/>
          <a:p>
            <a:pPr algn="ctr"/>
            <a:r>
              <a:rPr lang="zh-CN" altLang="en-US" sz="2800" b="1" dirty="0">
                <a:latin typeface="幼圆" panose="02010509060101010101" pitchFamily="49" charset="-122"/>
                <a:ea typeface="幼圆" panose="02010509060101010101" pitchFamily="49" charset="-122"/>
              </a:rPr>
              <a:t>回溯法思想</a:t>
            </a:r>
          </a:p>
        </p:txBody>
      </p:sp>
      <p:pic>
        <p:nvPicPr>
          <p:cNvPr id="22" name="图片 21"/>
          <p:cNvPicPr>
            <a:picLocks noChangeAspect="1"/>
          </p:cNvPicPr>
          <p:nvPr/>
        </p:nvPicPr>
        <p:blipFill>
          <a:blip r:embed="rId3"/>
          <a:stretch>
            <a:fillRect/>
          </a:stretch>
        </p:blipFill>
        <p:spPr>
          <a:xfrm>
            <a:off x="3029987" y="2899950"/>
            <a:ext cx="6132026" cy="3187930"/>
          </a:xfrm>
          <a:prstGeom prst="rect">
            <a:avLst/>
          </a:prstGeom>
        </p:spPr>
      </p:pic>
      <p:grpSp>
        <p:nvGrpSpPr>
          <p:cNvPr id="23" name="组合 22"/>
          <p:cNvGrpSpPr/>
          <p:nvPr/>
        </p:nvGrpSpPr>
        <p:grpSpPr>
          <a:xfrm>
            <a:off x="3951929" y="2149472"/>
            <a:ext cx="4221118" cy="269329"/>
            <a:chOff x="1948544" y="4859192"/>
            <a:chExt cx="3771406" cy="269329"/>
          </a:xfrm>
        </p:grpSpPr>
        <p:cxnSp>
          <p:nvCxnSpPr>
            <p:cNvPr id="24" name="直接连接符 23"/>
            <p:cNvCxnSpPr/>
            <p:nvPr/>
          </p:nvCxnSpPr>
          <p:spPr>
            <a:xfrm>
              <a:off x="1948544" y="4993857"/>
              <a:ext cx="3771406" cy="0"/>
            </a:xfrm>
            <a:prstGeom prst="line">
              <a:avLst/>
            </a:prstGeom>
            <a:ln>
              <a:solidFill>
                <a:srgbClr val="584622"/>
              </a:solidFill>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3699582" y="4859192"/>
              <a:ext cx="269329" cy="269329"/>
            </a:xfrm>
            <a:prstGeom prst="ellipse">
              <a:avLst/>
            </a:prstGeom>
            <a:solidFill>
              <a:srgbClr val="8A6E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grpSp>
      <p:sp>
        <p:nvSpPr>
          <p:cNvPr id="26" name="文本框 25"/>
          <p:cNvSpPr txBox="1"/>
          <p:nvPr/>
        </p:nvSpPr>
        <p:spPr>
          <a:xfrm>
            <a:off x="3383722" y="2699761"/>
            <a:ext cx="6263687" cy="2221762"/>
          </a:xfrm>
          <a:prstGeom prst="rect">
            <a:avLst/>
          </a:prstGeom>
          <a:noFill/>
        </p:spPr>
        <p:txBody>
          <a:bodyPr wrap="square" rtlCol="0">
            <a:spAutoFit/>
          </a:bodyPr>
          <a:lstStyle/>
          <a:p>
            <a:pPr>
              <a:lnSpc>
                <a:spcPct val="150000"/>
              </a:lnSpc>
            </a:pPr>
            <a:r>
              <a:rPr lang="en-US" altLang="zh-CN" sz="2400" dirty="0">
                <a:latin typeface="幼圆" panose="02010509060101010101" pitchFamily="49" charset="-122"/>
                <a:ea typeface="幼圆" panose="02010509060101010101" pitchFamily="49" charset="-122"/>
              </a:rPr>
              <a:t>1. </a:t>
            </a:r>
            <a:r>
              <a:rPr lang="zh-CN" altLang="en-US" sz="2400" dirty="0">
                <a:latin typeface="幼圆" panose="02010509060101010101" pitchFamily="49" charset="-122"/>
                <a:ea typeface="幼圆" panose="02010509060101010101" pitchFamily="49" charset="-122"/>
              </a:rPr>
              <a:t>针对所给问题，定义问题的解空间</a:t>
            </a:r>
            <a:br>
              <a:rPr lang="zh-CN" altLang="en-US" sz="2400" dirty="0">
                <a:latin typeface="幼圆" panose="02010509060101010101" pitchFamily="49" charset="-122"/>
                <a:ea typeface="幼圆" panose="02010509060101010101" pitchFamily="49" charset="-122"/>
              </a:rPr>
            </a:br>
            <a:r>
              <a:rPr lang="en-US" altLang="zh-CN" sz="2400" dirty="0">
                <a:latin typeface="幼圆" panose="02010509060101010101" pitchFamily="49" charset="-122"/>
                <a:ea typeface="幼圆" panose="02010509060101010101" pitchFamily="49" charset="-122"/>
              </a:rPr>
              <a:t>2. </a:t>
            </a:r>
            <a:r>
              <a:rPr lang="zh-CN" altLang="en-US" sz="2400" dirty="0">
                <a:latin typeface="幼圆" panose="02010509060101010101" pitchFamily="49" charset="-122"/>
                <a:ea typeface="幼圆" panose="02010509060101010101" pitchFamily="49" charset="-122"/>
              </a:rPr>
              <a:t>确定易于搜索的解空间结构</a:t>
            </a:r>
            <a:br>
              <a:rPr lang="zh-CN" altLang="en-US" sz="2400" dirty="0">
                <a:latin typeface="幼圆" panose="02010509060101010101" pitchFamily="49" charset="-122"/>
                <a:ea typeface="幼圆" panose="02010509060101010101" pitchFamily="49" charset="-122"/>
              </a:rPr>
            </a:br>
            <a:r>
              <a:rPr lang="en-US" altLang="zh-CN" sz="2400" dirty="0">
                <a:latin typeface="幼圆" panose="02010509060101010101" pitchFamily="49" charset="-122"/>
                <a:ea typeface="幼圆" panose="02010509060101010101" pitchFamily="49" charset="-122"/>
              </a:rPr>
              <a:t>3. </a:t>
            </a:r>
            <a:r>
              <a:rPr lang="zh-CN" altLang="en-US" sz="2400" dirty="0">
                <a:latin typeface="幼圆" panose="02010509060101010101" pitchFamily="49" charset="-122"/>
                <a:ea typeface="幼圆" panose="02010509060101010101" pitchFamily="49" charset="-122"/>
              </a:rPr>
              <a:t>以深度优先方式所搜解空间，并在搜索过程中用剪枝函数避免无效搜索。</a:t>
            </a:r>
          </a:p>
        </p:txBody>
      </p:sp>
      <p:sp>
        <p:nvSpPr>
          <p:cNvPr id="27" name="文本框 26"/>
          <p:cNvSpPr txBox="1"/>
          <p:nvPr/>
        </p:nvSpPr>
        <p:spPr>
          <a:xfrm>
            <a:off x="4767448" y="1566223"/>
            <a:ext cx="2747116" cy="461665"/>
          </a:xfrm>
          <a:prstGeom prst="rect">
            <a:avLst/>
          </a:prstGeom>
          <a:noFill/>
        </p:spPr>
        <p:txBody>
          <a:bodyPr wrap="square" rtlCol="0">
            <a:spAutoFit/>
          </a:bodyPr>
          <a:lstStyle/>
          <a:p>
            <a:pPr algn="ctr"/>
            <a:r>
              <a:rPr lang="zh-CN" altLang="en-US" sz="2400" b="1" dirty="0">
                <a:latin typeface="幼圆" panose="02010509060101010101" pitchFamily="49" charset="-122"/>
                <a:ea typeface="幼圆" panose="02010509060101010101" pitchFamily="49" charset="-122"/>
              </a:rPr>
              <a:t>回溯法解题步骤</a:t>
            </a:r>
          </a:p>
        </p:txBody>
      </p:sp>
      <p:cxnSp>
        <p:nvCxnSpPr>
          <p:cNvPr id="2" name="直接连接符 1"/>
          <p:cNvCxnSpPr/>
          <p:nvPr/>
        </p:nvCxnSpPr>
        <p:spPr>
          <a:xfrm flipH="1">
            <a:off x="2422525" y="3986530"/>
            <a:ext cx="1428750" cy="770255"/>
          </a:xfrm>
          <a:prstGeom prst="line">
            <a:avLst/>
          </a:prstGeom>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2232660" y="4690110"/>
            <a:ext cx="390525" cy="3905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729230" y="4187190"/>
            <a:ext cx="412750" cy="368300"/>
          </a:xfrm>
          <a:prstGeom prst="rect">
            <a:avLst/>
          </a:prstGeom>
          <a:noFill/>
        </p:spPr>
        <p:txBody>
          <a:bodyPr wrap="square" rtlCol="0">
            <a:spAutoFit/>
          </a:bodyPr>
          <a:lstStyle/>
          <a:p>
            <a:r>
              <a:rPr lang="en-US" altLang="zh-CN"/>
              <a:t>1</a:t>
            </a:r>
          </a:p>
        </p:txBody>
      </p:sp>
      <p:sp>
        <p:nvSpPr>
          <p:cNvPr id="5" name="文本框 4"/>
          <p:cNvSpPr txBox="1"/>
          <p:nvPr/>
        </p:nvSpPr>
        <p:spPr>
          <a:xfrm>
            <a:off x="2489200" y="4756785"/>
            <a:ext cx="412750" cy="521970"/>
          </a:xfrm>
          <a:prstGeom prst="rect">
            <a:avLst/>
          </a:prstGeom>
          <a:noFill/>
        </p:spPr>
        <p:txBody>
          <a:bodyPr wrap="square" rtlCol="0">
            <a:spAutoFit/>
          </a:bodyPr>
          <a:lstStyle/>
          <a:p>
            <a:r>
              <a:rPr lang="zh-CN" altLang="en-US" sz="2800"/>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9"/>
                                        </p:tgtEl>
                                        <p:attrNameLst>
                                          <p:attrName>ppt_x</p:attrName>
                                        </p:attrNameLst>
                                      </p:cBhvr>
                                      <p:tavLst>
                                        <p:tav tm="0">
                                          <p:val>
                                            <p:strVal val="ppt_x"/>
                                          </p:val>
                                        </p:tav>
                                        <p:tav tm="100000">
                                          <p:val>
                                            <p:strVal val="ppt_x"/>
                                          </p:val>
                                        </p:tav>
                                      </p:tavLst>
                                    </p:anim>
                                    <p:anim calcmode="lin" valueType="num">
                                      <p:cBhvr additive="base">
                                        <p:cTn id="12" dur="500"/>
                                        <p:tgtEl>
                                          <p:spTgt spid="9"/>
                                        </p:tgtEl>
                                        <p:attrNameLst>
                                          <p:attrName>ppt_y</p:attrName>
                                        </p:attrNameLst>
                                      </p:cBhvr>
                                      <p:tavLst>
                                        <p:tav tm="0">
                                          <p:val>
                                            <p:strVal val="ppt_y"/>
                                          </p:val>
                                        </p:tav>
                                        <p:tav tm="100000">
                                          <p:val>
                                            <p:strVal val="1+ppt_h/2"/>
                                          </p:val>
                                        </p:tav>
                                      </p:tavLst>
                                    </p:anim>
                                    <p:set>
                                      <p:cBhvr>
                                        <p:cTn id="13" dur="1" fill="hold">
                                          <p:stCondLst>
                                            <p:cond delay="499"/>
                                          </p:stCondLst>
                                        </p:cTn>
                                        <p:tgtEl>
                                          <p:spTgt spid="9"/>
                                        </p:tgtEl>
                                        <p:attrNameLst>
                                          <p:attrName>style.visibility</p:attrName>
                                        </p:attrNameLst>
                                      </p:cBhvr>
                                      <p:to>
                                        <p:strVal val="hidden"/>
                                      </p:to>
                                    </p:set>
                                  </p:childTnLst>
                                </p:cTn>
                              </p:par>
                              <p:par>
                                <p:cTn id="14" presetID="2" presetClass="exit" presetSubtype="4" fill="hold" grpId="0" nodeType="withEffect">
                                  <p:stCondLst>
                                    <p:cond delay="0"/>
                                  </p:stCondLst>
                                  <p:childTnLst>
                                    <p:anim calcmode="lin" valueType="num">
                                      <p:cBhvr additive="base">
                                        <p:cTn id="15" dur="500"/>
                                        <p:tgtEl>
                                          <p:spTgt spid="12"/>
                                        </p:tgtEl>
                                        <p:attrNameLst>
                                          <p:attrName>ppt_x</p:attrName>
                                        </p:attrNameLst>
                                      </p:cBhvr>
                                      <p:tavLst>
                                        <p:tav tm="0">
                                          <p:val>
                                            <p:strVal val="ppt_x"/>
                                          </p:val>
                                        </p:tav>
                                        <p:tav tm="100000">
                                          <p:val>
                                            <p:strVal val="ppt_x"/>
                                          </p:val>
                                        </p:tav>
                                      </p:tavLst>
                                    </p:anim>
                                    <p:anim calcmode="lin" valueType="num">
                                      <p:cBhvr additive="base">
                                        <p:cTn id="16" dur="500"/>
                                        <p:tgtEl>
                                          <p:spTgt spid="12"/>
                                        </p:tgtEl>
                                        <p:attrNameLst>
                                          <p:attrName>ppt_y</p:attrName>
                                        </p:attrNameLst>
                                      </p:cBhvr>
                                      <p:tavLst>
                                        <p:tav tm="0">
                                          <p:val>
                                            <p:strVal val="ppt_y"/>
                                          </p:val>
                                        </p:tav>
                                        <p:tav tm="100000">
                                          <p:val>
                                            <p:strVal val="1+ppt_h/2"/>
                                          </p:val>
                                        </p:tav>
                                      </p:tavLst>
                                    </p:anim>
                                    <p:set>
                                      <p:cBhvr>
                                        <p:cTn id="17" dur="1" fill="hold">
                                          <p:stCondLst>
                                            <p:cond delay="499"/>
                                          </p:stCondLst>
                                        </p:cTn>
                                        <p:tgtEl>
                                          <p:spTgt spid="12"/>
                                        </p:tgtEl>
                                        <p:attrNameLst>
                                          <p:attrName>style.visibility</p:attrName>
                                        </p:attrNameLst>
                                      </p:cBhvr>
                                      <p:to>
                                        <p:strVal val="hidden"/>
                                      </p:to>
                                    </p:set>
                                  </p:childTnLst>
                                </p:cTn>
                              </p:par>
                              <p:par>
                                <p:cTn id="18" presetID="2" presetClass="exit" presetSubtype="4" fill="hold" grpId="0" nodeType="withEffect">
                                  <p:stCondLst>
                                    <p:cond delay="0"/>
                                  </p:stCondLst>
                                  <p:childTnLst>
                                    <p:anim calcmode="lin" valueType="num">
                                      <p:cBhvr additive="base">
                                        <p:cTn id="19" dur="500"/>
                                        <p:tgtEl>
                                          <p:spTgt spid="18"/>
                                        </p:tgtEl>
                                        <p:attrNameLst>
                                          <p:attrName>ppt_x</p:attrName>
                                        </p:attrNameLst>
                                      </p:cBhvr>
                                      <p:tavLst>
                                        <p:tav tm="0">
                                          <p:val>
                                            <p:strVal val="ppt_x"/>
                                          </p:val>
                                        </p:tav>
                                        <p:tav tm="100000">
                                          <p:val>
                                            <p:strVal val="ppt_x"/>
                                          </p:val>
                                        </p:tav>
                                      </p:tavLst>
                                    </p:anim>
                                    <p:anim calcmode="lin" valueType="num">
                                      <p:cBhvr additive="base">
                                        <p:cTn id="20" dur="500"/>
                                        <p:tgtEl>
                                          <p:spTgt spid="18"/>
                                        </p:tgtEl>
                                        <p:attrNameLst>
                                          <p:attrName>ppt_y</p:attrName>
                                        </p:attrNameLst>
                                      </p:cBhvr>
                                      <p:tavLst>
                                        <p:tav tm="0">
                                          <p:val>
                                            <p:strVal val="ppt_y"/>
                                          </p:val>
                                        </p:tav>
                                        <p:tav tm="100000">
                                          <p:val>
                                            <p:strVal val="1+ppt_h/2"/>
                                          </p:val>
                                        </p:tav>
                                      </p:tavLst>
                                    </p:anim>
                                    <p:set>
                                      <p:cBhvr>
                                        <p:cTn id="21" dur="1" fill="hold">
                                          <p:stCondLst>
                                            <p:cond delay="499"/>
                                          </p:stCondLst>
                                        </p:cTn>
                                        <p:tgtEl>
                                          <p:spTgt spid="1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fill="hold"/>
                                        <p:tgtEl>
                                          <p:spTgt spid="23"/>
                                        </p:tgtEl>
                                        <p:attrNameLst>
                                          <p:attrName>ppt_x</p:attrName>
                                        </p:attrNameLst>
                                      </p:cBhvr>
                                      <p:tavLst>
                                        <p:tav tm="0">
                                          <p:val>
                                            <p:strVal val="#ppt_x"/>
                                          </p:val>
                                        </p:tav>
                                        <p:tav tm="100000">
                                          <p:val>
                                            <p:strVal val="#ppt_x"/>
                                          </p:val>
                                        </p:tav>
                                      </p:tavLst>
                                    </p:anim>
                                    <p:anim calcmode="lin" valueType="num">
                                      <p:cBhvr additive="base">
                                        <p:cTn id="27" dur="500" fill="hold"/>
                                        <p:tgtEl>
                                          <p:spTgt spid="23"/>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ppt_x"/>
                                          </p:val>
                                        </p:tav>
                                        <p:tav tm="100000">
                                          <p:val>
                                            <p:strVal val="#ppt_x"/>
                                          </p:val>
                                        </p:tav>
                                      </p:tavLst>
                                    </p:anim>
                                    <p:anim calcmode="lin" valueType="num">
                                      <p:cBhvr additive="base">
                                        <p:cTn id="31" dur="500" fill="hold"/>
                                        <p:tgtEl>
                                          <p:spTgt spid="26"/>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500" fill="hold"/>
                                        <p:tgtEl>
                                          <p:spTgt spid="27"/>
                                        </p:tgtEl>
                                        <p:attrNameLst>
                                          <p:attrName>ppt_x</p:attrName>
                                        </p:attrNameLst>
                                      </p:cBhvr>
                                      <p:tavLst>
                                        <p:tav tm="0">
                                          <p:val>
                                            <p:strVal val="#ppt_x"/>
                                          </p:val>
                                        </p:tav>
                                        <p:tav tm="100000">
                                          <p:val>
                                            <p:strVal val="#ppt_x"/>
                                          </p:val>
                                        </p:tav>
                                      </p:tavLst>
                                    </p:anim>
                                    <p:anim calcmode="lin" valueType="num">
                                      <p:cBhvr additive="base">
                                        <p:cTn id="3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xit" presetSubtype="4" fill="hold" grpId="0" nodeType="clickEffect">
                                  <p:stCondLst>
                                    <p:cond delay="0"/>
                                  </p:stCondLst>
                                  <p:childTnLst>
                                    <p:anim calcmode="lin" valueType="num">
                                      <p:cBhvr additive="base">
                                        <p:cTn id="39" dur="500"/>
                                        <p:tgtEl>
                                          <p:spTgt spid="3"/>
                                        </p:tgtEl>
                                        <p:attrNameLst>
                                          <p:attrName>ppt_x</p:attrName>
                                        </p:attrNameLst>
                                      </p:cBhvr>
                                      <p:tavLst>
                                        <p:tav tm="0">
                                          <p:val>
                                            <p:strVal val="ppt_x"/>
                                          </p:val>
                                        </p:tav>
                                        <p:tav tm="100000">
                                          <p:val>
                                            <p:strVal val="ppt_x"/>
                                          </p:val>
                                        </p:tav>
                                      </p:tavLst>
                                    </p:anim>
                                    <p:anim calcmode="lin" valueType="num">
                                      <p:cBhvr additive="base">
                                        <p:cTn id="40" dur="500"/>
                                        <p:tgtEl>
                                          <p:spTgt spid="3"/>
                                        </p:tgtEl>
                                        <p:attrNameLst>
                                          <p:attrName>ppt_y</p:attrName>
                                        </p:attrNameLst>
                                      </p:cBhvr>
                                      <p:tavLst>
                                        <p:tav tm="0">
                                          <p:val>
                                            <p:strVal val="ppt_y"/>
                                          </p:val>
                                        </p:tav>
                                        <p:tav tm="100000">
                                          <p:val>
                                            <p:strVal val="1+ppt_h/2"/>
                                          </p:val>
                                        </p:tav>
                                      </p:tavLst>
                                    </p:anim>
                                    <p:set>
                                      <p:cBhvr>
                                        <p:cTn id="41" dur="1" fill="hold">
                                          <p:stCondLst>
                                            <p:cond delay="499"/>
                                          </p:stCondLst>
                                        </p:cTn>
                                        <p:tgtEl>
                                          <p:spTgt spid="3"/>
                                        </p:tgtEl>
                                        <p:attrNameLst>
                                          <p:attrName>style.visibility</p:attrName>
                                        </p:attrNameLst>
                                      </p:cBhvr>
                                      <p:to>
                                        <p:strVal val="hidden"/>
                                      </p:to>
                                    </p:set>
                                  </p:childTnLst>
                                </p:cTn>
                              </p:par>
                              <p:par>
                                <p:cTn id="42" presetID="2" presetClass="exit" presetSubtype="4" fill="hold" grpId="0" nodeType="withEffect">
                                  <p:stCondLst>
                                    <p:cond delay="0"/>
                                  </p:stCondLst>
                                  <p:childTnLst>
                                    <p:anim calcmode="lin" valueType="num">
                                      <p:cBhvr additive="base">
                                        <p:cTn id="43" dur="500"/>
                                        <p:tgtEl>
                                          <p:spTgt spid="4"/>
                                        </p:tgtEl>
                                        <p:attrNameLst>
                                          <p:attrName>ppt_x</p:attrName>
                                        </p:attrNameLst>
                                      </p:cBhvr>
                                      <p:tavLst>
                                        <p:tav tm="0">
                                          <p:val>
                                            <p:strVal val="ppt_x"/>
                                          </p:val>
                                        </p:tav>
                                        <p:tav tm="100000">
                                          <p:val>
                                            <p:strVal val="ppt_x"/>
                                          </p:val>
                                        </p:tav>
                                      </p:tavLst>
                                    </p:anim>
                                    <p:anim calcmode="lin" valueType="num">
                                      <p:cBhvr additive="base">
                                        <p:cTn id="44" dur="500"/>
                                        <p:tgtEl>
                                          <p:spTgt spid="4"/>
                                        </p:tgtEl>
                                        <p:attrNameLst>
                                          <p:attrName>ppt_y</p:attrName>
                                        </p:attrNameLst>
                                      </p:cBhvr>
                                      <p:tavLst>
                                        <p:tav tm="0">
                                          <p:val>
                                            <p:strVal val="ppt_y"/>
                                          </p:val>
                                        </p:tav>
                                        <p:tav tm="100000">
                                          <p:val>
                                            <p:strVal val="1+ppt_h/2"/>
                                          </p:val>
                                        </p:tav>
                                      </p:tavLst>
                                    </p:anim>
                                    <p:set>
                                      <p:cBhvr>
                                        <p:cTn id="45" dur="1" fill="hold">
                                          <p:stCondLst>
                                            <p:cond delay="499"/>
                                          </p:stCondLst>
                                        </p:cTn>
                                        <p:tgtEl>
                                          <p:spTgt spid="4"/>
                                        </p:tgtEl>
                                        <p:attrNameLst>
                                          <p:attrName>style.visibility</p:attrName>
                                        </p:attrNameLst>
                                      </p:cBhvr>
                                      <p:to>
                                        <p:strVal val="hidden"/>
                                      </p:to>
                                    </p:set>
                                  </p:childTnLst>
                                </p:cTn>
                              </p:par>
                              <p:par>
                                <p:cTn id="46" presetID="2" presetClass="exit" presetSubtype="4" fill="hold" grpId="0" nodeType="withEffect">
                                  <p:stCondLst>
                                    <p:cond delay="0"/>
                                  </p:stCondLst>
                                  <p:childTnLst>
                                    <p:anim calcmode="lin" valueType="num">
                                      <p:cBhvr additive="base">
                                        <p:cTn id="47" dur="500"/>
                                        <p:tgtEl>
                                          <p:spTgt spid="5"/>
                                        </p:tgtEl>
                                        <p:attrNameLst>
                                          <p:attrName>ppt_x</p:attrName>
                                        </p:attrNameLst>
                                      </p:cBhvr>
                                      <p:tavLst>
                                        <p:tav tm="0">
                                          <p:val>
                                            <p:strVal val="ppt_x"/>
                                          </p:val>
                                        </p:tav>
                                        <p:tav tm="100000">
                                          <p:val>
                                            <p:strVal val="ppt_x"/>
                                          </p:val>
                                        </p:tav>
                                      </p:tavLst>
                                    </p:anim>
                                    <p:anim calcmode="lin" valueType="num">
                                      <p:cBhvr additive="base">
                                        <p:cTn id="48" dur="500"/>
                                        <p:tgtEl>
                                          <p:spTgt spid="5"/>
                                        </p:tgtEl>
                                        <p:attrNameLst>
                                          <p:attrName>ppt_y</p:attrName>
                                        </p:attrNameLst>
                                      </p:cBhvr>
                                      <p:tavLst>
                                        <p:tav tm="0">
                                          <p:val>
                                            <p:strVal val="ppt_y"/>
                                          </p:val>
                                        </p:tav>
                                        <p:tav tm="100000">
                                          <p:val>
                                            <p:strVal val="1+ppt_h/2"/>
                                          </p:val>
                                        </p:tav>
                                      </p:tavLst>
                                    </p:anim>
                                    <p:set>
                                      <p:cBhvr>
                                        <p:cTn id="49" dur="1" fill="hold">
                                          <p:stCondLst>
                                            <p:cond delay="499"/>
                                          </p:stCondLst>
                                        </p:cTn>
                                        <p:tgtEl>
                                          <p:spTgt spid="5"/>
                                        </p:tgtEl>
                                        <p:attrNameLst>
                                          <p:attrName>style.visibility</p:attrName>
                                        </p:attrNameLst>
                                      </p:cBhvr>
                                      <p:to>
                                        <p:strVal val="hidden"/>
                                      </p:to>
                                    </p:set>
                                  </p:childTnLst>
                                </p:cTn>
                              </p:par>
                              <p:par>
                                <p:cTn id="50" presetID="2" presetClass="exit" presetSubtype="4" fill="hold" nodeType="withEffect">
                                  <p:stCondLst>
                                    <p:cond delay="0"/>
                                  </p:stCondLst>
                                  <p:childTnLst>
                                    <p:anim calcmode="lin" valueType="num">
                                      <p:cBhvr additive="base">
                                        <p:cTn id="51" dur="500"/>
                                        <p:tgtEl>
                                          <p:spTgt spid="22"/>
                                        </p:tgtEl>
                                        <p:attrNameLst>
                                          <p:attrName>ppt_x</p:attrName>
                                        </p:attrNameLst>
                                      </p:cBhvr>
                                      <p:tavLst>
                                        <p:tav tm="0">
                                          <p:val>
                                            <p:strVal val="ppt_x"/>
                                          </p:val>
                                        </p:tav>
                                        <p:tav tm="100000">
                                          <p:val>
                                            <p:strVal val="ppt_x"/>
                                          </p:val>
                                        </p:tav>
                                      </p:tavLst>
                                    </p:anim>
                                    <p:anim calcmode="lin" valueType="num">
                                      <p:cBhvr additive="base">
                                        <p:cTn id="52" dur="500"/>
                                        <p:tgtEl>
                                          <p:spTgt spid="22"/>
                                        </p:tgtEl>
                                        <p:attrNameLst>
                                          <p:attrName>ppt_y</p:attrName>
                                        </p:attrNameLst>
                                      </p:cBhvr>
                                      <p:tavLst>
                                        <p:tav tm="0">
                                          <p:val>
                                            <p:strVal val="ppt_y"/>
                                          </p:val>
                                        </p:tav>
                                        <p:tav tm="100000">
                                          <p:val>
                                            <p:strVal val="1+ppt_h/2"/>
                                          </p:val>
                                        </p:tav>
                                      </p:tavLst>
                                    </p:anim>
                                    <p:set>
                                      <p:cBhvr>
                                        <p:cTn id="53" dur="1" fill="hold">
                                          <p:stCondLst>
                                            <p:cond delay="499"/>
                                          </p:stCondLst>
                                        </p:cTn>
                                        <p:tgtEl>
                                          <p:spTgt spid="22"/>
                                        </p:tgtEl>
                                        <p:attrNameLst>
                                          <p:attrName>style.visibility</p:attrName>
                                        </p:attrNameLst>
                                      </p:cBhvr>
                                      <p:to>
                                        <p:strVal val="hidden"/>
                                      </p:to>
                                    </p:set>
                                  </p:childTnLst>
                                </p:cTn>
                              </p:par>
                              <p:par>
                                <p:cTn id="54" presetID="2" presetClass="exit" presetSubtype="4" fill="hold" nodeType="withEffect">
                                  <p:stCondLst>
                                    <p:cond delay="0"/>
                                  </p:stCondLst>
                                  <p:childTnLst>
                                    <p:anim calcmode="lin" valueType="num">
                                      <p:cBhvr additive="base">
                                        <p:cTn id="55" dur="500"/>
                                        <p:tgtEl>
                                          <p:spTgt spid="2"/>
                                        </p:tgtEl>
                                        <p:attrNameLst>
                                          <p:attrName>ppt_x</p:attrName>
                                        </p:attrNameLst>
                                      </p:cBhvr>
                                      <p:tavLst>
                                        <p:tav tm="0">
                                          <p:val>
                                            <p:strVal val="ppt_x"/>
                                          </p:val>
                                        </p:tav>
                                        <p:tav tm="100000">
                                          <p:val>
                                            <p:strVal val="ppt_x"/>
                                          </p:val>
                                        </p:tav>
                                      </p:tavLst>
                                    </p:anim>
                                    <p:anim calcmode="lin" valueType="num">
                                      <p:cBhvr additive="base">
                                        <p:cTn id="56" dur="500"/>
                                        <p:tgtEl>
                                          <p:spTgt spid="2"/>
                                        </p:tgtEl>
                                        <p:attrNameLst>
                                          <p:attrName>ppt_y</p:attrName>
                                        </p:attrNameLst>
                                      </p:cBhvr>
                                      <p:tavLst>
                                        <p:tav tm="0">
                                          <p:val>
                                            <p:strVal val="ppt_y"/>
                                          </p:val>
                                        </p:tav>
                                        <p:tav tm="100000">
                                          <p:val>
                                            <p:strVal val="1+ppt_h/2"/>
                                          </p:val>
                                        </p:tav>
                                      </p:tavLst>
                                    </p:anim>
                                    <p:set>
                                      <p:cBhvr>
                                        <p:cTn id="5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p:bldP spid="26" grpId="0"/>
      <p:bldP spid="27" grpId="0"/>
      <p:bldP spid="3" grpId="0" animBg="1"/>
      <p:bldP spid="3" grpId="1" animBg="1"/>
      <p:bldP spid="4" grpId="0"/>
      <p:bldP spid="4" grpId="1"/>
      <p:bldP spid="5" grpId="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785087" y="988531"/>
            <a:ext cx="8345502" cy="3193438"/>
          </a:xfrm>
          <a:prstGeom prst="rect">
            <a:avLst/>
          </a:prstGeom>
          <a:noFill/>
        </p:spPr>
        <p:txBody>
          <a:bodyPr wrap="square" rtlCol="0">
            <a:spAutoFit/>
          </a:bodyPr>
          <a:lstStyle/>
          <a:p>
            <a:pPr algn="ctr">
              <a:lnSpc>
                <a:spcPct val="150000"/>
              </a:lnSpc>
            </a:pPr>
            <a:r>
              <a:rPr lang="zh-CN" altLang="en-US" sz="2000" b="1" dirty="0">
                <a:latin typeface="幼圆" panose="02010509060101010101" pitchFamily="49" charset="-122"/>
                <a:ea typeface="幼圆" panose="02010509060101010101" pitchFamily="49" charset="-122"/>
              </a:rPr>
              <a:t>算法</a:t>
            </a:r>
            <a:r>
              <a:rPr lang="zh-CN" altLang="zh-CN" sz="2000" b="1" dirty="0">
                <a:latin typeface="幼圆" panose="02010509060101010101" pitchFamily="49" charset="-122"/>
                <a:ea typeface="幼圆" panose="02010509060101010101" pitchFamily="49" charset="-122"/>
              </a:rPr>
              <a:t>思路</a:t>
            </a:r>
            <a:endParaRPr lang="zh-CN" altLang="zh-CN" sz="2000" dirty="0">
              <a:latin typeface="幼圆" panose="02010509060101010101" pitchFamily="49" charset="-122"/>
              <a:ea typeface="幼圆" panose="02010509060101010101" pitchFamily="49" charset="-122"/>
            </a:endParaRPr>
          </a:p>
          <a:p>
            <a:pPr>
              <a:lnSpc>
                <a:spcPct val="150000"/>
              </a:lnSpc>
            </a:pPr>
            <a:r>
              <a:rPr lang="zh-CN" altLang="zh-CN" sz="2000" dirty="0">
                <a:latin typeface="幼圆" panose="02010509060101010101" pitchFamily="49" charset="-122"/>
                <a:ea typeface="幼圆" panose="02010509060101010101" pitchFamily="49" charset="-122"/>
              </a:rPr>
              <a:t>①检查所有节点是否涂色完毕（即判断当前涂色点的下标是否大于节点总数），涂色完毕</a:t>
            </a:r>
            <a:r>
              <a:rPr lang="zh-CN" altLang="en-US" sz="2000" dirty="0">
                <a:latin typeface="幼圆" panose="02010509060101010101" pitchFamily="49" charset="-122"/>
                <a:ea typeface="幼圆" panose="02010509060101010101" pitchFamily="49" charset="-122"/>
              </a:rPr>
              <a:t>则</a:t>
            </a:r>
            <a:r>
              <a:rPr lang="zh-CN" altLang="zh-CN" sz="2000" dirty="0">
                <a:latin typeface="幼圆" panose="02010509060101010101" pitchFamily="49" charset="-122"/>
                <a:ea typeface="幼圆" panose="02010509060101010101" pitchFamily="49" charset="-122"/>
              </a:rPr>
              <a:t>返回结果</a:t>
            </a:r>
          </a:p>
          <a:p>
            <a:pPr>
              <a:lnSpc>
                <a:spcPct val="150000"/>
              </a:lnSpc>
            </a:pPr>
            <a:r>
              <a:rPr lang="zh-CN" altLang="zh-CN" sz="2000" dirty="0">
                <a:latin typeface="幼圆" panose="02010509060101010101" pitchFamily="49" charset="-122"/>
                <a:ea typeface="幼圆" panose="02010509060101010101" pitchFamily="49" charset="-122"/>
              </a:rPr>
              <a:t>②对当前节点进行涂色，</a:t>
            </a:r>
            <a:r>
              <a:rPr lang="zh-CN" altLang="en-US" sz="2000" dirty="0">
                <a:latin typeface="幼圆" panose="02010509060101010101" pitchFamily="49" charset="-122"/>
                <a:ea typeface="幼圆" panose="02010509060101010101" pitchFamily="49" charset="-122"/>
              </a:rPr>
              <a:t>并</a:t>
            </a:r>
            <a:r>
              <a:rPr lang="zh-CN" altLang="zh-CN" sz="2000" dirty="0">
                <a:latin typeface="幼圆" panose="02010509060101010101" pitchFamily="49" charset="-122"/>
                <a:ea typeface="幼圆" panose="02010509060101010101" pitchFamily="49" charset="-122"/>
              </a:rPr>
              <a:t>拓展，遍历对其涂上不同的颜色</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决策</a:t>
            </a:r>
            <a:r>
              <a:rPr lang="en-US" altLang="zh-CN" sz="2000" b="1" dirty="0">
                <a:latin typeface="幼圆" panose="02010509060101010101" pitchFamily="49" charset="-122"/>
                <a:ea typeface="幼圆" panose="02010509060101010101" pitchFamily="49" charset="-122"/>
              </a:rPr>
              <a:t>)</a:t>
            </a:r>
            <a:endParaRPr lang="zh-CN" altLang="zh-CN" sz="2000" b="1" dirty="0">
              <a:latin typeface="幼圆" panose="02010509060101010101" pitchFamily="49" charset="-122"/>
              <a:ea typeface="幼圆" panose="02010509060101010101" pitchFamily="49" charset="-122"/>
            </a:endParaRPr>
          </a:p>
          <a:p>
            <a:pPr>
              <a:lnSpc>
                <a:spcPct val="150000"/>
              </a:lnSpc>
            </a:pPr>
            <a:r>
              <a:rPr lang="zh-CN" altLang="zh-CN" sz="2000" dirty="0">
                <a:latin typeface="幼圆" panose="02010509060101010101" pitchFamily="49" charset="-122"/>
                <a:ea typeface="幼圆" panose="02010509060101010101" pitchFamily="49" charset="-122"/>
              </a:rPr>
              <a:t>③当前节点涂色后</a:t>
            </a:r>
            <a:r>
              <a:rPr lang="en-US" altLang="zh-CN" sz="2000" dirty="0">
                <a:latin typeface="幼圆" panose="02010509060101010101" pitchFamily="49" charset="-122"/>
                <a:ea typeface="幼圆" panose="02010509060101010101" pitchFamily="49" charset="-122"/>
              </a:rPr>
              <a:t>,</a:t>
            </a:r>
            <a:r>
              <a:rPr lang="zh-CN" altLang="zh-CN" sz="2000" dirty="0">
                <a:latin typeface="幼圆" panose="02010509060101010101" pitchFamily="49" charset="-122"/>
                <a:ea typeface="幼圆" panose="02010509060101010101" pitchFamily="49" charset="-122"/>
              </a:rPr>
              <a:t>进行合法性检验，判断其与邻接点是否出现同色，若合法，则开始涂下一个节点，若不合法，回溯到上一节点。</a:t>
            </a:r>
          </a:p>
          <a:p>
            <a:pPr>
              <a:lnSpc>
                <a:spcPct val="150000"/>
              </a:lnSpc>
            </a:pPr>
            <a:endParaRPr lang="zh-CN" altLang="en-US" sz="1600" dirty="0">
              <a:solidFill>
                <a:srgbClr val="654D2D"/>
              </a:solidFill>
              <a:latin typeface="幼圆" panose="02010509060101010101" pitchFamily="49" charset="-122"/>
              <a:ea typeface="幼圆" panose="02010509060101010101" pitchFamily="49" charset="-122"/>
            </a:endParaRPr>
          </a:p>
        </p:txBody>
      </p:sp>
      <p:grpSp>
        <p:nvGrpSpPr>
          <p:cNvPr id="7" name="组合 6"/>
          <p:cNvGrpSpPr/>
          <p:nvPr/>
        </p:nvGrpSpPr>
        <p:grpSpPr>
          <a:xfrm>
            <a:off x="4521345" y="214759"/>
            <a:ext cx="3587940" cy="643301"/>
            <a:chOff x="7753827" y="2444612"/>
            <a:chExt cx="2837128" cy="643301"/>
          </a:xfrm>
        </p:grpSpPr>
        <p:sp>
          <p:nvSpPr>
            <p:cNvPr id="8" name="文本框 7"/>
            <p:cNvSpPr txBox="1"/>
            <p:nvPr/>
          </p:nvSpPr>
          <p:spPr>
            <a:xfrm>
              <a:off x="7753827" y="2444612"/>
              <a:ext cx="2837128" cy="461665"/>
            </a:xfrm>
            <a:prstGeom prst="rect">
              <a:avLst/>
            </a:prstGeom>
            <a:noFill/>
          </p:spPr>
          <p:txBody>
            <a:bodyPr wrap="square" rtlCol="0">
              <a:spAutoFit/>
            </a:bodyPr>
            <a:lstStyle/>
            <a:p>
              <a:r>
                <a:rPr lang="zh-CN" altLang="en-US"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回溯法解决四色问题</a:t>
              </a:r>
            </a:p>
          </p:txBody>
        </p:sp>
        <p:cxnSp>
          <p:nvCxnSpPr>
            <p:cNvPr id="9" name="直接连接符 8"/>
            <p:cNvCxnSpPr/>
            <p:nvPr/>
          </p:nvCxnSpPr>
          <p:spPr>
            <a:xfrm>
              <a:off x="8200571" y="3087913"/>
              <a:ext cx="1436915" cy="0"/>
            </a:xfrm>
            <a:prstGeom prst="line">
              <a:avLst/>
            </a:prstGeom>
            <a:ln w="76200">
              <a:solidFill>
                <a:srgbClr val="A89A68"/>
              </a:solidFill>
            </a:ln>
          </p:spPr>
          <p:style>
            <a:lnRef idx="1">
              <a:schemeClr val="accent1"/>
            </a:lnRef>
            <a:fillRef idx="0">
              <a:schemeClr val="accent1"/>
            </a:fillRef>
            <a:effectRef idx="0">
              <a:schemeClr val="accent1"/>
            </a:effectRef>
            <a:fontRef idx="minor">
              <a:schemeClr val="tx1"/>
            </a:fontRef>
          </p:style>
        </p:cxnSp>
      </p:grpSp>
      <p:pic>
        <p:nvPicPr>
          <p:cNvPr id="10" name="图片 9"/>
          <p:cNvPicPr>
            <a:picLocks noChangeAspect="1"/>
          </p:cNvPicPr>
          <p:nvPr/>
        </p:nvPicPr>
        <p:blipFill>
          <a:blip r:embed="rId3"/>
          <a:stretch>
            <a:fillRect/>
          </a:stretch>
        </p:blipFill>
        <p:spPr>
          <a:xfrm>
            <a:off x="346368" y="3859992"/>
            <a:ext cx="5504762" cy="2885714"/>
          </a:xfrm>
          <a:prstGeom prst="rect">
            <a:avLst/>
          </a:prstGeom>
        </p:spPr>
      </p:pic>
      <p:pic>
        <p:nvPicPr>
          <p:cNvPr id="12" name="图片 11"/>
          <p:cNvPicPr>
            <a:picLocks noChangeAspect="1"/>
          </p:cNvPicPr>
          <p:nvPr/>
        </p:nvPicPr>
        <p:blipFill>
          <a:blip r:embed="rId4"/>
          <a:stretch>
            <a:fillRect/>
          </a:stretch>
        </p:blipFill>
        <p:spPr>
          <a:xfrm>
            <a:off x="6387851" y="3859992"/>
            <a:ext cx="5189811" cy="28857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5845" y="1208862"/>
            <a:ext cx="2913681" cy="4556501"/>
          </a:xfrm>
          <a:prstGeom prst="rect">
            <a:avLst/>
          </a:pr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任意多边形 2"/>
          <p:cNvSpPr/>
          <p:nvPr/>
        </p:nvSpPr>
        <p:spPr>
          <a:xfrm>
            <a:off x="4602997" y="1208862"/>
            <a:ext cx="6245815" cy="4556501"/>
          </a:xfrm>
          <a:custGeom>
            <a:avLst/>
            <a:gdLst>
              <a:gd name="connsiteX0" fmla="*/ 0 w 6245815"/>
              <a:gd name="connsiteY0" fmla="*/ 0 h 4556501"/>
              <a:gd name="connsiteX1" fmla="*/ 1689314 w 6245815"/>
              <a:gd name="connsiteY1" fmla="*/ 0 h 4556501"/>
              <a:gd name="connsiteX2" fmla="*/ 2448731 w 6245815"/>
              <a:gd name="connsiteY2" fmla="*/ 0 h 4556501"/>
              <a:gd name="connsiteX3" fmla="*/ 6245815 w 6245815"/>
              <a:gd name="connsiteY3" fmla="*/ 0 h 4556501"/>
              <a:gd name="connsiteX4" fmla="*/ 6245815 w 6245815"/>
              <a:gd name="connsiteY4" fmla="*/ 2448731 h 4556501"/>
              <a:gd name="connsiteX5" fmla="*/ 2448731 w 6245815"/>
              <a:gd name="connsiteY5" fmla="*/ 2448731 h 4556501"/>
              <a:gd name="connsiteX6" fmla="*/ 2448731 w 6245815"/>
              <a:gd name="connsiteY6" fmla="*/ 4556501 h 4556501"/>
              <a:gd name="connsiteX7" fmla="*/ 0 w 6245815"/>
              <a:gd name="connsiteY7" fmla="*/ 4556501 h 455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5815" h="4556501">
                <a:moveTo>
                  <a:pt x="0" y="0"/>
                </a:moveTo>
                <a:lnTo>
                  <a:pt x="1689314" y="0"/>
                </a:lnTo>
                <a:lnTo>
                  <a:pt x="2448731" y="0"/>
                </a:lnTo>
                <a:lnTo>
                  <a:pt x="6245815" y="0"/>
                </a:lnTo>
                <a:lnTo>
                  <a:pt x="6245815" y="2448731"/>
                </a:lnTo>
                <a:lnTo>
                  <a:pt x="2448731" y="2448731"/>
                </a:lnTo>
                <a:lnTo>
                  <a:pt x="2448731" y="4556501"/>
                </a:lnTo>
                <a:lnTo>
                  <a:pt x="0" y="4556501"/>
                </a:lnTo>
                <a:close/>
              </a:path>
            </a:pathLst>
          </a:cu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243245" y="0"/>
            <a:ext cx="2101729" cy="2105813"/>
            <a:chOff x="1363852" y="1334797"/>
            <a:chExt cx="2101729" cy="2105813"/>
          </a:xfrm>
        </p:grpSpPr>
        <p:cxnSp>
          <p:nvCxnSpPr>
            <p:cNvPr id="5" name="直接连接符 4"/>
            <p:cNvCxnSpPr/>
            <p:nvPr/>
          </p:nvCxnSpPr>
          <p:spPr>
            <a:xfrm flipH="1" flipV="1">
              <a:off x="2216258" y="2278251"/>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6" name="直接连接符 5"/>
            <p:cNvCxnSpPr/>
            <p:nvPr/>
          </p:nvCxnSpPr>
          <p:spPr>
            <a:xfrm flipH="1" flipV="1">
              <a:off x="1928196" y="1334797"/>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1363852" y="2109707"/>
              <a:ext cx="995288" cy="926007"/>
            </a:xfrm>
            <a:prstGeom prst="line">
              <a:avLst/>
            </a:prstGeom>
            <a:ln>
              <a:gradFill>
                <a:gsLst>
                  <a:gs pos="100000">
                    <a:srgbClr val="DCCBA8">
                      <a:alpha val="16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8" name="文本框 7"/>
          <p:cNvSpPr txBox="1"/>
          <p:nvPr/>
        </p:nvSpPr>
        <p:spPr>
          <a:xfrm>
            <a:off x="4677435" y="439421"/>
            <a:ext cx="2837128" cy="769441"/>
          </a:xfrm>
          <a:prstGeom prst="rect">
            <a:avLst/>
          </a:prstGeom>
          <a:noFill/>
        </p:spPr>
        <p:txBody>
          <a:bodyPr wrap="square" rtlCol="0">
            <a:spAutoFit/>
          </a:bodyPr>
          <a:lstStyle/>
          <a:p>
            <a:r>
              <a:rPr lang="zh-CN" altLang="en-US" sz="4400" b="1" dirty="0">
                <a:solidFill>
                  <a:srgbClr val="654D2D"/>
                </a:solidFill>
                <a:latin typeface="幼圆" panose="02010509060101010101" pitchFamily="49" charset="-122"/>
                <a:ea typeface="幼圆" panose="02010509060101010101" pitchFamily="49" charset="-122"/>
              </a:rPr>
              <a:t>性能分析</a:t>
            </a:r>
          </a:p>
        </p:txBody>
      </p:sp>
      <p:sp>
        <p:nvSpPr>
          <p:cNvPr id="11" name="矩形 10"/>
          <p:cNvSpPr/>
          <p:nvPr/>
        </p:nvSpPr>
        <p:spPr>
          <a:xfrm>
            <a:off x="1535914" y="2299140"/>
            <a:ext cx="9120169" cy="2861310"/>
          </a:xfrm>
          <a:prstGeom prst="rect">
            <a:avLst/>
          </a:prstGeom>
        </p:spPr>
        <p:txBody>
          <a:bodyPr wrap="square">
            <a:spAutoFit/>
          </a:bodyPr>
          <a:lstStyle/>
          <a:p>
            <a:pPr>
              <a:lnSpc>
                <a:spcPct val="150000"/>
              </a:lnSpc>
            </a:pPr>
            <a:r>
              <a:rPr lang="zh-CN" altLang="zh-CN" sz="2400" b="1" dirty="0">
                <a:latin typeface="幼圆" panose="02010509060101010101" pitchFamily="49" charset="-122"/>
                <a:ea typeface="幼圆" panose="02010509060101010101" pitchFamily="49" charset="-122"/>
              </a:rPr>
              <a:t>时间复杂度为：分析可知，每层节点都有</a:t>
            </a:r>
            <a:r>
              <a:rPr lang="en-US" altLang="zh-CN" sz="2400" b="1" dirty="0">
                <a:latin typeface="幼圆" panose="02010509060101010101" pitchFamily="49" charset="-122"/>
                <a:ea typeface="幼圆" panose="02010509060101010101" pitchFamily="49" charset="-122"/>
              </a:rPr>
              <a:t>m</a:t>
            </a:r>
            <a:r>
              <a:rPr lang="zh-CN" altLang="zh-CN" sz="2400" b="1" dirty="0">
                <a:latin typeface="幼圆" panose="02010509060101010101" pitchFamily="49" charset="-122"/>
                <a:ea typeface="幼圆" panose="02010509060101010101" pitchFamily="49" charset="-122"/>
              </a:rPr>
              <a:t>种颜色选择，而一共有</a:t>
            </a:r>
            <a:r>
              <a:rPr lang="en-US" altLang="zh-CN" sz="2400" b="1" dirty="0">
                <a:latin typeface="幼圆" panose="02010509060101010101" pitchFamily="49" charset="-122"/>
                <a:ea typeface="幼圆" panose="02010509060101010101" pitchFamily="49" charset="-122"/>
              </a:rPr>
              <a:t>n</a:t>
            </a:r>
            <a:r>
              <a:rPr lang="zh-CN" altLang="zh-CN" sz="2400" b="1" dirty="0">
                <a:latin typeface="幼圆" panose="02010509060101010101" pitchFamily="49" charset="-122"/>
                <a:ea typeface="幼圆" panose="02010509060101010101" pitchFamily="49" charset="-122"/>
              </a:rPr>
              <a:t>个节点，所以需要递归</a:t>
            </a:r>
            <a:r>
              <a:rPr lang="en-US" altLang="zh-CN" sz="2400" b="1" dirty="0">
                <a:latin typeface="幼圆" panose="02010509060101010101" pitchFamily="49" charset="-122"/>
                <a:ea typeface="幼圆" panose="02010509060101010101" pitchFamily="49" charset="-122"/>
              </a:rPr>
              <a:t>n</a:t>
            </a:r>
            <a:r>
              <a:rPr lang="zh-CN" altLang="zh-CN" sz="2400" b="1" dirty="0">
                <a:latin typeface="幼圆" panose="02010509060101010101" pitchFamily="49" charset="-122"/>
                <a:ea typeface="幼圆" panose="02010509060101010101" pitchFamily="49" charset="-122"/>
              </a:rPr>
              <a:t>层节点才可能得出解，即具有</a:t>
            </a:r>
            <a:r>
              <a:rPr lang="en-US" altLang="zh-CN" sz="2400" b="1" dirty="0">
                <a:latin typeface="幼圆" panose="02010509060101010101" pitchFamily="49" charset="-122"/>
                <a:ea typeface="幼圆" panose="02010509060101010101" pitchFamily="49" charset="-122"/>
              </a:rPr>
              <a:t>m^n</a:t>
            </a:r>
            <a:r>
              <a:rPr lang="zh-CN" altLang="en-US" sz="2400" b="1" dirty="0">
                <a:latin typeface="幼圆" panose="02010509060101010101" pitchFamily="49" charset="-122"/>
                <a:ea typeface="幼圆" panose="02010509060101010101" pitchFamily="49" charset="-122"/>
              </a:rPr>
              <a:t>个分支</a:t>
            </a:r>
            <a:r>
              <a:rPr lang="zh-CN" altLang="zh-CN" sz="2400" b="1" dirty="0">
                <a:latin typeface="幼圆" panose="02010509060101010101" pitchFamily="49" charset="-122"/>
                <a:ea typeface="幼圆" panose="02010509060101010101" pitchFamily="49" charset="-122"/>
              </a:rPr>
              <a:t>。</a:t>
            </a:r>
          </a:p>
          <a:p>
            <a:pPr>
              <a:lnSpc>
                <a:spcPct val="150000"/>
              </a:lnSpc>
            </a:pPr>
            <a:endParaRPr lang="en-US" altLang="zh-CN" sz="2400" b="1" dirty="0">
              <a:latin typeface="幼圆" panose="02010509060101010101" pitchFamily="49" charset="-122"/>
              <a:ea typeface="幼圆" panose="02010509060101010101" pitchFamily="49" charset="-122"/>
            </a:endParaRPr>
          </a:p>
          <a:p>
            <a:pPr>
              <a:lnSpc>
                <a:spcPct val="150000"/>
              </a:lnSpc>
            </a:pPr>
            <a:r>
              <a:rPr lang="zh-CN" altLang="zh-CN" sz="2400" b="1" dirty="0">
                <a:latin typeface="幼圆" panose="02010509060101010101" pitchFamily="49" charset="-122"/>
                <a:ea typeface="幼圆" panose="02010509060101010101" pitchFamily="49" charset="-122"/>
              </a:rPr>
              <a:t>时间复杂度至少为指数级，在对大规模地图进行涂色时，所消耗的时间非常之大。故需要对该算法进行优化，即剪枝。</a:t>
            </a:r>
            <a:endParaRPr lang="zh-CN" altLang="zh-CN" sz="2400" dirty="0">
              <a:latin typeface="幼圆" panose="02010509060101010101" pitchFamily="49" charset="-122"/>
              <a:ea typeface="幼圆" panose="02010509060101010101" pitchFamily="49" charset="-122"/>
            </a:endParaRPr>
          </a:p>
        </p:txBody>
      </p:sp>
      <p:grpSp>
        <p:nvGrpSpPr>
          <p:cNvPr id="12" name="组合 11"/>
          <p:cNvGrpSpPr/>
          <p:nvPr/>
        </p:nvGrpSpPr>
        <p:grpSpPr>
          <a:xfrm>
            <a:off x="9167351" y="5042543"/>
            <a:ext cx="1681461" cy="1445640"/>
            <a:chOff x="6581411" y="4593098"/>
            <a:chExt cx="1681461" cy="1445640"/>
          </a:xfrm>
        </p:grpSpPr>
        <p:cxnSp>
          <p:nvCxnSpPr>
            <p:cNvPr id="13" name="直接连接符 12"/>
            <p:cNvCxnSpPr/>
            <p:nvPr/>
          </p:nvCxnSpPr>
          <p:spPr>
            <a:xfrm flipH="1">
              <a:off x="6581411" y="4593098"/>
              <a:ext cx="1368280" cy="998853"/>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6698438" y="5565589"/>
              <a:ext cx="1448818" cy="473149"/>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H="1" flipV="1">
              <a:off x="8031639" y="4671958"/>
              <a:ext cx="231233" cy="1366780"/>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9" fill="hold" nodeType="withEffect">
                                  <p:stCondLst>
                                    <p:cond delay="7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0-#ppt_w/2"/>
                                          </p:val>
                                        </p:tav>
                                        <p:tav tm="100000">
                                          <p:val>
                                            <p:strVal val="#ppt_x"/>
                                          </p:val>
                                        </p:tav>
                                      </p:tavLst>
                                    </p:anim>
                                    <p:anim calcmode="lin" valueType="num">
                                      <p:cBhvr additive="base">
                                        <p:cTn id="11" dur="750" fill="hold"/>
                                        <p:tgtEl>
                                          <p:spTgt spid="4"/>
                                        </p:tgtEl>
                                        <p:attrNameLst>
                                          <p:attrName>ppt_y</p:attrName>
                                        </p:attrNameLst>
                                      </p:cBhvr>
                                      <p:tavLst>
                                        <p:tav tm="0">
                                          <p:val>
                                            <p:strVal val="0-#ppt_h/2"/>
                                          </p:val>
                                        </p:tav>
                                        <p:tav tm="100000">
                                          <p:val>
                                            <p:strVal val="#ppt_y"/>
                                          </p:val>
                                        </p:tav>
                                      </p:tavLst>
                                    </p:anim>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1000"/>
                                        <p:tgtEl>
                                          <p:spTgt spid="8"/>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6" presetClass="entr" presetSubtype="16"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870983" y="-509707"/>
            <a:ext cx="2749471" cy="6247864"/>
          </a:xfrm>
          <a:prstGeom prst="rect">
            <a:avLst/>
          </a:prstGeom>
          <a:noFill/>
        </p:spPr>
        <p:txBody>
          <a:bodyPr wrap="none" rtlCol="0">
            <a:spAutoFit/>
          </a:bodyPr>
          <a:lstStyle/>
          <a:p>
            <a:r>
              <a:rPr lang="en-US" altLang="zh-CN"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rPr>
              <a:t>2</a:t>
            </a:r>
            <a:endParaRPr lang="zh-CN" altLang="en-US"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endParaRPr>
          </a:p>
        </p:txBody>
      </p:sp>
      <p:sp>
        <p:nvSpPr>
          <p:cNvPr id="9" name="文本框 8"/>
          <p:cNvSpPr txBox="1"/>
          <p:nvPr/>
        </p:nvSpPr>
        <p:spPr>
          <a:xfrm>
            <a:off x="3946685" y="5017424"/>
            <a:ext cx="4599620" cy="923330"/>
          </a:xfrm>
          <a:prstGeom prst="rect">
            <a:avLst/>
          </a:prstGeom>
          <a:noFill/>
        </p:spPr>
        <p:txBody>
          <a:bodyPr wrap="square" rtlCol="0">
            <a:spAutoFit/>
          </a:bodyPr>
          <a:lstStyle/>
          <a:p>
            <a:r>
              <a:rPr lang="zh-CN" altLang="en-US" sz="5400" b="1" dirty="0">
                <a:solidFill>
                  <a:srgbClr val="8A6E36"/>
                </a:solidFill>
                <a:latin typeface="幼圆" panose="02010509060101010101" pitchFamily="49" charset="-122"/>
                <a:ea typeface="幼圆" panose="02010509060101010101" pitchFamily="49" charset="-122"/>
              </a:rPr>
              <a:t>回溯法的优化</a:t>
            </a:r>
          </a:p>
        </p:txBody>
      </p:sp>
      <p:cxnSp>
        <p:nvCxnSpPr>
          <p:cNvPr id="10" name="直接连接符 9"/>
          <p:cNvCxnSpPr/>
          <p:nvPr/>
        </p:nvCxnSpPr>
        <p:spPr>
          <a:xfrm flipV="1">
            <a:off x="8330287" y="2031347"/>
            <a:ext cx="1506434" cy="1165792"/>
          </a:xfrm>
          <a:prstGeom prst="line">
            <a:avLst/>
          </a:prstGeom>
          <a:ln>
            <a:solidFill>
              <a:srgbClr val="7F6531"/>
            </a:solidFill>
            <a:headEnd type="none"/>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V="1">
            <a:off x="9109526" y="1309273"/>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8891233" y="1808430"/>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 name="椭圆 1"/>
          <p:cNvSpPr/>
          <p:nvPr/>
        </p:nvSpPr>
        <p:spPr>
          <a:xfrm flipV="1">
            <a:off x="1611536" y="2253264"/>
            <a:ext cx="2117339" cy="1887747"/>
          </a:xfrm>
          <a:custGeom>
            <a:avLst/>
            <a:gdLst>
              <a:gd name="connsiteX0" fmla="*/ 0 w 1459523"/>
              <a:gd name="connsiteY0" fmla="*/ 580292 h 1160584"/>
              <a:gd name="connsiteX1" fmla="*/ 729762 w 1459523"/>
              <a:gd name="connsiteY1" fmla="*/ 0 h 1160584"/>
              <a:gd name="connsiteX2" fmla="*/ 1459524 w 1459523"/>
              <a:gd name="connsiteY2" fmla="*/ 580292 h 1160584"/>
              <a:gd name="connsiteX3" fmla="*/ 729762 w 1459523"/>
              <a:gd name="connsiteY3" fmla="*/ 1160584 h 1160584"/>
              <a:gd name="connsiteX4" fmla="*/ 0 w 1459523"/>
              <a:gd name="connsiteY4" fmla="*/ 580292 h 1160584"/>
              <a:gd name="connsiteX0-1" fmla="*/ 0 w 1459524"/>
              <a:gd name="connsiteY0-2" fmla="*/ 580292 h 1301261"/>
              <a:gd name="connsiteX1-3" fmla="*/ 729762 w 1459524"/>
              <a:gd name="connsiteY1-4" fmla="*/ 0 h 1301261"/>
              <a:gd name="connsiteX2-5" fmla="*/ 1459524 w 1459524"/>
              <a:gd name="connsiteY2-6" fmla="*/ 580292 h 1301261"/>
              <a:gd name="connsiteX3-7" fmla="*/ 729762 w 1459524"/>
              <a:gd name="connsiteY3-8" fmla="*/ 1301261 h 1301261"/>
              <a:gd name="connsiteX4-9" fmla="*/ 0 w 1459524"/>
              <a:gd name="connsiteY4-10" fmla="*/ 580292 h 1301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9524" h="1301261">
                <a:moveTo>
                  <a:pt x="0" y="580292"/>
                </a:moveTo>
                <a:cubicBezTo>
                  <a:pt x="0" y="363415"/>
                  <a:pt x="326726" y="0"/>
                  <a:pt x="729762" y="0"/>
                </a:cubicBezTo>
                <a:cubicBezTo>
                  <a:pt x="1132798" y="0"/>
                  <a:pt x="1459524" y="259806"/>
                  <a:pt x="1459524" y="580292"/>
                </a:cubicBezTo>
                <a:cubicBezTo>
                  <a:pt x="1459524" y="900778"/>
                  <a:pt x="1132798" y="1301261"/>
                  <a:pt x="729762" y="1301261"/>
                </a:cubicBezTo>
                <a:cubicBezTo>
                  <a:pt x="326726" y="1301261"/>
                  <a:pt x="0" y="797169"/>
                  <a:pt x="0" y="580292"/>
                </a:cubicBezTo>
                <a:close/>
              </a:path>
            </a:pathLst>
          </a:custGeom>
          <a:noFill/>
          <a:ln>
            <a:solidFill>
              <a:srgbClr val="D3D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
          <p:cNvSpPr/>
          <p:nvPr/>
        </p:nvSpPr>
        <p:spPr>
          <a:xfrm flipV="1">
            <a:off x="1355016" y="2253266"/>
            <a:ext cx="2117339" cy="1887747"/>
          </a:xfrm>
          <a:custGeom>
            <a:avLst/>
            <a:gdLst>
              <a:gd name="connsiteX0" fmla="*/ 0 w 1459523"/>
              <a:gd name="connsiteY0" fmla="*/ 580292 h 1160584"/>
              <a:gd name="connsiteX1" fmla="*/ 729762 w 1459523"/>
              <a:gd name="connsiteY1" fmla="*/ 0 h 1160584"/>
              <a:gd name="connsiteX2" fmla="*/ 1459524 w 1459523"/>
              <a:gd name="connsiteY2" fmla="*/ 580292 h 1160584"/>
              <a:gd name="connsiteX3" fmla="*/ 729762 w 1459523"/>
              <a:gd name="connsiteY3" fmla="*/ 1160584 h 1160584"/>
              <a:gd name="connsiteX4" fmla="*/ 0 w 1459523"/>
              <a:gd name="connsiteY4" fmla="*/ 580292 h 1160584"/>
              <a:gd name="connsiteX0-1" fmla="*/ 0 w 1459524"/>
              <a:gd name="connsiteY0-2" fmla="*/ 580292 h 1301261"/>
              <a:gd name="connsiteX1-3" fmla="*/ 729762 w 1459524"/>
              <a:gd name="connsiteY1-4" fmla="*/ 0 h 1301261"/>
              <a:gd name="connsiteX2-5" fmla="*/ 1459524 w 1459524"/>
              <a:gd name="connsiteY2-6" fmla="*/ 580292 h 1301261"/>
              <a:gd name="connsiteX3-7" fmla="*/ 729762 w 1459524"/>
              <a:gd name="connsiteY3-8" fmla="*/ 1301261 h 1301261"/>
              <a:gd name="connsiteX4-9" fmla="*/ 0 w 1459524"/>
              <a:gd name="connsiteY4-10" fmla="*/ 580292 h 1301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9524" h="1301261">
                <a:moveTo>
                  <a:pt x="0" y="580292"/>
                </a:moveTo>
                <a:cubicBezTo>
                  <a:pt x="0" y="363415"/>
                  <a:pt x="326726" y="0"/>
                  <a:pt x="729762" y="0"/>
                </a:cubicBezTo>
                <a:cubicBezTo>
                  <a:pt x="1132798" y="0"/>
                  <a:pt x="1459524" y="259806"/>
                  <a:pt x="1459524" y="580292"/>
                </a:cubicBezTo>
                <a:cubicBezTo>
                  <a:pt x="1459524" y="900778"/>
                  <a:pt x="1132798" y="1301261"/>
                  <a:pt x="729762" y="1301261"/>
                </a:cubicBezTo>
                <a:cubicBezTo>
                  <a:pt x="326726" y="1301261"/>
                  <a:pt x="0" y="797169"/>
                  <a:pt x="0" y="580292"/>
                </a:cubicBezTo>
                <a:close/>
              </a:path>
            </a:pathLst>
          </a:custGeom>
          <a:noFill/>
          <a:ln>
            <a:solidFill>
              <a:srgbClr val="D3D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
          <p:cNvSpPr/>
          <p:nvPr/>
        </p:nvSpPr>
        <p:spPr>
          <a:xfrm flipV="1">
            <a:off x="1355016" y="1949401"/>
            <a:ext cx="2402274" cy="2267373"/>
          </a:xfrm>
          <a:custGeom>
            <a:avLst/>
            <a:gdLst>
              <a:gd name="connsiteX0" fmla="*/ 0 w 1459523"/>
              <a:gd name="connsiteY0" fmla="*/ 580292 h 1160584"/>
              <a:gd name="connsiteX1" fmla="*/ 729762 w 1459523"/>
              <a:gd name="connsiteY1" fmla="*/ 0 h 1160584"/>
              <a:gd name="connsiteX2" fmla="*/ 1459524 w 1459523"/>
              <a:gd name="connsiteY2" fmla="*/ 580292 h 1160584"/>
              <a:gd name="connsiteX3" fmla="*/ 729762 w 1459523"/>
              <a:gd name="connsiteY3" fmla="*/ 1160584 h 1160584"/>
              <a:gd name="connsiteX4" fmla="*/ 0 w 1459523"/>
              <a:gd name="connsiteY4" fmla="*/ 580292 h 1160584"/>
              <a:gd name="connsiteX0-1" fmla="*/ 0 w 1459524"/>
              <a:gd name="connsiteY0-2" fmla="*/ 580292 h 1301261"/>
              <a:gd name="connsiteX1-3" fmla="*/ 729762 w 1459524"/>
              <a:gd name="connsiteY1-4" fmla="*/ 0 h 1301261"/>
              <a:gd name="connsiteX2-5" fmla="*/ 1459524 w 1459524"/>
              <a:gd name="connsiteY2-6" fmla="*/ 580292 h 1301261"/>
              <a:gd name="connsiteX3-7" fmla="*/ 729762 w 1459524"/>
              <a:gd name="connsiteY3-8" fmla="*/ 1301261 h 1301261"/>
              <a:gd name="connsiteX4-9" fmla="*/ 0 w 1459524"/>
              <a:gd name="connsiteY4-10" fmla="*/ 580292 h 1301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9524" h="1301261">
                <a:moveTo>
                  <a:pt x="0" y="580292"/>
                </a:moveTo>
                <a:cubicBezTo>
                  <a:pt x="0" y="363415"/>
                  <a:pt x="326726" y="0"/>
                  <a:pt x="729762" y="0"/>
                </a:cubicBezTo>
                <a:cubicBezTo>
                  <a:pt x="1132798" y="0"/>
                  <a:pt x="1459524" y="259806"/>
                  <a:pt x="1459524" y="580292"/>
                </a:cubicBezTo>
                <a:cubicBezTo>
                  <a:pt x="1459524" y="900778"/>
                  <a:pt x="1132798" y="1301261"/>
                  <a:pt x="729762" y="1301261"/>
                </a:cubicBezTo>
                <a:cubicBezTo>
                  <a:pt x="326726" y="1301261"/>
                  <a:pt x="0" y="797169"/>
                  <a:pt x="0" y="580292"/>
                </a:cubicBezTo>
                <a:close/>
              </a:path>
            </a:pathLst>
          </a:custGeom>
          <a:noFill/>
          <a:ln>
            <a:solidFill>
              <a:srgbClr val="6853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996773" y="2523708"/>
            <a:ext cx="1118758" cy="1118758"/>
          </a:xfrm>
          <a:prstGeom prst="ellipse">
            <a:avLst/>
          </a:prstGeom>
          <a:noFill/>
          <a:ln>
            <a:solidFill>
              <a:srgbClr val="68532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2192827" y="2722559"/>
            <a:ext cx="726650" cy="726650"/>
            <a:chOff x="2297335" y="3068472"/>
            <a:chExt cx="726650" cy="726650"/>
          </a:xfrm>
        </p:grpSpPr>
        <p:sp>
          <p:nvSpPr>
            <p:cNvPr id="18" name="椭圆 17"/>
            <p:cNvSpPr/>
            <p:nvPr/>
          </p:nvSpPr>
          <p:spPr>
            <a:xfrm>
              <a:off x="2297335" y="3068472"/>
              <a:ext cx="726650" cy="726650"/>
            </a:xfrm>
            <a:prstGeom prst="ellipse">
              <a:avLst/>
            </a:prstGeom>
            <a:solidFill>
              <a:srgbClr val="9D9173"/>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546606" y="3314945"/>
              <a:ext cx="228107" cy="228107"/>
            </a:xfrm>
            <a:prstGeom prst="ellipse">
              <a:avLst/>
            </a:prstGeom>
            <a:solidFill>
              <a:srgbClr val="68532A"/>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椭圆 1"/>
          <p:cNvSpPr/>
          <p:nvPr/>
        </p:nvSpPr>
        <p:spPr>
          <a:xfrm>
            <a:off x="1483276" y="2025158"/>
            <a:ext cx="2117339" cy="1887747"/>
          </a:xfrm>
          <a:custGeom>
            <a:avLst/>
            <a:gdLst>
              <a:gd name="connsiteX0" fmla="*/ 0 w 1459523"/>
              <a:gd name="connsiteY0" fmla="*/ 580292 h 1160584"/>
              <a:gd name="connsiteX1" fmla="*/ 729762 w 1459523"/>
              <a:gd name="connsiteY1" fmla="*/ 0 h 1160584"/>
              <a:gd name="connsiteX2" fmla="*/ 1459524 w 1459523"/>
              <a:gd name="connsiteY2" fmla="*/ 580292 h 1160584"/>
              <a:gd name="connsiteX3" fmla="*/ 729762 w 1459523"/>
              <a:gd name="connsiteY3" fmla="*/ 1160584 h 1160584"/>
              <a:gd name="connsiteX4" fmla="*/ 0 w 1459523"/>
              <a:gd name="connsiteY4" fmla="*/ 580292 h 1160584"/>
              <a:gd name="connsiteX0-1" fmla="*/ 0 w 1459524"/>
              <a:gd name="connsiteY0-2" fmla="*/ 580292 h 1301261"/>
              <a:gd name="connsiteX1-3" fmla="*/ 729762 w 1459524"/>
              <a:gd name="connsiteY1-4" fmla="*/ 0 h 1301261"/>
              <a:gd name="connsiteX2-5" fmla="*/ 1459524 w 1459524"/>
              <a:gd name="connsiteY2-6" fmla="*/ 580292 h 1301261"/>
              <a:gd name="connsiteX3-7" fmla="*/ 729762 w 1459524"/>
              <a:gd name="connsiteY3-8" fmla="*/ 1301261 h 1301261"/>
              <a:gd name="connsiteX4-9" fmla="*/ 0 w 1459524"/>
              <a:gd name="connsiteY4-10" fmla="*/ 580292 h 1301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9524" h="1301261">
                <a:moveTo>
                  <a:pt x="0" y="580292"/>
                </a:moveTo>
                <a:cubicBezTo>
                  <a:pt x="0" y="363415"/>
                  <a:pt x="326726" y="0"/>
                  <a:pt x="729762" y="0"/>
                </a:cubicBezTo>
                <a:cubicBezTo>
                  <a:pt x="1132798" y="0"/>
                  <a:pt x="1459524" y="259806"/>
                  <a:pt x="1459524" y="580292"/>
                </a:cubicBezTo>
                <a:cubicBezTo>
                  <a:pt x="1459524" y="900778"/>
                  <a:pt x="1132798" y="1301261"/>
                  <a:pt x="729762" y="1301261"/>
                </a:cubicBezTo>
                <a:cubicBezTo>
                  <a:pt x="326726" y="1301261"/>
                  <a:pt x="0" y="797169"/>
                  <a:pt x="0" y="580292"/>
                </a:cubicBezTo>
                <a:close/>
              </a:path>
            </a:pathLst>
          </a:custGeom>
          <a:noFill/>
          <a:ln>
            <a:solidFill>
              <a:srgbClr val="D3D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withEffect">
                                  <p:stCondLst>
                                    <p:cond delay="75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7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1+#ppt_w/2"/>
                                          </p:val>
                                        </p:tav>
                                        <p:tav tm="100000">
                                          <p:val>
                                            <p:strVal val="#ppt_x"/>
                                          </p:val>
                                        </p:tav>
                                      </p:tavLst>
                                    </p:anim>
                                    <p:anim calcmode="lin" valueType="num">
                                      <p:cBhvr additive="base">
                                        <p:cTn id="12" dur="1000" fill="hold"/>
                                        <p:tgtEl>
                                          <p:spTgt spid="10"/>
                                        </p:tgtEl>
                                        <p:attrNameLst>
                                          <p:attrName>ppt_y</p:attrName>
                                        </p:attrNameLst>
                                      </p:cBhvr>
                                      <p:tavLst>
                                        <p:tav tm="0">
                                          <p:val>
                                            <p:strVal val="0-#ppt_h/2"/>
                                          </p:val>
                                        </p:tav>
                                        <p:tav tm="100000">
                                          <p:val>
                                            <p:strVal val="#ppt_y"/>
                                          </p:val>
                                        </p:tav>
                                      </p:tavLst>
                                    </p:anim>
                                  </p:childTnLst>
                                </p:cTn>
                              </p:par>
                              <p:par>
                                <p:cTn id="13" presetID="2" presetClass="entr" presetSubtype="3" fill="hold" nodeType="withEffect">
                                  <p:stCondLst>
                                    <p:cond delay="7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6" presetClass="entr" presetSubtype="0" fill="hold" grpId="0" nodeType="withEffect">
                                  <p:stCondLst>
                                    <p:cond delay="175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435">
                                          <p:stCondLst>
                                            <p:cond delay="0"/>
                                          </p:stCondLst>
                                        </p:cTn>
                                        <p:tgtEl>
                                          <p:spTgt spid="7"/>
                                        </p:tgtEl>
                                      </p:cBhvr>
                                    </p:animEffect>
                                    <p:anim calcmode="lin" valueType="num">
                                      <p:cBhvr>
                                        <p:cTn id="20" dur="1367"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1" dur="498"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2" dur="498" tmFilter="0, 0; 0.125,0.2665; 0.25,0.4; 0.375,0.465; 0.5,0.5;  0.625,0.535; 0.75,0.6; 0.875,0.7335; 1,1">
                                          <p:stCondLst>
                                            <p:cond delay="498"/>
                                          </p:stCondLst>
                                        </p:cTn>
                                        <p:tgtEl>
                                          <p:spTgt spid="7"/>
                                        </p:tgtEl>
                                        <p:attrNameLst>
                                          <p:attrName>ppt_y</p:attrName>
                                        </p:attrNameLst>
                                      </p:cBhvr>
                                      <p:tavLst>
                                        <p:tav tm="0" fmla="#ppt_y-sin(pi*$)/9">
                                          <p:val>
                                            <p:fltVal val="0"/>
                                          </p:val>
                                        </p:tav>
                                        <p:tav tm="100000">
                                          <p:val>
                                            <p:fltVal val="1"/>
                                          </p:val>
                                        </p:tav>
                                      </p:tavLst>
                                    </p:anim>
                                    <p:anim calcmode="lin" valueType="num">
                                      <p:cBhvr>
                                        <p:cTn id="23" dur="249" tmFilter="0, 0; 0.125,0.2665; 0.25,0.4; 0.375,0.465; 0.5,0.5;  0.625,0.535; 0.75,0.6; 0.875,0.7335; 1,1">
                                          <p:stCondLst>
                                            <p:cond delay="993"/>
                                          </p:stCondLst>
                                        </p:cTn>
                                        <p:tgtEl>
                                          <p:spTgt spid="7"/>
                                        </p:tgtEl>
                                        <p:attrNameLst>
                                          <p:attrName>ppt_y</p:attrName>
                                        </p:attrNameLst>
                                      </p:cBhvr>
                                      <p:tavLst>
                                        <p:tav tm="0" fmla="#ppt_y-sin(pi*$)/27">
                                          <p:val>
                                            <p:fltVal val="0"/>
                                          </p:val>
                                        </p:tav>
                                        <p:tav tm="100000">
                                          <p:val>
                                            <p:fltVal val="1"/>
                                          </p:val>
                                        </p:tav>
                                      </p:tavLst>
                                    </p:anim>
                                    <p:anim calcmode="lin" valueType="num">
                                      <p:cBhvr>
                                        <p:cTn id="24" dur="123" tmFilter="0, 0; 0.125,0.2665; 0.25,0.4; 0.375,0.465; 0.5,0.5;  0.625,0.535; 0.75,0.6; 0.875,0.7335; 1,1">
                                          <p:stCondLst>
                                            <p:cond delay="1242"/>
                                          </p:stCondLst>
                                        </p:cTn>
                                        <p:tgtEl>
                                          <p:spTgt spid="7"/>
                                        </p:tgtEl>
                                        <p:attrNameLst>
                                          <p:attrName>ppt_y</p:attrName>
                                        </p:attrNameLst>
                                      </p:cBhvr>
                                      <p:tavLst>
                                        <p:tav tm="0" fmla="#ppt_y-sin(pi*$)/81">
                                          <p:val>
                                            <p:fltVal val="0"/>
                                          </p:val>
                                        </p:tav>
                                        <p:tav tm="100000">
                                          <p:val>
                                            <p:fltVal val="1"/>
                                          </p:val>
                                        </p:tav>
                                      </p:tavLst>
                                    </p:anim>
                                    <p:animScale>
                                      <p:cBhvr>
                                        <p:cTn id="25" dur="20">
                                          <p:stCondLst>
                                            <p:cond delay="487"/>
                                          </p:stCondLst>
                                        </p:cTn>
                                        <p:tgtEl>
                                          <p:spTgt spid="7"/>
                                        </p:tgtEl>
                                      </p:cBhvr>
                                      <p:to x="100000" y="60000"/>
                                    </p:animScale>
                                    <p:animScale>
                                      <p:cBhvr>
                                        <p:cTn id="26" dur="124" decel="50000">
                                          <p:stCondLst>
                                            <p:cond delay="507"/>
                                          </p:stCondLst>
                                        </p:cTn>
                                        <p:tgtEl>
                                          <p:spTgt spid="7"/>
                                        </p:tgtEl>
                                      </p:cBhvr>
                                      <p:to x="100000" y="100000"/>
                                    </p:animScale>
                                    <p:animScale>
                                      <p:cBhvr>
                                        <p:cTn id="27" dur="20">
                                          <p:stCondLst>
                                            <p:cond delay="984"/>
                                          </p:stCondLst>
                                        </p:cTn>
                                        <p:tgtEl>
                                          <p:spTgt spid="7"/>
                                        </p:tgtEl>
                                      </p:cBhvr>
                                      <p:to x="100000" y="80000"/>
                                    </p:animScale>
                                    <p:animScale>
                                      <p:cBhvr>
                                        <p:cTn id="28" dur="124" decel="50000">
                                          <p:stCondLst>
                                            <p:cond delay="1004"/>
                                          </p:stCondLst>
                                        </p:cTn>
                                        <p:tgtEl>
                                          <p:spTgt spid="7"/>
                                        </p:tgtEl>
                                      </p:cBhvr>
                                      <p:to x="100000" y="100000"/>
                                    </p:animScale>
                                    <p:animScale>
                                      <p:cBhvr>
                                        <p:cTn id="29" dur="20">
                                          <p:stCondLst>
                                            <p:cond delay="1231"/>
                                          </p:stCondLst>
                                        </p:cTn>
                                        <p:tgtEl>
                                          <p:spTgt spid="7"/>
                                        </p:tgtEl>
                                      </p:cBhvr>
                                      <p:to x="100000" y="90000"/>
                                    </p:animScale>
                                    <p:animScale>
                                      <p:cBhvr>
                                        <p:cTn id="30" dur="124" decel="50000">
                                          <p:stCondLst>
                                            <p:cond delay="1251"/>
                                          </p:stCondLst>
                                        </p:cTn>
                                        <p:tgtEl>
                                          <p:spTgt spid="7"/>
                                        </p:tgtEl>
                                      </p:cBhvr>
                                      <p:to x="100000" y="100000"/>
                                    </p:animScale>
                                    <p:animScale>
                                      <p:cBhvr>
                                        <p:cTn id="31" dur="20">
                                          <p:stCondLst>
                                            <p:cond delay="1356"/>
                                          </p:stCondLst>
                                        </p:cTn>
                                        <p:tgtEl>
                                          <p:spTgt spid="7"/>
                                        </p:tgtEl>
                                      </p:cBhvr>
                                      <p:to x="100000" y="95000"/>
                                    </p:animScale>
                                    <p:animScale>
                                      <p:cBhvr>
                                        <p:cTn id="32" dur="124" decel="50000">
                                          <p:stCondLst>
                                            <p:cond delay="1376"/>
                                          </p:stCondLst>
                                        </p:cTn>
                                        <p:tgtEl>
                                          <p:spTgt spid="7"/>
                                        </p:tgtEl>
                                      </p:cBhvr>
                                      <p:to x="100000" y="100000"/>
                                    </p:animScale>
                                  </p:childTnLst>
                                </p:cTn>
                              </p:par>
                            </p:childTnLst>
                          </p:cTn>
                        </p:par>
                        <p:par>
                          <p:cTn id="33" fill="hold">
                            <p:stCondLst>
                              <p:cond delay="1750"/>
                            </p:stCondLst>
                            <p:childTnLst>
                              <p:par>
                                <p:cTn id="34" presetID="2" presetClass="entr" presetSubtype="4"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par>
                          <p:cTn id="38" fill="hold">
                            <p:stCondLst>
                              <p:cond delay="2250"/>
                            </p:stCondLst>
                            <p:childTnLst>
                              <p:par>
                                <p:cTn id="39" presetID="45" presetClass="entr" presetSubtype="0"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1500"/>
                                        <p:tgtEl>
                                          <p:spTgt spid="20"/>
                                        </p:tgtEl>
                                      </p:cBhvr>
                                    </p:animEffect>
                                    <p:anim calcmode="lin" valueType="num">
                                      <p:cBhvr>
                                        <p:cTn id="42" dur="1500" fill="hold"/>
                                        <p:tgtEl>
                                          <p:spTgt spid="20"/>
                                        </p:tgtEl>
                                        <p:attrNameLst>
                                          <p:attrName>ppt_w</p:attrName>
                                        </p:attrNameLst>
                                      </p:cBhvr>
                                      <p:tavLst>
                                        <p:tav tm="0" fmla="#ppt_w*sin(2.5*pi*$)">
                                          <p:val>
                                            <p:fltVal val="0"/>
                                          </p:val>
                                        </p:tav>
                                        <p:tav tm="100000">
                                          <p:val>
                                            <p:fltVal val="1"/>
                                          </p:val>
                                        </p:tav>
                                      </p:tavLst>
                                    </p:anim>
                                    <p:anim calcmode="lin" valueType="num">
                                      <p:cBhvr>
                                        <p:cTn id="43" dur="1500" fill="hold"/>
                                        <p:tgtEl>
                                          <p:spTgt spid="20"/>
                                        </p:tgtEl>
                                        <p:attrNameLst>
                                          <p:attrName>ppt_h</p:attrName>
                                        </p:attrNameLst>
                                      </p:cBhvr>
                                      <p:tavLst>
                                        <p:tav tm="0">
                                          <p:val>
                                            <p:strVal val="#ppt_h"/>
                                          </p:val>
                                        </p:tav>
                                        <p:tav tm="100000">
                                          <p:val>
                                            <p:strVal val="#ppt_h"/>
                                          </p:val>
                                        </p:tav>
                                      </p:tavLst>
                                    </p:anim>
                                  </p:childTnLst>
                                </p:cTn>
                              </p:par>
                              <p:par>
                                <p:cTn id="44" presetID="45"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500"/>
                                        <p:tgtEl>
                                          <p:spTgt spid="14"/>
                                        </p:tgtEl>
                                      </p:cBhvr>
                                    </p:animEffect>
                                    <p:anim calcmode="lin" valueType="num">
                                      <p:cBhvr>
                                        <p:cTn id="47" dur="1500" fill="hold"/>
                                        <p:tgtEl>
                                          <p:spTgt spid="14"/>
                                        </p:tgtEl>
                                        <p:attrNameLst>
                                          <p:attrName>ppt_w</p:attrName>
                                        </p:attrNameLst>
                                      </p:cBhvr>
                                      <p:tavLst>
                                        <p:tav tm="0" fmla="#ppt_w*sin(2.5*pi*$)">
                                          <p:val>
                                            <p:fltVal val="0"/>
                                          </p:val>
                                        </p:tav>
                                        <p:tav tm="100000">
                                          <p:val>
                                            <p:fltVal val="1"/>
                                          </p:val>
                                        </p:tav>
                                      </p:tavLst>
                                    </p:anim>
                                    <p:anim calcmode="lin" valueType="num">
                                      <p:cBhvr>
                                        <p:cTn id="48" dur="1500" fill="hold"/>
                                        <p:tgtEl>
                                          <p:spTgt spid="14"/>
                                        </p:tgtEl>
                                        <p:attrNameLst>
                                          <p:attrName>ppt_h</p:attrName>
                                        </p:attrNameLst>
                                      </p:cBhvr>
                                      <p:tavLst>
                                        <p:tav tm="0">
                                          <p:val>
                                            <p:strVal val="#ppt_h"/>
                                          </p:val>
                                        </p:tav>
                                        <p:tav tm="100000">
                                          <p:val>
                                            <p:strVal val="#ppt_h"/>
                                          </p:val>
                                        </p:tav>
                                      </p:tavLst>
                                    </p:anim>
                                  </p:childTnLst>
                                </p:cTn>
                              </p:par>
                              <p:par>
                                <p:cTn id="49" presetID="45"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500"/>
                                        <p:tgtEl>
                                          <p:spTgt spid="13"/>
                                        </p:tgtEl>
                                      </p:cBhvr>
                                    </p:animEffect>
                                    <p:anim calcmode="lin" valueType="num">
                                      <p:cBhvr>
                                        <p:cTn id="52" dur="1500" fill="hold"/>
                                        <p:tgtEl>
                                          <p:spTgt spid="13"/>
                                        </p:tgtEl>
                                        <p:attrNameLst>
                                          <p:attrName>ppt_w</p:attrName>
                                        </p:attrNameLst>
                                      </p:cBhvr>
                                      <p:tavLst>
                                        <p:tav tm="0" fmla="#ppt_w*sin(2.5*pi*$)">
                                          <p:val>
                                            <p:fltVal val="0"/>
                                          </p:val>
                                        </p:tav>
                                        <p:tav tm="100000">
                                          <p:val>
                                            <p:fltVal val="1"/>
                                          </p:val>
                                        </p:tav>
                                      </p:tavLst>
                                    </p:anim>
                                    <p:anim calcmode="lin" valueType="num">
                                      <p:cBhvr>
                                        <p:cTn id="53" dur="1500" fill="hold"/>
                                        <p:tgtEl>
                                          <p:spTgt spid="13"/>
                                        </p:tgtEl>
                                        <p:attrNameLst>
                                          <p:attrName>ppt_h</p:attrName>
                                        </p:attrNameLst>
                                      </p:cBhvr>
                                      <p:tavLst>
                                        <p:tav tm="0">
                                          <p:val>
                                            <p:strVal val="#ppt_h"/>
                                          </p:val>
                                        </p:tav>
                                        <p:tav tm="100000">
                                          <p:val>
                                            <p:strVal val="#ppt_h"/>
                                          </p:val>
                                        </p:tav>
                                      </p:tavLst>
                                    </p:anim>
                                  </p:childTnLst>
                                </p:cTn>
                              </p:par>
                              <p:par>
                                <p:cTn id="54" presetID="10" presetClass="entr" presetSubtype="0" fill="hold" grpId="0" nodeType="withEffect">
                                  <p:stCondLst>
                                    <p:cond delay="75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childTnLst>
                                </p:cTn>
                              </p:par>
                              <p:par>
                                <p:cTn id="57" presetID="53" presetClass="entr" presetSubtype="16" fill="hold" nodeType="withEffect">
                                  <p:stCondLst>
                                    <p:cond delay="1250"/>
                                  </p:stCondLst>
                                  <p:childTnLst>
                                    <p:set>
                                      <p:cBhvr>
                                        <p:cTn id="58" dur="1" fill="hold">
                                          <p:stCondLst>
                                            <p:cond delay="0"/>
                                          </p:stCondLst>
                                        </p:cTn>
                                        <p:tgtEl>
                                          <p:spTgt spid="17"/>
                                        </p:tgtEl>
                                        <p:attrNameLst>
                                          <p:attrName>style.visibility</p:attrName>
                                        </p:attrNameLst>
                                      </p:cBhvr>
                                      <p:to>
                                        <p:strVal val="visible"/>
                                      </p:to>
                                    </p:set>
                                    <p:anim calcmode="lin" valueType="num">
                                      <p:cBhvr>
                                        <p:cTn id="59" dur="1000" fill="hold"/>
                                        <p:tgtEl>
                                          <p:spTgt spid="17"/>
                                        </p:tgtEl>
                                        <p:attrNameLst>
                                          <p:attrName>ppt_w</p:attrName>
                                        </p:attrNameLst>
                                      </p:cBhvr>
                                      <p:tavLst>
                                        <p:tav tm="0">
                                          <p:val>
                                            <p:fltVal val="0"/>
                                          </p:val>
                                        </p:tav>
                                        <p:tav tm="100000">
                                          <p:val>
                                            <p:strVal val="#ppt_w"/>
                                          </p:val>
                                        </p:tav>
                                      </p:tavLst>
                                    </p:anim>
                                    <p:anim calcmode="lin" valueType="num">
                                      <p:cBhvr>
                                        <p:cTn id="60" dur="1000" fill="hold"/>
                                        <p:tgtEl>
                                          <p:spTgt spid="17"/>
                                        </p:tgtEl>
                                        <p:attrNameLst>
                                          <p:attrName>ppt_h</p:attrName>
                                        </p:attrNameLst>
                                      </p:cBhvr>
                                      <p:tavLst>
                                        <p:tav tm="0">
                                          <p:val>
                                            <p:fltVal val="0"/>
                                          </p:val>
                                        </p:tav>
                                        <p:tav tm="100000">
                                          <p:val>
                                            <p:strVal val="#ppt_h"/>
                                          </p:val>
                                        </p:tav>
                                      </p:tavLst>
                                    </p:anim>
                                    <p:animEffect transition="in" filter="fade">
                                      <p:cBhvr>
                                        <p:cTn id="61" dur="1000"/>
                                        <p:tgtEl>
                                          <p:spTgt spid="17"/>
                                        </p:tgtEl>
                                      </p:cBhvr>
                                    </p:animEffect>
                                  </p:childTnLst>
                                </p:cTn>
                              </p:par>
                              <p:par>
                                <p:cTn id="62" presetID="21" presetClass="entr" presetSubtype="8" fill="hold" grpId="0" nodeType="withEffect">
                                  <p:stCondLst>
                                    <p:cond delay="1500"/>
                                  </p:stCondLst>
                                  <p:childTnLst>
                                    <p:set>
                                      <p:cBhvr>
                                        <p:cTn id="63" dur="1" fill="hold">
                                          <p:stCondLst>
                                            <p:cond delay="0"/>
                                          </p:stCondLst>
                                        </p:cTn>
                                        <p:tgtEl>
                                          <p:spTgt spid="15"/>
                                        </p:tgtEl>
                                        <p:attrNameLst>
                                          <p:attrName>style.visibility</p:attrName>
                                        </p:attrNameLst>
                                      </p:cBhvr>
                                      <p:to>
                                        <p:strVal val="visible"/>
                                      </p:to>
                                    </p:set>
                                    <p:animEffect transition="in" filter="wheel(8)">
                                      <p:cBhvr>
                                        <p:cTn id="64" dur="1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3" grpId="0" animBg="1"/>
      <p:bldP spid="14" grpId="0" animBg="1"/>
      <p:bldP spid="15" grpId="0" animBg="1"/>
      <p:bldP spid="16"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69193"/>
            <a:ext cx="4931763" cy="4931763"/>
          </a:xfrm>
          <a:prstGeom prst="rect">
            <a:avLst/>
          </a:prstGeom>
          <a:noFill/>
          <a:ln w="19050">
            <a:solidFill>
              <a:srgbClr val="D3D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矩形 2"/>
          <p:cNvSpPr/>
          <p:nvPr/>
        </p:nvSpPr>
        <p:spPr>
          <a:xfrm rot="1291757" flipH="1" flipV="1">
            <a:off x="719983" y="1589175"/>
            <a:ext cx="3491801" cy="3491801"/>
          </a:xfrm>
          <a:prstGeom prst="rect">
            <a:avLst/>
          </a:prstGeom>
          <a:noFill/>
          <a:ln w="19050">
            <a:solidFill>
              <a:srgbClr val="D3D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4" name="菱形 3"/>
          <p:cNvSpPr/>
          <p:nvPr/>
        </p:nvSpPr>
        <p:spPr>
          <a:xfrm>
            <a:off x="1183344" y="2007566"/>
            <a:ext cx="2565078" cy="2565078"/>
          </a:xfrm>
          <a:prstGeom prst="diamond">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5" name="组合 4"/>
          <p:cNvGrpSpPr/>
          <p:nvPr/>
        </p:nvGrpSpPr>
        <p:grpSpPr>
          <a:xfrm>
            <a:off x="1344926" y="2074140"/>
            <a:ext cx="2241912" cy="2381890"/>
            <a:chOff x="2611593" y="2036900"/>
            <a:chExt cx="2241912" cy="2381890"/>
          </a:xfrm>
        </p:grpSpPr>
        <p:cxnSp>
          <p:nvCxnSpPr>
            <p:cNvPr id="6" name="直接连接符 5"/>
            <p:cNvCxnSpPr/>
            <p:nvPr/>
          </p:nvCxnSpPr>
          <p:spPr>
            <a:xfrm flipH="1">
              <a:off x="2611595" y="2036900"/>
              <a:ext cx="2241910" cy="0"/>
            </a:xfrm>
            <a:prstGeom prst="line">
              <a:avLst/>
            </a:prstGeom>
            <a:ln>
              <a:gradFill>
                <a:gsLst>
                  <a:gs pos="32000">
                    <a:srgbClr val="AFAFAF"/>
                  </a:gs>
                  <a:gs pos="100000">
                    <a:schemeClr val="tx1">
                      <a:lumMod val="50000"/>
                      <a:lumOff val="50000"/>
                    </a:schemeClr>
                  </a:gs>
                  <a:gs pos="0">
                    <a:schemeClr val="bg1">
                      <a:lumMod val="95000"/>
                      <a:alpha val="48000"/>
                    </a:schemeClr>
                  </a:gs>
                </a:gsLst>
                <a:lin ang="6000000" scaled="0"/>
              </a:gradFill>
              <a:headEnd type="ova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rot="5400000" flipH="1">
              <a:off x="3732550" y="3297835"/>
              <a:ext cx="2241910" cy="0"/>
            </a:xfrm>
            <a:prstGeom prst="line">
              <a:avLst/>
            </a:prstGeom>
            <a:ln>
              <a:gradFill>
                <a:gsLst>
                  <a:gs pos="32000">
                    <a:srgbClr val="AFAFAF"/>
                  </a:gs>
                  <a:gs pos="100000">
                    <a:schemeClr val="tx1">
                      <a:lumMod val="50000"/>
                      <a:lumOff val="50000"/>
                    </a:schemeClr>
                  </a:gs>
                  <a:gs pos="0">
                    <a:schemeClr val="bg1">
                      <a:lumMod val="95000"/>
                      <a:alpha val="48000"/>
                    </a:schemeClr>
                  </a:gs>
                </a:gsLst>
                <a:lin ang="6000000" scaled="0"/>
              </a:gradFill>
              <a:headEnd type="ova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rot="10800000" flipH="1">
              <a:off x="2611595" y="4418789"/>
              <a:ext cx="2241910" cy="0"/>
            </a:xfrm>
            <a:prstGeom prst="line">
              <a:avLst/>
            </a:prstGeom>
            <a:ln>
              <a:gradFill>
                <a:gsLst>
                  <a:gs pos="32000">
                    <a:srgbClr val="AFAFAF"/>
                  </a:gs>
                  <a:gs pos="100000">
                    <a:schemeClr val="tx1">
                      <a:lumMod val="50000"/>
                      <a:lumOff val="50000"/>
                    </a:schemeClr>
                  </a:gs>
                  <a:gs pos="0">
                    <a:schemeClr val="bg1">
                      <a:lumMod val="95000"/>
                      <a:alpha val="48000"/>
                    </a:schemeClr>
                  </a:gs>
                </a:gsLst>
                <a:lin ang="6000000" scaled="0"/>
              </a:gradFill>
              <a:headEnd type="ova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6200000" flipH="1">
              <a:off x="1490638" y="3157855"/>
              <a:ext cx="2241910" cy="0"/>
            </a:xfrm>
            <a:prstGeom prst="line">
              <a:avLst/>
            </a:prstGeom>
            <a:ln>
              <a:gradFill>
                <a:gsLst>
                  <a:gs pos="32000">
                    <a:srgbClr val="AFAFAF"/>
                  </a:gs>
                  <a:gs pos="100000">
                    <a:schemeClr val="tx1">
                      <a:lumMod val="50000"/>
                      <a:lumOff val="50000"/>
                    </a:schemeClr>
                  </a:gs>
                  <a:gs pos="0">
                    <a:schemeClr val="bg1">
                      <a:lumMod val="95000"/>
                      <a:alpha val="48000"/>
                    </a:schemeClr>
                  </a:gs>
                </a:gsLst>
                <a:lin ang="6000000" scaled="0"/>
              </a:gradFill>
              <a:headEnd type="oval"/>
            </a:ln>
          </p:spPr>
          <p:style>
            <a:lnRef idx="1">
              <a:schemeClr val="accent1"/>
            </a:lnRef>
            <a:fillRef idx="0">
              <a:schemeClr val="accent1"/>
            </a:fillRef>
            <a:effectRef idx="0">
              <a:schemeClr val="accent1"/>
            </a:effectRef>
            <a:fontRef idx="minor">
              <a:schemeClr val="tx1"/>
            </a:fontRef>
          </p:style>
        </p:cxnSp>
      </p:grpSp>
      <p:sp>
        <p:nvSpPr>
          <p:cNvPr id="10" name="文本框 9"/>
          <p:cNvSpPr txBox="1"/>
          <p:nvPr/>
        </p:nvSpPr>
        <p:spPr>
          <a:xfrm>
            <a:off x="5914018" y="2333429"/>
            <a:ext cx="5200950" cy="3329758"/>
          </a:xfrm>
          <a:prstGeom prst="rect">
            <a:avLst/>
          </a:prstGeom>
          <a:noFill/>
        </p:spPr>
        <p:txBody>
          <a:bodyPr wrap="square" rtlCol="0">
            <a:spAutoFit/>
          </a:bodyPr>
          <a:lstStyle/>
          <a:p>
            <a:pPr>
              <a:lnSpc>
                <a:spcPct val="150000"/>
              </a:lnSpc>
            </a:pPr>
            <a:r>
              <a:rPr lang="zh-CN" altLang="en-US" sz="2400" b="1" dirty="0">
                <a:latin typeface="幼圆" panose="02010509060101010101" pitchFamily="49" charset="-122"/>
                <a:ea typeface="幼圆" panose="02010509060101010101" pitchFamily="49" charset="-122"/>
              </a:rPr>
              <a:t>①</a:t>
            </a:r>
            <a:r>
              <a:rPr lang="en-US" altLang="zh-CN" sz="2400" b="1" dirty="0">
                <a:latin typeface="幼圆" panose="02010509060101010101" pitchFamily="49" charset="-122"/>
                <a:ea typeface="幼圆" panose="02010509060101010101" pitchFamily="49" charset="-122"/>
              </a:rPr>
              <a:t> </a:t>
            </a:r>
            <a:r>
              <a:rPr lang="zh-CN" altLang="zh-CN" sz="2400" b="1" dirty="0">
                <a:latin typeface="幼圆" panose="02010509060101010101" pitchFamily="49" charset="-122"/>
                <a:ea typeface="幼圆" panose="02010509060101010101" pitchFamily="49" charset="-122"/>
              </a:rPr>
              <a:t>对称优化</a:t>
            </a:r>
            <a:endParaRPr lang="zh-CN" altLang="zh-CN" sz="2400"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②</a:t>
            </a:r>
            <a:r>
              <a:rPr lang="en-US" altLang="zh-CN" sz="2400" b="1" dirty="0">
                <a:latin typeface="幼圆" panose="02010509060101010101" pitchFamily="49" charset="-122"/>
                <a:ea typeface="幼圆" panose="02010509060101010101" pitchFamily="49" charset="-122"/>
              </a:rPr>
              <a:t> </a:t>
            </a:r>
            <a:r>
              <a:rPr lang="zh-CN" altLang="zh-CN" sz="2400" b="1" dirty="0">
                <a:latin typeface="幼圆" panose="02010509060101010101" pitchFamily="49" charset="-122"/>
                <a:ea typeface="幼圆" panose="02010509060101010101" pitchFamily="49" charset="-122"/>
              </a:rPr>
              <a:t>单次度排序剪枝</a:t>
            </a:r>
            <a:endParaRPr lang="zh-CN" altLang="zh-CN" sz="2400"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③</a:t>
            </a:r>
            <a:r>
              <a:rPr lang="en-US" altLang="zh-CN" sz="2400" b="1" dirty="0">
                <a:latin typeface="幼圆" panose="02010509060101010101" pitchFamily="49" charset="-122"/>
                <a:ea typeface="幼圆" panose="02010509060101010101" pitchFamily="49" charset="-122"/>
              </a:rPr>
              <a:t> MRV</a:t>
            </a:r>
            <a:r>
              <a:rPr lang="zh-CN" altLang="zh-CN" sz="2400" b="1" dirty="0">
                <a:latin typeface="幼圆" panose="02010509060101010101" pitchFamily="49" charset="-122"/>
                <a:ea typeface="幼圆" panose="02010509060101010101" pitchFamily="49" charset="-122"/>
              </a:rPr>
              <a:t>准则剪枝</a:t>
            </a:r>
            <a:endParaRPr lang="zh-CN" altLang="zh-CN" sz="2400"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④</a:t>
            </a:r>
            <a:r>
              <a:rPr lang="en-US" altLang="zh-CN" sz="2400" b="1" dirty="0">
                <a:latin typeface="幼圆" panose="02010509060101010101" pitchFamily="49" charset="-122"/>
                <a:ea typeface="幼圆" panose="02010509060101010101" pitchFamily="49" charset="-122"/>
              </a:rPr>
              <a:t> MRV</a:t>
            </a:r>
            <a:r>
              <a:rPr lang="zh-CN" altLang="zh-CN" sz="2400" b="1" dirty="0">
                <a:latin typeface="幼圆" panose="02010509060101010101" pitchFamily="49" charset="-122"/>
                <a:ea typeface="幼圆" panose="02010509060101010101" pitchFamily="49" charset="-122"/>
              </a:rPr>
              <a:t>和</a:t>
            </a:r>
            <a:r>
              <a:rPr lang="en-US" altLang="zh-CN" sz="2400" b="1" dirty="0">
                <a:latin typeface="幼圆" panose="02010509060101010101" pitchFamily="49" charset="-122"/>
                <a:ea typeface="幼圆" panose="02010509060101010101" pitchFamily="49" charset="-122"/>
              </a:rPr>
              <a:t>DH</a:t>
            </a:r>
            <a:r>
              <a:rPr lang="zh-CN" altLang="zh-CN" sz="2400" b="1" dirty="0">
                <a:latin typeface="幼圆" panose="02010509060101010101" pitchFamily="49" charset="-122"/>
                <a:ea typeface="幼圆" panose="02010509060101010101" pitchFamily="49" charset="-122"/>
              </a:rPr>
              <a:t>准则剪枝</a:t>
            </a:r>
            <a:endParaRPr lang="zh-CN" altLang="zh-CN" sz="2400"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⑤</a:t>
            </a:r>
            <a:r>
              <a:rPr lang="en-US" altLang="zh-CN" sz="2400" b="1" dirty="0">
                <a:latin typeface="幼圆" panose="02010509060101010101" pitchFamily="49" charset="-122"/>
                <a:ea typeface="幼圆" panose="02010509060101010101" pitchFamily="49" charset="-122"/>
              </a:rPr>
              <a:t> </a:t>
            </a:r>
            <a:r>
              <a:rPr lang="zh-CN" altLang="zh-CN" sz="2400" b="1" dirty="0">
                <a:latin typeface="幼圆" panose="02010509060101010101" pitchFamily="49" charset="-122"/>
                <a:ea typeface="幼圆" panose="02010509060101010101" pitchFamily="49" charset="-122"/>
              </a:rPr>
              <a:t>向前探查（一步或多步）剪枝</a:t>
            </a:r>
            <a:endParaRPr lang="zh-CN" altLang="zh-CN" sz="2400"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⑥</a:t>
            </a:r>
            <a:r>
              <a:rPr lang="en-US" altLang="zh-CN" sz="2400" b="1" dirty="0">
                <a:latin typeface="幼圆" panose="02010509060101010101" pitchFamily="49" charset="-122"/>
                <a:ea typeface="幼圆" panose="02010509060101010101" pitchFamily="49" charset="-122"/>
              </a:rPr>
              <a:t> </a:t>
            </a:r>
            <a:r>
              <a:rPr lang="zh-CN" altLang="zh-CN" sz="2400" b="1" dirty="0">
                <a:latin typeface="幼圆" panose="02010509060101010101" pitchFamily="49" charset="-122"/>
                <a:ea typeface="幼圆" panose="02010509060101010101" pitchFamily="49" charset="-122"/>
              </a:rPr>
              <a:t>颜色轮换优化</a:t>
            </a:r>
            <a:endParaRPr lang="zh-CN" altLang="zh-CN" sz="2400" dirty="0">
              <a:latin typeface="幼圆" panose="02010509060101010101" pitchFamily="49" charset="-122"/>
              <a:ea typeface="幼圆" panose="02010509060101010101" pitchFamily="49" charset="-122"/>
            </a:endParaRPr>
          </a:p>
        </p:txBody>
      </p:sp>
      <p:sp>
        <p:nvSpPr>
          <p:cNvPr id="11" name="文本框 10"/>
          <p:cNvSpPr txBox="1"/>
          <p:nvPr/>
        </p:nvSpPr>
        <p:spPr>
          <a:xfrm>
            <a:off x="6351618" y="1309407"/>
            <a:ext cx="4236170" cy="769441"/>
          </a:xfrm>
          <a:prstGeom prst="rect">
            <a:avLst/>
          </a:prstGeom>
          <a:noFill/>
        </p:spPr>
        <p:txBody>
          <a:bodyPr wrap="square" rtlCol="0">
            <a:spAutoFit/>
          </a:bodyPr>
          <a:lstStyle/>
          <a:p>
            <a:r>
              <a:rPr lang="zh-CN" altLang="en-US" sz="4400" b="1" spc="300" dirty="0">
                <a:solidFill>
                  <a:srgbClr val="654D2D"/>
                </a:solidFill>
                <a:latin typeface="幼圆" panose="02010509060101010101" pitchFamily="49" charset="-122"/>
                <a:ea typeface="幼圆" panose="02010509060101010101" pitchFamily="49" charset="-122"/>
              </a:rPr>
              <a:t>回溯法的优化</a:t>
            </a:r>
          </a:p>
        </p:txBody>
      </p:sp>
      <p:sp>
        <p:nvSpPr>
          <p:cNvPr id="12" name="矩形 11"/>
          <p:cNvSpPr/>
          <p:nvPr/>
        </p:nvSpPr>
        <p:spPr>
          <a:xfrm>
            <a:off x="5990332" y="1366514"/>
            <a:ext cx="255334" cy="583600"/>
          </a:xfrm>
          <a:prstGeom prst="rect">
            <a:avLst/>
          </a:prstGeom>
          <a:solidFill>
            <a:srgbClr val="A89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sp>
        <p:nvSpPr>
          <p:cNvPr id="13" name="矩形 12"/>
          <p:cNvSpPr/>
          <p:nvPr/>
        </p:nvSpPr>
        <p:spPr>
          <a:xfrm>
            <a:off x="6230481" y="1366514"/>
            <a:ext cx="97573" cy="583600"/>
          </a:xfrm>
          <a:prstGeom prst="rect">
            <a:avLst/>
          </a:prstGeom>
          <a:solidFill>
            <a:srgbClr val="A89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cxnSp>
        <p:nvCxnSpPr>
          <p:cNvPr id="14" name="直接连接符 13"/>
          <p:cNvCxnSpPr/>
          <p:nvPr/>
        </p:nvCxnSpPr>
        <p:spPr>
          <a:xfrm>
            <a:off x="5990332" y="2085586"/>
            <a:ext cx="4715088" cy="0"/>
          </a:xfrm>
          <a:prstGeom prst="line">
            <a:avLst/>
          </a:prstGeom>
          <a:ln w="12700">
            <a:solidFill>
              <a:srgbClr val="A89A68"/>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250"/>
                                        <p:tgtEl>
                                          <p:spTgt spid="2"/>
                                        </p:tgtEl>
                                      </p:cBhvr>
                                    </p:animEffect>
                                  </p:childTnLst>
                                </p:cTn>
                              </p:par>
                              <p:par>
                                <p:cTn id="8" presetID="14" presetClass="entr" presetSubtype="10" fill="hold" grpId="0" nodeType="withEffect">
                                  <p:stCondLst>
                                    <p:cond delay="75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1000"/>
                                        <p:tgtEl>
                                          <p:spTgt spid="3"/>
                                        </p:tgtEl>
                                      </p:cBhvr>
                                    </p:animEffect>
                                  </p:childTnLst>
                                </p:cTn>
                              </p:par>
                              <p:par>
                                <p:cTn id="11" presetID="31" presetClass="entr" presetSubtype="0" fill="hold" nodeType="withEffect">
                                  <p:stCondLst>
                                    <p:cond delay="125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par>
                                <p:cTn id="17" presetID="31" presetClass="entr" presetSubtype="0" fill="hold" grpId="0" nodeType="withEffect">
                                  <p:stCondLst>
                                    <p:cond delay="225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par>
                                <p:cTn id="23" presetID="26" presetClass="emph" presetSubtype="0" fill="hold" grpId="1" nodeType="withEffect">
                                  <p:stCondLst>
                                    <p:cond delay="3000"/>
                                  </p:stCondLst>
                                  <p:childTnLst>
                                    <p:animEffect transition="out" filter="fade">
                                      <p:cBhvr>
                                        <p:cTn id="24" dur="1000" tmFilter="0, 0; .2, .5; .8, .5; 1, 0"/>
                                        <p:tgtEl>
                                          <p:spTgt spid="4"/>
                                        </p:tgtEl>
                                      </p:cBhvr>
                                    </p:animEffect>
                                    <p:animScale>
                                      <p:cBhvr>
                                        <p:cTn id="25" dur="500" autoRev="1" fill="hold"/>
                                        <p:tgtEl>
                                          <p:spTgt spid="4"/>
                                        </p:tgtEl>
                                      </p:cBhvr>
                                      <p:by x="105000" y="105000"/>
                                    </p:animScale>
                                  </p:childTnLst>
                                </p:cTn>
                              </p:par>
                            </p:childTnLst>
                          </p:cTn>
                        </p:par>
                        <p:par>
                          <p:cTn id="26" fill="hold">
                            <p:stCondLst>
                              <p:cond delay="1500"/>
                            </p:stCondLst>
                            <p:childTnLst>
                              <p:par>
                                <p:cTn id="27" presetID="16" presetClass="entr" presetSubtype="21"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arn(inVertical)">
                                      <p:cBhvr>
                                        <p:cTn id="29" dur="1000"/>
                                        <p:tgtEl>
                                          <p:spTgt spid="12"/>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inVertical)">
                                      <p:cBhvr>
                                        <p:cTn id="32" dur="1000"/>
                                        <p:tgtEl>
                                          <p:spTgt spid="13"/>
                                        </p:tgtEl>
                                      </p:cBhvr>
                                    </p:animEffect>
                                  </p:childTnLst>
                                </p:cTn>
                              </p:par>
                              <p:par>
                                <p:cTn id="33" presetID="22" presetClass="entr" presetSubtype="8" fill="hold" grpId="0" nodeType="withEffect">
                                  <p:stCondLst>
                                    <p:cond delay="75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1000"/>
                                        <p:tgtEl>
                                          <p:spTgt spid="11"/>
                                        </p:tgtEl>
                                      </p:cBhvr>
                                    </p:animEffect>
                                  </p:childTnLst>
                                </p:cTn>
                              </p:par>
                              <p:par>
                                <p:cTn id="36" presetID="22" presetClass="entr" presetSubtype="8" fill="hold" nodeType="withEffect">
                                  <p:stCondLst>
                                    <p:cond delay="75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1000"/>
                                        <p:tgtEl>
                                          <p:spTgt spid="14"/>
                                        </p:tgtEl>
                                      </p:cBhvr>
                                    </p:animEffect>
                                  </p:childTnLst>
                                </p:cTn>
                              </p:par>
                              <p:par>
                                <p:cTn id="39" presetID="42" presetClass="entr" presetSubtype="0" fill="hold" grpId="0" nodeType="withEffect">
                                  <p:stCondLst>
                                    <p:cond delay="125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750"/>
                                        <p:tgtEl>
                                          <p:spTgt spid="10"/>
                                        </p:tgtEl>
                                      </p:cBhvr>
                                    </p:animEffect>
                                    <p:anim calcmode="lin" valueType="num">
                                      <p:cBhvr>
                                        <p:cTn id="42" dur="750" fill="hold"/>
                                        <p:tgtEl>
                                          <p:spTgt spid="10"/>
                                        </p:tgtEl>
                                        <p:attrNameLst>
                                          <p:attrName>ppt_x</p:attrName>
                                        </p:attrNameLst>
                                      </p:cBhvr>
                                      <p:tavLst>
                                        <p:tav tm="0">
                                          <p:val>
                                            <p:strVal val="#ppt_x"/>
                                          </p:val>
                                        </p:tav>
                                        <p:tav tm="100000">
                                          <p:val>
                                            <p:strVal val="#ppt_x"/>
                                          </p:val>
                                        </p:tav>
                                      </p:tavLst>
                                    </p:anim>
                                    <p:anim calcmode="lin" valueType="num">
                                      <p:cBhvr>
                                        <p:cTn id="43" dur="7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4" grpId="1" animBg="1"/>
      <p:bldP spid="10" grpId="0"/>
      <p:bldP spid="11" grpId="0"/>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782934" y="818104"/>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16200000">
            <a:off x="750277" y="509361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4848879" y="381747"/>
            <a:ext cx="2959462" cy="646331"/>
          </a:xfrm>
          <a:prstGeom prst="rect">
            <a:avLst/>
          </a:prstGeom>
          <a:noFill/>
        </p:spPr>
        <p:txBody>
          <a:bodyPr wrap="square" rtlCol="0">
            <a:spAutoFit/>
          </a:bodyPr>
          <a:lstStyle/>
          <a:p>
            <a:pPr algn="ctr"/>
            <a:r>
              <a:rPr lang="zh-CN" altLang="en-US" sz="3600" b="1" spc="600" dirty="0">
                <a:solidFill>
                  <a:srgbClr val="654D2D"/>
                </a:solidFill>
                <a:latin typeface="幼圆" panose="02010509060101010101" pitchFamily="49" charset="-122"/>
                <a:ea typeface="幼圆" panose="02010509060101010101" pitchFamily="49" charset="-122"/>
              </a:rPr>
              <a:t>①对称优化</a:t>
            </a:r>
          </a:p>
        </p:txBody>
      </p:sp>
      <p:grpSp>
        <p:nvGrpSpPr>
          <p:cNvPr id="8" name="组合 7"/>
          <p:cNvGrpSpPr/>
          <p:nvPr/>
        </p:nvGrpSpPr>
        <p:grpSpPr>
          <a:xfrm>
            <a:off x="4442908" y="1183496"/>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11" name="文本框 10"/>
          <p:cNvSpPr txBox="1"/>
          <p:nvPr/>
        </p:nvSpPr>
        <p:spPr>
          <a:xfrm>
            <a:off x="1977188" y="1482469"/>
            <a:ext cx="8702843" cy="1667764"/>
          </a:xfrm>
          <a:prstGeom prst="rect">
            <a:avLst/>
          </a:prstGeom>
          <a:noFill/>
        </p:spPr>
        <p:txBody>
          <a:bodyPr wrap="square" rtlCol="0">
            <a:spAutoFit/>
          </a:bodyPr>
          <a:lstStyle/>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优化思路</a:t>
            </a:r>
            <a:endParaRPr lang="en-US" altLang="zh-CN" sz="2400" dirty="0">
              <a:solidFill>
                <a:srgbClr val="654D2D"/>
              </a:solidFill>
              <a:latin typeface="幼圆" panose="02010509060101010101" pitchFamily="49" charset="-122"/>
              <a:ea typeface="幼圆" panose="02010509060101010101" pitchFamily="49" charset="-122"/>
            </a:endParaRPr>
          </a:p>
          <a:p>
            <a:pPr>
              <a:lnSpc>
                <a:spcPct val="150000"/>
              </a:lnSpc>
            </a:pPr>
            <a:r>
              <a:rPr lang="zh-CN" altLang="zh-CN" sz="2400" dirty="0">
                <a:solidFill>
                  <a:srgbClr val="654D2D"/>
                </a:solidFill>
                <a:latin typeface="幼圆" panose="02010509060101010101" pitchFamily="49" charset="-122"/>
                <a:ea typeface="幼圆" panose="02010509060101010101" pitchFamily="49" charset="-122"/>
              </a:rPr>
              <a:t>对第一个点进行涂色时，选择不同颜色所产生的结果是对称的，即不同颜色产生分支最后的解数量是相等的，为解总数的</a:t>
            </a:r>
            <a:r>
              <a:rPr lang="en-US" altLang="zh-CN" sz="2400" dirty="0">
                <a:solidFill>
                  <a:srgbClr val="654D2D"/>
                </a:solidFill>
                <a:latin typeface="幼圆" panose="02010509060101010101" pitchFamily="49" charset="-122"/>
                <a:ea typeface="幼圆" panose="02010509060101010101" pitchFamily="49" charset="-122"/>
              </a:rPr>
              <a:t>1/m</a:t>
            </a:r>
            <a:r>
              <a:rPr lang="zh-CN" altLang="zh-CN" sz="2400" dirty="0">
                <a:solidFill>
                  <a:srgbClr val="654D2D"/>
                </a:solidFill>
                <a:latin typeface="幼圆" panose="02010509060101010101" pitchFamily="49" charset="-122"/>
                <a:ea typeface="幼圆" panose="02010509060101010101" pitchFamily="49" charset="-122"/>
              </a:rPr>
              <a:t>。</a:t>
            </a:r>
          </a:p>
        </p:txBody>
      </p:sp>
      <p:sp>
        <p:nvSpPr>
          <p:cNvPr id="12" name="矩形 11"/>
          <p:cNvSpPr/>
          <p:nvPr/>
        </p:nvSpPr>
        <p:spPr>
          <a:xfrm>
            <a:off x="11474380" y="5580119"/>
            <a:ext cx="95860" cy="571242"/>
          </a:xfrm>
          <a:prstGeom prst="rect">
            <a:avLst/>
          </a:pr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A8C58"/>
              </a:solidFill>
              <a:latin typeface="幼圆" panose="02010509060101010101" pitchFamily="49" charset="-122"/>
              <a:ea typeface="幼圆" panose="02010509060101010101" pitchFamily="49" charset="-122"/>
            </a:endParaRPr>
          </a:p>
        </p:txBody>
      </p:sp>
      <p:pic>
        <p:nvPicPr>
          <p:cNvPr id="13" name="图片 12"/>
          <p:cNvPicPr>
            <a:picLocks noChangeAspect="1"/>
          </p:cNvPicPr>
          <p:nvPr/>
        </p:nvPicPr>
        <p:blipFill>
          <a:blip r:embed="rId3"/>
          <a:stretch>
            <a:fillRect/>
          </a:stretch>
        </p:blipFill>
        <p:spPr>
          <a:xfrm>
            <a:off x="3971466" y="3429000"/>
            <a:ext cx="4714286" cy="3228571"/>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par>
                                <p:cTn id="19" presetID="42" presetClass="entr" presetSubtype="0" fill="hold" grpId="0" nodeType="withEffect">
                                  <p:stCondLst>
                                    <p:cond delay="125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par>
                                <p:cTn id="24" presetID="22" presetClass="entr" presetSubtype="4" fill="hold" grpId="0" nodeType="withEffect">
                                  <p:stCondLst>
                                    <p:cond delay="175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11" grpId="0"/>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5845" y="1208862"/>
            <a:ext cx="2913681" cy="4556501"/>
          </a:xfrm>
          <a:prstGeom prst="rect">
            <a:avLst/>
          </a:pr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任意多边形 2"/>
          <p:cNvSpPr/>
          <p:nvPr/>
        </p:nvSpPr>
        <p:spPr>
          <a:xfrm>
            <a:off x="4602997" y="1208862"/>
            <a:ext cx="6245815" cy="4556501"/>
          </a:xfrm>
          <a:custGeom>
            <a:avLst/>
            <a:gdLst>
              <a:gd name="connsiteX0" fmla="*/ 0 w 6245815"/>
              <a:gd name="connsiteY0" fmla="*/ 0 h 4556501"/>
              <a:gd name="connsiteX1" fmla="*/ 1689314 w 6245815"/>
              <a:gd name="connsiteY1" fmla="*/ 0 h 4556501"/>
              <a:gd name="connsiteX2" fmla="*/ 2448731 w 6245815"/>
              <a:gd name="connsiteY2" fmla="*/ 0 h 4556501"/>
              <a:gd name="connsiteX3" fmla="*/ 6245815 w 6245815"/>
              <a:gd name="connsiteY3" fmla="*/ 0 h 4556501"/>
              <a:gd name="connsiteX4" fmla="*/ 6245815 w 6245815"/>
              <a:gd name="connsiteY4" fmla="*/ 2448731 h 4556501"/>
              <a:gd name="connsiteX5" fmla="*/ 2448731 w 6245815"/>
              <a:gd name="connsiteY5" fmla="*/ 2448731 h 4556501"/>
              <a:gd name="connsiteX6" fmla="*/ 2448731 w 6245815"/>
              <a:gd name="connsiteY6" fmla="*/ 4556501 h 4556501"/>
              <a:gd name="connsiteX7" fmla="*/ 0 w 6245815"/>
              <a:gd name="connsiteY7" fmla="*/ 4556501 h 455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5815" h="4556501">
                <a:moveTo>
                  <a:pt x="0" y="0"/>
                </a:moveTo>
                <a:lnTo>
                  <a:pt x="1689314" y="0"/>
                </a:lnTo>
                <a:lnTo>
                  <a:pt x="2448731" y="0"/>
                </a:lnTo>
                <a:lnTo>
                  <a:pt x="6245815" y="0"/>
                </a:lnTo>
                <a:lnTo>
                  <a:pt x="6245815" y="2448731"/>
                </a:lnTo>
                <a:lnTo>
                  <a:pt x="2448731" y="2448731"/>
                </a:lnTo>
                <a:lnTo>
                  <a:pt x="2448731" y="4556501"/>
                </a:lnTo>
                <a:lnTo>
                  <a:pt x="0" y="4556501"/>
                </a:lnTo>
                <a:close/>
              </a:path>
            </a:pathLst>
          </a:cu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243245" y="0"/>
            <a:ext cx="2101729" cy="2105813"/>
            <a:chOff x="1363852" y="1334797"/>
            <a:chExt cx="2101729" cy="2105813"/>
          </a:xfrm>
        </p:grpSpPr>
        <p:cxnSp>
          <p:nvCxnSpPr>
            <p:cNvPr id="5" name="直接连接符 4"/>
            <p:cNvCxnSpPr/>
            <p:nvPr/>
          </p:nvCxnSpPr>
          <p:spPr>
            <a:xfrm flipH="1" flipV="1">
              <a:off x="2216258" y="2278251"/>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6" name="直接连接符 5"/>
            <p:cNvCxnSpPr/>
            <p:nvPr/>
          </p:nvCxnSpPr>
          <p:spPr>
            <a:xfrm flipH="1" flipV="1">
              <a:off x="1928196" y="1334797"/>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1363852" y="2109707"/>
              <a:ext cx="995288" cy="926007"/>
            </a:xfrm>
            <a:prstGeom prst="line">
              <a:avLst/>
            </a:prstGeom>
            <a:ln>
              <a:gradFill>
                <a:gsLst>
                  <a:gs pos="100000">
                    <a:srgbClr val="DCCBA8">
                      <a:alpha val="16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8" name="文本框 7"/>
          <p:cNvSpPr txBox="1"/>
          <p:nvPr/>
        </p:nvSpPr>
        <p:spPr>
          <a:xfrm>
            <a:off x="4677436" y="392918"/>
            <a:ext cx="2837128" cy="769441"/>
          </a:xfrm>
          <a:prstGeom prst="rect">
            <a:avLst/>
          </a:prstGeom>
          <a:noFill/>
        </p:spPr>
        <p:txBody>
          <a:bodyPr wrap="square" rtlCol="0">
            <a:spAutoFit/>
          </a:bodyPr>
          <a:lstStyle/>
          <a:p>
            <a:r>
              <a:rPr lang="zh-CN" altLang="en-US" sz="4400" b="1" dirty="0">
                <a:solidFill>
                  <a:srgbClr val="654D2D"/>
                </a:solidFill>
                <a:latin typeface="幼圆" panose="02010509060101010101" pitchFamily="49" charset="-122"/>
                <a:ea typeface="幼圆" panose="02010509060101010101" pitchFamily="49" charset="-122"/>
              </a:rPr>
              <a:t>优化分析</a:t>
            </a:r>
          </a:p>
        </p:txBody>
      </p:sp>
      <p:sp>
        <p:nvSpPr>
          <p:cNvPr id="11" name="矩形 10"/>
          <p:cNvSpPr/>
          <p:nvPr/>
        </p:nvSpPr>
        <p:spPr>
          <a:xfrm>
            <a:off x="1855894" y="2259677"/>
            <a:ext cx="8480212" cy="3415030"/>
          </a:xfrm>
          <a:prstGeom prst="rect">
            <a:avLst/>
          </a:prstGeom>
        </p:spPr>
        <p:txBody>
          <a:bodyPr wrap="square">
            <a:spAutoFit/>
          </a:bodyPr>
          <a:lstStyle/>
          <a:p>
            <a:pPr>
              <a:lnSpc>
                <a:spcPct val="150000"/>
              </a:lnSpc>
            </a:pPr>
            <a:r>
              <a:rPr lang="zh-CN" altLang="en-US" sz="2400" b="1" dirty="0">
                <a:latin typeface="幼圆" panose="02010509060101010101" pitchFamily="49" charset="-122"/>
                <a:ea typeface="幼圆" panose="02010509060101010101" pitchFamily="49" charset="-122"/>
              </a:rPr>
              <a:t>分析可知，该优化简单，而能使最终的时间消耗缩减至原算法的</a:t>
            </a:r>
            <a:r>
              <a:rPr lang="en-US" altLang="zh-CN" sz="2400" b="1" dirty="0">
                <a:latin typeface="幼圆" panose="02010509060101010101" pitchFamily="49" charset="-122"/>
                <a:ea typeface="幼圆" panose="02010509060101010101" pitchFamily="49" charset="-122"/>
              </a:rPr>
              <a:t>1/m</a:t>
            </a:r>
            <a:r>
              <a:rPr lang="zh-CN" altLang="en-US" sz="2400" b="1" dirty="0">
                <a:latin typeface="幼圆" panose="02010509060101010101" pitchFamily="49" charset="-122"/>
                <a:ea typeface="幼圆" panose="02010509060101010101" pitchFamily="49" charset="-122"/>
              </a:rPr>
              <a:t>。</a:t>
            </a:r>
            <a:endParaRPr lang="en-US" altLang="zh-CN" sz="2400" b="1" dirty="0">
              <a:latin typeface="幼圆" panose="02010509060101010101" pitchFamily="49" charset="-122"/>
              <a:ea typeface="幼圆" panose="02010509060101010101" pitchFamily="49" charset="-122"/>
            </a:endParaRPr>
          </a:p>
          <a:p>
            <a:pPr>
              <a:lnSpc>
                <a:spcPct val="150000"/>
              </a:lnSpc>
            </a:pPr>
            <a:endParaRPr lang="en-US" altLang="zh-CN" sz="2400" b="1"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但其对根节点之外的节点产生的子树并没有剪枝的效果，只是使用了数学方法减小了得到所有解的时间。而数据规模较大时，该方法得到第一个可行解所需的时间依然过大。</a:t>
            </a:r>
            <a:endParaRPr lang="zh-CN" altLang="zh-CN" sz="2400" dirty="0">
              <a:latin typeface="幼圆" panose="02010509060101010101" pitchFamily="49" charset="-122"/>
              <a:ea typeface="幼圆" panose="02010509060101010101" pitchFamily="49" charset="-122"/>
            </a:endParaRPr>
          </a:p>
        </p:txBody>
      </p:sp>
      <p:grpSp>
        <p:nvGrpSpPr>
          <p:cNvPr id="12" name="组合 11"/>
          <p:cNvGrpSpPr/>
          <p:nvPr/>
        </p:nvGrpSpPr>
        <p:grpSpPr>
          <a:xfrm>
            <a:off x="9167351" y="5042543"/>
            <a:ext cx="1681461" cy="1445640"/>
            <a:chOff x="6581411" y="4593098"/>
            <a:chExt cx="1681461" cy="1445640"/>
          </a:xfrm>
        </p:grpSpPr>
        <p:cxnSp>
          <p:nvCxnSpPr>
            <p:cNvPr id="13" name="直接连接符 12"/>
            <p:cNvCxnSpPr/>
            <p:nvPr/>
          </p:nvCxnSpPr>
          <p:spPr>
            <a:xfrm flipH="1">
              <a:off x="6581411" y="4593098"/>
              <a:ext cx="1368280" cy="998853"/>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6698438" y="5565589"/>
              <a:ext cx="1448818" cy="473149"/>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H="1" flipV="1">
              <a:off x="8031639" y="4671958"/>
              <a:ext cx="231233" cy="1366780"/>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9" fill="hold" nodeType="withEffect">
                                  <p:stCondLst>
                                    <p:cond delay="7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0-#ppt_w/2"/>
                                          </p:val>
                                        </p:tav>
                                        <p:tav tm="100000">
                                          <p:val>
                                            <p:strVal val="#ppt_x"/>
                                          </p:val>
                                        </p:tav>
                                      </p:tavLst>
                                    </p:anim>
                                    <p:anim calcmode="lin" valueType="num">
                                      <p:cBhvr additive="base">
                                        <p:cTn id="11" dur="750" fill="hold"/>
                                        <p:tgtEl>
                                          <p:spTgt spid="4"/>
                                        </p:tgtEl>
                                        <p:attrNameLst>
                                          <p:attrName>ppt_y</p:attrName>
                                        </p:attrNameLst>
                                      </p:cBhvr>
                                      <p:tavLst>
                                        <p:tav tm="0">
                                          <p:val>
                                            <p:strVal val="0-#ppt_h/2"/>
                                          </p:val>
                                        </p:tav>
                                        <p:tav tm="100000">
                                          <p:val>
                                            <p:strVal val="#ppt_y"/>
                                          </p:val>
                                        </p:tav>
                                      </p:tavLst>
                                    </p:anim>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1000"/>
                                        <p:tgtEl>
                                          <p:spTgt spid="8"/>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6" presetClass="entr" presetSubtype="16"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V="1">
            <a:off x="769257" y="3778020"/>
            <a:ext cx="0" cy="5400000"/>
          </a:xfrm>
          <a:prstGeom prst="line">
            <a:avLst/>
          </a:prstGeom>
          <a:ln w="12700">
            <a:gradFill>
              <a:gsLst>
                <a:gs pos="15000">
                  <a:srgbClr val="C4BB98">
                    <a:alpha val="12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rot="5400000" flipV="1">
            <a:off x="-2177829" y="-4640986"/>
            <a:ext cx="0" cy="10800000"/>
          </a:xfrm>
          <a:prstGeom prst="line">
            <a:avLst/>
          </a:prstGeom>
          <a:ln w="12700">
            <a:gradFill>
              <a:gsLst>
                <a:gs pos="10000">
                  <a:srgbClr val="C4BB98">
                    <a:alpha val="14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1399157" y="-2171700"/>
            <a:ext cx="0" cy="5400000"/>
          </a:xfrm>
          <a:prstGeom prst="line">
            <a:avLst/>
          </a:prstGeom>
          <a:ln w="12700">
            <a:gradFill>
              <a:gsLst>
                <a:gs pos="16000">
                  <a:srgbClr val="C4BB98">
                    <a:alpha val="10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16200000" flipH="1" flipV="1">
            <a:off x="14365293" y="699657"/>
            <a:ext cx="0" cy="10800000"/>
          </a:xfrm>
          <a:prstGeom prst="line">
            <a:avLst/>
          </a:prstGeom>
          <a:ln w="12700">
            <a:gradFill>
              <a:gsLst>
                <a:gs pos="11000">
                  <a:srgbClr val="C4BB98">
                    <a:alpha val="14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9395460" y="3778020"/>
            <a:ext cx="0" cy="1731240"/>
          </a:xfrm>
          <a:prstGeom prst="line">
            <a:avLst/>
          </a:prstGeom>
          <a:ln w="31750">
            <a:gradFill>
              <a:gsLst>
                <a:gs pos="0">
                  <a:srgbClr val="C4BB98">
                    <a:alpha val="64000"/>
                  </a:srgbClr>
                </a:gs>
                <a:gs pos="100000">
                  <a:srgbClr val="A89A68"/>
                </a:gs>
              </a:gsLst>
              <a:lin ang="4800000" scaled="0"/>
            </a:gra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846209" y="350873"/>
            <a:ext cx="4531668" cy="646331"/>
          </a:xfrm>
          <a:prstGeom prst="rect">
            <a:avLst/>
          </a:prstGeom>
          <a:noFill/>
        </p:spPr>
        <p:txBody>
          <a:bodyPr wrap="square" rtlCol="0">
            <a:spAutoFit/>
          </a:bodyPr>
          <a:lstStyle/>
          <a:p>
            <a:pPr algn="ctr"/>
            <a:r>
              <a:rPr lang="zh-CN" altLang="en-US" sz="3600" b="1" spc="600" dirty="0">
                <a:solidFill>
                  <a:srgbClr val="654D2D"/>
                </a:solidFill>
                <a:latin typeface="幼圆" panose="02010509060101010101" pitchFamily="49" charset="-122"/>
                <a:ea typeface="幼圆" panose="02010509060101010101" pitchFamily="49" charset="-122"/>
              </a:rPr>
              <a:t>②单次度排序剪枝</a:t>
            </a:r>
          </a:p>
        </p:txBody>
      </p:sp>
      <p:grpSp>
        <p:nvGrpSpPr>
          <p:cNvPr id="15" name="组合 14"/>
          <p:cNvGrpSpPr/>
          <p:nvPr/>
        </p:nvGrpSpPr>
        <p:grpSpPr>
          <a:xfrm>
            <a:off x="4226342" y="1115035"/>
            <a:ext cx="3771406" cy="269329"/>
            <a:chOff x="7198852" y="1472339"/>
            <a:chExt cx="3771406" cy="269329"/>
          </a:xfrm>
        </p:grpSpPr>
        <p:cxnSp>
          <p:nvCxnSpPr>
            <p:cNvPr id="16" name="直接连接符 15"/>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7" name="椭圆 16"/>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18" name="文本框 17"/>
          <p:cNvSpPr txBox="1"/>
          <p:nvPr/>
        </p:nvSpPr>
        <p:spPr>
          <a:xfrm>
            <a:off x="906929" y="1313943"/>
            <a:ext cx="10410228" cy="2868093"/>
          </a:xfrm>
          <a:prstGeom prst="rect">
            <a:avLst/>
          </a:prstGeom>
          <a:noFill/>
        </p:spPr>
        <p:txBody>
          <a:bodyPr wrap="square" rtlCol="0">
            <a:spAutoFit/>
          </a:bodyPr>
          <a:lstStyle/>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优化思路</a:t>
            </a:r>
            <a:endParaRPr lang="en-US" altLang="zh-CN" sz="2400" dirty="0">
              <a:solidFill>
                <a:srgbClr val="654D2D"/>
              </a:solidFill>
              <a:latin typeface="幼圆" panose="02010509060101010101" pitchFamily="49" charset="-122"/>
              <a:ea typeface="幼圆" panose="02010509060101010101" pitchFamily="49" charset="-122"/>
            </a:endParaRPr>
          </a:p>
          <a:p>
            <a:pPr algn="ctr">
              <a:lnSpc>
                <a:spcPct val="150000"/>
              </a:lnSpc>
            </a:pPr>
            <a:r>
              <a:rPr lang="en-US" altLang="zh-CN" sz="2800" b="1" dirty="0">
                <a:solidFill>
                  <a:srgbClr val="654D2D"/>
                </a:solidFill>
                <a:latin typeface="幼圆" panose="02010509060101010101" pitchFamily="49" charset="-122"/>
                <a:ea typeface="幼圆" panose="02010509060101010101" pitchFamily="49" charset="-122"/>
              </a:rPr>
              <a:t>DH</a:t>
            </a:r>
            <a:r>
              <a:rPr lang="zh-CN" altLang="en-US" sz="2800" b="1" dirty="0">
                <a:solidFill>
                  <a:srgbClr val="654D2D"/>
                </a:solidFill>
                <a:latin typeface="幼圆" panose="02010509060101010101" pitchFamily="49" charset="-122"/>
                <a:ea typeface="幼圆" panose="02010509060101010101" pitchFamily="49" charset="-122"/>
              </a:rPr>
              <a:t>准则：优先搜索邻边数量最多</a:t>
            </a:r>
            <a:r>
              <a:rPr lang="en-US" altLang="zh-CN" sz="2800" b="1" dirty="0">
                <a:solidFill>
                  <a:srgbClr val="654D2D"/>
                </a:solidFill>
                <a:latin typeface="幼圆" panose="02010509060101010101" pitchFamily="49" charset="-122"/>
                <a:ea typeface="幼圆" panose="02010509060101010101" pitchFamily="49" charset="-122"/>
              </a:rPr>
              <a:t>(</a:t>
            </a:r>
            <a:r>
              <a:rPr lang="zh-CN" altLang="en-US" sz="2800" b="1" dirty="0">
                <a:solidFill>
                  <a:srgbClr val="654D2D"/>
                </a:solidFill>
                <a:latin typeface="幼圆" panose="02010509060101010101" pitchFamily="49" charset="-122"/>
                <a:ea typeface="幼圆" panose="02010509060101010101" pitchFamily="49" charset="-122"/>
              </a:rPr>
              <a:t>即度最大</a:t>
            </a:r>
            <a:r>
              <a:rPr lang="en-US" altLang="zh-CN" sz="2800" b="1" dirty="0">
                <a:solidFill>
                  <a:srgbClr val="654D2D"/>
                </a:solidFill>
                <a:latin typeface="幼圆" panose="02010509060101010101" pitchFamily="49" charset="-122"/>
                <a:ea typeface="幼圆" panose="02010509060101010101" pitchFamily="49" charset="-122"/>
              </a:rPr>
              <a:t>)</a:t>
            </a:r>
            <a:r>
              <a:rPr lang="zh-CN" altLang="en-US" sz="2800" b="1" dirty="0">
                <a:solidFill>
                  <a:srgbClr val="654D2D"/>
                </a:solidFill>
                <a:latin typeface="幼圆" panose="02010509060101010101" pitchFamily="49" charset="-122"/>
                <a:ea typeface="幼圆" panose="02010509060101010101" pitchFamily="49" charset="-122"/>
              </a:rPr>
              <a:t>的节点。</a:t>
            </a: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单次度排序剪枝符合</a:t>
            </a:r>
            <a:r>
              <a:rPr lang="en-US" altLang="zh-CN" sz="2400" dirty="0">
                <a:solidFill>
                  <a:srgbClr val="654D2D"/>
                </a:solidFill>
                <a:latin typeface="幼圆" panose="02010509060101010101" pitchFamily="49" charset="-122"/>
                <a:ea typeface="幼圆" panose="02010509060101010101" pitchFamily="49" charset="-122"/>
              </a:rPr>
              <a:t>DH</a:t>
            </a:r>
            <a:r>
              <a:rPr lang="zh-CN" altLang="en-US" sz="2400" dirty="0">
                <a:solidFill>
                  <a:srgbClr val="654D2D"/>
                </a:solidFill>
                <a:latin typeface="幼圆" panose="02010509060101010101" pitchFamily="49" charset="-122"/>
                <a:ea typeface="幼圆" panose="02010509060101010101" pitchFamily="49" charset="-122"/>
              </a:rPr>
              <a:t>准则，但只在涂色前对所有节点按度数降序排序一次。</a:t>
            </a: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按度数降序排序后，依次对节点涂色，可以对更多节点产生约束能使无解的分支更快结束，回溯，从而达到剪枝的效果。</a:t>
            </a:r>
          </a:p>
        </p:txBody>
      </p:sp>
      <p:pic>
        <p:nvPicPr>
          <p:cNvPr id="22" name="图片 21"/>
          <p:cNvPicPr>
            <a:picLocks noChangeAspect="1"/>
          </p:cNvPicPr>
          <p:nvPr/>
        </p:nvPicPr>
        <p:blipFill>
          <a:blip r:embed="rId3"/>
          <a:stretch>
            <a:fillRect/>
          </a:stretch>
        </p:blipFill>
        <p:spPr>
          <a:xfrm>
            <a:off x="3392996" y="4498776"/>
            <a:ext cx="5438095" cy="2219048"/>
          </a:xfrm>
          <a:prstGeom prst="rect">
            <a:avLst/>
          </a:prstGeom>
        </p:spPr>
      </p:pic>
    </p:spTree>
  </p:cSld>
  <p:clrMapOvr>
    <a:masterClrMapping/>
  </p:clrMapOvr>
  <mc:AlternateContent xmlns:mc="http://schemas.openxmlformats.org/markup-compatibility/2006" xmlns:p15="http://schemas.microsoft.com/office/powerpoint/2012/main">
    <mc:Choice Requires="p15">
      <p:transition spd="slow">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500"/>
                                        <p:tgtEl>
                                          <p:spTgt spid="3"/>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500"/>
                                        <p:tgtEl>
                                          <p:spTgt spid="4"/>
                                        </p:tgtEl>
                                      </p:cBhvr>
                                    </p:animEffect>
                                  </p:childTnLst>
                                </p:cTn>
                              </p:par>
                              <p:par>
                                <p:cTn id="11" presetID="22" presetClass="entr" presetSubtype="2"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500"/>
                                        <p:tgtEl>
                                          <p:spTgt spid="5"/>
                                        </p:tgtEl>
                                      </p:cBhvr>
                                    </p:animEffect>
                                  </p:childTnLst>
                                </p:cTn>
                              </p:par>
                              <p:par>
                                <p:cTn id="14" presetID="22" presetClass="entr" presetSubtype="4"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1500"/>
                                        <p:tgtEl>
                                          <p:spTgt spid="2"/>
                                        </p:tgtEl>
                                      </p:cBhvr>
                                    </p:animEffect>
                                  </p:childTnLst>
                                </p:cTn>
                              </p:par>
                              <p:par>
                                <p:cTn id="17" presetID="63" presetClass="path" presetSubtype="0" accel="50000" decel="50000" fill="hold" nodeType="withEffect">
                                  <p:stCondLst>
                                    <p:cond delay="0"/>
                                  </p:stCondLst>
                                  <p:childTnLst>
                                    <p:animMotion origin="layout" path="M -4.16667E-6 1.85185E-6 L 0.64558 1.85185E-6 " pathEditMode="relative" rAng="0" ptsTypes="AA">
                                      <p:cBhvr>
                                        <p:cTn id="18" dur="2000" fill="hold"/>
                                        <p:tgtEl>
                                          <p:spTgt spid="3"/>
                                        </p:tgtEl>
                                        <p:attrNameLst>
                                          <p:attrName>ppt_x</p:attrName>
                                          <p:attrName>ppt_y</p:attrName>
                                        </p:attrNameLst>
                                      </p:cBhvr>
                                      <p:rCtr x="32279" y="0"/>
                                    </p:animMotion>
                                  </p:childTnLst>
                                </p:cTn>
                              </p:par>
                              <p:par>
                                <p:cTn id="19" presetID="42" presetClass="path" presetSubtype="0" accel="50000" decel="50000" fill="hold" nodeType="withEffect">
                                  <p:stCondLst>
                                    <p:cond delay="0"/>
                                  </p:stCondLst>
                                  <p:childTnLst>
                                    <p:animMotion origin="layout" path="M 3.95833E-6 -3.33333E-6 L 3.95833E-6 0.36621 " pathEditMode="relative" rAng="0" ptsTypes="AA">
                                      <p:cBhvr>
                                        <p:cTn id="20" dur="2000" fill="hold"/>
                                        <p:tgtEl>
                                          <p:spTgt spid="4"/>
                                        </p:tgtEl>
                                        <p:attrNameLst>
                                          <p:attrName>ppt_x</p:attrName>
                                          <p:attrName>ppt_y</p:attrName>
                                        </p:attrNameLst>
                                      </p:cBhvr>
                                      <p:rCtr x="0" y="18310"/>
                                    </p:animMotion>
                                  </p:childTnLst>
                                </p:cTn>
                              </p:par>
                              <p:par>
                                <p:cTn id="21" presetID="35" presetClass="path" presetSubtype="0" accel="50000" decel="50000" fill="hold" nodeType="withEffect">
                                  <p:stCondLst>
                                    <p:cond delay="0"/>
                                  </p:stCondLst>
                                  <p:childTnLst>
                                    <p:animMotion origin="layout" path="M 4.79167E-6 -1.85185E-6 L -0.63829 -1.85185E-6 " pathEditMode="relative" rAng="0" ptsTypes="AA">
                                      <p:cBhvr>
                                        <p:cTn id="22" dur="2000" fill="hold"/>
                                        <p:tgtEl>
                                          <p:spTgt spid="5"/>
                                        </p:tgtEl>
                                        <p:attrNameLst>
                                          <p:attrName>ppt_x</p:attrName>
                                          <p:attrName>ppt_y</p:attrName>
                                        </p:attrNameLst>
                                      </p:cBhvr>
                                      <p:rCtr x="-31914" y="0"/>
                                    </p:animMotion>
                                  </p:childTnLst>
                                </p:cTn>
                              </p:par>
                              <p:par>
                                <p:cTn id="23" presetID="64" presetClass="path" presetSubtype="0" accel="50000" decel="50000" fill="hold" nodeType="withEffect">
                                  <p:stCondLst>
                                    <p:cond delay="0"/>
                                  </p:stCondLst>
                                  <p:childTnLst>
                                    <p:animMotion origin="layout" path="M -1.04167E-6 -4.44444E-6 L -1.04167E-6 -0.39375 " pathEditMode="relative" rAng="0" ptsTypes="AA">
                                      <p:cBhvr>
                                        <p:cTn id="24" dur="2000" fill="hold"/>
                                        <p:tgtEl>
                                          <p:spTgt spid="2"/>
                                        </p:tgtEl>
                                        <p:attrNameLst>
                                          <p:attrName>ppt_x</p:attrName>
                                          <p:attrName>ppt_y</p:attrName>
                                        </p:attrNameLst>
                                      </p:cBhvr>
                                      <p:rCtr x="0" y="-19699"/>
                                    </p:animMotion>
                                  </p:childTnLst>
                                </p:cTn>
                              </p:par>
                              <p:par>
                                <p:cTn id="25" presetID="2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750"/>
                                        <p:tgtEl>
                                          <p:spTgt spid="13"/>
                                        </p:tgtEl>
                                      </p:cBhvr>
                                    </p:animEffect>
                                  </p:childTnLst>
                                </p:cTn>
                              </p:par>
                              <p:par>
                                <p:cTn id="28" presetID="64" presetClass="path" presetSubtype="0" accel="50000" decel="50000" fill="hold" nodeType="withEffect">
                                  <p:stCondLst>
                                    <p:cond delay="0"/>
                                  </p:stCondLst>
                                  <p:childTnLst>
                                    <p:animMotion origin="layout" path="M -2.91667E-6 -3.33333E-6 L -2.91667E-6 -0.3537 " pathEditMode="relative" rAng="0" ptsTypes="AA">
                                      <p:cBhvr>
                                        <p:cTn id="29" dur="1500" fill="hold"/>
                                        <p:tgtEl>
                                          <p:spTgt spid="13"/>
                                        </p:tgtEl>
                                        <p:attrNameLst>
                                          <p:attrName>ppt_x</p:attrName>
                                          <p:attrName>ppt_y</p:attrName>
                                        </p:attrNameLst>
                                      </p:cBhvr>
                                      <p:rCtr x="0" y="-17685"/>
                                    </p:animMotion>
                                  </p:childTnLst>
                                </p:cTn>
                              </p:par>
                              <p:par>
                                <p:cTn id="30" presetID="22" presetClass="exit" presetSubtype="4" fill="hold" nodeType="withEffect">
                                  <p:stCondLst>
                                    <p:cond delay="500"/>
                                  </p:stCondLst>
                                  <p:childTnLst>
                                    <p:animEffect transition="out" filter="wipe(down)">
                                      <p:cBhvr>
                                        <p:cTn id="31" dur="1250"/>
                                        <p:tgtEl>
                                          <p:spTgt spid="13"/>
                                        </p:tgtEl>
                                      </p:cBhvr>
                                    </p:animEffect>
                                    <p:set>
                                      <p:cBhvr>
                                        <p:cTn id="32" dur="1" fill="hold">
                                          <p:stCondLst>
                                            <p:cond delay="1249"/>
                                          </p:stCondLst>
                                        </p:cTn>
                                        <p:tgtEl>
                                          <p:spTgt spid="13"/>
                                        </p:tgtEl>
                                        <p:attrNameLst>
                                          <p:attrName>style.visibility</p:attrName>
                                        </p:attrNameLst>
                                      </p:cBhvr>
                                      <p:to>
                                        <p:strVal val="hidden"/>
                                      </p:to>
                                    </p:set>
                                  </p:childTnLst>
                                </p:cTn>
                              </p:par>
                            </p:childTnLst>
                          </p:cTn>
                        </p:par>
                        <p:par>
                          <p:cTn id="33" fill="hold">
                            <p:stCondLst>
                              <p:cond delay="1500"/>
                            </p:stCondLst>
                            <p:childTnLst>
                              <p:par>
                                <p:cTn id="34" presetID="2" presetClass="entr" presetSubtype="1"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1000" fill="hold"/>
                                        <p:tgtEl>
                                          <p:spTgt spid="14"/>
                                        </p:tgtEl>
                                        <p:attrNameLst>
                                          <p:attrName>ppt_x</p:attrName>
                                        </p:attrNameLst>
                                      </p:cBhvr>
                                      <p:tavLst>
                                        <p:tav tm="0">
                                          <p:val>
                                            <p:strVal val="#ppt_x"/>
                                          </p:val>
                                        </p:tav>
                                        <p:tav tm="100000">
                                          <p:val>
                                            <p:strVal val="#ppt_x"/>
                                          </p:val>
                                        </p:tav>
                                      </p:tavLst>
                                    </p:anim>
                                    <p:anim calcmode="lin" valueType="num">
                                      <p:cBhvr additive="base">
                                        <p:cTn id="37" dur="1000" fill="hold"/>
                                        <p:tgtEl>
                                          <p:spTgt spid="14"/>
                                        </p:tgtEl>
                                        <p:attrNameLst>
                                          <p:attrName>ppt_y</p:attrName>
                                        </p:attrNameLst>
                                      </p:cBhvr>
                                      <p:tavLst>
                                        <p:tav tm="0">
                                          <p:val>
                                            <p:strVal val="0-#ppt_h/2"/>
                                          </p:val>
                                        </p:tav>
                                        <p:tav tm="100000">
                                          <p:val>
                                            <p:strVal val="#ppt_y"/>
                                          </p:val>
                                        </p:tav>
                                      </p:tavLst>
                                    </p:anim>
                                  </p:childTnLst>
                                </p:cTn>
                              </p:par>
                              <p:par>
                                <p:cTn id="38" presetID="16" presetClass="entr" presetSubtype="21" fill="hold"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10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flipH="1">
            <a:off x="10608161" y="85969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5400000" flipH="1">
            <a:off x="10575504" y="5135200"/>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984639" y="543013"/>
            <a:ext cx="3590497" cy="584775"/>
          </a:xfrm>
          <a:prstGeom prst="rect">
            <a:avLst/>
          </a:prstGeom>
          <a:noFill/>
        </p:spPr>
        <p:txBody>
          <a:bodyPr wrap="square" rtlCol="0">
            <a:spAutoFit/>
          </a:bodyPr>
          <a:lstStyle/>
          <a:p>
            <a:pPr algn="ctr"/>
            <a:r>
              <a:rPr lang="zh-CN" altLang="en-US" sz="3200" spc="600" dirty="0">
                <a:solidFill>
                  <a:srgbClr val="654D2D"/>
                </a:solidFill>
                <a:latin typeface="幼圆" panose="02010509060101010101" pitchFamily="49" charset="-122"/>
                <a:ea typeface="幼圆" panose="02010509060101010101" pitchFamily="49" charset="-122"/>
              </a:rPr>
              <a:t>结构体与伪代码</a:t>
            </a:r>
          </a:p>
        </p:txBody>
      </p:sp>
      <p:grpSp>
        <p:nvGrpSpPr>
          <p:cNvPr id="8" name="组合 7"/>
          <p:cNvGrpSpPr/>
          <p:nvPr/>
        </p:nvGrpSpPr>
        <p:grpSpPr>
          <a:xfrm>
            <a:off x="3894186" y="1138662"/>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grpSp>
      <p:pic>
        <p:nvPicPr>
          <p:cNvPr id="13" name="图片 12"/>
          <p:cNvPicPr>
            <a:picLocks noChangeAspect="1"/>
          </p:cNvPicPr>
          <p:nvPr/>
        </p:nvPicPr>
        <p:blipFill>
          <a:blip r:embed="rId3"/>
          <a:stretch>
            <a:fillRect/>
          </a:stretch>
        </p:blipFill>
        <p:spPr>
          <a:xfrm>
            <a:off x="357212" y="2936167"/>
            <a:ext cx="4419048" cy="1914286"/>
          </a:xfrm>
          <a:prstGeom prst="rect">
            <a:avLst/>
          </a:prstGeom>
        </p:spPr>
      </p:pic>
      <p:pic>
        <p:nvPicPr>
          <p:cNvPr id="15" name="图片 14"/>
          <p:cNvPicPr>
            <a:picLocks noChangeAspect="1"/>
          </p:cNvPicPr>
          <p:nvPr/>
        </p:nvPicPr>
        <p:blipFill>
          <a:blip r:embed="rId4"/>
          <a:stretch>
            <a:fillRect/>
          </a:stretch>
        </p:blipFill>
        <p:spPr>
          <a:xfrm>
            <a:off x="5346751" y="2036167"/>
            <a:ext cx="5523809" cy="37142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anim calcmode="lin" valueType="num">
                                      <p:cBhvr>
                                        <p:cTn id="24" dur="1000" fill="hold"/>
                                        <p:tgtEl>
                                          <p:spTgt spid="13"/>
                                        </p:tgtEl>
                                        <p:attrNameLst>
                                          <p:attrName>ppt_x</p:attrName>
                                        </p:attrNameLst>
                                      </p:cBhvr>
                                      <p:tavLst>
                                        <p:tav tm="0">
                                          <p:val>
                                            <p:strVal val="#ppt_x"/>
                                          </p:val>
                                        </p:tav>
                                        <p:tav tm="100000">
                                          <p:val>
                                            <p:strVal val="#ppt_x"/>
                                          </p:val>
                                        </p:tav>
                                      </p:tavLst>
                                    </p:anim>
                                    <p:anim calcmode="lin" valueType="num">
                                      <p:cBhvr>
                                        <p:cTn id="25" dur="1000" fill="hold"/>
                                        <p:tgtEl>
                                          <p:spTgt spid="1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5845" y="1208862"/>
            <a:ext cx="2913681" cy="4556501"/>
          </a:xfrm>
          <a:prstGeom prst="rect">
            <a:avLst/>
          </a:pr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任意多边形 2"/>
          <p:cNvSpPr/>
          <p:nvPr/>
        </p:nvSpPr>
        <p:spPr>
          <a:xfrm>
            <a:off x="4602997" y="1208862"/>
            <a:ext cx="6245815" cy="4556501"/>
          </a:xfrm>
          <a:custGeom>
            <a:avLst/>
            <a:gdLst>
              <a:gd name="connsiteX0" fmla="*/ 0 w 6245815"/>
              <a:gd name="connsiteY0" fmla="*/ 0 h 4556501"/>
              <a:gd name="connsiteX1" fmla="*/ 1689314 w 6245815"/>
              <a:gd name="connsiteY1" fmla="*/ 0 h 4556501"/>
              <a:gd name="connsiteX2" fmla="*/ 2448731 w 6245815"/>
              <a:gd name="connsiteY2" fmla="*/ 0 h 4556501"/>
              <a:gd name="connsiteX3" fmla="*/ 6245815 w 6245815"/>
              <a:gd name="connsiteY3" fmla="*/ 0 h 4556501"/>
              <a:gd name="connsiteX4" fmla="*/ 6245815 w 6245815"/>
              <a:gd name="connsiteY4" fmla="*/ 2448731 h 4556501"/>
              <a:gd name="connsiteX5" fmla="*/ 2448731 w 6245815"/>
              <a:gd name="connsiteY5" fmla="*/ 2448731 h 4556501"/>
              <a:gd name="connsiteX6" fmla="*/ 2448731 w 6245815"/>
              <a:gd name="connsiteY6" fmla="*/ 4556501 h 4556501"/>
              <a:gd name="connsiteX7" fmla="*/ 0 w 6245815"/>
              <a:gd name="connsiteY7" fmla="*/ 4556501 h 455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5815" h="4556501">
                <a:moveTo>
                  <a:pt x="0" y="0"/>
                </a:moveTo>
                <a:lnTo>
                  <a:pt x="1689314" y="0"/>
                </a:lnTo>
                <a:lnTo>
                  <a:pt x="2448731" y="0"/>
                </a:lnTo>
                <a:lnTo>
                  <a:pt x="6245815" y="0"/>
                </a:lnTo>
                <a:lnTo>
                  <a:pt x="6245815" y="2448731"/>
                </a:lnTo>
                <a:lnTo>
                  <a:pt x="2448731" y="2448731"/>
                </a:lnTo>
                <a:lnTo>
                  <a:pt x="2448731" y="4556501"/>
                </a:lnTo>
                <a:lnTo>
                  <a:pt x="0" y="4556501"/>
                </a:lnTo>
                <a:close/>
              </a:path>
            </a:pathLst>
          </a:cu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243245" y="0"/>
            <a:ext cx="2101729" cy="2105813"/>
            <a:chOff x="1363852" y="1334797"/>
            <a:chExt cx="2101729" cy="2105813"/>
          </a:xfrm>
        </p:grpSpPr>
        <p:cxnSp>
          <p:nvCxnSpPr>
            <p:cNvPr id="5" name="直接连接符 4"/>
            <p:cNvCxnSpPr/>
            <p:nvPr/>
          </p:nvCxnSpPr>
          <p:spPr>
            <a:xfrm flipH="1" flipV="1">
              <a:off x="2216258" y="2278251"/>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6" name="直接连接符 5"/>
            <p:cNvCxnSpPr/>
            <p:nvPr/>
          </p:nvCxnSpPr>
          <p:spPr>
            <a:xfrm flipH="1" flipV="1">
              <a:off x="1928196" y="1334797"/>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1363852" y="2109707"/>
              <a:ext cx="995288" cy="926007"/>
            </a:xfrm>
            <a:prstGeom prst="line">
              <a:avLst/>
            </a:prstGeom>
            <a:ln>
              <a:gradFill>
                <a:gsLst>
                  <a:gs pos="100000">
                    <a:srgbClr val="DCCBA8">
                      <a:alpha val="16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8" name="文本框 7"/>
          <p:cNvSpPr txBox="1"/>
          <p:nvPr/>
        </p:nvSpPr>
        <p:spPr>
          <a:xfrm>
            <a:off x="4677436" y="392918"/>
            <a:ext cx="2837128" cy="769441"/>
          </a:xfrm>
          <a:prstGeom prst="rect">
            <a:avLst/>
          </a:prstGeom>
          <a:noFill/>
        </p:spPr>
        <p:txBody>
          <a:bodyPr wrap="square" rtlCol="0">
            <a:spAutoFit/>
          </a:bodyPr>
          <a:lstStyle/>
          <a:p>
            <a:r>
              <a:rPr lang="zh-CN" altLang="en-US" sz="4400" b="1" dirty="0">
                <a:solidFill>
                  <a:srgbClr val="654D2D"/>
                </a:solidFill>
                <a:latin typeface="幼圆" panose="02010509060101010101" pitchFamily="49" charset="-122"/>
                <a:ea typeface="幼圆" panose="02010509060101010101" pitchFamily="49" charset="-122"/>
              </a:rPr>
              <a:t>优化分析</a:t>
            </a:r>
          </a:p>
        </p:txBody>
      </p:sp>
      <p:sp>
        <p:nvSpPr>
          <p:cNvPr id="11" name="矩形 10"/>
          <p:cNvSpPr/>
          <p:nvPr/>
        </p:nvSpPr>
        <p:spPr>
          <a:xfrm>
            <a:off x="1855894" y="2511574"/>
            <a:ext cx="8480212" cy="2775760"/>
          </a:xfrm>
          <a:prstGeom prst="rect">
            <a:avLst/>
          </a:prstGeom>
        </p:spPr>
        <p:txBody>
          <a:bodyPr wrap="square">
            <a:spAutoFit/>
          </a:bodyPr>
          <a:lstStyle/>
          <a:p>
            <a:pPr>
              <a:lnSpc>
                <a:spcPct val="150000"/>
              </a:lnSpc>
            </a:pPr>
            <a:r>
              <a:rPr lang="zh-CN" altLang="en-US" sz="2400" b="1" dirty="0">
                <a:solidFill>
                  <a:srgbClr val="654D2D"/>
                </a:solidFill>
                <a:latin typeface="幼圆" panose="02010509060101010101" pitchFamily="49" charset="-122"/>
                <a:ea typeface="幼圆" panose="02010509060101010101" pitchFamily="49" charset="-122"/>
              </a:rPr>
              <a:t>分析可知，该优化也较为简单。在涂前几个点时能对其他节点产生较多约束，从而剪枝，一定程度上提高了算法的效率，减少了找到可行解的时间。</a:t>
            </a:r>
            <a:endParaRPr lang="en-US" altLang="zh-CN" sz="2400" b="1" dirty="0">
              <a:solidFill>
                <a:srgbClr val="654D2D"/>
              </a:solidFill>
              <a:latin typeface="幼圆" panose="02010509060101010101" pitchFamily="49" charset="-122"/>
              <a:ea typeface="幼圆" panose="02010509060101010101" pitchFamily="49" charset="-122"/>
            </a:endParaRPr>
          </a:p>
          <a:p>
            <a:pPr>
              <a:lnSpc>
                <a:spcPct val="150000"/>
              </a:lnSpc>
            </a:pPr>
            <a:endParaRPr lang="en-US" altLang="zh-CN" sz="2400" b="1" dirty="0">
              <a:latin typeface="幼圆" panose="02010509060101010101" pitchFamily="49" charset="-122"/>
              <a:ea typeface="幼圆" panose="02010509060101010101" pitchFamily="49" charset="-122"/>
            </a:endParaRPr>
          </a:p>
          <a:p>
            <a:pPr>
              <a:lnSpc>
                <a:spcPct val="150000"/>
              </a:lnSpc>
            </a:pPr>
            <a:endParaRPr lang="zh-CN" altLang="zh-CN" sz="2400" dirty="0">
              <a:latin typeface="幼圆" panose="02010509060101010101" pitchFamily="49" charset="-122"/>
              <a:ea typeface="幼圆" panose="02010509060101010101" pitchFamily="49" charset="-122"/>
            </a:endParaRPr>
          </a:p>
        </p:txBody>
      </p:sp>
      <p:grpSp>
        <p:nvGrpSpPr>
          <p:cNvPr id="12" name="组合 11"/>
          <p:cNvGrpSpPr/>
          <p:nvPr/>
        </p:nvGrpSpPr>
        <p:grpSpPr>
          <a:xfrm>
            <a:off x="9167351" y="5042543"/>
            <a:ext cx="1681461" cy="1445640"/>
            <a:chOff x="6581411" y="4593098"/>
            <a:chExt cx="1681461" cy="1445640"/>
          </a:xfrm>
        </p:grpSpPr>
        <p:cxnSp>
          <p:nvCxnSpPr>
            <p:cNvPr id="13" name="直接连接符 12"/>
            <p:cNvCxnSpPr/>
            <p:nvPr/>
          </p:nvCxnSpPr>
          <p:spPr>
            <a:xfrm flipH="1">
              <a:off x="6581411" y="4593098"/>
              <a:ext cx="1368280" cy="998853"/>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6698438" y="5565589"/>
              <a:ext cx="1448818" cy="473149"/>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H="1" flipV="1">
              <a:off x="8031639" y="4671958"/>
              <a:ext cx="231233" cy="1366780"/>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9" fill="hold" nodeType="withEffect">
                                  <p:stCondLst>
                                    <p:cond delay="7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0-#ppt_w/2"/>
                                          </p:val>
                                        </p:tav>
                                        <p:tav tm="100000">
                                          <p:val>
                                            <p:strVal val="#ppt_x"/>
                                          </p:val>
                                        </p:tav>
                                      </p:tavLst>
                                    </p:anim>
                                    <p:anim calcmode="lin" valueType="num">
                                      <p:cBhvr additive="base">
                                        <p:cTn id="11" dur="750" fill="hold"/>
                                        <p:tgtEl>
                                          <p:spTgt spid="4"/>
                                        </p:tgtEl>
                                        <p:attrNameLst>
                                          <p:attrName>ppt_y</p:attrName>
                                        </p:attrNameLst>
                                      </p:cBhvr>
                                      <p:tavLst>
                                        <p:tav tm="0">
                                          <p:val>
                                            <p:strVal val="0-#ppt_h/2"/>
                                          </p:val>
                                        </p:tav>
                                        <p:tav tm="100000">
                                          <p:val>
                                            <p:strVal val="#ppt_y"/>
                                          </p:val>
                                        </p:tav>
                                      </p:tavLst>
                                    </p:anim>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1000"/>
                                        <p:tgtEl>
                                          <p:spTgt spid="8"/>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6" presetClass="entr" presetSubtype="16"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V="1">
            <a:off x="769257" y="3778020"/>
            <a:ext cx="0" cy="5400000"/>
          </a:xfrm>
          <a:prstGeom prst="line">
            <a:avLst/>
          </a:prstGeom>
          <a:ln w="12700">
            <a:gradFill>
              <a:gsLst>
                <a:gs pos="15000">
                  <a:srgbClr val="C4BB98">
                    <a:alpha val="12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rot="5400000" flipV="1">
            <a:off x="-2177829" y="-4640986"/>
            <a:ext cx="0" cy="10800000"/>
          </a:xfrm>
          <a:prstGeom prst="line">
            <a:avLst/>
          </a:prstGeom>
          <a:ln w="12700">
            <a:gradFill>
              <a:gsLst>
                <a:gs pos="10000">
                  <a:srgbClr val="C4BB98">
                    <a:alpha val="14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1399157" y="-2171700"/>
            <a:ext cx="0" cy="5400000"/>
          </a:xfrm>
          <a:prstGeom prst="line">
            <a:avLst/>
          </a:prstGeom>
          <a:ln w="12700">
            <a:gradFill>
              <a:gsLst>
                <a:gs pos="16000">
                  <a:srgbClr val="C4BB98">
                    <a:alpha val="10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rot="16200000" flipH="1" flipV="1">
            <a:off x="14365293" y="699657"/>
            <a:ext cx="0" cy="10800000"/>
          </a:xfrm>
          <a:prstGeom prst="line">
            <a:avLst/>
          </a:prstGeom>
          <a:ln w="12700">
            <a:gradFill>
              <a:gsLst>
                <a:gs pos="11000">
                  <a:srgbClr val="C4BB98">
                    <a:alpha val="14000"/>
                  </a:srgbClr>
                </a:gs>
                <a:gs pos="100000">
                  <a:srgbClr val="654D2D"/>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9395460" y="3778020"/>
            <a:ext cx="0" cy="1731240"/>
          </a:xfrm>
          <a:prstGeom prst="line">
            <a:avLst/>
          </a:prstGeom>
          <a:ln w="31750">
            <a:gradFill>
              <a:gsLst>
                <a:gs pos="0">
                  <a:srgbClr val="C4BB98">
                    <a:alpha val="64000"/>
                  </a:srgbClr>
                </a:gs>
                <a:gs pos="100000">
                  <a:srgbClr val="A89A68"/>
                </a:gs>
              </a:gsLst>
              <a:lin ang="4800000" scaled="0"/>
            </a:gra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4226342" y="1115035"/>
            <a:ext cx="3771406" cy="269329"/>
            <a:chOff x="7198852" y="1472339"/>
            <a:chExt cx="3771406" cy="269329"/>
          </a:xfrm>
        </p:grpSpPr>
        <p:cxnSp>
          <p:nvCxnSpPr>
            <p:cNvPr id="16" name="直接连接符 15"/>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7" name="椭圆 16"/>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18" name="文本框 17"/>
          <p:cNvSpPr txBox="1"/>
          <p:nvPr/>
        </p:nvSpPr>
        <p:spPr>
          <a:xfrm>
            <a:off x="1458748" y="1343619"/>
            <a:ext cx="9306591" cy="2868093"/>
          </a:xfrm>
          <a:prstGeom prst="rect">
            <a:avLst/>
          </a:prstGeom>
          <a:noFill/>
        </p:spPr>
        <p:txBody>
          <a:bodyPr wrap="square" rtlCol="0">
            <a:spAutoFit/>
          </a:bodyPr>
          <a:lstStyle/>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优化思路</a:t>
            </a:r>
            <a:endParaRPr lang="en-US" altLang="zh-CN" sz="2400" dirty="0">
              <a:solidFill>
                <a:srgbClr val="654D2D"/>
              </a:solidFill>
              <a:latin typeface="幼圆" panose="02010509060101010101" pitchFamily="49" charset="-122"/>
              <a:ea typeface="幼圆" panose="02010509060101010101" pitchFamily="49" charset="-122"/>
            </a:endParaRPr>
          </a:p>
          <a:p>
            <a:pPr algn="ctr">
              <a:lnSpc>
                <a:spcPct val="150000"/>
              </a:lnSpc>
            </a:pPr>
            <a:r>
              <a:rPr lang="en-US" altLang="zh-CN" sz="2400" b="1" dirty="0">
                <a:solidFill>
                  <a:srgbClr val="654D2D"/>
                </a:solidFill>
                <a:latin typeface="幼圆" panose="02010509060101010101" pitchFamily="49" charset="-122"/>
                <a:ea typeface="幼圆" panose="02010509060101010101" pitchFamily="49" charset="-122"/>
              </a:rPr>
              <a:t>MRV</a:t>
            </a:r>
            <a:r>
              <a:rPr lang="zh-CN" altLang="en-US" sz="2400" b="1" dirty="0">
                <a:solidFill>
                  <a:srgbClr val="654D2D"/>
                </a:solidFill>
                <a:latin typeface="幼圆" panose="02010509060101010101" pitchFamily="49" charset="-122"/>
                <a:ea typeface="幼圆" panose="02010509060101010101" pitchFamily="49" charset="-122"/>
              </a:rPr>
              <a:t>准则：优先搜索可涂颜色数最少的节点。</a:t>
            </a:r>
            <a:endParaRPr lang="en-US" altLang="zh-CN" sz="2400" b="1" dirty="0">
              <a:solidFill>
                <a:srgbClr val="654D2D"/>
              </a:solidFill>
              <a:latin typeface="幼圆" panose="02010509060101010101" pitchFamily="49" charset="-122"/>
              <a:ea typeface="幼圆" panose="02010509060101010101" pitchFamily="49" charset="-122"/>
            </a:endParaRP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每次涂色完后，选择剩余未涂色点中可涂颜色数最少的节点，可以更快找到解并使节点回溯，从而达到剪枝的目的。</a:t>
            </a: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其示意图如图</a:t>
            </a:r>
            <a:r>
              <a:rPr lang="en-US" altLang="zh-CN" sz="2400" dirty="0">
                <a:solidFill>
                  <a:srgbClr val="654D2D"/>
                </a:solidFill>
                <a:latin typeface="幼圆" panose="02010509060101010101" pitchFamily="49" charset="-122"/>
                <a:ea typeface="幼圆" panose="02010509060101010101" pitchFamily="49" charset="-122"/>
              </a:rPr>
              <a:t>7</a:t>
            </a:r>
            <a:r>
              <a:rPr lang="zh-CN" altLang="en-US" sz="2400" dirty="0">
                <a:solidFill>
                  <a:srgbClr val="654D2D"/>
                </a:solidFill>
                <a:latin typeface="幼圆" panose="02010509060101010101" pitchFamily="49" charset="-122"/>
                <a:ea typeface="幼圆" panose="02010509060101010101" pitchFamily="49" charset="-122"/>
              </a:rPr>
              <a:t>所示，其中数字</a:t>
            </a:r>
            <a:r>
              <a:rPr lang="en-US" altLang="zh-CN" sz="2400" dirty="0">
                <a:solidFill>
                  <a:srgbClr val="654D2D"/>
                </a:solidFill>
                <a:latin typeface="幼圆" panose="02010509060101010101" pitchFamily="49" charset="-122"/>
                <a:ea typeface="幼圆" panose="02010509060101010101" pitchFamily="49" charset="-122"/>
              </a:rPr>
              <a:t>1</a:t>
            </a:r>
            <a:r>
              <a:rPr lang="zh-CN" altLang="en-US" sz="2400" dirty="0">
                <a:solidFill>
                  <a:srgbClr val="654D2D"/>
                </a:solidFill>
                <a:latin typeface="幼圆" panose="02010509060101010101" pitchFamily="49" charset="-122"/>
                <a:ea typeface="幼圆" panose="02010509060101010101" pitchFamily="49" charset="-122"/>
              </a:rPr>
              <a:t>，</a:t>
            </a:r>
            <a:r>
              <a:rPr lang="en-US" altLang="zh-CN" sz="2400" dirty="0">
                <a:solidFill>
                  <a:srgbClr val="654D2D"/>
                </a:solidFill>
                <a:latin typeface="幼圆" panose="02010509060101010101" pitchFamily="49" charset="-122"/>
                <a:ea typeface="幼圆" panose="02010509060101010101" pitchFamily="49" charset="-122"/>
              </a:rPr>
              <a:t>2</a:t>
            </a:r>
            <a:r>
              <a:rPr lang="zh-CN" altLang="en-US" sz="2400" dirty="0">
                <a:solidFill>
                  <a:srgbClr val="654D2D"/>
                </a:solidFill>
                <a:latin typeface="幼圆" panose="02010509060101010101" pitchFamily="49" charset="-122"/>
                <a:ea typeface="幼圆" panose="02010509060101010101" pitchFamily="49" charset="-122"/>
              </a:rPr>
              <a:t>，</a:t>
            </a:r>
            <a:r>
              <a:rPr lang="en-US" altLang="zh-CN" sz="2400" dirty="0">
                <a:solidFill>
                  <a:srgbClr val="654D2D"/>
                </a:solidFill>
                <a:latin typeface="幼圆" panose="02010509060101010101" pitchFamily="49" charset="-122"/>
                <a:ea typeface="幼圆" panose="02010509060101010101" pitchFamily="49" charset="-122"/>
              </a:rPr>
              <a:t>3</a:t>
            </a:r>
            <a:r>
              <a:rPr lang="zh-CN" altLang="en-US" sz="2400" dirty="0">
                <a:solidFill>
                  <a:srgbClr val="654D2D"/>
                </a:solidFill>
                <a:latin typeface="幼圆" panose="02010509060101010101" pitchFamily="49" charset="-122"/>
                <a:ea typeface="幼圆" panose="02010509060101010101" pitchFamily="49" charset="-122"/>
              </a:rPr>
              <a:t>表示颜色。</a:t>
            </a:r>
          </a:p>
        </p:txBody>
      </p:sp>
      <p:sp>
        <p:nvSpPr>
          <p:cNvPr id="23" name="文本框 22"/>
          <p:cNvSpPr txBox="1"/>
          <p:nvPr/>
        </p:nvSpPr>
        <p:spPr>
          <a:xfrm>
            <a:off x="4082792" y="334041"/>
            <a:ext cx="4026416" cy="646331"/>
          </a:xfrm>
          <a:prstGeom prst="rect">
            <a:avLst/>
          </a:prstGeom>
          <a:noFill/>
        </p:spPr>
        <p:txBody>
          <a:bodyPr wrap="square" rtlCol="0">
            <a:spAutoFit/>
          </a:bodyPr>
          <a:lstStyle/>
          <a:p>
            <a:pPr algn="ctr"/>
            <a:r>
              <a:rPr lang="zh-CN" altLang="en-US" sz="3600" b="1" spc="600" dirty="0">
                <a:solidFill>
                  <a:srgbClr val="654D2D"/>
                </a:solidFill>
                <a:latin typeface="幼圆" panose="02010509060101010101" pitchFamily="49" charset="-122"/>
                <a:ea typeface="幼圆" panose="02010509060101010101" pitchFamily="49" charset="-122"/>
              </a:rPr>
              <a:t>③</a:t>
            </a:r>
            <a:r>
              <a:rPr lang="en-US" altLang="zh-CN" sz="3600" b="1" spc="600" dirty="0">
                <a:solidFill>
                  <a:srgbClr val="654D2D"/>
                </a:solidFill>
                <a:latin typeface="幼圆" panose="02010509060101010101" pitchFamily="49" charset="-122"/>
                <a:ea typeface="幼圆" panose="02010509060101010101" pitchFamily="49" charset="-122"/>
              </a:rPr>
              <a:t>MRV</a:t>
            </a:r>
            <a:r>
              <a:rPr lang="zh-CN" altLang="en-US" sz="3600" b="1" spc="600" dirty="0">
                <a:solidFill>
                  <a:srgbClr val="654D2D"/>
                </a:solidFill>
                <a:latin typeface="幼圆" panose="02010509060101010101" pitchFamily="49" charset="-122"/>
                <a:ea typeface="幼圆" panose="02010509060101010101" pitchFamily="49" charset="-122"/>
              </a:rPr>
              <a:t>准则剪枝</a:t>
            </a:r>
          </a:p>
        </p:txBody>
      </p:sp>
      <p:pic>
        <p:nvPicPr>
          <p:cNvPr id="7" name="图片 6"/>
          <p:cNvPicPr>
            <a:picLocks noChangeAspect="1"/>
          </p:cNvPicPr>
          <p:nvPr/>
        </p:nvPicPr>
        <p:blipFill>
          <a:blip r:embed="rId3"/>
          <a:stretch>
            <a:fillRect/>
          </a:stretch>
        </p:blipFill>
        <p:spPr>
          <a:xfrm>
            <a:off x="1256209" y="4433069"/>
            <a:ext cx="4323809" cy="2152381"/>
          </a:xfrm>
          <a:prstGeom prst="rect">
            <a:avLst/>
          </a:prstGeom>
        </p:spPr>
      </p:pic>
      <p:sp>
        <p:nvSpPr>
          <p:cNvPr id="25" name="文本框 24"/>
          <p:cNvSpPr txBox="1"/>
          <p:nvPr/>
        </p:nvSpPr>
        <p:spPr>
          <a:xfrm>
            <a:off x="5750750" y="5016218"/>
            <a:ext cx="5450650" cy="1083438"/>
          </a:xfrm>
          <a:prstGeom prst="rect">
            <a:avLst/>
          </a:prstGeom>
          <a:noFill/>
        </p:spPr>
        <p:txBody>
          <a:bodyPr wrap="square">
            <a:spAutoFit/>
          </a:bodyPr>
          <a:lstStyle/>
          <a:p>
            <a:pPr marL="266700" indent="266700" algn="just">
              <a:lnSpc>
                <a:spcPct val="125000"/>
              </a:lnSpc>
            </a:pPr>
            <a:r>
              <a:rPr lang="zh-CN"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图中前两个节点分别涂了颜色</a:t>
            </a:r>
            <a:r>
              <a:rPr lang="en-US"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1</a:t>
            </a:r>
            <a:r>
              <a:rPr lang="zh-CN"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和颜色</a:t>
            </a:r>
            <a:r>
              <a:rPr lang="en-US"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2</a:t>
            </a:r>
            <a:endParaRPr lang="en-US" altLang="zh-CN" kern="22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gn="just">
              <a:lnSpc>
                <a:spcPct val="125000"/>
              </a:lnSpc>
            </a:pPr>
            <a:r>
              <a:rPr lang="zh-CN"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之后应当选择可涂颜色数最少的节点进行涂色</a:t>
            </a:r>
            <a:endParaRPr lang="en-US"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a:p>
            <a:pPr marL="266700" indent="266700" algn="just">
              <a:lnSpc>
                <a:spcPct val="125000"/>
              </a:lnSpc>
            </a:pPr>
            <a:r>
              <a:rPr lang="zh-CN" altLang="zh-CN" sz="18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图中显示了两个可以作为下一次涂色的节点。</a:t>
            </a:r>
            <a:endPar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spd="slow">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500"/>
                                        <p:tgtEl>
                                          <p:spTgt spid="3"/>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500"/>
                                        <p:tgtEl>
                                          <p:spTgt spid="4"/>
                                        </p:tgtEl>
                                      </p:cBhvr>
                                    </p:animEffect>
                                  </p:childTnLst>
                                </p:cTn>
                              </p:par>
                              <p:par>
                                <p:cTn id="11" presetID="22" presetClass="entr" presetSubtype="2"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500"/>
                                        <p:tgtEl>
                                          <p:spTgt spid="5"/>
                                        </p:tgtEl>
                                      </p:cBhvr>
                                    </p:animEffect>
                                  </p:childTnLst>
                                </p:cTn>
                              </p:par>
                              <p:par>
                                <p:cTn id="14" presetID="22" presetClass="entr" presetSubtype="4"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1500"/>
                                        <p:tgtEl>
                                          <p:spTgt spid="2"/>
                                        </p:tgtEl>
                                      </p:cBhvr>
                                    </p:animEffect>
                                  </p:childTnLst>
                                </p:cTn>
                              </p:par>
                              <p:par>
                                <p:cTn id="17" presetID="63" presetClass="path" presetSubtype="0" accel="50000" decel="50000" fill="hold" nodeType="withEffect">
                                  <p:stCondLst>
                                    <p:cond delay="0"/>
                                  </p:stCondLst>
                                  <p:childTnLst>
                                    <p:animMotion origin="layout" path="M -4.16667E-6 1.85185E-6 L 0.64558 1.85185E-6 " pathEditMode="relative" rAng="0" ptsTypes="AA">
                                      <p:cBhvr>
                                        <p:cTn id="18" dur="2000" fill="hold"/>
                                        <p:tgtEl>
                                          <p:spTgt spid="3"/>
                                        </p:tgtEl>
                                        <p:attrNameLst>
                                          <p:attrName>ppt_x</p:attrName>
                                          <p:attrName>ppt_y</p:attrName>
                                        </p:attrNameLst>
                                      </p:cBhvr>
                                      <p:rCtr x="32279" y="0"/>
                                    </p:animMotion>
                                  </p:childTnLst>
                                </p:cTn>
                              </p:par>
                              <p:par>
                                <p:cTn id="19" presetID="42" presetClass="path" presetSubtype="0" accel="50000" decel="50000" fill="hold" nodeType="withEffect">
                                  <p:stCondLst>
                                    <p:cond delay="0"/>
                                  </p:stCondLst>
                                  <p:childTnLst>
                                    <p:animMotion origin="layout" path="M 3.95833E-6 -3.33333E-6 L 3.95833E-6 0.36621 " pathEditMode="relative" rAng="0" ptsTypes="AA">
                                      <p:cBhvr>
                                        <p:cTn id="20" dur="2000" fill="hold"/>
                                        <p:tgtEl>
                                          <p:spTgt spid="4"/>
                                        </p:tgtEl>
                                        <p:attrNameLst>
                                          <p:attrName>ppt_x</p:attrName>
                                          <p:attrName>ppt_y</p:attrName>
                                        </p:attrNameLst>
                                      </p:cBhvr>
                                      <p:rCtr x="0" y="18310"/>
                                    </p:animMotion>
                                  </p:childTnLst>
                                </p:cTn>
                              </p:par>
                              <p:par>
                                <p:cTn id="21" presetID="35" presetClass="path" presetSubtype="0" accel="50000" decel="50000" fill="hold" nodeType="withEffect">
                                  <p:stCondLst>
                                    <p:cond delay="0"/>
                                  </p:stCondLst>
                                  <p:childTnLst>
                                    <p:animMotion origin="layout" path="M 4.79167E-6 -1.85185E-6 L -0.63829 -1.85185E-6 " pathEditMode="relative" rAng="0" ptsTypes="AA">
                                      <p:cBhvr>
                                        <p:cTn id="22" dur="2000" fill="hold"/>
                                        <p:tgtEl>
                                          <p:spTgt spid="5"/>
                                        </p:tgtEl>
                                        <p:attrNameLst>
                                          <p:attrName>ppt_x</p:attrName>
                                          <p:attrName>ppt_y</p:attrName>
                                        </p:attrNameLst>
                                      </p:cBhvr>
                                      <p:rCtr x="-31914" y="0"/>
                                    </p:animMotion>
                                  </p:childTnLst>
                                </p:cTn>
                              </p:par>
                              <p:par>
                                <p:cTn id="23" presetID="64" presetClass="path" presetSubtype="0" accel="50000" decel="50000" fill="hold" nodeType="withEffect">
                                  <p:stCondLst>
                                    <p:cond delay="0"/>
                                  </p:stCondLst>
                                  <p:childTnLst>
                                    <p:animMotion origin="layout" path="M -1.04167E-6 -4.44444E-6 L -1.04167E-6 -0.39375 " pathEditMode="relative" rAng="0" ptsTypes="AA">
                                      <p:cBhvr>
                                        <p:cTn id="24" dur="2000" fill="hold"/>
                                        <p:tgtEl>
                                          <p:spTgt spid="2"/>
                                        </p:tgtEl>
                                        <p:attrNameLst>
                                          <p:attrName>ppt_x</p:attrName>
                                          <p:attrName>ppt_y</p:attrName>
                                        </p:attrNameLst>
                                      </p:cBhvr>
                                      <p:rCtr x="0" y="-19699"/>
                                    </p:animMotion>
                                  </p:childTnLst>
                                </p:cTn>
                              </p:par>
                              <p:par>
                                <p:cTn id="25" presetID="2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750"/>
                                        <p:tgtEl>
                                          <p:spTgt spid="13"/>
                                        </p:tgtEl>
                                      </p:cBhvr>
                                    </p:animEffect>
                                  </p:childTnLst>
                                </p:cTn>
                              </p:par>
                              <p:par>
                                <p:cTn id="28" presetID="64" presetClass="path" presetSubtype="0" accel="50000" decel="50000" fill="hold" nodeType="withEffect">
                                  <p:stCondLst>
                                    <p:cond delay="0"/>
                                  </p:stCondLst>
                                  <p:childTnLst>
                                    <p:animMotion origin="layout" path="M -2.91667E-6 -3.33333E-6 L -2.91667E-6 -0.3537 " pathEditMode="relative" rAng="0" ptsTypes="AA">
                                      <p:cBhvr>
                                        <p:cTn id="29" dur="1500" fill="hold"/>
                                        <p:tgtEl>
                                          <p:spTgt spid="13"/>
                                        </p:tgtEl>
                                        <p:attrNameLst>
                                          <p:attrName>ppt_x</p:attrName>
                                          <p:attrName>ppt_y</p:attrName>
                                        </p:attrNameLst>
                                      </p:cBhvr>
                                      <p:rCtr x="0" y="-17685"/>
                                    </p:animMotion>
                                  </p:childTnLst>
                                </p:cTn>
                              </p:par>
                              <p:par>
                                <p:cTn id="30" presetID="22" presetClass="exit" presetSubtype="4" fill="hold" nodeType="withEffect">
                                  <p:stCondLst>
                                    <p:cond delay="500"/>
                                  </p:stCondLst>
                                  <p:childTnLst>
                                    <p:animEffect transition="out" filter="wipe(down)">
                                      <p:cBhvr>
                                        <p:cTn id="31" dur="1250"/>
                                        <p:tgtEl>
                                          <p:spTgt spid="13"/>
                                        </p:tgtEl>
                                      </p:cBhvr>
                                    </p:animEffect>
                                    <p:set>
                                      <p:cBhvr>
                                        <p:cTn id="32" dur="1" fill="hold">
                                          <p:stCondLst>
                                            <p:cond delay="1249"/>
                                          </p:stCondLst>
                                        </p:cTn>
                                        <p:tgtEl>
                                          <p:spTgt spid="13"/>
                                        </p:tgtEl>
                                        <p:attrNameLst>
                                          <p:attrName>style.visibility</p:attrName>
                                        </p:attrNameLst>
                                      </p:cBhvr>
                                      <p:to>
                                        <p:strVal val="hidden"/>
                                      </p:to>
                                    </p:set>
                                  </p:childTnLst>
                                </p:cTn>
                              </p:par>
                              <p:par>
                                <p:cTn id="33" presetID="16" presetClass="entr" presetSubtype="21" fill="hold" nodeType="withEffect">
                                  <p:stCondLst>
                                    <p:cond delay="500"/>
                                  </p:stCondLst>
                                  <p:childTnLst>
                                    <p:set>
                                      <p:cBhvr>
                                        <p:cTn id="34" dur="1" fill="hold">
                                          <p:stCondLst>
                                            <p:cond delay="0"/>
                                          </p:stCondLst>
                                        </p:cTn>
                                        <p:tgtEl>
                                          <p:spTgt spid="15"/>
                                        </p:tgtEl>
                                        <p:attrNameLst>
                                          <p:attrName>style.visibility</p:attrName>
                                        </p:attrNameLst>
                                      </p:cBhvr>
                                      <p:to>
                                        <p:strVal val="visible"/>
                                      </p:to>
                                    </p:set>
                                    <p:animEffect transition="in" filter="barn(inVertical)">
                                      <p:cBhvr>
                                        <p:cTn id="35" dur="10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1000"/>
                                        <p:tgtEl>
                                          <p:spTgt spid="18"/>
                                        </p:tgtEl>
                                      </p:cBhvr>
                                    </p:animEffect>
                                    <p:anim calcmode="lin" valueType="num">
                                      <p:cBhvr>
                                        <p:cTn id="41" dur="1000" fill="hold"/>
                                        <p:tgtEl>
                                          <p:spTgt spid="18"/>
                                        </p:tgtEl>
                                        <p:attrNameLst>
                                          <p:attrName>ppt_x</p:attrName>
                                        </p:attrNameLst>
                                      </p:cBhvr>
                                      <p:tavLst>
                                        <p:tav tm="0">
                                          <p:val>
                                            <p:strVal val="#ppt_x"/>
                                          </p:val>
                                        </p:tav>
                                        <p:tav tm="100000">
                                          <p:val>
                                            <p:strVal val="#ppt_x"/>
                                          </p:val>
                                        </p:tav>
                                      </p:tavLst>
                                    </p:anim>
                                    <p:anim calcmode="lin" valueType="num">
                                      <p:cBhvr>
                                        <p:cTn id="42" dur="1000" fill="hold"/>
                                        <p:tgtEl>
                                          <p:spTgt spid="18"/>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 presetClass="entr" presetSubtype="1"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1000" fill="hold"/>
                                        <p:tgtEl>
                                          <p:spTgt spid="23"/>
                                        </p:tgtEl>
                                        <p:attrNameLst>
                                          <p:attrName>ppt_x</p:attrName>
                                        </p:attrNameLst>
                                      </p:cBhvr>
                                      <p:tavLst>
                                        <p:tav tm="0">
                                          <p:val>
                                            <p:strVal val="#ppt_x"/>
                                          </p:val>
                                        </p:tav>
                                        <p:tav tm="100000">
                                          <p:val>
                                            <p:strVal val="#ppt_x"/>
                                          </p:val>
                                        </p:tav>
                                      </p:tavLst>
                                    </p:anim>
                                    <p:anim calcmode="lin" valueType="num">
                                      <p:cBhvr additive="base">
                                        <p:cTn id="47" dur="1000" fill="hold"/>
                                        <p:tgtEl>
                                          <p:spTgt spid="23"/>
                                        </p:tgtEl>
                                        <p:attrNameLst>
                                          <p:attrName>ppt_y</p:attrName>
                                        </p:attrNameLst>
                                      </p:cBhvr>
                                      <p:tavLst>
                                        <p:tav tm="0">
                                          <p:val>
                                            <p:strVal val="0-#ppt_h/2"/>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1000"/>
                                        <p:tgtEl>
                                          <p:spTgt spid="7"/>
                                        </p:tgtEl>
                                      </p:cBhvr>
                                    </p:animEffect>
                                    <p:anim calcmode="lin" valueType="num">
                                      <p:cBhvr>
                                        <p:cTn id="51" dur="1000" fill="hold"/>
                                        <p:tgtEl>
                                          <p:spTgt spid="7"/>
                                        </p:tgtEl>
                                        <p:attrNameLst>
                                          <p:attrName>ppt_x</p:attrName>
                                        </p:attrNameLst>
                                      </p:cBhvr>
                                      <p:tavLst>
                                        <p:tav tm="0">
                                          <p:val>
                                            <p:strVal val="#ppt_x"/>
                                          </p:val>
                                        </p:tav>
                                        <p:tav tm="100000">
                                          <p:val>
                                            <p:strVal val="#ppt_x"/>
                                          </p:val>
                                        </p:tav>
                                      </p:tavLst>
                                    </p:anim>
                                    <p:anim calcmode="lin" valueType="num">
                                      <p:cBhvr>
                                        <p:cTn id="52" dur="1000" fill="hold"/>
                                        <p:tgtEl>
                                          <p:spTgt spid="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1000"/>
                                        <p:tgtEl>
                                          <p:spTgt spid="25"/>
                                        </p:tgtEl>
                                      </p:cBhvr>
                                    </p:animEffect>
                                    <p:anim calcmode="lin" valueType="num">
                                      <p:cBhvr>
                                        <p:cTn id="56" dur="1000" fill="hold"/>
                                        <p:tgtEl>
                                          <p:spTgt spid="25"/>
                                        </p:tgtEl>
                                        <p:attrNameLst>
                                          <p:attrName>ppt_x</p:attrName>
                                        </p:attrNameLst>
                                      </p:cBhvr>
                                      <p:tavLst>
                                        <p:tav tm="0">
                                          <p:val>
                                            <p:strVal val="#ppt_x"/>
                                          </p:val>
                                        </p:tav>
                                        <p:tav tm="100000">
                                          <p:val>
                                            <p:strVal val="#ppt_x"/>
                                          </p:val>
                                        </p:tav>
                                      </p:tavLst>
                                    </p:anim>
                                    <p:anim calcmode="lin" valueType="num">
                                      <p:cBhvr>
                                        <p:cTn id="5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flipH="1">
            <a:off x="10608161" y="85969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5400000" flipH="1">
            <a:off x="10575504" y="5135200"/>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984639" y="543013"/>
            <a:ext cx="3590497" cy="584775"/>
          </a:xfrm>
          <a:prstGeom prst="rect">
            <a:avLst/>
          </a:prstGeom>
          <a:noFill/>
        </p:spPr>
        <p:txBody>
          <a:bodyPr wrap="square" rtlCol="0">
            <a:spAutoFit/>
          </a:bodyPr>
          <a:lstStyle/>
          <a:p>
            <a:pPr algn="ctr"/>
            <a:r>
              <a:rPr lang="zh-CN" altLang="en-US" sz="3200" spc="600" dirty="0">
                <a:solidFill>
                  <a:srgbClr val="654D2D"/>
                </a:solidFill>
                <a:latin typeface="幼圆" panose="02010509060101010101" pitchFamily="49" charset="-122"/>
                <a:ea typeface="幼圆" panose="02010509060101010101" pitchFamily="49" charset="-122"/>
              </a:rPr>
              <a:t>结构体与伪代码</a:t>
            </a:r>
          </a:p>
        </p:txBody>
      </p:sp>
      <p:grpSp>
        <p:nvGrpSpPr>
          <p:cNvPr id="8" name="组合 7"/>
          <p:cNvGrpSpPr/>
          <p:nvPr/>
        </p:nvGrpSpPr>
        <p:grpSpPr>
          <a:xfrm>
            <a:off x="3894186" y="1138662"/>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grpSp>
      <p:pic>
        <p:nvPicPr>
          <p:cNvPr id="3" name="图片 2"/>
          <p:cNvPicPr>
            <a:picLocks noChangeAspect="1"/>
          </p:cNvPicPr>
          <p:nvPr/>
        </p:nvPicPr>
        <p:blipFill>
          <a:blip r:embed="rId3"/>
          <a:stretch>
            <a:fillRect/>
          </a:stretch>
        </p:blipFill>
        <p:spPr>
          <a:xfrm>
            <a:off x="5779887" y="2172998"/>
            <a:ext cx="5600000" cy="3200000"/>
          </a:xfrm>
          <a:prstGeom prst="rect">
            <a:avLst/>
          </a:prstGeom>
        </p:spPr>
      </p:pic>
      <p:pic>
        <p:nvPicPr>
          <p:cNvPr id="11" name="图片 10"/>
          <p:cNvPicPr>
            <a:picLocks noChangeAspect="1"/>
          </p:cNvPicPr>
          <p:nvPr/>
        </p:nvPicPr>
        <p:blipFill>
          <a:blip r:embed="rId4"/>
          <a:stretch>
            <a:fillRect/>
          </a:stretch>
        </p:blipFill>
        <p:spPr>
          <a:xfrm>
            <a:off x="140462" y="3023261"/>
            <a:ext cx="5504762" cy="12285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par>
                                <p:cTn id="24" presetID="2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5845" y="1208862"/>
            <a:ext cx="2913681" cy="4556501"/>
          </a:xfrm>
          <a:prstGeom prst="rect">
            <a:avLst/>
          </a:pr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任意多边形 2"/>
          <p:cNvSpPr/>
          <p:nvPr/>
        </p:nvSpPr>
        <p:spPr>
          <a:xfrm>
            <a:off x="4602997" y="1208862"/>
            <a:ext cx="6245815" cy="4556501"/>
          </a:xfrm>
          <a:custGeom>
            <a:avLst/>
            <a:gdLst>
              <a:gd name="connsiteX0" fmla="*/ 0 w 6245815"/>
              <a:gd name="connsiteY0" fmla="*/ 0 h 4556501"/>
              <a:gd name="connsiteX1" fmla="*/ 1689314 w 6245815"/>
              <a:gd name="connsiteY1" fmla="*/ 0 h 4556501"/>
              <a:gd name="connsiteX2" fmla="*/ 2448731 w 6245815"/>
              <a:gd name="connsiteY2" fmla="*/ 0 h 4556501"/>
              <a:gd name="connsiteX3" fmla="*/ 6245815 w 6245815"/>
              <a:gd name="connsiteY3" fmla="*/ 0 h 4556501"/>
              <a:gd name="connsiteX4" fmla="*/ 6245815 w 6245815"/>
              <a:gd name="connsiteY4" fmla="*/ 2448731 h 4556501"/>
              <a:gd name="connsiteX5" fmla="*/ 2448731 w 6245815"/>
              <a:gd name="connsiteY5" fmla="*/ 2448731 h 4556501"/>
              <a:gd name="connsiteX6" fmla="*/ 2448731 w 6245815"/>
              <a:gd name="connsiteY6" fmla="*/ 4556501 h 4556501"/>
              <a:gd name="connsiteX7" fmla="*/ 0 w 6245815"/>
              <a:gd name="connsiteY7" fmla="*/ 4556501 h 455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5815" h="4556501">
                <a:moveTo>
                  <a:pt x="0" y="0"/>
                </a:moveTo>
                <a:lnTo>
                  <a:pt x="1689314" y="0"/>
                </a:lnTo>
                <a:lnTo>
                  <a:pt x="2448731" y="0"/>
                </a:lnTo>
                <a:lnTo>
                  <a:pt x="6245815" y="0"/>
                </a:lnTo>
                <a:lnTo>
                  <a:pt x="6245815" y="2448731"/>
                </a:lnTo>
                <a:lnTo>
                  <a:pt x="2448731" y="2448731"/>
                </a:lnTo>
                <a:lnTo>
                  <a:pt x="2448731" y="4556501"/>
                </a:lnTo>
                <a:lnTo>
                  <a:pt x="0" y="4556501"/>
                </a:lnTo>
                <a:close/>
              </a:path>
            </a:pathLst>
          </a:cu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243245" y="0"/>
            <a:ext cx="2101729" cy="2105813"/>
            <a:chOff x="1363852" y="1334797"/>
            <a:chExt cx="2101729" cy="2105813"/>
          </a:xfrm>
        </p:grpSpPr>
        <p:cxnSp>
          <p:nvCxnSpPr>
            <p:cNvPr id="5" name="直接连接符 4"/>
            <p:cNvCxnSpPr/>
            <p:nvPr/>
          </p:nvCxnSpPr>
          <p:spPr>
            <a:xfrm flipH="1" flipV="1">
              <a:off x="2216258" y="2278251"/>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6" name="直接连接符 5"/>
            <p:cNvCxnSpPr/>
            <p:nvPr/>
          </p:nvCxnSpPr>
          <p:spPr>
            <a:xfrm flipH="1" flipV="1">
              <a:off x="1928196" y="1334797"/>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1363852" y="2109707"/>
              <a:ext cx="995288" cy="926007"/>
            </a:xfrm>
            <a:prstGeom prst="line">
              <a:avLst/>
            </a:prstGeom>
            <a:ln>
              <a:gradFill>
                <a:gsLst>
                  <a:gs pos="100000">
                    <a:srgbClr val="DCCBA8">
                      <a:alpha val="16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8" name="文本框 7"/>
          <p:cNvSpPr txBox="1"/>
          <p:nvPr/>
        </p:nvSpPr>
        <p:spPr>
          <a:xfrm>
            <a:off x="4677436" y="392918"/>
            <a:ext cx="2837128" cy="769441"/>
          </a:xfrm>
          <a:prstGeom prst="rect">
            <a:avLst/>
          </a:prstGeom>
          <a:noFill/>
        </p:spPr>
        <p:txBody>
          <a:bodyPr wrap="square" rtlCol="0">
            <a:spAutoFit/>
          </a:bodyPr>
          <a:lstStyle/>
          <a:p>
            <a:r>
              <a:rPr lang="zh-CN" altLang="en-US" sz="4400" b="1" dirty="0">
                <a:solidFill>
                  <a:srgbClr val="654D2D"/>
                </a:solidFill>
                <a:latin typeface="幼圆" panose="02010509060101010101" pitchFamily="49" charset="-122"/>
                <a:ea typeface="幼圆" panose="02010509060101010101" pitchFamily="49" charset="-122"/>
              </a:rPr>
              <a:t>优化分析</a:t>
            </a:r>
          </a:p>
        </p:txBody>
      </p:sp>
      <p:sp>
        <p:nvSpPr>
          <p:cNvPr id="11" name="矩形 10"/>
          <p:cNvSpPr/>
          <p:nvPr/>
        </p:nvSpPr>
        <p:spPr>
          <a:xfrm>
            <a:off x="1855894" y="2511574"/>
            <a:ext cx="8480212" cy="2221762"/>
          </a:xfrm>
          <a:prstGeom prst="rect">
            <a:avLst/>
          </a:prstGeom>
        </p:spPr>
        <p:txBody>
          <a:bodyPr wrap="square">
            <a:spAutoFit/>
          </a:bodyPr>
          <a:lstStyle/>
          <a:p>
            <a:pPr>
              <a:lnSpc>
                <a:spcPct val="150000"/>
              </a:lnSpc>
            </a:pPr>
            <a:r>
              <a:rPr lang="zh-CN" altLang="en-US" sz="2400" b="1" dirty="0">
                <a:solidFill>
                  <a:srgbClr val="654D2D"/>
                </a:solidFill>
                <a:latin typeface="幼圆" panose="02010509060101010101" pitchFamily="49" charset="-122"/>
                <a:ea typeface="幼圆" panose="02010509060101010101" pitchFamily="49" charset="-122"/>
              </a:rPr>
              <a:t>分析可知，该优化在大规模地图中较为明显，可以更快的获得可行解，可以提前回溯来达到剪枝的目的，但小规模地图中，寻找涂色点和对邻接点可涂颜色数进行更改所消耗的时间也较大。</a:t>
            </a:r>
            <a:endParaRPr lang="zh-CN" altLang="zh-CN" sz="2400" dirty="0">
              <a:latin typeface="幼圆" panose="02010509060101010101" pitchFamily="49" charset="-122"/>
              <a:ea typeface="幼圆" panose="02010509060101010101" pitchFamily="49" charset="-122"/>
            </a:endParaRPr>
          </a:p>
        </p:txBody>
      </p:sp>
      <p:grpSp>
        <p:nvGrpSpPr>
          <p:cNvPr id="12" name="组合 11"/>
          <p:cNvGrpSpPr/>
          <p:nvPr/>
        </p:nvGrpSpPr>
        <p:grpSpPr>
          <a:xfrm>
            <a:off x="9167351" y="5042543"/>
            <a:ext cx="1681461" cy="1445640"/>
            <a:chOff x="6581411" y="4593098"/>
            <a:chExt cx="1681461" cy="1445640"/>
          </a:xfrm>
        </p:grpSpPr>
        <p:cxnSp>
          <p:nvCxnSpPr>
            <p:cNvPr id="13" name="直接连接符 12"/>
            <p:cNvCxnSpPr/>
            <p:nvPr/>
          </p:nvCxnSpPr>
          <p:spPr>
            <a:xfrm flipH="1">
              <a:off x="6581411" y="4593098"/>
              <a:ext cx="1368280" cy="998853"/>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6698438" y="5565589"/>
              <a:ext cx="1448818" cy="473149"/>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H="1" flipV="1">
              <a:off x="8031639" y="4671958"/>
              <a:ext cx="231233" cy="1366780"/>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9" fill="hold" nodeType="withEffect">
                                  <p:stCondLst>
                                    <p:cond delay="7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0-#ppt_w/2"/>
                                          </p:val>
                                        </p:tav>
                                        <p:tav tm="100000">
                                          <p:val>
                                            <p:strVal val="#ppt_x"/>
                                          </p:val>
                                        </p:tav>
                                      </p:tavLst>
                                    </p:anim>
                                    <p:anim calcmode="lin" valueType="num">
                                      <p:cBhvr additive="base">
                                        <p:cTn id="11" dur="750" fill="hold"/>
                                        <p:tgtEl>
                                          <p:spTgt spid="4"/>
                                        </p:tgtEl>
                                        <p:attrNameLst>
                                          <p:attrName>ppt_y</p:attrName>
                                        </p:attrNameLst>
                                      </p:cBhvr>
                                      <p:tavLst>
                                        <p:tav tm="0">
                                          <p:val>
                                            <p:strVal val="0-#ppt_h/2"/>
                                          </p:val>
                                        </p:tav>
                                        <p:tav tm="100000">
                                          <p:val>
                                            <p:strVal val="#ppt_y"/>
                                          </p:val>
                                        </p:tav>
                                      </p:tavLst>
                                    </p:anim>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1000"/>
                                        <p:tgtEl>
                                          <p:spTgt spid="8"/>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6" presetClass="entr" presetSubtype="16"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782934" y="818104"/>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16200000">
            <a:off x="750277" y="509361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525287" y="381747"/>
            <a:ext cx="5574556" cy="646331"/>
          </a:xfrm>
          <a:prstGeom prst="rect">
            <a:avLst/>
          </a:prstGeom>
          <a:noFill/>
        </p:spPr>
        <p:txBody>
          <a:bodyPr wrap="square" rtlCol="0">
            <a:spAutoFit/>
          </a:bodyPr>
          <a:lstStyle/>
          <a:p>
            <a:pPr algn="ctr"/>
            <a:r>
              <a:rPr lang="zh-CN" altLang="en-US" sz="3600" b="1" spc="600" dirty="0">
                <a:solidFill>
                  <a:srgbClr val="654D2D"/>
                </a:solidFill>
                <a:latin typeface="幼圆" panose="02010509060101010101" pitchFamily="49" charset="-122"/>
                <a:ea typeface="幼圆" panose="02010509060101010101" pitchFamily="49" charset="-122"/>
              </a:rPr>
              <a:t>④</a:t>
            </a:r>
            <a:r>
              <a:rPr lang="en-US" altLang="zh-CN" sz="3600" b="1" spc="600" dirty="0">
                <a:solidFill>
                  <a:srgbClr val="654D2D"/>
                </a:solidFill>
                <a:latin typeface="幼圆" panose="02010509060101010101" pitchFamily="49" charset="-122"/>
                <a:ea typeface="幼圆" panose="02010509060101010101" pitchFamily="49" charset="-122"/>
              </a:rPr>
              <a:t>MRV</a:t>
            </a:r>
            <a:r>
              <a:rPr lang="zh-CN" altLang="en-US" sz="3600" b="1" spc="600" dirty="0">
                <a:solidFill>
                  <a:srgbClr val="654D2D"/>
                </a:solidFill>
                <a:latin typeface="幼圆" panose="02010509060101010101" pitchFamily="49" charset="-122"/>
                <a:ea typeface="幼圆" panose="02010509060101010101" pitchFamily="49" charset="-122"/>
              </a:rPr>
              <a:t>与</a:t>
            </a:r>
            <a:r>
              <a:rPr lang="en-US" altLang="zh-CN" sz="3600" b="1" spc="600" dirty="0">
                <a:solidFill>
                  <a:srgbClr val="654D2D"/>
                </a:solidFill>
                <a:latin typeface="幼圆" panose="02010509060101010101" pitchFamily="49" charset="-122"/>
                <a:ea typeface="幼圆" panose="02010509060101010101" pitchFamily="49" charset="-122"/>
              </a:rPr>
              <a:t>DH</a:t>
            </a:r>
            <a:r>
              <a:rPr lang="zh-CN" altLang="en-US" sz="3600" b="1" spc="600" dirty="0">
                <a:solidFill>
                  <a:srgbClr val="654D2D"/>
                </a:solidFill>
                <a:latin typeface="幼圆" panose="02010509060101010101" pitchFamily="49" charset="-122"/>
                <a:ea typeface="幼圆" panose="02010509060101010101" pitchFamily="49" charset="-122"/>
              </a:rPr>
              <a:t>准则剪枝</a:t>
            </a:r>
          </a:p>
        </p:txBody>
      </p:sp>
      <p:grpSp>
        <p:nvGrpSpPr>
          <p:cNvPr id="8" name="组合 7"/>
          <p:cNvGrpSpPr/>
          <p:nvPr/>
        </p:nvGrpSpPr>
        <p:grpSpPr>
          <a:xfrm>
            <a:off x="4442908" y="1183496"/>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11" name="文本框 10"/>
          <p:cNvSpPr txBox="1"/>
          <p:nvPr/>
        </p:nvSpPr>
        <p:spPr>
          <a:xfrm>
            <a:off x="1465843" y="1320868"/>
            <a:ext cx="9693444" cy="2775760"/>
          </a:xfrm>
          <a:prstGeom prst="rect">
            <a:avLst/>
          </a:prstGeom>
          <a:noFill/>
        </p:spPr>
        <p:txBody>
          <a:bodyPr wrap="square" rtlCol="0">
            <a:spAutoFit/>
          </a:bodyPr>
          <a:lstStyle/>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优化思路</a:t>
            </a:r>
            <a:endParaRPr lang="en-US" altLang="zh-CN" sz="2400" dirty="0">
              <a:solidFill>
                <a:srgbClr val="654D2D"/>
              </a:solidFill>
              <a:latin typeface="幼圆" panose="02010509060101010101" pitchFamily="49" charset="-122"/>
              <a:ea typeface="幼圆" panose="02010509060101010101" pitchFamily="49" charset="-122"/>
            </a:endParaRPr>
          </a:p>
          <a:p>
            <a:pPr algn="ctr">
              <a:lnSpc>
                <a:spcPct val="150000"/>
              </a:lnSpc>
            </a:pPr>
            <a:r>
              <a:rPr lang="en-US" altLang="zh-CN" sz="2400" b="1" dirty="0">
                <a:solidFill>
                  <a:srgbClr val="654D2D"/>
                </a:solidFill>
                <a:latin typeface="幼圆" panose="02010509060101010101" pitchFamily="49" charset="-122"/>
                <a:ea typeface="幼圆" panose="02010509060101010101" pitchFamily="49" charset="-122"/>
              </a:rPr>
              <a:t>MRV</a:t>
            </a:r>
            <a:r>
              <a:rPr lang="zh-CN" altLang="en-US" sz="2400" b="1" dirty="0">
                <a:solidFill>
                  <a:srgbClr val="654D2D"/>
                </a:solidFill>
                <a:latin typeface="幼圆" panose="02010509060101010101" pitchFamily="49" charset="-122"/>
                <a:ea typeface="幼圆" panose="02010509060101010101" pitchFamily="49" charset="-122"/>
              </a:rPr>
              <a:t>准则：优先搜索可涂颜色数最少的节点。</a:t>
            </a:r>
          </a:p>
          <a:p>
            <a:pPr algn="ctr">
              <a:lnSpc>
                <a:spcPct val="150000"/>
              </a:lnSpc>
            </a:pPr>
            <a:r>
              <a:rPr lang="en-US" altLang="zh-CN" sz="2400" b="1" dirty="0">
                <a:solidFill>
                  <a:srgbClr val="654D2D"/>
                </a:solidFill>
                <a:latin typeface="幼圆" panose="02010509060101010101" pitchFamily="49" charset="-122"/>
                <a:ea typeface="幼圆" panose="02010509060101010101" pitchFamily="49" charset="-122"/>
              </a:rPr>
              <a:t>DH</a:t>
            </a:r>
            <a:r>
              <a:rPr lang="zh-CN" altLang="en-US" sz="2400" b="1" dirty="0">
                <a:solidFill>
                  <a:srgbClr val="654D2D"/>
                </a:solidFill>
                <a:latin typeface="幼圆" panose="02010509060101010101" pitchFamily="49" charset="-122"/>
                <a:ea typeface="幼圆" panose="02010509060101010101" pitchFamily="49" charset="-122"/>
              </a:rPr>
              <a:t>准则：优先搜索邻边数量最多</a:t>
            </a:r>
            <a:r>
              <a:rPr lang="en-US" altLang="zh-CN" sz="2400" b="1" dirty="0">
                <a:solidFill>
                  <a:srgbClr val="654D2D"/>
                </a:solidFill>
                <a:latin typeface="幼圆" panose="02010509060101010101" pitchFamily="49" charset="-122"/>
                <a:ea typeface="幼圆" panose="02010509060101010101" pitchFamily="49" charset="-122"/>
              </a:rPr>
              <a:t>(</a:t>
            </a:r>
            <a:r>
              <a:rPr lang="zh-CN" altLang="en-US" sz="2400" b="1" dirty="0">
                <a:solidFill>
                  <a:srgbClr val="654D2D"/>
                </a:solidFill>
                <a:latin typeface="幼圆" panose="02010509060101010101" pitchFamily="49" charset="-122"/>
                <a:ea typeface="幼圆" panose="02010509060101010101" pitchFamily="49" charset="-122"/>
              </a:rPr>
              <a:t>即度最大</a:t>
            </a:r>
            <a:r>
              <a:rPr lang="en-US" altLang="zh-CN" sz="2400" b="1" dirty="0">
                <a:solidFill>
                  <a:srgbClr val="654D2D"/>
                </a:solidFill>
                <a:latin typeface="幼圆" panose="02010509060101010101" pitchFamily="49" charset="-122"/>
                <a:ea typeface="幼圆" panose="02010509060101010101" pitchFamily="49" charset="-122"/>
              </a:rPr>
              <a:t>)</a:t>
            </a:r>
            <a:r>
              <a:rPr lang="zh-CN" altLang="en-US" sz="2400" b="1" dirty="0">
                <a:solidFill>
                  <a:srgbClr val="654D2D"/>
                </a:solidFill>
                <a:latin typeface="幼圆" panose="02010509060101010101" pitchFamily="49" charset="-122"/>
                <a:ea typeface="幼圆" panose="02010509060101010101" pitchFamily="49" charset="-122"/>
              </a:rPr>
              <a:t>的节点。</a:t>
            </a: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将两准则结合，优先搜索可涂颜色数最小的节点，如果可涂颜色数相同则优先搜索邻边数量最多的节点。如图</a:t>
            </a:r>
            <a:r>
              <a:rPr lang="en-US" altLang="zh-CN" sz="2400" dirty="0">
                <a:solidFill>
                  <a:srgbClr val="654D2D"/>
                </a:solidFill>
                <a:latin typeface="幼圆" panose="02010509060101010101" pitchFamily="49" charset="-122"/>
                <a:ea typeface="幼圆" panose="02010509060101010101" pitchFamily="49" charset="-122"/>
              </a:rPr>
              <a:t>10</a:t>
            </a:r>
            <a:r>
              <a:rPr lang="zh-CN" altLang="en-US" sz="2400" dirty="0">
                <a:solidFill>
                  <a:srgbClr val="654D2D"/>
                </a:solidFill>
                <a:latin typeface="幼圆" panose="02010509060101010101" pitchFamily="49" charset="-122"/>
                <a:ea typeface="幼圆" panose="02010509060101010101" pitchFamily="49" charset="-122"/>
              </a:rPr>
              <a:t>中，应选择右边的涂色方案。</a:t>
            </a:r>
          </a:p>
        </p:txBody>
      </p:sp>
      <p:sp>
        <p:nvSpPr>
          <p:cNvPr id="12" name="矩形 11"/>
          <p:cNvSpPr/>
          <p:nvPr/>
        </p:nvSpPr>
        <p:spPr>
          <a:xfrm>
            <a:off x="11474380" y="5580119"/>
            <a:ext cx="95860" cy="571242"/>
          </a:xfrm>
          <a:prstGeom prst="rect">
            <a:avLst/>
          </a:pr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A8C58"/>
              </a:solidFill>
              <a:latin typeface="幼圆" panose="02010509060101010101" pitchFamily="49" charset="-122"/>
              <a:ea typeface="幼圆" panose="02010509060101010101" pitchFamily="49" charset="-122"/>
            </a:endParaRPr>
          </a:p>
        </p:txBody>
      </p:sp>
      <p:pic>
        <p:nvPicPr>
          <p:cNvPr id="3" name="图片 2"/>
          <p:cNvPicPr>
            <a:picLocks noChangeAspect="1"/>
          </p:cNvPicPr>
          <p:nvPr/>
        </p:nvPicPr>
        <p:blipFill>
          <a:blip r:embed="rId3"/>
          <a:stretch>
            <a:fillRect/>
          </a:stretch>
        </p:blipFill>
        <p:spPr>
          <a:xfrm>
            <a:off x="3861943" y="4389418"/>
            <a:ext cx="4933333" cy="2228571"/>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par>
                                <p:cTn id="26" presetID="22" presetClass="entr" presetSubtype="4" fill="hold" grpId="0" nodeType="withEffect">
                                  <p:stCondLst>
                                    <p:cond delay="1750"/>
                                  </p:stCondLst>
                                  <p:childTnLst>
                                    <p:set>
                                      <p:cBhvr>
                                        <p:cTn id="27" dur="1" fill="hold">
                                          <p:stCondLst>
                                            <p:cond delay="0"/>
                                          </p:stCondLst>
                                        </p:cTn>
                                        <p:tgtEl>
                                          <p:spTgt spid="12"/>
                                        </p:tgtEl>
                                        <p:attrNameLst>
                                          <p:attrName>style.visibility</p:attrName>
                                        </p:attrNameLst>
                                      </p:cBhvr>
                                      <p:to>
                                        <p:strVal val="visible"/>
                                      </p:to>
                                    </p:set>
                                    <p:animEffect transition="in" filter="wipe(down)">
                                      <p:cBhvr>
                                        <p:cTn id="28" dur="500"/>
                                        <p:tgtEl>
                                          <p:spTgt spid="12"/>
                                        </p:tgtEl>
                                      </p:cBhvr>
                                    </p:animEffect>
                                  </p:childTnLst>
                                </p:cTn>
                              </p:par>
                              <p:par>
                                <p:cTn id="29" presetID="42"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11" grpId="0"/>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flipH="1">
            <a:off x="10608161" y="85969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5400000" flipH="1">
            <a:off x="10575504" y="5135200"/>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984639" y="543013"/>
            <a:ext cx="3590497" cy="584775"/>
          </a:xfrm>
          <a:prstGeom prst="rect">
            <a:avLst/>
          </a:prstGeom>
          <a:noFill/>
        </p:spPr>
        <p:txBody>
          <a:bodyPr wrap="square" rtlCol="0">
            <a:spAutoFit/>
          </a:bodyPr>
          <a:lstStyle/>
          <a:p>
            <a:pPr algn="ctr"/>
            <a:r>
              <a:rPr lang="zh-CN" altLang="en-US" sz="3200" spc="600" dirty="0">
                <a:solidFill>
                  <a:srgbClr val="654D2D"/>
                </a:solidFill>
                <a:latin typeface="幼圆" panose="02010509060101010101" pitchFamily="49" charset="-122"/>
                <a:ea typeface="幼圆" panose="02010509060101010101" pitchFamily="49" charset="-122"/>
              </a:rPr>
              <a:t>结构体与伪代码</a:t>
            </a:r>
          </a:p>
        </p:txBody>
      </p:sp>
      <p:grpSp>
        <p:nvGrpSpPr>
          <p:cNvPr id="8" name="组合 7"/>
          <p:cNvGrpSpPr/>
          <p:nvPr/>
        </p:nvGrpSpPr>
        <p:grpSpPr>
          <a:xfrm>
            <a:off x="3894186" y="1138662"/>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grpSp>
      <p:pic>
        <p:nvPicPr>
          <p:cNvPr id="11" name="图片 10"/>
          <p:cNvPicPr>
            <a:picLocks noChangeAspect="1"/>
          </p:cNvPicPr>
          <p:nvPr/>
        </p:nvPicPr>
        <p:blipFill>
          <a:blip r:embed="rId3"/>
          <a:stretch>
            <a:fillRect/>
          </a:stretch>
        </p:blipFill>
        <p:spPr>
          <a:xfrm>
            <a:off x="140462" y="3023261"/>
            <a:ext cx="5504762" cy="1228571"/>
          </a:xfrm>
          <a:prstGeom prst="rect">
            <a:avLst/>
          </a:prstGeom>
        </p:spPr>
      </p:pic>
      <p:pic>
        <p:nvPicPr>
          <p:cNvPr id="4" name="图片 3"/>
          <p:cNvPicPr>
            <a:picLocks noChangeAspect="1"/>
          </p:cNvPicPr>
          <p:nvPr/>
        </p:nvPicPr>
        <p:blipFill>
          <a:blip r:embed="rId4"/>
          <a:stretch>
            <a:fillRect/>
          </a:stretch>
        </p:blipFill>
        <p:spPr>
          <a:xfrm>
            <a:off x="5779887" y="2095705"/>
            <a:ext cx="5447619" cy="3276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par>
                                <p:cTn id="24" presetID="22" presetClass="entr" presetSubtype="4"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5845" y="1208862"/>
            <a:ext cx="2913681" cy="4556501"/>
          </a:xfrm>
          <a:prstGeom prst="rect">
            <a:avLst/>
          </a:pr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任意多边形 2"/>
          <p:cNvSpPr/>
          <p:nvPr/>
        </p:nvSpPr>
        <p:spPr>
          <a:xfrm>
            <a:off x="4602997" y="1208862"/>
            <a:ext cx="6245815" cy="4556501"/>
          </a:xfrm>
          <a:custGeom>
            <a:avLst/>
            <a:gdLst>
              <a:gd name="connsiteX0" fmla="*/ 0 w 6245815"/>
              <a:gd name="connsiteY0" fmla="*/ 0 h 4556501"/>
              <a:gd name="connsiteX1" fmla="*/ 1689314 w 6245815"/>
              <a:gd name="connsiteY1" fmla="*/ 0 h 4556501"/>
              <a:gd name="connsiteX2" fmla="*/ 2448731 w 6245815"/>
              <a:gd name="connsiteY2" fmla="*/ 0 h 4556501"/>
              <a:gd name="connsiteX3" fmla="*/ 6245815 w 6245815"/>
              <a:gd name="connsiteY3" fmla="*/ 0 h 4556501"/>
              <a:gd name="connsiteX4" fmla="*/ 6245815 w 6245815"/>
              <a:gd name="connsiteY4" fmla="*/ 2448731 h 4556501"/>
              <a:gd name="connsiteX5" fmla="*/ 2448731 w 6245815"/>
              <a:gd name="connsiteY5" fmla="*/ 2448731 h 4556501"/>
              <a:gd name="connsiteX6" fmla="*/ 2448731 w 6245815"/>
              <a:gd name="connsiteY6" fmla="*/ 4556501 h 4556501"/>
              <a:gd name="connsiteX7" fmla="*/ 0 w 6245815"/>
              <a:gd name="connsiteY7" fmla="*/ 4556501 h 455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5815" h="4556501">
                <a:moveTo>
                  <a:pt x="0" y="0"/>
                </a:moveTo>
                <a:lnTo>
                  <a:pt x="1689314" y="0"/>
                </a:lnTo>
                <a:lnTo>
                  <a:pt x="2448731" y="0"/>
                </a:lnTo>
                <a:lnTo>
                  <a:pt x="6245815" y="0"/>
                </a:lnTo>
                <a:lnTo>
                  <a:pt x="6245815" y="2448731"/>
                </a:lnTo>
                <a:lnTo>
                  <a:pt x="2448731" y="2448731"/>
                </a:lnTo>
                <a:lnTo>
                  <a:pt x="2448731" y="4556501"/>
                </a:lnTo>
                <a:lnTo>
                  <a:pt x="0" y="4556501"/>
                </a:lnTo>
                <a:close/>
              </a:path>
            </a:pathLst>
          </a:cu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243245" y="0"/>
            <a:ext cx="2101729" cy="2105813"/>
            <a:chOff x="1363852" y="1334797"/>
            <a:chExt cx="2101729" cy="2105813"/>
          </a:xfrm>
        </p:grpSpPr>
        <p:cxnSp>
          <p:nvCxnSpPr>
            <p:cNvPr id="5" name="直接连接符 4"/>
            <p:cNvCxnSpPr/>
            <p:nvPr/>
          </p:nvCxnSpPr>
          <p:spPr>
            <a:xfrm flipH="1" flipV="1">
              <a:off x="2216258" y="2278251"/>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6" name="直接连接符 5"/>
            <p:cNvCxnSpPr/>
            <p:nvPr/>
          </p:nvCxnSpPr>
          <p:spPr>
            <a:xfrm flipH="1" flipV="1">
              <a:off x="1928196" y="1334797"/>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1363852" y="2109707"/>
              <a:ext cx="995288" cy="926007"/>
            </a:xfrm>
            <a:prstGeom prst="line">
              <a:avLst/>
            </a:prstGeom>
            <a:ln>
              <a:gradFill>
                <a:gsLst>
                  <a:gs pos="100000">
                    <a:srgbClr val="DCCBA8">
                      <a:alpha val="16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8" name="文本框 7"/>
          <p:cNvSpPr txBox="1"/>
          <p:nvPr/>
        </p:nvSpPr>
        <p:spPr>
          <a:xfrm>
            <a:off x="4677436" y="392918"/>
            <a:ext cx="2837128" cy="769441"/>
          </a:xfrm>
          <a:prstGeom prst="rect">
            <a:avLst/>
          </a:prstGeom>
          <a:noFill/>
        </p:spPr>
        <p:txBody>
          <a:bodyPr wrap="square" rtlCol="0">
            <a:spAutoFit/>
          </a:bodyPr>
          <a:lstStyle/>
          <a:p>
            <a:r>
              <a:rPr lang="zh-CN" altLang="en-US" sz="4400" b="1" dirty="0">
                <a:solidFill>
                  <a:srgbClr val="654D2D"/>
                </a:solidFill>
                <a:latin typeface="幼圆" panose="02010509060101010101" pitchFamily="49" charset="-122"/>
                <a:ea typeface="幼圆" panose="02010509060101010101" pitchFamily="49" charset="-122"/>
              </a:rPr>
              <a:t>优化分析</a:t>
            </a:r>
          </a:p>
        </p:txBody>
      </p:sp>
      <p:sp>
        <p:nvSpPr>
          <p:cNvPr id="11" name="矩形 10"/>
          <p:cNvSpPr/>
          <p:nvPr/>
        </p:nvSpPr>
        <p:spPr>
          <a:xfrm>
            <a:off x="1855894" y="2511574"/>
            <a:ext cx="8480212" cy="2221762"/>
          </a:xfrm>
          <a:prstGeom prst="rect">
            <a:avLst/>
          </a:prstGeom>
        </p:spPr>
        <p:txBody>
          <a:bodyPr wrap="square">
            <a:spAutoFit/>
          </a:bodyPr>
          <a:lstStyle/>
          <a:p>
            <a:pPr>
              <a:lnSpc>
                <a:spcPct val="150000"/>
              </a:lnSpc>
            </a:pPr>
            <a:r>
              <a:rPr lang="zh-CN" altLang="en-US" sz="2400" b="1" dirty="0">
                <a:solidFill>
                  <a:srgbClr val="654D2D"/>
                </a:solidFill>
                <a:latin typeface="幼圆" panose="02010509060101010101" pitchFamily="49" charset="-122"/>
                <a:ea typeface="幼圆" panose="02010509060101010101" pitchFamily="49" charset="-122"/>
              </a:rPr>
              <a:t>分析可知，该优化在大规模地图中较为明显，度数大的涂色点能对更多的点产生约束；涂可涂颜色数最少的点，可以更快的获得可行解，提前回溯，两种准则结合对算法的效率有较大的提升。</a:t>
            </a:r>
            <a:endParaRPr lang="zh-CN" altLang="zh-CN" sz="2400" dirty="0">
              <a:latin typeface="幼圆" panose="02010509060101010101" pitchFamily="49" charset="-122"/>
              <a:ea typeface="幼圆" panose="02010509060101010101" pitchFamily="49" charset="-122"/>
            </a:endParaRPr>
          </a:p>
        </p:txBody>
      </p:sp>
      <p:grpSp>
        <p:nvGrpSpPr>
          <p:cNvPr id="12" name="组合 11"/>
          <p:cNvGrpSpPr/>
          <p:nvPr/>
        </p:nvGrpSpPr>
        <p:grpSpPr>
          <a:xfrm>
            <a:off x="9167351" y="5042543"/>
            <a:ext cx="1681461" cy="1445640"/>
            <a:chOff x="6581411" y="4593098"/>
            <a:chExt cx="1681461" cy="1445640"/>
          </a:xfrm>
        </p:grpSpPr>
        <p:cxnSp>
          <p:nvCxnSpPr>
            <p:cNvPr id="13" name="直接连接符 12"/>
            <p:cNvCxnSpPr/>
            <p:nvPr/>
          </p:nvCxnSpPr>
          <p:spPr>
            <a:xfrm flipH="1">
              <a:off x="6581411" y="4593098"/>
              <a:ext cx="1368280" cy="998853"/>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6698438" y="5565589"/>
              <a:ext cx="1448818" cy="473149"/>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H="1" flipV="1">
              <a:off x="8031639" y="4671958"/>
              <a:ext cx="231233" cy="1366780"/>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9" fill="hold" nodeType="withEffect">
                                  <p:stCondLst>
                                    <p:cond delay="7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0-#ppt_w/2"/>
                                          </p:val>
                                        </p:tav>
                                        <p:tav tm="100000">
                                          <p:val>
                                            <p:strVal val="#ppt_x"/>
                                          </p:val>
                                        </p:tav>
                                      </p:tavLst>
                                    </p:anim>
                                    <p:anim calcmode="lin" valueType="num">
                                      <p:cBhvr additive="base">
                                        <p:cTn id="11" dur="750" fill="hold"/>
                                        <p:tgtEl>
                                          <p:spTgt spid="4"/>
                                        </p:tgtEl>
                                        <p:attrNameLst>
                                          <p:attrName>ppt_y</p:attrName>
                                        </p:attrNameLst>
                                      </p:cBhvr>
                                      <p:tavLst>
                                        <p:tav tm="0">
                                          <p:val>
                                            <p:strVal val="0-#ppt_h/2"/>
                                          </p:val>
                                        </p:tav>
                                        <p:tav tm="100000">
                                          <p:val>
                                            <p:strVal val="#ppt_y"/>
                                          </p:val>
                                        </p:tav>
                                      </p:tavLst>
                                    </p:anim>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1000"/>
                                        <p:tgtEl>
                                          <p:spTgt spid="8"/>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6" presetClass="entr" presetSubtype="16"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782934" y="818104"/>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16200000">
            <a:off x="750277" y="509361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525287" y="381747"/>
            <a:ext cx="5574556" cy="646331"/>
          </a:xfrm>
          <a:prstGeom prst="rect">
            <a:avLst/>
          </a:prstGeom>
          <a:noFill/>
        </p:spPr>
        <p:txBody>
          <a:bodyPr wrap="square" rtlCol="0">
            <a:spAutoFit/>
          </a:bodyPr>
          <a:lstStyle/>
          <a:p>
            <a:pPr algn="ctr"/>
            <a:r>
              <a:rPr lang="zh-CN" altLang="en-US" sz="3600" b="1" spc="600" dirty="0">
                <a:solidFill>
                  <a:srgbClr val="654D2D"/>
                </a:solidFill>
                <a:latin typeface="幼圆" panose="02010509060101010101" pitchFamily="49" charset="-122"/>
                <a:ea typeface="幼圆" panose="02010509060101010101" pitchFamily="49" charset="-122"/>
              </a:rPr>
              <a:t>⑤向前探查剪枝</a:t>
            </a:r>
          </a:p>
        </p:txBody>
      </p:sp>
      <p:grpSp>
        <p:nvGrpSpPr>
          <p:cNvPr id="8" name="组合 7"/>
          <p:cNvGrpSpPr/>
          <p:nvPr/>
        </p:nvGrpSpPr>
        <p:grpSpPr>
          <a:xfrm>
            <a:off x="4442908" y="1183496"/>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11" name="文本框 10"/>
          <p:cNvSpPr txBox="1"/>
          <p:nvPr/>
        </p:nvSpPr>
        <p:spPr>
          <a:xfrm>
            <a:off x="1481888" y="1328583"/>
            <a:ext cx="9693444" cy="2775760"/>
          </a:xfrm>
          <a:prstGeom prst="rect">
            <a:avLst/>
          </a:prstGeom>
          <a:noFill/>
        </p:spPr>
        <p:txBody>
          <a:bodyPr wrap="square" rtlCol="0">
            <a:spAutoFit/>
          </a:bodyPr>
          <a:lstStyle/>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优化思路</a:t>
            </a:r>
            <a:endParaRPr lang="en-US" altLang="zh-CN" sz="2400" dirty="0">
              <a:solidFill>
                <a:srgbClr val="654D2D"/>
              </a:solidFill>
              <a:latin typeface="幼圆" panose="02010509060101010101" pitchFamily="49" charset="-122"/>
              <a:ea typeface="幼圆" panose="02010509060101010101" pitchFamily="49" charset="-122"/>
            </a:endParaRPr>
          </a:p>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向前探查的核心思路是</a:t>
            </a:r>
            <a:r>
              <a:rPr lang="zh-CN" altLang="en-US" sz="2400" b="1" dirty="0">
                <a:solidFill>
                  <a:srgbClr val="654D2D"/>
                </a:solidFill>
                <a:latin typeface="幼圆" panose="02010509060101010101" pitchFamily="49" charset="-122"/>
                <a:ea typeface="幼圆" panose="02010509060101010101" pitchFamily="49" charset="-122"/>
              </a:rPr>
              <a:t>提前判断之后层数是否有解。</a:t>
            </a: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每次涂色完后，对邻接点的可涂颜色数进行更新，更新后遍历邻接点，判断是否该点存在可涂颜色数为</a:t>
            </a:r>
            <a:r>
              <a:rPr lang="en-US" altLang="zh-CN" sz="2400" dirty="0">
                <a:solidFill>
                  <a:srgbClr val="654D2D"/>
                </a:solidFill>
                <a:latin typeface="幼圆" panose="02010509060101010101" pitchFamily="49" charset="-122"/>
                <a:ea typeface="幼圆" panose="02010509060101010101" pitchFamily="49" charset="-122"/>
              </a:rPr>
              <a:t>0</a:t>
            </a:r>
            <a:r>
              <a:rPr lang="zh-CN" altLang="en-US" sz="2400" dirty="0">
                <a:solidFill>
                  <a:srgbClr val="654D2D"/>
                </a:solidFill>
                <a:latin typeface="幼圆" panose="02010509060101010101" pitchFamily="49" charset="-122"/>
                <a:ea typeface="幼圆" panose="02010509060101010101" pitchFamily="49" charset="-122"/>
              </a:rPr>
              <a:t>的邻接点。如果存在说明该点的涂色无解，提前回溯；若不存在，则继续涂色。</a:t>
            </a:r>
          </a:p>
        </p:txBody>
      </p:sp>
      <p:sp>
        <p:nvSpPr>
          <p:cNvPr id="12" name="矩形 11"/>
          <p:cNvSpPr/>
          <p:nvPr/>
        </p:nvSpPr>
        <p:spPr>
          <a:xfrm>
            <a:off x="11474380" y="5580119"/>
            <a:ext cx="95860" cy="571242"/>
          </a:xfrm>
          <a:prstGeom prst="rect">
            <a:avLst/>
          </a:pr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A8C58"/>
              </a:solidFill>
              <a:latin typeface="幼圆" panose="02010509060101010101" pitchFamily="49" charset="-122"/>
              <a:ea typeface="幼圆" panose="02010509060101010101" pitchFamily="49" charset="-122"/>
            </a:endParaRPr>
          </a:p>
        </p:txBody>
      </p:sp>
      <p:pic>
        <p:nvPicPr>
          <p:cNvPr id="14" name="图片 13"/>
          <p:cNvPicPr>
            <a:picLocks noChangeAspect="1"/>
          </p:cNvPicPr>
          <p:nvPr/>
        </p:nvPicPr>
        <p:blipFill>
          <a:blip r:embed="rId3"/>
          <a:stretch>
            <a:fillRect/>
          </a:stretch>
        </p:blipFill>
        <p:spPr>
          <a:xfrm>
            <a:off x="4605773" y="4070488"/>
            <a:ext cx="3413584" cy="2787512"/>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22" presetClass="entr" presetSubtype="4" fill="hold" grpId="0" nodeType="withEffect">
                                  <p:stCondLst>
                                    <p:cond delay="175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11" grpId="0"/>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flipH="1">
            <a:off x="10608161" y="85969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5400000" flipH="1">
            <a:off x="10575504" y="5135200"/>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984639" y="543013"/>
            <a:ext cx="3590497" cy="584775"/>
          </a:xfrm>
          <a:prstGeom prst="rect">
            <a:avLst/>
          </a:prstGeom>
          <a:noFill/>
        </p:spPr>
        <p:txBody>
          <a:bodyPr wrap="square" rtlCol="0">
            <a:spAutoFit/>
          </a:bodyPr>
          <a:lstStyle/>
          <a:p>
            <a:pPr algn="ctr"/>
            <a:r>
              <a:rPr lang="zh-CN" altLang="en-US" sz="3200" spc="600" dirty="0">
                <a:solidFill>
                  <a:srgbClr val="654D2D"/>
                </a:solidFill>
                <a:latin typeface="幼圆" panose="02010509060101010101" pitchFamily="49" charset="-122"/>
                <a:ea typeface="幼圆" panose="02010509060101010101" pitchFamily="49" charset="-122"/>
              </a:rPr>
              <a:t>结构体与伪代码</a:t>
            </a:r>
          </a:p>
        </p:txBody>
      </p:sp>
      <p:grpSp>
        <p:nvGrpSpPr>
          <p:cNvPr id="8" name="组合 7"/>
          <p:cNvGrpSpPr/>
          <p:nvPr/>
        </p:nvGrpSpPr>
        <p:grpSpPr>
          <a:xfrm>
            <a:off x="3894186" y="1138662"/>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幼圆" panose="02010509060101010101" pitchFamily="49" charset="-122"/>
                <a:ea typeface="幼圆" panose="02010509060101010101" pitchFamily="49" charset="-122"/>
              </a:endParaRPr>
            </a:p>
          </p:txBody>
        </p:sp>
      </p:grpSp>
      <p:sp>
        <p:nvSpPr>
          <p:cNvPr id="12" name="文本框 11"/>
          <p:cNvSpPr txBox="1"/>
          <p:nvPr/>
        </p:nvSpPr>
        <p:spPr>
          <a:xfrm>
            <a:off x="80212" y="2066965"/>
            <a:ext cx="5053263" cy="3251852"/>
          </a:xfrm>
          <a:prstGeom prst="rect">
            <a:avLst/>
          </a:prstGeom>
          <a:noFill/>
        </p:spPr>
        <p:txBody>
          <a:bodyPr wrap="square">
            <a:spAutoFit/>
          </a:bodyPr>
          <a:lstStyle/>
          <a:p>
            <a:pPr marL="266700" indent="266700" algn="just">
              <a:lnSpc>
                <a:spcPct val="150000"/>
              </a:lnSpc>
            </a:pP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此处给出</a:t>
            </a:r>
            <a:r>
              <a:rPr lang="en-US" altLang="zh-CN" sz="2000" kern="2200" dirty="0" err="1">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MRV_DH_search</a:t>
            </a: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三者结合的伪代码，如图</a:t>
            </a:r>
            <a:r>
              <a:rPr lang="en-US"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13</a:t>
            </a: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所示</a:t>
            </a:r>
            <a:r>
              <a:rPr lang="en-US"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a:t>
            </a: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若判断某点可以涂某种颜色，对其邻接点的可涂颜色数进行更新（减</a:t>
            </a:r>
            <a:r>
              <a:rPr lang="en-US"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1</a:t>
            </a: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），若为</a:t>
            </a:r>
            <a:r>
              <a:rPr lang="en-US"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0</a:t>
            </a: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，则说明无解，更改标志位，恢复已更改的邻接点可涂颜色数后回溯，若邻接点可涂颜色数均不为</a:t>
            </a:r>
            <a:r>
              <a:rPr lang="en-US"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0</a:t>
            </a:r>
            <a:r>
              <a:rPr lang="zh-CN" altLang="zh-CN" sz="2000" kern="22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，则继续涂色。</a:t>
            </a:r>
            <a:endParaRPr lang="zh-CN" altLang="zh-CN" sz="20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p:txBody>
      </p:sp>
      <p:pic>
        <p:nvPicPr>
          <p:cNvPr id="13" name="图片 12"/>
          <p:cNvPicPr>
            <a:picLocks noChangeAspect="1"/>
          </p:cNvPicPr>
          <p:nvPr/>
        </p:nvPicPr>
        <p:blipFill>
          <a:blip r:embed="rId3"/>
          <a:stretch>
            <a:fillRect/>
          </a:stretch>
        </p:blipFill>
        <p:spPr>
          <a:xfrm>
            <a:off x="5645224" y="1542656"/>
            <a:ext cx="5498658" cy="43004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5845" y="1208862"/>
            <a:ext cx="2913681" cy="4556501"/>
          </a:xfrm>
          <a:prstGeom prst="rect">
            <a:avLst/>
          </a:pr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3" name="任意多边形 2"/>
          <p:cNvSpPr/>
          <p:nvPr/>
        </p:nvSpPr>
        <p:spPr>
          <a:xfrm>
            <a:off x="4602997" y="1208862"/>
            <a:ext cx="6245815" cy="4556501"/>
          </a:xfrm>
          <a:custGeom>
            <a:avLst/>
            <a:gdLst>
              <a:gd name="connsiteX0" fmla="*/ 0 w 6245815"/>
              <a:gd name="connsiteY0" fmla="*/ 0 h 4556501"/>
              <a:gd name="connsiteX1" fmla="*/ 1689314 w 6245815"/>
              <a:gd name="connsiteY1" fmla="*/ 0 h 4556501"/>
              <a:gd name="connsiteX2" fmla="*/ 2448731 w 6245815"/>
              <a:gd name="connsiteY2" fmla="*/ 0 h 4556501"/>
              <a:gd name="connsiteX3" fmla="*/ 6245815 w 6245815"/>
              <a:gd name="connsiteY3" fmla="*/ 0 h 4556501"/>
              <a:gd name="connsiteX4" fmla="*/ 6245815 w 6245815"/>
              <a:gd name="connsiteY4" fmla="*/ 2448731 h 4556501"/>
              <a:gd name="connsiteX5" fmla="*/ 2448731 w 6245815"/>
              <a:gd name="connsiteY5" fmla="*/ 2448731 h 4556501"/>
              <a:gd name="connsiteX6" fmla="*/ 2448731 w 6245815"/>
              <a:gd name="connsiteY6" fmla="*/ 4556501 h 4556501"/>
              <a:gd name="connsiteX7" fmla="*/ 0 w 6245815"/>
              <a:gd name="connsiteY7" fmla="*/ 4556501 h 455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5815" h="4556501">
                <a:moveTo>
                  <a:pt x="0" y="0"/>
                </a:moveTo>
                <a:lnTo>
                  <a:pt x="1689314" y="0"/>
                </a:lnTo>
                <a:lnTo>
                  <a:pt x="2448731" y="0"/>
                </a:lnTo>
                <a:lnTo>
                  <a:pt x="6245815" y="0"/>
                </a:lnTo>
                <a:lnTo>
                  <a:pt x="6245815" y="2448731"/>
                </a:lnTo>
                <a:lnTo>
                  <a:pt x="2448731" y="2448731"/>
                </a:lnTo>
                <a:lnTo>
                  <a:pt x="2448731" y="4556501"/>
                </a:lnTo>
                <a:lnTo>
                  <a:pt x="0" y="4556501"/>
                </a:lnTo>
                <a:close/>
              </a:path>
            </a:pathLst>
          </a:custGeom>
          <a:solidFill>
            <a:srgbClr val="D3D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243245" y="0"/>
            <a:ext cx="2101729" cy="2105813"/>
            <a:chOff x="1363852" y="1334797"/>
            <a:chExt cx="2101729" cy="2105813"/>
          </a:xfrm>
        </p:grpSpPr>
        <p:cxnSp>
          <p:nvCxnSpPr>
            <p:cNvPr id="5" name="直接连接符 4"/>
            <p:cNvCxnSpPr/>
            <p:nvPr/>
          </p:nvCxnSpPr>
          <p:spPr>
            <a:xfrm flipH="1" flipV="1">
              <a:off x="2216258" y="2278251"/>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6" name="直接连接符 5"/>
            <p:cNvCxnSpPr/>
            <p:nvPr/>
          </p:nvCxnSpPr>
          <p:spPr>
            <a:xfrm flipH="1" flipV="1">
              <a:off x="1928196" y="1334797"/>
              <a:ext cx="1249323" cy="1162359"/>
            </a:xfrm>
            <a:prstGeom prst="line">
              <a:avLst/>
            </a:prstGeom>
            <a:ln>
              <a:gradFill>
                <a:gsLst>
                  <a:gs pos="100000">
                    <a:srgbClr val="DCCBA8">
                      <a:alpha val="44706"/>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1363852" y="2109707"/>
              <a:ext cx="995288" cy="926007"/>
            </a:xfrm>
            <a:prstGeom prst="line">
              <a:avLst/>
            </a:prstGeom>
            <a:ln>
              <a:gradFill>
                <a:gsLst>
                  <a:gs pos="100000">
                    <a:srgbClr val="DCCBA8">
                      <a:alpha val="16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8" name="文本框 7"/>
          <p:cNvSpPr txBox="1"/>
          <p:nvPr/>
        </p:nvSpPr>
        <p:spPr>
          <a:xfrm>
            <a:off x="4677436" y="392918"/>
            <a:ext cx="2837128" cy="769441"/>
          </a:xfrm>
          <a:prstGeom prst="rect">
            <a:avLst/>
          </a:prstGeom>
          <a:noFill/>
        </p:spPr>
        <p:txBody>
          <a:bodyPr wrap="square" rtlCol="0">
            <a:spAutoFit/>
          </a:bodyPr>
          <a:lstStyle/>
          <a:p>
            <a:r>
              <a:rPr lang="zh-CN" altLang="en-US" sz="4400" b="1" dirty="0">
                <a:solidFill>
                  <a:srgbClr val="654D2D"/>
                </a:solidFill>
                <a:latin typeface="幼圆" panose="02010509060101010101" pitchFamily="49" charset="-122"/>
                <a:ea typeface="幼圆" panose="02010509060101010101" pitchFamily="49" charset="-122"/>
              </a:rPr>
              <a:t>优化分析</a:t>
            </a:r>
          </a:p>
        </p:txBody>
      </p:sp>
      <p:sp>
        <p:nvSpPr>
          <p:cNvPr id="11" name="矩形 10"/>
          <p:cNvSpPr/>
          <p:nvPr/>
        </p:nvSpPr>
        <p:spPr>
          <a:xfrm>
            <a:off x="1855894" y="1686649"/>
            <a:ext cx="8480212" cy="2221762"/>
          </a:xfrm>
          <a:prstGeom prst="rect">
            <a:avLst/>
          </a:prstGeom>
        </p:spPr>
        <p:txBody>
          <a:bodyPr wrap="square">
            <a:spAutoFit/>
          </a:bodyPr>
          <a:lstStyle/>
          <a:p>
            <a:pPr>
              <a:lnSpc>
                <a:spcPct val="150000"/>
              </a:lnSpc>
            </a:pPr>
            <a:r>
              <a:rPr lang="zh-CN" altLang="en-US" sz="2400" b="1" dirty="0">
                <a:solidFill>
                  <a:srgbClr val="654D2D"/>
                </a:solidFill>
                <a:latin typeface="幼圆" panose="02010509060101010101" pitchFamily="49" charset="-122"/>
                <a:ea typeface="幼圆" panose="02010509060101010101" pitchFamily="49" charset="-122"/>
              </a:rPr>
              <a:t>①分析可知，该优化在大规模地图中较为明显，通过提前探查一步来剪枝，提前回溯使得算法效率提高。 </a:t>
            </a:r>
          </a:p>
          <a:p>
            <a:pPr>
              <a:lnSpc>
                <a:spcPct val="150000"/>
              </a:lnSpc>
            </a:pPr>
            <a:r>
              <a:rPr lang="zh-CN" altLang="en-US" sz="2400" b="1" dirty="0">
                <a:solidFill>
                  <a:srgbClr val="654D2D"/>
                </a:solidFill>
                <a:latin typeface="幼圆" panose="02010509060101010101" pitchFamily="49" charset="-122"/>
                <a:ea typeface="幼圆" panose="02010509060101010101" pitchFamily="49" charset="-122"/>
              </a:rPr>
              <a:t>而在小规模地图中因为探查产生的搜索和判断所消耗的时间占比可能较多。</a:t>
            </a:r>
          </a:p>
        </p:txBody>
      </p:sp>
      <p:grpSp>
        <p:nvGrpSpPr>
          <p:cNvPr id="12" name="组合 11"/>
          <p:cNvGrpSpPr/>
          <p:nvPr/>
        </p:nvGrpSpPr>
        <p:grpSpPr>
          <a:xfrm>
            <a:off x="9167351" y="5042543"/>
            <a:ext cx="1681461" cy="1445640"/>
            <a:chOff x="6581411" y="4593098"/>
            <a:chExt cx="1681461" cy="1445640"/>
          </a:xfrm>
        </p:grpSpPr>
        <p:cxnSp>
          <p:nvCxnSpPr>
            <p:cNvPr id="13" name="直接连接符 12"/>
            <p:cNvCxnSpPr/>
            <p:nvPr/>
          </p:nvCxnSpPr>
          <p:spPr>
            <a:xfrm flipH="1">
              <a:off x="6581411" y="4593098"/>
              <a:ext cx="1368280" cy="998853"/>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6698438" y="5565589"/>
              <a:ext cx="1448818" cy="473149"/>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H="1" flipV="1">
              <a:off x="8031639" y="4671958"/>
              <a:ext cx="231233" cy="1366780"/>
            </a:xfrm>
            <a:prstGeom prst="line">
              <a:avLst/>
            </a:prstGeom>
            <a:ln>
              <a:gradFill>
                <a:gsLst>
                  <a:gs pos="100000">
                    <a:srgbClr val="DCCBA8">
                      <a:alpha val="73000"/>
                    </a:srgbClr>
                  </a:gs>
                  <a:gs pos="4000">
                    <a:srgbClr val="9C7D3E"/>
                  </a:gs>
                </a:gsLst>
                <a:lin ang="5400000" scaled="1"/>
              </a:gradFill>
              <a:headEnd type="oval"/>
            </a:ln>
          </p:spPr>
          <p:style>
            <a:lnRef idx="1">
              <a:schemeClr val="dk1"/>
            </a:lnRef>
            <a:fillRef idx="0">
              <a:schemeClr val="dk1"/>
            </a:fillRef>
            <a:effectRef idx="0">
              <a:schemeClr val="dk1"/>
            </a:effectRef>
            <a:fontRef idx="minor">
              <a:schemeClr val="tx1"/>
            </a:fontRef>
          </p:style>
        </p:cxnSp>
      </p:grpSp>
      <p:sp>
        <p:nvSpPr>
          <p:cNvPr id="17" name="矩形 16"/>
          <p:cNvSpPr/>
          <p:nvPr/>
        </p:nvSpPr>
        <p:spPr>
          <a:xfrm>
            <a:off x="1855894" y="4010522"/>
            <a:ext cx="8480212" cy="2221762"/>
          </a:xfrm>
          <a:prstGeom prst="rect">
            <a:avLst/>
          </a:prstGeom>
        </p:spPr>
        <p:txBody>
          <a:bodyPr wrap="square">
            <a:spAutoFit/>
          </a:bodyPr>
          <a:lstStyle/>
          <a:p>
            <a:pPr>
              <a:lnSpc>
                <a:spcPct val="150000"/>
              </a:lnSpc>
            </a:pPr>
            <a:r>
              <a:rPr lang="zh-CN" altLang="en-US" sz="2400" b="1" dirty="0">
                <a:solidFill>
                  <a:srgbClr val="654D2D"/>
                </a:solidFill>
                <a:latin typeface="幼圆" panose="02010509060101010101" pitchFamily="49" charset="-122"/>
                <a:ea typeface="幼圆" panose="02010509060101010101" pitchFamily="49" charset="-122"/>
              </a:rPr>
              <a:t>②多步探查</a:t>
            </a:r>
            <a:r>
              <a:rPr lang="en-US" altLang="zh-CN" sz="2400" b="1" dirty="0">
                <a:solidFill>
                  <a:srgbClr val="654D2D"/>
                </a:solidFill>
                <a:latin typeface="幼圆" panose="02010509060101010101" pitchFamily="49" charset="-122"/>
                <a:ea typeface="幼圆" panose="02010509060101010101" pitchFamily="49" charset="-122"/>
              </a:rPr>
              <a:t>,</a:t>
            </a:r>
            <a:r>
              <a:rPr lang="zh-CN" altLang="en-US" sz="2400" b="1" dirty="0">
                <a:solidFill>
                  <a:srgbClr val="654D2D"/>
                </a:solidFill>
                <a:latin typeface="幼圆" panose="02010509060101010101" pitchFamily="49" charset="-122"/>
                <a:ea typeface="幼圆" panose="02010509060101010101" pitchFamily="49" charset="-122"/>
              </a:rPr>
              <a:t>向前探查剪枝的延申。如果涂色后导致某点</a:t>
            </a:r>
            <a:r>
              <a:rPr lang="en-US" altLang="zh-CN" sz="2400" b="1" dirty="0">
                <a:solidFill>
                  <a:srgbClr val="654D2D"/>
                </a:solidFill>
                <a:latin typeface="幼圆" panose="02010509060101010101" pitchFamily="49" charset="-122"/>
                <a:ea typeface="幼圆" panose="02010509060101010101" pitchFamily="49" charset="-122"/>
              </a:rPr>
              <a:t>c</a:t>
            </a:r>
            <a:r>
              <a:rPr lang="zh-CN" altLang="en-US" sz="2400" b="1" dirty="0">
                <a:solidFill>
                  <a:srgbClr val="654D2D"/>
                </a:solidFill>
                <a:latin typeface="幼圆" panose="02010509060101010101" pitchFamily="49" charset="-122"/>
                <a:ea typeface="幼圆" panose="02010509060101010101" pitchFamily="49" charset="-122"/>
              </a:rPr>
              <a:t>只剩余一个颜色可涂，可继续对点</a:t>
            </a:r>
            <a:r>
              <a:rPr lang="en-US" altLang="zh-CN" sz="2400" b="1" dirty="0">
                <a:solidFill>
                  <a:srgbClr val="654D2D"/>
                </a:solidFill>
                <a:latin typeface="幼圆" panose="02010509060101010101" pitchFamily="49" charset="-122"/>
                <a:ea typeface="幼圆" panose="02010509060101010101" pitchFamily="49" charset="-122"/>
              </a:rPr>
              <a:t>c</a:t>
            </a:r>
            <a:r>
              <a:rPr lang="zh-CN" altLang="en-US" sz="2400" b="1" dirty="0">
                <a:solidFill>
                  <a:srgbClr val="654D2D"/>
                </a:solidFill>
                <a:latin typeface="幼圆" panose="02010509060101010101" pitchFamily="49" charset="-122"/>
                <a:ea typeface="幼圆" panose="02010509060101010101" pitchFamily="49" charset="-122"/>
              </a:rPr>
              <a:t>进行探查，判断点</a:t>
            </a:r>
            <a:r>
              <a:rPr lang="en-US" altLang="zh-CN" sz="2400" b="1" dirty="0">
                <a:solidFill>
                  <a:srgbClr val="654D2D"/>
                </a:solidFill>
                <a:latin typeface="幼圆" panose="02010509060101010101" pitchFamily="49" charset="-122"/>
                <a:ea typeface="幼圆" panose="02010509060101010101" pitchFamily="49" charset="-122"/>
              </a:rPr>
              <a:t>c</a:t>
            </a:r>
            <a:r>
              <a:rPr lang="zh-CN" altLang="en-US" sz="2400" b="1" dirty="0">
                <a:solidFill>
                  <a:srgbClr val="654D2D"/>
                </a:solidFill>
                <a:latin typeface="幼圆" panose="02010509060101010101" pitchFamily="49" charset="-122"/>
                <a:ea typeface="幼圆" panose="02010509060101010101" pitchFamily="49" charset="-122"/>
              </a:rPr>
              <a:t>以及其邻接点涂色的合法性，也可以进一步提升效率。但如果探查的步数较多，产生的递归树所消耗的时间会较大，反而降低效率。</a:t>
            </a: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9" fill="hold" nodeType="withEffect">
                                  <p:stCondLst>
                                    <p:cond delay="7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0-#ppt_w/2"/>
                                          </p:val>
                                        </p:tav>
                                        <p:tav tm="100000">
                                          <p:val>
                                            <p:strVal val="#ppt_x"/>
                                          </p:val>
                                        </p:tav>
                                      </p:tavLst>
                                    </p:anim>
                                    <p:anim calcmode="lin" valueType="num">
                                      <p:cBhvr additive="base">
                                        <p:cTn id="11" dur="750" fill="hold"/>
                                        <p:tgtEl>
                                          <p:spTgt spid="4"/>
                                        </p:tgtEl>
                                        <p:attrNameLst>
                                          <p:attrName>ppt_y</p:attrName>
                                        </p:attrNameLst>
                                      </p:cBhvr>
                                      <p:tavLst>
                                        <p:tav tm="0">
                                          <p:val>
                                            <p:strVal val="0-#ppt_h/2"/>
                                          </p:val>
                                        </p:tav>
                                        <p:tav tm="100000">
                                          <p:val>
                                            <p:strVal val="#ppt_y"/>
                                          </p:val>
                                        </p:tav>
                                      </p:tavLst>
                                    </p:anim>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1000"/>
                                        <p:tgtEl>
                                          <p:spTgt spid="8"/>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6" presetClass="entr" presetSubtype="16"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11"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782934" y="818104"/>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任意多边形 5"/>
          <p:cNvSpPr/>
          <p:nvPr/>
        </p:nvSpPr>
        <p:spPr>
          <a:xfrm rot="16200000">
            <a:off x="750277" y="5093612"/>
            <a:ext cx="907701" cy="973015"/>
          </a:xfrm>
          <a:custGeom>
            <a:avLst/>
            <a:gdLst>
              <a:gd name="connsiteX0" fmla="*/ 973015 w 973015"/>
              <a:gd name="connsiteY0" fmla="*/ 0 h 973015"/>
              <a:gd name="connsiteX1" fmla="*/ 973015 w 973015"/>
              <a:gd name="connsiteY1" fmla="*/ 140677 h 973015"/>
              <a:gd name="connsiteX2" fmla="*/ 140677 w 973015"/>
              <a:gd name="connsiteY2" fmla="*/ 140677 h 973015"/>
              <a:gd name="connsiteX3" fmla="*/ 140677 w 973015"/>
              <a:gd name="connsiteY3" fmla="*/ 973015 h 973015"/>
              <a:gd name="connsiteX4" fmla="*/ 0 w 973015"/>
              <a:gd name="connsiteY4" fmla="*/ 973015 h 973015"/>
              <a:gd name="connsiteX5" fmla="*/ 0 w 973015"/>
              <a:gd name="connsiteY5" fmla="*/ 140677 h 973015"/>
              <a:gd name="connsiteX6" fmla="*/ 0 w 973015"/>
              <a:gd name="connsiteY6" fmla="*/ 0 h 973015"/>
              <a:gd name="connsiteX7" fmla="*/ 140677 w 973015"/>
              <a:gd name="connsiteY7" fmla="*/ 0 h 97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3015" h="973015">
                <a:moveTo>
                  <a:pt x="973015" y="0"/>
                </a:moveTo>
                <a:lnTo>
                  <a:pt x="973015" y="140677"/>
                </a:lnTo>
                <a:lnTo>
                  <a:pt x="140677" y="140677"/>
                </a:lnTo>
                <a:lnTo>
                  <a:pt x="140677" y="973015"/>
                </a:lnTo>
                <a:lnTo>
                  <a:pt x="0" y="973015"/>
                </a:lnTo>
                <a:lnTo>
                  <a:pt x="0" y="140677"/>
                </a:lnTo>
                <a:lnTo>
                  <a:pt x="0" y="0"/>
                </a:lnTo>
                <a:lnTo>
                  <a:pt x="140677" y="0"/>
                </a:lnTo>
                <a:close/>
              </a:path>
            </a:pathLst>
          </a:cu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7" name="文本框 6"/>
          <p:cNvSpPr txBox="1"/>
          <p:nvPr/>
        </p:nvSpPr>
        <p:spPr>
          <a:xfrm>
            <a:off x="3525287" y="381747"/>
            <a:ext cx="5574556" cy="646331"/>
          </a:xfrm>
          <a:prstGeom prst="rect">
            <a:avLst/>
          </a:prstGeom>
          <a:noFill/>
        </p:spPr>
        <p:txBody>
          <a:bodyPr wrap="square" rtlCol="0">
            <a:spAutoFit/>
          </a:bodyPr>
          <a:lstStyle/>
          <a:p>
            <a:pPr algn="ctr"/>
            <a:r>
              <a:rPr lang="zh-CN" altLang="en-US" sz="3600" b="1" spc="600" dirty="0">
                <a:solidFill>
                  <a:srgbClr val="654D2D"/>
                </a:solidFill>
                <a:latin typeface="幼圆" panose="02010509060101010101" pitchFamily="49" charset="-122"/>
                <a:ea typeface="幼圆" panose="02010509060101010101" pitchFamily="49" charset="-122"/>
              </a:rPr>
              <a:t>⑥颜色轮换优化 </a:t>
            </a:r>
          </a:p>
        </p:txBody>
      </p:sp>
      <p:grpSp>
        <p:nvGrpSpPr>
          <p:cNvPr id="8" name="组合 7"/>
          <p:cNvGrpSpPr/>
          <p:nvPr/>
        </p:nvGrpSpPr>
        <p:grpSpPr>
          <a:xfrm>
            <a:off x="4442908" y="1183496"/>
            <a:ext cx="3771406" cy="269329"/>
            <a:chOff x="7198852" y="1472339"/>
            <a:chExt cx="3771406" cy="269329"/>
          </a:xfrm>
        </p:grpSpPr>
        <p:cxnSp>
          <p:nvCxnSpPr>
            <p:cNvPr id="9" name="直接连接符 8"/>
            <p:cNvCxnSpPr/>
            <p:nvPr/>
          </p:nvCxnSpPr>
          <p:spPr>
            <a:xfrm>
              <a:off x="7198852" y="1607004"/>
              <a:ext cx="3771406" cy="0"/>
            </a:xfrm>
            <a:prstGeom prst="line">
              <a:avLst/>
            </a:prstGeom>
          </p:spPr>
          <p:style>
            <a:lnRef idx="1">
              <a:schemeClr val="dk1"/>
            </a:lnRef>
            <a:fillRef idx="0">
              <a:schemeClr val="dk1"/>
            </a:fillRef>
            <a:effectRef idx="0">
              <a:schemeClr val="dk1"/>
            </a:effectRef>
            <a:fontRef idx="minor">
              <a:schemeClr val="tx1"/>
            </a:fontRef>
          </p:style>
        </p:cxnSp>
        <p:sp>
          <p:nvSpPr>
            <p:cNvPr id="10" name="椭圆 9"/>
            <p:cNvSpPr/>
            <p:nvPr/>
          </p:nvSpPr>
          <p:spPr>
            <a:xfrm>
              <a:off x="8949890" y="1472339"/>
              <a:ext cx="269329" cy="26932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11" name="文本框 10"/>
          <p:cNvSpPr txBox="1"/>
          <p:nvPr/>
        </p:nvSpPr>
        <p:spPr>
          <a:xfrm>
            <a:off x="1481888" y="1737124"/>
            <a:ext cx="9693444" cy="3415030"/>
          </a:xfrm>
          <a:prstGeom prst="rect">
            <a:avLst/>
          </a:prstGeom>
          <a:noFill/>
        </p:spPr>
        <p:txBody>
          <a:bodyPr wrap="square" rtlCol="0">
            <a:spAutoFit/>
          </a:bodyPr>
          <a:lstStyle/>
          <a:p>
            <a:pPr algn="ctr">
              <a:lnSpc>
                <a:spcPct val="150000"/>
              </a:lnSpc>
            </a:pPr>
            <a:r>
              <a:rPr lang="zh-CN" altLang="en-US" sz="2400" dirty="0">
                <a:solidFill>
                  <a:srgbClr val="654D2D"/>
                </a:solidFill>
                <a:latin typeface="幼圆" panose="02010509060101010101" pitchFamily="49" charset="-122"/>
                <a:ea typeface="幼圆" panose="02010509060101010101" pitchFamily="49" charset="-122"/>
              </a:rPr>
              <a:t>优化思路</a:t>
            </a:r>
            <a:endParaRPr lang="en-US" altLang="zh-CN" sz="2400" dirty="0">
              <a:solidFill>
                <a:srgbClr val="654D2D"/>
              </a:solidFill>
              <a:latin typeface="幼圆" panose="02010509060101010101" pitchFamily="49" charset="-122"/>
              <a:ea typeface="幼圆" panose="02010509060101010101" pitchFamily="49" charset="-122"/>
            </a:endParaRPr>
          </a:p>
          <a:p>
            <a:pPr>
              <a:lnSpc>
                <a:spcPct val="150000"/>
              </a:lnSpc>
            </a:pPr>
            <a:r>
              <a:rPr lang="zh-CN" altLang="en-US" sz="2400" dirty="0">
                <a:solidFill>
                  <a:srgbClr val="654D2D"/>
                </a:solidFill>
                <a:latin typeface="幼圆" panose="02010509060101010101" pitchFamily="49" charset="-122"/>
                <a:ea typeface="幼圆" panose="02010509060101010101" pitchFamily="49" charset="-122"/>
              </a:rPr>
              <a:t>可以看作为优化（</a:t>
            </a:r>
            <a:r>
              <a:rPr lang="en-US" altLang="zh-CN" sz="2400" dirty="0">
                <a:solidFill>
                  <a:srgbClr val="654D2D"/>
                </a:solidFill>
                <a:latin typeface="幼圆" panose="02010509060101010101" pitchFamily="49" charset="-122"/>
                <a:ea typeface="幼圆" panose="02010509060101010101" pitchFamily="49" charset="-122"/>
              </a:rPr>
              <a:t>1</a:t>
            </a:r>
            <a:r>
              <a:rPr lang="zh-CN" altLang="en-US" sz="2400" dirty="0">
                <a:solidFill>
                  <a:srgbClr val="654D2D"/>
                </a:solidFill>
                <a:latin typeface="幼圆" panose="02010509060101010101" pitchFamily="49" charset="-122"/>
                <a:ea typeface="幼圆" panose="02010509060101010101" pitchFamily="49" charset="-122"/>
              </a:rPr>
              <a:t>）的延申。由于填涂颜色的对称性，对某点进行涂色时，若其有</a:t>
            </a:r>
            <a:r>
              <a:rPr lang="en-US" altLang="zh-CN" sz="2400" dirty="0">
                <a:solidFill>
                  <a:srgbClr val="654D2D"/>
                </a:solidFill>
                <a:latin typeface="幼圆" panose="02010509060101010101" pitchFamily="49" charset="-122"/>
                <a:ea typeface="幼圆" panose="02010509060101010101" pitchFamily="49" charset="-122"/>
              </a:rPr>
              <a:t>x</a:t>
            </a:r>
            <a:r>
              <a:rPr lang="zh-CN" altLang="en-US" sz="2400" dirty="0">
                <a:solidFill>
                  <a:srgbClr val="654D2D"/>
                </a:solidFill>
                <a:latin typeface="幼圆" panose="02010509060101010101" pitchFamily="49" charset="-122"/>
                <a:ea typeface="幼圆" panose="02010509060101010101" pitchFamily="49" charset="-122"/>
              </a:rPr>
              <a:t>种颜色从未被使用过，则这</a:t>
            </a:r>
            <a:r>
              <a:rPr lang="en-US" altLang="zh-CN" sz="2400" dirty="0">
                <a:solidFill>
                  <a:srgbClr val="654D2D"/>
                </a:solidFill>
                <a:latin typeface="幼圆" panose="02010509060101010101" pitchFamily="49" charset="-122"/>
                <a:ea typeface="幼圆" panose="02010509060101010101" pitchFamily="49" charset="-122"/>
              </a:rPr>
              <a:t>x</a:t>
            </a:r>
            <a:r>
              <a:rPr lang="zh-CN" altLang="en-US" sz="2400" dirty="0">
                <a:solidFill>
                  <a:srgbClr val="654D2D"/>
                </a:solidFill>
                <a:latin typeface="幼圆" panose="02010509060101010101" pitchFamily="49" charset="-122"/>
                <a:ea typeface="幼圆" panose="02010509060101010101" pitchFamily="49" charset="-122"/>
              </a:rPr>
              <a:t>种颜色是等效，且具有</a:t>
            </a:r>
            <a:r>
              <a:rPr lang="en-US" altLang="zh-CN" sz="2400" dirty="0">
                <a:solidFill>
                  <a:srgbClr val="654D2D"/>
                </a:solidFill>
                <a:latin typeface="幼圆" panose="02010509060101010101" pitchFamily="49" charset="-122"/>
                <a:ea typeface="幼圆" panose="02010509060101010101" pitchFamily="49" charset="-122"/>
              </a:rPr>
              <a:t>x</a:t>
            </a:r>
            <a:r>
              <a:rPr lang="zh-CN" altLang="en-US" sz="2400" dirty="0">
                <a:solidFill>
                  <a:srgbClr val="654D2D"/>
                </a:solidFill>
                <a:latin typeface="幼圆" panose="02010509060101010101" pitchFamily="49" charset="-122"/>
                <a:ea typeface="幼圆" panose="02010509060101010101" pitchFamily="49" charset="-122"/>
              </a:rPr>
              <a:t>！种可能的排列组合。因此只需递归一次，而省略其他等效递归树的搜索。即如果一条分支中第一次使用某颜色，将其他从未用过颜色点标记为用过，继续搜索</a:t>
            </a:r>
          </a:p>
        </p:txBody>
      </p:sp>
      <p:sp>
        <p:nvSpPr>
          <p:cNvPr id="12" name="矩形 11"/>
          <p:cNvSpPr/>
          <p:nvPr/>
        </p:nvSpPr>
        <p:spPr>
          <a:xfrm>
            <a:off x="11474380" y="5580119"/>
            <a:ext cx="95860" cy="571242"/>
          </a:xfrm>
          <a:prstGeom prst="rect">
            <a:avLst/>
          </a:prstGeom>
          <a:solidFill>
            <a:srgbClr val="4437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A8C58"/>
              </a:solidFill>
              <a:latin typeface="幼圆" panose="02010509060101010101" pitchFamily="49" charset="-122"/>
              <a:ea typeface="幼圆" panose="02010509060101010101" pitchFamily="49"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1000"/>
                                        <p:tgtEl>
                                          <p:spTgt spid="5"/>
                                        </p:tgtEl>
                                      </p:cBhvr>
                                    </p:animEffect>
                                  </p:childTnLst>
                                </p:cTn>
                              </p:par>
                              <p:par>
                                <p:cTn id="8" presetID="16" presetClass="entr" presetSubtype="42" fill="hold" grpId="0" nodeType="with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barn(outHorizontal)">
                                      <p:cBhvr>
                                        <p:cTn id="10" dur="1000"/>
                                        <p:tgtEl>
                                          <p:spTgt spid="6"/>
                                        </p:tgtEl>
                                      </p:cBhvr>
                                    </p:animEffect>
                                  </p:childTnLst>
                                </p:cTn>
                              </p:par>
                            </p:childTnLst>
                          </p:cTn>
                        </p:par>
                        <p:par>
                          <p:cTn id="11" fill="hold">
                            <p:stCondLst>
                              <p:cond delay="2000"/>
                            </p:stCondLst>
                            <p:childTnLst>
                              <p:par>
                                <p:cTn id="12" presetID="2" presetClass="entr" presetSubtype="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ppt_x"/>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16" presetClass="entr" presetSubtype="21"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22" presetClass="entr" presetSubtype="4" fill="hold" grpId="0" nodeType="withEffect">
                                  <p:stCondLst>
                                    <p:cond delay="175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11" grpId="0"/>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839868" y="-509072"/>
            <a:ext cx="2749471" cy="6247864"/>
          </a:xfrm>
          <a:prstGeom prst="rect">
            <a:avLst/>
          </a:prstGeom>
          <a:noFill/>
        </p:spPr>
        <p:txBody>
          <a:bodyPr wrap="none" rtlCol="0">
            <a:spAutoFit/>
          </a:bodyPr>
          <a:lstStyle/>
          <a:p>
            <a:r>
              <a:rPr lang="en-US" altLang="zh-CN"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rPr>
              <a:t>3</a:t>
            </a:r>
            <a:endParaRPr lang="zh-CN" altLang="en-US"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endParaRPr>
          </a:p>
        </p:txBody>
      </p:sp>
      <p:sp>
        <p:nvSpPr>
          <p:cNvPr id="9" name="文本框 8"/>
          <p:cNvSpPr txBox="1"/>
          <p:nvPr/>
        </p:nvSpPr>
        <p:spPr>
          <a:xfrm>
            <a:off x="3709775" y="5028854"/>
            <a:ext cx="5010926" cy="923330"/>
          </a:xfrm>
          <a:prstGeom prst="rect">
            <a:avLst/>
          </a:prstGeom>
          <a:noFill/>
        </p:spPr>
        <p:txBody>
          <a:bodyPr wrap="square" rtlCol="0">
            <a:spAutoFit/>
          </a:bodyPr>
          <a:lstStyle/>
          <a:p>
            <a:pPr algn="ctr"/>
            <a:r>
              <a:rPr lang="zh-CN" altLang="en-US" sz="5400" b="1" dirty="0">
                <a:solidFill>
                  <a:srgbClr val="8A6E36"/>
                </a:solidFill>
                <a:latin typeface="幼圆" panose="02010509060101010101" pitchFamily="49" charset="-122"/>
                <a:ea typeface="幼圆" panose="02010509060101010101" pitchFamily="49" charset="-122"/>
              </a:rPr>
              <a:t>实验结果与分析</a:t>
            </a:r>
          </a:p>
        </p:txBody>
      </p:sp>
      <p:cxnSp>
        <p:nvCxnSpPr>
          <p:cNvPr id="10" name="直接连接符 9"/>
          <p:cNvCxnSpPr/>
          <p:nvPr/>
        </p:nvCxnSpPr>
        <p:spPr>
          <a:xfrm flipV="1">
            <a:off x="8330287" y="2031347"/>
            <a:ext cx="1506434" cy="1165792"/>
          </a:xfrm>
          <a:prstGeom prst="line">
            <a:avLst/>
          </a:prstGeom>
          <a:ln>
            <a:solidFill>
              <a:srgbClr val="7F6531"/>
            </a:solidFill>
            <a:headEnd type="none"/>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V="1">
            <a:off x="9109526" y="1309273"/>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8891233" y="1808430"/>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427549" y="2358404"/>
            <a:ext cx="1414238" cy="1456021"/>
            <a:chOff x="2505684" y="1866900"/>
            <a:chExt cx="1721796" cy="1772666"/>
          </a:xfrm>
        </p:grpSpPr>
        <p:sp>
          <p:nvSpPr>
            <p:cNvPr id="22" name="椭圆 21"/>
            <p:cNvSpPr/>
            <p:nvPr/>
          </p:nvSpPr>
          <p:spPr>
            <a:xfrm rot="20360639">
              <a:off x="2895600" y="1866900"/>
              <a:ext cx="1314450" cy="1714500"/>
            </a:xfrm>
            <a:prstGeom prst="ellipse">
              <a:avLst/>
            </a:prstGeom>
            <a:noFill/>
            <a:ln w="6350">
              <a:solidFill>
                <a:srgbClr val="574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rot="1239361" flipH="1">
              <a:off x="2533651" y="1866901"/>
              <a:ext cx="1314450" cy="1714500"/>
            </a:xfrm>
            <a:prstGeom prst="ellipse">
              <a:avLst/>
            </a:prstGeom>
            <a:noFill/>
            <a:ln w="6350">
              <a:solidFill>
                <a:srgbClr val="574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rot="16200000" flipH="1">
              <a:off x="2709357" y="2121443"/>
              <a:ext cx="1314450" cy="1721796"/>
            </a:xfrm>
            <a:prstGeom prst="ellipse">
              <a:avLst/>
            </a:prstGeom>
            <a:noFill/>
            <a:ln w="6350">
              <a:solidFill>
                <a:srgbClr val="574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731011" y="1615882"/>
            <a:ext cx="2807314" cy="2893288"/>
            <a:chOff x="1423987" y="1382148"/>
            <a:chExt cx="3509966" cy="3617459"/>
          </a:xfrm>
        </p:grpSpPr>
        <p:sp>
          <p:nvSpPr>
            <p:cNvPr id="26" name="椭圆 25"/>
            <p:cNvSpPr/>
            <p:nvPr/>
          </p:nvSpPr>
          <p:spPr>
            <a:xfrm rot="20360639">
              <a:off x="2218302" y="1382148"/>
              <a:ext cx="2685436" cy="3502741"/>
            </a:xfrm>
            <a:prstGeom prst="ellipse">
              <a:avLst/>
            </a:prstGeom>
            <a:noFill/>
            <a:ln w="38100">
              <a:solidFill>
                <a:srgbClr val="574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rot="1239361" flipH="1">
              <a:off x="1478836" y="1382150"/>
              <a:ext cx="2685436" cy="3502741"/>
            </a:xfrm>
            <a:prstGeom prst="ellipse">
              <a:avLst/>
            </a:prstGeom>
            <a:noFill/>
            <a:ln w="38100">
              <a:solidFill>
                <a:srgbClr val="574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rot="16200000" flipH="1">
              <a:off x="1836252" y="1901907"/>
              <a:ext cx="2685435" cy="3509966"/>
            </a:xfrm>
            <a:prstGeom prst="ellipse">
              <a:avLst/>
            </a:prstGeom>
            <a:noFill/>
            <a:ln w="38100">
              <a:solidFill>
                <a:srgbClr val="574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withEffect">
                                  <p:stCondLst>
                                    <p:cond delay="75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7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1+#ppt_w/2"/>
                                          </p:val>
                                        </p:tav>
                                        <p:tav tm="100000">
                                          <p:val>
                                            <p:strVal val="#ppt_x"/>
                                          </p:val>
                                        </p:tav>
                                      </p:tavLst>
                                    </p:anim>
                                    <p:anim calcmode="lin" valueType="num">
                                      <p:cBhvr additive="base">
                                        <p:cTn id="12" dur="1000" fill="hold"/>
                                        <p:tgtEl>
                                          <p:spTgt spid="10"/>
                                        </p:tgtEl>
                                        <p:attrNameLst>
                                          <p:attrName>ppt_y</p:attrName>
                                        </p:attrNameLst>
                                      </p:cBhvr>
                                      <p:tavLst>
                                        <p:tav tm="0">
                                          <p:val>
                                            <p:strVal val="0-#ppt_h/2"/>
                                          </p:val>
                                        </p:tav>
                                        <p:tav tm="100000">
                                          <p:val>
                                            <p:strVal val="#ppt_y"/>
                                          </p:val>
                                        </p:tav>
                                      </p:tavLst>
                                    </p:anim>
                                  </p:childTnLst>
                                </p:cTn>
                              </p:par>
                              <p:par>
                                <p:cTn id="13" presetID="2" presetClass="entr" presetSubtype="3" fill="hold" nodeType="withEffect">
                                  <p:stCondLst>
                                    <p:cond delay="7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6" presetClass="entr" presetSubtype="0" fill="hold" grpId="0" nodeType="withEffect">
                                  <p:stCondLst>
                                    <p:cond delay="175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435">
                                          <p:stCondLst>
                                            <p:cond delay="0"/>
                                          </p:stCondLst>
                                        </p:cTn>
                                        <p:tgtEl>
                                          <p:spTgt spid="7"/>
                                        </p:tgtEl>
                                      </p:cBhvr>
                                    </p:animEffect>
                                    <p:anim calcmode="lin" valueType="num">
                                      <p:cBhvr>
                                        <p:cTn id="20" dur="1367"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1" dur="498"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2" dur="498" tmFilter="0, 0; 0.125,0.2665; 0.25,0.4; 0.375,0.465; 0.5,0.5;  0.625,0.535; 0.75,0.6; 0.875,0.7335; 1,1">
                                          <p:stCondLst>
                                            <p:cond delay="498"/>
                                          </p:stCondLst>
                                        </p:cTn>
                                        <p:tgtEl>
                                          <p:spTgt spid="7"/>
                                        </p:tgtEl>
                                        <p:attrNameLst>
                                          <p:attrName>ppt_y</p:attrName>
                                        </p:attrNameLst>
                                      </p:cBhvr>
                                      <p:tavLst>
                                        <p:tav tm="0" fmla="#ppt_y-sin(pi*$)/9">
                                          <p:val>
                                            <p:fltVal val="0"/>
                                          </p:val>
                                        </p:tav>
                                        <p:tav tm="100000">
                                          <p:val>
                                            <p:fltVal val="1"/>
                                          </p:val>
                                        </p:tav>
                                      </p:tavLst>
                                    </p:anim>
                                    <p:anim calcmode="lin" valueType="num">
                                      <p:cBhvr>
                                        <p:cTn id="23" dur="249" tmFilter="0, 0; 0.125,0.2665; 0.25,0.4; 0.375,0.465; 0.5,0.5;  0.625,0.535; 0.75,0.6; 0.875,0.7335; 1,1">
                                          <p:stCondLst>
                                            <p:cond delay="993"/>
                                          </p:stCondLst>
                                        </p:cTn>
                                        <p:tgtEl>
                                          <p:spTgt spid="7"/>
                                        </p:tgtEl>
                                        <p:attrNameLst>
                                          <p:attrName>ppt_y</p:attrName>
                                        </p:attrNameLst>
                                      </p:cBhvr>
                                      <p:tavLst>
                                        <p:tav tm="0" fmla="#ppt_y-sin(pi*$)/27">
                                          <p:val>
                                            <p:fltVal val="0"/>
                                          </p:val>
                                        </p:tav>
                                        <p:tav tm="100000">
                                          <p:val>
                                            <p:fltVal val="1"/>
                                          </p:val>
                                        </p:tav>
                                      </p:tavLst>
                                    </p:anim>
                                    <p:anim calcmode="lin" valueType="num">
                                      <p:cBhvr>
                                        <p:cTn id="24" dur="123" tmFilter="0, 0; 0.125,0.2665; 0.25,0.4; 0.375,0.465; 0.5,0.5;  0.625,0.535; 0.75,0.6; 0.875,0.7335; 1,1">
                                          <p:stCondLst>
                                            <p:cond delay="1242"/>
                                          </p:stCondLst>
                                        </p:cTn>
                                        <p:tgtEl>
                                          <p:spTgt spid="7"/>
                                        </p:tgtEl>
                                        <p:attrNameLst>
                                          <p:attrName>ppt_y</p:attrName>
                                        </p:attrNameLst>
                                      </p:cBhvr>
                                      <p:tavLst>
                                        <p:tav tm="0" fmla="#ppt_y-sin(pi*$)/81">
                                          <p:val>
                                            <p:fltVal val="0"/>
                                          </p:val>
                                        </p:tav>
                                        <p:tav tm="100000">
                                          <p:val>
                                            <p:fltVal val="1"/>
                                          </p:val>
                                        </p:tav>
                                      </p:tavLst>
                                    </p:anim>
                                    <p:animScale>
                                      <p:cBhvr>
                                        <p:cTn id="25" dur="20">
                                          <p:stCondLst>
                                            <p:cond delay="487"/>
                                          </p:stCondLst>
                                        </p:cTn>
                                        <p:tgtEl>
                                          <p:spTgt spid="7"/>
                                        </p:tgtEl>
                                      </p:cBhvr>
                                      <p:to x="100000" y="60000"/>
                                    </p:animScale>
                                    <p:animScale>
                                      <p:cBhvr>
                                        <p:cTn id="26" dur="124" decel="50000">
                                          <p:stCondLst>
                                            <p:cond delay="507"/>
                                          </p:stCondLst>
                                        </p:cTn>
                                        <p:tgtEl>
                                          <p:spTgt spid="7"/>
                                        </p:tgtEl>
                                      </p:cBhvr>
                                      <p:to x="100000" y="100000"/>
                                    </p:animScale>
                                    <p:animScale>
                                      <p:cBhvr>
                                        <p:cTn id="27" dur="20">
                                          <p:stCondLst>
                                            <p:cond delay="984"/>
                                          </p:stCondLst>
                                        </p:cTn>
                                        <p:tgtEl>
                                          <p:spTgt spid="7"/>
                                        </p:tgtEl>
                                      </p:cBhvr>
                                      <p:to x="100000" y="80000"/>
                                    </p:animScale>
                                    <p:animScale>
                                      <p:cBhvr>
                                        <p:cTn id="28" dur="124" decel="50000">
                                          <p:stCondLst>
                                            <p:cond delay="1004"/>
                                          </p:stCondLst>
                                        </p:cTn>
                                        <p:tgtEl>
                                          <p:spTgt spid="7"/>
                                        </p:tgtEl>
                                      </p:cBhvr>
                                      <p:to x="100000" y="100000"/>
                                    </p:animScale>
                                    <p:animScale>
                                      <p:cBhvr>
                                        <p:cTn id="29" dur="20">
                                          <p:stCondLst>
                                            <p:cond delay="1231"/>
                                          </p:stCondLst>
                                        </p:cTn>
                                        <p:tgtEl>
                                          <p:spTgt spid="7"/>
                                        </p:tgtEl>
                                      </p:cBhvr>
                                      <p:to x="100000" y="90000"/>
                                    </p:animScale>
                                    <p:animScale>
                                      <p:cBhvr>
                                        <p:cTn id="30" dur="124" decel="50000">
                                          <p:stCondLst>
                                            <p:cond delay="1251"/>
                                          </p:stCondLst>
                                        </p:cTn>
                                        <p:tgtEl>
                                          <p:spTgt spid="7"/>
                                        </p:tgtEl>
                                      </p:cBhvr>
                                      <p:to x="100000" y="100000"/>
                                    </p:animScale>
                                    <p:animScale>
                                      <p:cBhvr>
                                        <p:cTn id="31" dur="20">
                                          <p:stCondLst>
                                            <p:cond delay="1356"/>
                                          </p:stCondLst>
                                        </p:cTn>
                                        <p:tgtEl>
                                          <p:spTgt spid="7"/>
                                        </p:tgtEl>
                                      </p:cBhvr>
                                      <p:to x="100000" y="95000"/>
                                    </p:animScale>
                                    <p:animScale>
                                      <p:cBhvr>
                                        <p:cTn id="32" dur="124" decel="50000">
                                          <p:stCondLst>
                                            <p:cond delay="1376"/>
                                          </p:stCondLst>
                                        </p:cTn>
                                        <p:tgtEl>
                                          <p:spTgt spid="7"/>
                                        </p:tgtEl>
                                      </p:cBhvr>
                                      <p:to x="100000" y="100000"/>
                                    </p:animScale>
                                  </p:childTnLst>
                                </p:cTn>
                              </p:par>
                            </p:childTnLst>
                          </p:cTn>
                        </p:par>
                        <p:par>
                          <p:cTn id="33" fill="hold">
                            <p:stCondLst>
                              <p:cond delay="1750"/>
                            </p:stCondLst>
                            <p:childTnLst>
                              <p:par>
                                <p:cTn id="34" presetID="2" presetClass="entr" presetSubtype="4"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par>
                          <p:cTn id="38" fill="hold">
                            <p:stCondLst>
                              <p:cond delay="2250"/>
                            </p:stCondLst>
                            <p:childTnLst>
                              <p:par>
                                <p:cTn id="39" presetID="16" presetClass="entr" presetSubtype="37" fill="hold"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arn(outVertical)">
                                      <p:cBhvr>
                                        <p:cTn id="41" dur="1000"/>
                                        <p:tgtEl>
                                          <p:spTgt spid="21"/>
                                        </p:tgtEl>
                                      </p:cBhvr>
                                    </p:animEffect>
                                  </p:childTnLst>
                                </p:cTn>
                              </p:par>
                              <p:par>
                                <p:cTn id="42" presetID="8" presetClass="emph" presetSubtype="0" repeatCount="indefinite" fill="hold" nodeType="withEffect">
                                  <p:stCondLst>
                                    <p:cond delay="750"/>
                                  </p:stCondLst>
                                  <p:childTnLst>
                                    <p:animRot by="21600000">
                                      <p:cBhvr>
                                        <p:cTn id="43" dur="2000" fill="hold"/>
                                        <p:tgtEl>
                                          <p:spTgt spid="21"/>
                                        </p:tgtEl>
                                        <p:attrNameLst>
                                          <p:attrName>r</p:attrName>
                                        </p:attrNameLst>
                                      </p:cBhvr>
                                    </p:animRot>
                                  </p:childTnLst>
                                </p:cTn>
                              </p:par>
                              <p:par>
                                <p:cTn id="44" presetID="16" presetClass="entr" presetSubtype="37" fill="hold" nodeType="withEffect">
                                  <p:stCondLst>
                                    <p:cond delay="1000"/>
                                  </p:stCondLst>
                                  <p:childTnLst>
                                    <p:set>
                                      <p:cBhvr>
                                        <p:cTn id="45" dur="1" fill="hold">
                                          <p:stCondLst>
                                            <p:cond delay="0"/>
                                          </p:stCondLst>
                                        </p:cTn>
                                        <p:tgtEl>
                                          <p:spTgt spid="25"/>
                                        </p:tgtEl>
                                        <p:attrNameLst>
                                          <p:attrName>style.visibility</p:attrName>
                                        </p:attrNameLst>
                                      </p:cBhvr>
                                      <p:to>
                                        <p:strVal val="visible"/>
                                      </p:to>
                                    </p:set>
                                    <p:animEffect transition="in" filter="barn(outVertical)">
                                      <p:cBhvr>
                                        <p:cTn id="46" dur="1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0" y="6337190"/>
            <a:ext cx="527539" cy="527539"/>
          </a:xfrm>
          <a:prstGeom prst="ellipse">
            <a:avLst/>
          </a:prstGeom>
          <a:noFill/>
          <a:ln>
            <a:solidFill>
              <a:srgbClr val="6853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12" name="文本框 11"/>
          <p:cNvSpPr txBox="1"/>
          <p:nvPr/>
        </p:nvSpPr>
        <p:spPr>
          <a:xfrm>
            <a:off x="4440862" y="-56053"/>
            <a:ext cx="2837128" cy="461665"/>
          </a:xfrm>
          <a:prstGeom prst="rect">
            <a:avLst/>
          </a:prstGeom>
          <a:noFill/>
        </p:spPr>
        <p:txBody>
          <a:bodyPr wrap="square" rtlCol="0">
            <a:spAutoFit/>
          </a:bodyPr>
          <a:lstStyle/>
          <a:p>
            <a:pPr algn="ctr"/>
            <a:r>
              <a:rPr lang="zh-CN" altLang="en-US"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部分函数</a:t>
            </a:r>
          </a:p>
        </p:txBody>
      </p:sp>
      <p:sp>
        <p:nvSpPr>
          <p:cNvPr id="14" name="椭圆 13"/>
          <p:cNvSpPr/>
          <p:nvPr/>
        </p:nvSpPr>
        <p:spPr>
          <a:xfrm>
            <a:off x="0" y="0"/>
            <a:ext cx="527539" cy="527539"/>
          </a:xfrm>
          <a:prstGeom prst="ellipse">
            <a:avLst/>
          </a:prstGeom>
          <a:solidFill>
            <a:srgbClr val="6853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17" name="椭圆 16"/>
          <p:cNvSpPr/>
          <p:nvPr/>
        </p:nvSpPr>
        <p:spPr>
          <a:xfrm>
            <a:off x="11664461" y="-1590"/>
            <a:ext cx="527539" cy="527539"/>
          </a:xfrm>
          <a:prstGeom prst="ellipse">
            <a:avLst/>
          </a:prstGeom>
          <a:noFill/>
          <a:ln w="57150">
            <a:solidFill>
              <a:srgbClr val="6853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pic>
        <p:nvPicPr>
          <p:cNvPr id="21" name="图片 20"/>
          <p:cNvPicPr>
            <a:picLocks noChangeAspect="1"/>
          </p:cNvPicPr>
          <p:nvPr/>
        </p:nvPicPr>
        <p:blipFill>
          <a:blip r:embed="rId3"/>
          <a:stretch>
            <a:fillRect/>
          </a:stretch>
        </p:blipFill>
        <p:spPr>
          <a:xfrm>
            <a:off x="184953" y="865512"/>
            <a:ext cx="2872862" cy="3564272"/>
          </a:xfrm>
          <a:prstGeom prst="rect">
            <a:avLst/>
          </a:prstGeom>
        </p:spPr>
      </p:pic>
      <p:sp>
        <p:nvSpPr>
          <p:cNvPr id="22" name="文本框 21"/>
          <p:cNvSpPr txBox="1"/>
          <p:nvPr/>
        </p:nvSpPr>
        <p:spPr>
          <a:xfrm>
            <a:off x="770634" y="4457099"/>
            <a:ext cx="1701500" cy="369332"/>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读取文件函数</a:t>
            </a:r>
          </a:p>
        </p:txBody>
      </p:sp>
      <p:pic>
        <p:nvPicPr>
          <p:cNvPr id="26" name="图片 25"/>
          <p:cNvPicPr>
            <a:picLocks noChangeAspect="1"/>
          </p:cNvPicPr>
          <p:nvPr/>
        </p:nvPicPr>
        <p:blipFill>
          <a:blip r:embed="rId4"/>
          <a:stretch>
            <a:fillRect/>
          </a:stretch>
        </p:blipFill>
        <p:spPr>
          <a:xfrm>
            <a:off x="5074130" y="865512"/>
            <a:ext cx="7057143" cy="1904762"/>
          </a:xfrm>
          <a:prstGeom prst="rect">
            <a:avLst/>
          </a:prstGeom>
        </p:spPr>
      </p:pic>
      <p:sp>
        <p:nvSpPr>
          <p:cNvPr id="27" name="文本框 26"/>
          <p:cNvSpPr txBox="1"/>
          <p:nvPr/>
        </p:nvSpPr>
        <p:spPr>
          <a:xfrm>
            <a:off x="7751951" y="2796252"/>
            <a:ext cx="1701500" cy="369332"/>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涂色判断函数</a:t>
            </a:r>
          </a:p>
        </p:txBody>
      </p:sp>
      <p:pic>
        <p:nvPicPr>
          <p:cNvPr id="29" name="图片 28"/>
          <p:cNvPicPr>
            <a:picLocks noChangeAspect="1"/>
          </p:cNvPicPr>
          <p:nvPr/>
        </p:nvPicPr>
        <p:blipFill>
          <a:blip r:embed="rId5"/>
          <a:stretch>
            <a:fillRect/>
          </a:stretch>
        </p:blipFill>
        <p:spPr>
          <a:xfrm>
            <a:off x="7716287" y="3458842"/>
            <a:ext cx="4414986" cy="2093774"/>
          </a:xfrm>
          <a:prstGeom prst="rect">
            <a:avLst/>
          </a:prstGeom>
        </p:spPr>
      </p:pic>
      <p:sp>
        <p:nvSpPr>
          <p:cNvPr id="30" name="文本框 29"/>
          <p:cNvSpPr txBox="1"/>
          <p:nvPr/>
        </p:nvSpPr>
        <p:spPr>
          <a:xfrm>
            <a:off x="8942052" y="5807822"/>
            <a:ext cx="1963455" cy="369332"/>
          </a:xfrm>
          <a:prstGeom prst="rect">
            <a:avLst/>
          </a:prstGeom>
          <a:noFill/>
        </p:spPr>
        <p:txBody>
          <a:bodyPr wrap="square" rtlCol="0">
            <a:spAutoFit/>
          </a:bodyPr>
          <a:lstStyle/>
          <a:p>
            <a:pPr algn="ctr"/>
            <a:r>
              <a:rPr lang="zh-CN" altLang="en-US" dirty="0">
                <a:latin typeface="幼圆" panose="02010509060101010101" pitchFamily="49" charset="-122"/>
                <a:ea typeface="幼圆" panose="02010509060101010101" pitchFamily="49" charset="-122"/>
              </a:rPr>
              <a:t>获得涂色点函数</a:t>
            </a:r>
          </a:p>
        </p:txBody>
      </p:sp>
      <p:pic>
        <p:nvPicPr>
          <p:cNvPr id="32" name="图片 31"/>
          <p:cNvPicPr>
            <a:picLocks noChangeAspect="1"/>
          </p:cNvPicPr>
          <p:nvPr/>
        </p:nvPicPr>
        <p:blipFill>
          <a:blip r:embed="rId6"/>
          <a:stretch>
            <a:fillRect/>
          </a:stretch>
        </p:blipFill>
        <p:spPr>
          <a:xfrm>
            <a:off x="3536753" y="3973693"/>
            <a:ext cx="3163154" cy="2442188"/>
          </a:xfrm>
          <a:prstGeom prst="rect">
            <a:avLst/>
          </a:prstGeom>
        </p:spPr>
      </p:pic>
      <p:sp>
        <p:nvSpPr>
          <p:cNvPr id="33" name="文本框 32"/>
          <p:cNvSpPr txBox="1"/>
          <p:nvPr/>
        </p:nvSpPr>
        <p:spPr>
          <a:xfrm>
            <a:off x="4092402" y="6488668"/>
            <a:ext cx="1963455" cy="369332"/>
          </a:xfrm>
          <a:prstGeom prst="rect">
            <a:avLst/>
          </a:prstGeom>
          <a:noFill/>
        </p:spPr>
        <p:txBody>
          <a:bodyPr wrap="square" rtlCol="0">
            <a:spAutoFit/>
          </a:bodyPr>
          <a:lstStyle/>
          <a:p>
            <a:pPr algn="ctr"/>
            <a:r>
              <a:rPr lang="zh-CN" altLang="en-US" dirty="0">
                <a:latin typeface="幼圆" panose="02010509060101010101" pitchFamily="49" charset="-122"/>
                <a:ea typeface="幼圆" panose="02010509060101010101" pitchFamily="49" charset="-122"/>
              </a:rPr>
              <a:t>生成随机边函数</a:t>
            </a:r>
          </a:p>
        </p:txBody>
      </p:sp>
    </p:spTree>
  </p:cSld>
  <p:clrMapOvr>
    <a:masterClrMapping/>
  </p:clrMapOvr>
  <mc:AlternateContent xmlns:mc="http://schemas.openxmlformats.org/markup-compatibility/2006" xmlns:p15="http://schemas.microsoft.com/office/powerpoint/2012/main">
    <mc:Choice Requires="p15">
      <p:transition spd="slow">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435">
                                          <p:stCondLst>
                                            <p:cond delay="0"/>
                                          </p:stCondLst>
                                        </p:cTn>
                                        <p:tgtEl>
                                          <p:spTgt spid="11"/>
                                        </p:tgtEl>
                                      </p:cBhvr>
                                    </p:animEffect>
                                    <p:anim calcmode="lin" valueType="num">
                                      <p:cBhvr>
                                        <p:cTn id="8" dur="1367"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11"/>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11"/>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11"/>
                                        </p:tgtEl>
                                        <p:attrNameLst>
                                          <p:attrName>ppt_y</p:attrName>
                                        </p:attrNameLst>
                                      </p:cBhvr>
                                      <p:tavLst>
                                        <p:tav tm="0" fmla="#ppt_y-sin(pi*$)/81">
                                          <p:val>
                                            <p:fltVal val="0"/>
                                          </p:val>
                                        </p:tav>
                                        <p:tav tm="100000">
                                          <p:val>
                                            <p:fltVal val="1"/>
                                          </p:val>
                                        </p:tav>
                                      </p:tavLst>
                                    </p:anim>
                                    <p:animScale>
                                      <p:cBhvr>
                                        <p:cTn id="13" dur="20">
                                          <p:stCondLst>
                                            <p:cond delay="487"/>
                                          </p:stCondLst>
                                        </p:cTn>
                                        <p:tgtEl>
                                          <p:spTgt spid="11"/>
                                        </p:tgtEl>
                                      </p:cBhvr>
                                      <p:to x="100000" y="60000"/>
                                    </p:animScale>
                                    <p:animScale>
                                      <p:cBhvr>
                                        <p:cTn id="14" dur="124" decel="50000">
                                          <p:stCondLst>
                                            <p:cond delay="507"/>
                                          </p:stCondLst>
                                        </p:cTn>
                                        <p:tgtEl>
                                          <p:spTgt spid="11"/>
                                        </p:tgtEl>
                                      </p:cBhvr>
                                      <p:to x="100000" y="100000"/>
                                    </p:animScale>
                                    <p:animScale>
                                      <p:cBhvr>
                                        <p:cTn id="15" dur="20">
                                          <p:stCondLst>
                                            <p:cond delay="984"/>
                                          </p:stCondLst>
                                        </p:cTn>
                                        <p:tgtEl>
                                          <p:spTgt spid="11"/>
                                        </p:tgtEl>
                                      </p:cBhvr>
                                      <p:to x="100000" y="80000"/>
                                    </p:animScale>
                                    <p:animScale>
                                      <p:cBhvr>
                                        <p:cTn id="16" dur="124" decel="50000">
                                          <p:stCondLst>
                                            <p:cond delay="1004"/>
                                          </p:stCondLst>
                                        </p:cTn>
                                        <p:tgtEl>
                                          <p:spTgt spid="11"/>
                                        </p:tgtEl>
                                      </p:cBhvr>
                                      <p:to x="100000" y="100000"/>
                                    </p:animScale>
                                    <p:animScale>
                                      <p:cBhvr>
                                        <p:cTn id="17" dur="20">
                                          <p:stCondLst>
                                            <p:cond delay="1231"/>
                                          </p:stCondLst>
                                        </p:cTn>
                                        <p:tgtEl>
                                          <p:spTgt spid="11"/>
                                        </p:tgtEl>
                                      </p:cBhvr>
                                      <p:to x="100000" y="90000"/>
                                    </p:animScale>
                                    <p:animScale>
                                      <p:cBhvr>
                                        <p:cTn id="18" dur="124" decel="50000">
                                          <p:stCondLst>
                                            <p:cond delay="1251"/>
                                          </p:stCondLst>
                                        </p:cTn>
                                        <p:tgtEl>
                                          <p:spTgt spid="11"/>
                                        </p:tgtEl>
                                      </p:cBhvr>
                                      <p:to x="100000" y="100000"/>
                                    </p:animScale>
                                    <p:animScale>
                                      <p:cBhvr>
                                        <p:cTn id="19" dur="20">
                                          <p:stCondLst>
                                            <p:cond delay="1356"/>
                                          </p:stCondLst>
                                        </p:cTn>
                                        <p:tgtEl>
                                          <p:spTgt spid="11"/>
                                        </p:tgtEl>
                                      </p:cBhvr>
                                      <p:to x="100000" y="95000"/>
                                    </p:animScale>
                                    <p:animScale>
                                      <p:cBhvr>
                                        <p:cTn id="20" dur="124" decel="50000">
                                          <p:stCondLst>
                                            <p:cond delay="1376"/>
                                          </p:stCondLst>
                                        </p:cTn>
                                        <p:tgtEl>
                                          <p:spTgt spid="11"/>
                                        </p:tgtEl>
                                      </p:cBhvr>
                                      <p:to x="100000" y="100000"/>
                                    </p:animScale>
                                  </p:childTnLst>
                                </p:cTn>
                              </p:par>
                              <p:par>
                                <p:cTn id="21" presetID="22" presetClass="entr" presetSubtype="4" fill="hold" grpId="0" nodeType="withEffect">
                                  <p:stCondLst>
                                    <p:cond delay="75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1250"/>
                                        <p:tgtEl>
                                          <p:spTgt spid="12"/>
                                        </p:tgtEl>
                                      </p:cBhvr>
                                    </p:animEffect>
                                  </p:childTnLst>
                                </p:cTn>
                              </p:par>
                            </p:childTnLst>
                          </p:cTn>
                        </p:par>
                        <p:par>
                          <p:cTn id="24" fill="hold">
                            <p:stCondLst>
                              <p:cond delay="1500"/>
                            </p:stCondLst>
                            <p:childTnLst>
                              <p:par>
                                <p:cTn id="25" presetID="21" presetClass="entr" presetSubtype="8"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heel(8)">
                                      <p:cBhvr>
                                        <p:cTn id="27" dur="1250"/>
                                        <p:tgtEl>
                                          <p:spTgt spid="14"/>
                                        </p:tgtEl>
                                      </p:cBhvr>
                                    </p:animEffect>
                                  </p:childTnLst>
                                </p:cTn>
                              </p:par>
                            </p:childTnLst>
                          </p:cTn>
                        </p:par>
                        <p:par>
                          <p:cTn id="28" fill="hold">
                            <p:stCondLst>
                              <p:cond delay="3000"/>
                            </p:stCondLst>
                            <p:childTnLst>
                              <p:par>
                                <p:cTn id="29" presetID="53" presetClass="entr" presetSubtype="16"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fltVal val="0"/>
                                          </p:val>
                                        </p:tav>
                                        <p:tav tm="100000">
                                          <p:val>
                                            <p:strVal val="#ppt_w"/>
                                          </p:val>
                                        </p:tav>
                                      </p:tavLst>
                                    </p:anim>
                                    <p:anim calcmode="lin" valueType="num">
                                      <p:cBhvr>
                                        <p:cTn id="32" dur="1000" fill="hold"/>
                                        <p:tgtEl>
                                          <p:spTgt spid="17"/>
                                        </p:tgtEl>
                                        <p:attrNameLst>
                                          <p:attrName>ppt_h</p:attrName>
                                        </p:attrNameLst>
                                      </p:cBhvr>
                                      <p:tavLst>
                                        <p:tav tm="0">
                                          <p:val>
                                            <p:fltVal val="0"/>
                                          </p:val>
                                        </p:tav>
                                        <p:tav tm="100000">
                                          <p:val>
                                            <p:strVal val="#ppt_h"/>
                                          </p:val>
                                        </p:tav>
                                      </p:tavLst>
                                    </p:anim>
                                    <p:animEffect transition="in" filter="fade">
                                      <p:cBhvr>
                                        <p:cTn id="33" dur="1000"/>
                                        <p:tgtEl>
                                          <p:spTgt spid="17"/>
                                        </p:tgtEl>
                                      </p:cBhvr>
                                    </p:animEffect>
                                  </p:childTnLst>
                                </p:cTn>
                              </p:par>
                              <p:par>
                                <p:cTn id="34" presetID="26" presetClass="emph" presetSubtype="0" fill="hold" grpId="1" nodeType="withEffect">
                                  <p:stCondLst>
                                    <p:cond delay="750"/>
                                  </p:stCondLst>
                                  <p:childTnLst>
                                    <p:animEffect transition="out" filter="fade">
                                      <p:cBhvr>
                                        <p:cTn id="35" dur="750" tmFilter="0, 0; .2, .5; .8, .5; 1, 0"/>
                                        <p:tgtEl>
                                          <p:spTgt spid="17"/>
                                        </p:tgtEl>
                                      </p:cBhvr>
                                    </p:animEffect>
                                    <p:animScale>
                                      <p:cBhvr>
                                        <p:cTn id="36" dur="375" autoRev="1" fill="hold"/>
                                        <p:tgtEl>
                                          <p:spTgt spid="17"/>
                                        </p:tgtEl>
                                      </p:cBhvr>
                                      <p:by x="105000" y="105000"/>
                                    </p:animScale>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arn(inVertical)">
                                      <p:cBhvr>
                                        <p:cTn id="41" dur="500"/>
                                        <p:tgtEl>
                                          <p:spTgt spid="2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inVertical)">
                                      <p:cBhvr>
                                        <p:cTn id="44" dur="500"/>
                                        <p:tgtEl>
                                          <p:spTgt spid="22"/>
                                        </p:tgtEl>
                                      </p:cBhvr>
                                    </p:animEffect>
                                  </p:childTnLst>
                                </p:cTn>
                              </p:par>
                              <p:par>
                                <p:cTn id="45" presetID="16" presetClass="entr" presetSubtype="21"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inVertical)">
                                      <p:cBhvr>
                                        <p:cTn id="47" dur="500"/>
                                        <p:tgtEl>
                                          <p:spTgt spid="32"/>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barn(inVertical)">
                                      <p:cBhvr>
                                        <p:cTn id="50" dur="500"/>
                                        <p:tgtEl>
                                          <p:spTgt spid="33"/>
                                        </p:tgtEl>
                                      </p:cBhvr>
                                    </p:animEffect>
                                  </p:childTnLst>
                                </p:cTn>
                              </p:par>
                              <p:par>
                                <p:cTn id="51" presetID="16" presetClass="entr" presetSubtype="21"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barn(inVertical)">
                                      <p:cBhvr>
                                        <p:cTn id="53" dur="500"/>
                                        <p:tgtEl>
                                          <p:spTgt spid="29"/>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barn(inVertical)">
                                      <p:cBhvr>
                                        <p:cTn id="56" dur="500"/>
                                        <p:tgtEl>
                                          <p:spTgt spid="30"/>
                                        </p:tgtEl>
                                      </p:cBhvr>
                                    </p:animEffect>
                                  </p:childTnLst>
                                </p:cTn>
                              </p:par>
                              <p:par>
                                <p:cTn id="57" presetID="16" presetClass="entr" presetSubtype="21"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barn(inVertical)">
                                      <p:cBhvr>
                                        <p:cTn id="59" dur="500"/>
                                        <p:tgtEl>
                                          <p:spTgt spid="26"/>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barn(inVertical)">
                                      <p:cBhvr>
                                        <p:cTn id="6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4" grpId="0" animBg="1"/>
      <p:bldP spid="17" grpId="0" animBg="1"/>
      <p:bldP spid="17" grpId="1" animBg="1"/>
      <p:bldP spid="22" grpId="0"/>
      <p:bldP spid="27" grpId="0"/>
      <p:bldP spid="30" grpId="0"/>
      <p:bldP spid="3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141995" y="2474995"/>
            <a:ext cx="1908011" cy="1908011"/>
            <a:chOff x="5477527" y="2992713"/>
            <a:chExt cx="1118758" cy="1118758"/>
          </a:xfrm>
        </p:grpSpPr>
        <p:sp>
          <p:nvSpPr>
            <p:cNvPr id="3" name="椭圆 2"/>
            <p:cNvSpPr/>
            <p:nvPr/>
          </p:nvSpPr>
          <p:spPr>
            <a:xfrm>
              <a:off x="5477527" y="2992713"/>
              <a:ext cx="1118758" cy="1118758"/>
            </a:xfrm>
            <a:prstGeom prst="ellipse">
              <a:avLst/>
            </a:prstGeom>
            <a:noFill/>
            <a:ln>
              <a:solidFill>
                <a:srgbClr val="68532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nvGrpSpPr>
            <p:cNvPr id="4" name="组合 3"/>
            <p:cNvGrpSpPr/>
            <p:nvPr/>
          </p:nvGrpSpPr>
          <p:grpSpPr>
            <a:xfrm>
              <a:off x="5673581" y="3191564"/>
              <a:ext cx="726650" cy="726650"/>
              <a:chOff x="2297335" y="3068472"/>
              <a:chExt cx="726650" cy="726650"/>
            </a:xfrm>
          </p:grpSpPr>
          <p:sp>
            <p:nvSpPr>
              <p:cNvPr id="5" name="椭圆 4"/>
              <p:cNvSpPr/>
              <p:nvPr/>
            </p:nvSpPr>
            <p:spPr>
              <a:xfrm>
                <a:off x="2297335" y="3068472"/>
                <a:ext cx="726650" cy="726650"/>
              </a:xfrm>
              <a:prstGeom prst="ellipse">
                <a:avLst/>
              </a:prstGeom>
              <a:solidFill>
                <a:srgbClr val="DAD4C0"/>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6" name="椭圆 5"/>
              <p:cNvSpPr/>
              <p:nvPr/>
            </p:nvSpPr>
            <p:spPr>
              <a:xfrm>
                <a:off x="2576137" y="3344478"/>
                <a:ext cx="169044" cy="169044"/>
              </a:xfrm>
              <a:prstGeom prst="ellipse">
                <a:avLst/>
              </a:prstGeom>
              <a:solidFill>
                <a:srgbClr val="BAAF88"/>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grpSp>
      <p:grpSp>
        <p:nvGrpSpPr>
          <p:cNvPr id="7" name="组合 6"/>
          <p:cNvGrpSpPr/>
          <p:nvPr/>
        </p:nvGrpSpPr>
        <p:grpSpPr>
          <a:xfrm>
            <a:off x="2963229" y="296229"/>
            <a:ext cx="6265542" cy="6265542"/>
            <a:chOff x="3107378" y="296227"/>
            <a:chExt cx="6265542" cy="6265542"/>
          </a:xfrm>
        </p:grpSpPr>
        <p:grpSp>
          <p:nvGrpSpPr>
            <p:cNvPr id="8" name="组合 7"/>
            <p:cNvGrpSpPr/>
            <p:nvPr/>
          </p:nvGrpSpPr>
          <p:grpSpPr>
            <a:xfrm>
              <a:off x="4238086" y="1571086"/>
              <a:ext cx="3715828" cy="3715828"/>
              <a:chOff x="4068296" y="1401296"/>
              <a:chExt cx="4055409" cy="4055409"/>
            </a:xfrm>
          </p:grpSpPr>
          <p:sp>
            <p:nvSpPr>
              <p:cNvPr id="11" name="弧形 10"/>
              <p:cNvSpPr/>
              <p:nvPr/>
            </p:nvSpPr>
            <p:spPr>
              <a:xfrm rot="3942566" flipH="1">
                <a:off x="4068296" y="1401296"/>
                <a:ext cx="4055409" cy="4055409"/>
              </a:xfrm>
              <a:prstGeom prst="arc">
                <a:avLst>
                  <a:gd name="adj1" fmla="val 16200000"/>
                  <a:gd name="adj2" fmla="val 1204186"/>
                </a:avLst>
              </a:prstGeom>
              <a:noFill/>
              <a:ln w="28575">
                <a:gradFill>
                  <a:gsLst>
                    <a:gs pos="50000">
                      <a:srgbClr val="B78B57"/>
                    </a:gs>
                    <a:gs pos="0">
                      <a:schemeClr val="accent2">
                        <a:lumMod val="60000"/>
                        <a:lumOff val="40000"/>
                        <a:alpha val="2000"/>
                      </a:schemeClr>
                    </a:gs>
                    <a:gs pos="100000">
                      <a:srgbClr val="654D2D"/>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12" name="弧形 11"/>
              <p:cNvSpPr/>
              <p:nvPr/>
            </p:nvSpPr>
            <p:spPr>
              <a:xfrm rot="18548610" flipH="1">
                <a:off x="4068296" y="1401296"/>
                <a:ext cx="4055409" cy="4055409"/>
              </a:xfrm>
              <a:prstGeom prst="arc">
                <a:avLst>
                  <a:gd name="adj1" fmla="val 16200000"/>
                  <a:gd name="adj2" fmla="val 1204186"/>
                </a:avLst>
              </a:prstGeom>
              <a:noFill/>
              <a:ln w="28575">
                <a:gradFill>
                  <a:gsLst>
                    <a:gs pos="50000">
                      <a:srgbClr val="B78B57"/>
                    </a:gs>
                    <a:gs pos="0">
                      <a:schemeClr val="accent2">
                        <a:lumMod val="60000"/>
                        <a:lumOff val="40000"/>
                        <a:alpha val="2000"/>
                      </a:schemeClr>
                    </a:gs>
                    <a:gs pos="100000">
                      <a:srgbClr val="654D2D"/>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13" name="弧形 12"/>
              <p:cNvSpPr/>
              <p:nvPr/>
            </p:nvSpPr>
            <p:spPr>
              <a:xfrm rot="11219405" flipH="1">
                <a:off x="4068296" y="1401296"/>
                <a:ext cx="4055409" cy="4055409"/>
              </a:xfrm>
              <a:prstGeom prst="arc">
                <a:avLst>
                  <a:gd name="adj1" fmla="val 16200000"/>
                  <a:gd name="adj2" fmla="val 1204186"/>
                </a:avLst>
              </a:prstGeom>
              <a:noFill/>
              <a:ln w="28575">
                <a:gradFill>
                  <a:gsLst>
                    <a:gs pos="50000">
                      <a:srgbClr val="B78B57"/>
                    </a:gs>
                    <a:gs pos="0">
                      <a:schemeClr val="accent2">
                        <a:lumMod val="60000"/>
                        <a:lumOff val="40000"/>
                        <a:alpha val="2000"/>
                      </a:schemeClr>
                    </a:gs>
                    <a:gs pos="100000">
                      <a:srgbClr val="654D2D"/>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sp>
          <p:nvSpPr>
            <p:cNvPr id="9" name="弧形 8"/>
            <p:cNvSpPr/>
            <p:nvPr/>
          </p:nvSpPr>
          <p:spPr>
            <a:xfrm rot="19185514" flipH="1">
              <a:off x="3307499" y="784650"/>
              <a:ext cx="5288697" cy="5288697"/>
            </a:xfrm>
            <a:prstGeom prst="arc">
              <a:avLst>
                <a:gd name="adj1" fmla="val 16200000"/>
                <a:gd name="adj2" fmla="val 1204186"/>
              </a:avLst>
            </a:prstGeom>
            <a:noFill/>
            <a:ln w="28575">
              <a:gradFill>
                <a:gsLst>
                  <a:gs pos="0">
                    <a:srgbClr val="CBC3A5">
                      <a:alpha val="51000"/>
                    </a:srgbClr>
                  </a:gs>
                  <a:gs pos="100000">
                    <a:srgbClr val="CBC3A5">
                      <a:alpha val="50000"/>
                    </a:srgbClr>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10" name="弧形 9"/>
            <p:cNvSpPr/>
            <p:nvPr/>
          </p:nvSpPr>
          <p:spPr>
            <a:xfrm rot="2414486">
              <a:off x="3107378" y="296227"/>
              <a:ext cx="6265542" cy="6265542"/>
            </a:xfrm>
            <a:prstGeom prst="arc">
              <a:avLst>
                <a:gd name="adj1" fmla="val 15132356"/>
                <a:gd name="adj2" fmla="val 2392012"/>
              </a:avLst>
            </a:prstGeom>
            <a:noFill/>
            <a:ln w="28575">
              <a:gradFill>
                <a:gsLst>
                  <a:gs pos="0">
                    <a:srgbClr val="CBC3A5">
                      <a:alpha val="51000"/>
                    </a:srgbClr>
                  </a:gs>
                  <a:gs pos="100000">
                    <a:srgbClr val="CBC3A5">
                      <a:alpha val="50000"/>
                    </a:srgbClr>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grpSp>
      <p:cxnSp>
        <p:nvCxnSpPr>
          <p:cNvPr id="14" name="直接箭头连接符 13"/>
          <p:cNvCxnSpPr/>
          <p:nvPr/>
        </p:nvCxnSpPr>
        <p:spPr>
          <a:xfrm flipH="1" flipV="1">
            <a:off x="2694373" y="3284851"/>
            <a:ext cx="1382220" cy="611373"/>
          </a:xfrm>
          <a:prstGeom prst="straightConnector1">
            <a:avLst/>
          </a:prstGeom>
          <a:ln w="15875">
            <a:solidFill>
              <a:srgbClr val="68532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3298388" y="4906108"/>
            <a:ext cx="1396705" cy="793254"/>
          </a:xfrm>
          <a:prstGeom prst="straightConnector1">
            <a:avLst/>
          </a:prstGeom>
          <a:ln w="34925">
            <a:solidFill>
              <a:srgbClr val="68532A"/>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820531" y="146830"/>
            <a:ext cx="8550936" cy="461665"/>
          </a:xfrm>
          <a:prstGeom prst="rect">
            <a:avLst/>
          </a:prstGeom>
          <a:noFill/>
        </p:spPr>
        <p:txBody>
          <a:bodyPr wrap="square" rtlCol="0">
            <a:spAutoFit/>
          </a:bodyPr>
          <a:lstStyle/>
          <a:p>
            <a:r>
              <a:rPr lang="en-US" altLang="zh-CN"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1.</a:t>
            </a:r>
            <a:r>
              <a:rPr lang="zh-CN" altLang="en-US"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对下面这个小规模数据，利用四色填色测试算法的正确性；</a:t>
            </a:r>
          </a:p>
        </p:txBody>
      </p:sp>
      <p:sp>
        <p:nvSpPr>
          <p:cNvPr id="32" name="文本框 31"/>
          <p:cNvSpPr txBox="1"/>
          <p:nvPr/>
        </p:nvSpPr>
        <p:spPr>
          <a:xfrm>
            <a:off x="2604663" y="1078154"/>
            <a:ext cx="6873198" cy="860685"/>
          </a:xfrm>
          <a:prstGeom prst="rect">
            <a:avLst/>
          </a:prstGeom>
          <a:noFill/>
        </p:spPr>
        <p:txBody>
          <a:bodyPr wrap="square">
            <a:spAutoFit/>
          </a:bodyPr>
          <a:lstStyle/>
          <a:p>
            <a:pPr marL="266700" indent="266700" algn="l">
              <a:lnSpc>
                <a:spcPct val="115000"/>
              </a:lnSpc>
              <a:spcBef>
                <a:spcPts val="1200"/>
              </a:spcBef>
              <a:spcAft>
                <a:spcPts val="0"/>
              </a:spcAft>
            </a:pPr>
            <a:r>
              <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①对地图节点进行编号，获得其邻接矩阵，如图</a:t>
            </a:r>
            <a:r>
              <a:rPr lang="en-US"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14</a:t>
            </a:r>
            <a:r>
              <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所示</a:t>
            </a:r>
            <a:endParaRPr lang="en-US"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a:p>
            <a:pPr marL="266700" indent="266700" algn="l">
              <a:lnSpc>
                <a:spcPct val="115000"/>
              </a:lnSpc>
              <a:spcBef>
                <a:spcPts val="1200"/>
              </a:spcBef>
              <a:spcAft>
                <a:spcPts val="0"/>
              </a:spcAft>
            </a:pPr>
            <a:r>
              <a:rPr lang="zh-CN" altLang="zh-CN" sz="18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②分别用步骤（</a:t>
            </a:r>
            <a:r>
              <a:rPr lang="en-US" altLang="zh-CN" sz="18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3</a:t>
            </a:r>
            <a:r>
              <a:rPr lang="zh-CN" altLang="zh-CN" sz="18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）的算法运行测试，测试正确性及效率</a:t>
            </a:r>
            <a:endPar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p:txBody>
      </p:sp>
      <p:pic>
        <p:nvPicPr>
          <p:cNvPr id="34" name="图片 33"/>
          <p:cNvPicPr>
            <a:picLocks noChangeAspect="1"/>
          </p:cNvPicPr>
          <p:nvPr/>
        </p:nvPicPr>
        <p:blipFill>
          <a:blip r:embed="rId3"/>
          <a:stretch>
            <a:fillRect/>
          </a:stretch>
        </p:blipFill>
        <p:spPr>
          <a:xfrm>
            <a:off x="4393411" y="1993342"/>
            <a:ext cx="3295702" cy="2037474"/>
          </a:xfrm>
          <a:prstGeom prst="rect">
            <a:avLst/>
          </a:prstGeom>
        </p:spPr>
      </p:pic>
      <p:pic>
        <p:nvPicPr>
          <p:cNvPr id="36" name="图片 35"/>
          <p:cNvPicPr>
            <a:picLocks noChangeAspect="1"/>
          </p:cNvPicPr>
          <p:nvPr/>
        </p:nvPicPr>
        <p:blipFill>
          <a:blip r:embed="rId4"/>
          <a:stretch>
            <a:fillRect/>
          </a:stretch>
        </p:blipFill>
        <p:spPr>
          <a:xfrm>
            <a:off x="239703" y="2260390"/>
            <a:ext cx="2429752" cy="1688714"/>
          </a:xfrm>
          <a:prstGeom prst="rect">
            <a:avLst/>
          </a:prstGeom>
        </p:spPr>
      </p:pic>
      <p:pic>
        <p:nvPicPr>
          <p:cNvPr id="38" name="图片 37"/>
          <p:cNvPicPr>
            <a:picLocks noChangeAspect="1"/>
          </p:cNvPicPr>
          <p:nvPr/>
        </p:nvPicPr>
        <p:blipFill>
          <a:blip r:embed="rId5"/>
          <a:stretch>
            <a:fillRect/>
          </a:stretch>
        </p:blipFill>
        <p:spPr>
          <a:xfrm>
            <a:off x="202526" y="4637457"/>
            <a:ext cx="3085714" cy="2123810"/>
          </a:xfrm>
          <a:prstGeom prst="rect">
            <a:avLst/>
          </a:prstGeom>
        </p:spPr>
      </p:pic>
      <p:pic>
        <p:nvPicPr>
          <p:cNvPr id="40" name="图片 39"/>
          <p:cNvPicPr>
            <a:picLocks noChangeAspect="1"/>
          </p:cNvPicPr>
          <p:nvPr/>
        </p:nvPicPr>
        <p:blipFill>
          <a:blip r:embed="rId6"/>
          <a:stretch>
            <a:fillRect/>
          </a:stretch>
        </p:blipFill>
        <p:spPr>
          <a:xfrm>
            <a:off x="8565625" y="2352627"/>
            <a:ext cx="3228571" cy="2295238"/>
          </a:xfrm>
          <a:prstGeom prst="rect">
            <a:avLst/>
          </a:prstGeom>
        </p:spPr>
      </p:pic>
      <p:pic>
        <p:nvPicPr>
          <p:cNvPr id="42" name="图片 41"/>
          <p:cNvPicPr>
            <a:picLocks noChangeAspect="1"/>
          </p:cNvPicPr>
          <p:nvPr/>
        </p:nvPicPr>
        <p:blipFill>
          <a:blip r:embed="rId7"/>
          <a:stretch>
            <a:fillRect/>
          </a:stretch>
        </p:blipFill>
        <p:spPr>
          <a:xfrm>
            <a:off x="4230806" y="4482751"/>
            <a:ext cx="3019048" cy="2266667"/>
          </a:xfrm>
          <a:prstGeom prst="rect">
            <a:avLst/>
          </a:prstGeom>
        </p:spPr>
      </p:pic>
      <p:pic>
        <p:nvPicPr>
          <p:cNvPr id="44" name="图片 43"/>
          <p:cNvPicPr>
            <a:picLocks noChangeAspect="1"/>
          </p:cNvPicPr>
          <p:nvPr/>
        </p:nvPicPr>
        <p:blipFill>
          <a:blip r:embed="rId8"/>
          <a:stretch>
            <a:fillRect/>
          </a:stretch>
        </p:blipFill>
        <p:spPr>
          <a:xfrm>
            <a:off x="8042356" y="4919162"/>
            <a:ext cx="3019048" cy="1809524"/>
          </a:xfrm>
          <a:prstGeom prst="rect">
            <a:avLst/>
          </a:prstGeom>
        </p:spPr>
      </p:pic>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par>
                                <p:cTn id="8" presetID="45" presetClass="entr" presetSubtype="0" fill="hold" nodeType="withEffect">
                                  <p:stCondLst>
                                    <p:cond delay="10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250"/>
                                        <p:tgtEl>
                                          <p:spTgt spid="2"/>
                                        </p:tgtEl>
                                      </p:cBhvr>
                                    </p:animEffect>
                                    <p:anim calcmode="lin" valueType="num">
                                      <p:cBhvr>
                                        <p:cTn id="11" dur="1250" fill="hold"/>
                                        <p:tgtEl>
                                          <p:spTgt spid="2"/>
                                        </p:tgtEl>
                                        <p:attrNameLst>
                                          <p:attrName>ppt_w</p:attrName>
                                        </p:attrNameLst>
                                      </p:cBhvr>
                                      <p:tavLst>
                                        <p:tav tm="0" fmla="#ppt_w*sin(2.5*pi*$)">
                                          <p:val>
                                            <p:fltVal val="0"/>
                                          </p:val>
                                        </p:tav>
                                        <p:tav tm="100000">
                                          <p:val>
                                            <p:fltVal val="1"/>
                                          </p:val>
                                        </p:tav>
                                      </p:tavLst>
                                    </p:anim>
                                    <p:anim calcmode="lin" valueType="num">
                                      <p:cBhvr>
                                        <p:cTn id="12" dur="1250" fill="hold"/>
                                        <p:tgtEl>
                                          <p:spTgt spid="2"/>
                                        </p:tgtEl>
                                        <p:attrNameLst>
                                          <p:attrName>ppt_h</p:attrName>
                                        </p:attrNameLst>
                                      </p:cBhvr>
                                      <p:tavLst>
                                        <p:tav tm="0">
                                          <p:val>
                                            <p:strVal val="#ppt_h"/>
                                          </p:val>
                                        </p:tav>
                                        <p:tav tm="100000">
                                          <p:val>
                                            <p:strVal val="#ppt_h"/>
                                          </p:val>
                                        </p:tav>
                                      </p:tavLst>
                                    </p:anim>
                                  </p:childTnLst>
                                </p:cTn>
                              </p:par>
                            </p:childTnLst>
                          </p:cTn>
                        </p:par>
                        <p:par>
                          <p:cTn id="13" fill="hold">
                            <p:stCondLst>
                              <p:cond delay="2000"/>
                            </p:stCondLst>
                            <p:childTnLst>
                              <p:par>
                                <p:cTn id="14" presetID="22" presetClass="entr" presetSubtype="4"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1000"/>
                                        <p:tgtEl>
                                          <p:spTgt spid="14"/>
                                        </p:tgtEl>
                                      </p:cBhvr>
                                    </p:animEffect>
                                  </p:childTnLst>
                                </p:cTn>
                              </p:par>
                              <p:par>
                                <p:cTn id="17" presetID="42" presetClass="entr" presetSubtype="0" fill="hold" grpId="0" nodeType="withEffect">
                                  <p:stCondLst>
                                    <p:cond delay="5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22" presetClass="entr" presetSubtype="1"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up)">
                                      <p:cBhvr>
                                        <p:cTn id="25" dur="10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barn(inVertical)">
                                      <p:cBhvr>
                                        <p:cTn id="30" dur="500"/>
                                        <p:tgtEl>
                                          <p:spTgt spid="32"/>
                                        </p:tgtEl>
                                      </p:cBhvr>
                                    </p:animEffect>
                                  </p:childTnLst>
                                </p:cTn>
                              </p:par>
                              <p:par>
                                <p:cTn id="31" presetID="16" presetClass="entr" presetSubtype="21"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barn(inVertical)">
                                      <p:cBhvr>
                                        <p:cTn id="33" dur="500"/>
                                        <p:tgtEl>
                                          <p:spTgt spid="3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6"/>
                                        </p:tgtEl>
                                        <p:attrNameLst>
                                          <p:attrName>style.visibility</p:attrName>
                                        </p:attrNameLst>
                                      </p:cBhvr>
                                      <p:to>
                                        <p:strVal val="visible"/>
                                      </p:to>
                                    </p:set>
                                    <p:anim calcmode="lin" valueType="num">
                                      <p:cBhvr additive="base">
                                        <p:cTn id="38" dur="500" fill="hold"/>
                                        <p:tgtEl>
                                          <p:spTgt spid="36"/>
                                        </p:tgtEl>
                                        <p:attrNameLst>
                                          <p:attrName>ppt_x</p:attrName>
                                        </p:attrNameLst>
                                      </p:cBhvr>
                                      <p:tavLst>
                                        <p:tav tm="0">
                                          <p:val>
                                            <p:strVal val="#ppt_x"/>
                                          </p:val>
                                        </p:tav>
                                        <p:tav tm="100000">
                                          <p:val>
                                            <p:strVal val="#ppt_x"/>
                                          </p:val>
                                        </p:tav>
                                      </p:tavLst>
                                    </p:anim>
                                    <p:anim calcmode="lin" valueType="num">
                                      <p:cBhvr additive="base">
                                        <p:cTn id="39" dur="500" fill="hold"/>
                                        <p:tgtEl>
                                          <p:spTgt spid="36"/>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500" fill="hold"/>
                                        <p:tgtEl>
                                          <p:spTgt spid="38"/>
                                        </p:tgtEl>
                                        <p:attrNameLst>
                                          <p:attrName>ppt_x</p:attrName>
                                        </p:attrNameLst>
                                      </p:cBhvr>
                                      <p:tavLst>
                                        <p:tav tm="0">
                                          <p:val>
                                            <p:strVal val="#ppt_x"/>
                                          </p:val>
                                        </p:tav>
                                        <p:tav tm="100000">
                                          <p:val>
                                            <p:strVal val="#ppt_x"/>
                                          </p:val>
                                        </p:tav>
                                      </p:tavLst>
                                    </p:anim>
                                    <p:anim calcmode="lin" valueType="num">
                                      <p:cBhvr additive="base">
                                        <p:cTn id="43" dur="500" fill="hold"/>
                                        <p:tgtEl>
                                          <p:spTgt spid="38"/>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 calcmode="lin" valueType="num">
                                      <p:cBhvr additive="base">
                                        <p:cTn id="46" dur="500" fill="hold"/>
                                        <p:tgtEl>
                                          <p:spTgt spid="42"/>
                                        </p:tgtEl>
                                        <p:attrNameLst>
                                          <p:attrName>ppt_x</p:attrName>
                                        </p:attrNameLst>
                                      </p:cBhvr>
                                      <p:tavLst>
                                        <p:tav tm="0">
                                          <p:val>
                                            <p:strVal val="#ppt_x"/>
                                          </p:val>
                                        </p:tav>
                                        <p:tav tm="100000">
                                          <p:val>
                                            <p:strVal val="#ppt_x"/>
                                          </p:val>
                                        </p:tav>
                                      </p:tavLst>
                                    </p:anim>
                                    <p:anim calcmode="lin" valueType="num">
                                      <p:cBhvr additive="base">
                                        <p:cTn id="47" dur="500" fill="hold"/>
                                        <p:tgtEl>
                                          <p:spTgt spid="42"/>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 calcmode="lin" valueType="num">
                                      <p:cBhvr additive="base">
                                        <p:cTn id="50" dur="500" fill="hold"/>
                                        <p:tgtEl>
                                          <p:spTgt spid="44"/>
                                        </p:tgtEl>
                                        <p:attrNameLst>
                                          <p:attrName>ppt_x</p:attrName>
                                        </p:attrNameLst>
                                      </p:cBhvr>
                                      <p:tavLst>
                                        <p:tav tm="0">
                                          <p:val>
                                            <p:strVal val="#ppt_x"/>
                                          </p:val>
                                        </p:tav>
                                        <p:tav tm="100000">
                                          <p:val>
                                            <p:strVal val="#ppt_x"/>
                                          </p:val>
                                        </p:tav>
                                      </p:tavLst>
                                    </p:anim>
                                    <p:anim calcmode="lin" valueType="num">
                                      <p:cBhvr additive="base">
                                        <p:cTn id="51" dur="500" fill="hold"/>
                                        <p:tgtEl>
                                          <p:spTgt spid="44"/>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40"/>
                                        </p:tgtEl>
                                        <p:attrNameLst>
                                          <p:attrName>style.visibility</p:attrName>
                                        </p:attrNameLst>
                                      </p:cBhvr>
                                      <p:to>
                                        <p:strVal val="visible"/>
                                      </p:to>
                                    </p:set>
                                    <p:anim calcmode="lin" valueType="num">
                                      <p:cBhvr additive="base">
                                        <p:cTn id="54" dur="500" fill="hold"/>
                                        <p:tgtEl>
                                          <p:spTgt spid="40"/>
                                        </p:tgtEl>
                                        <p:attrNameLst>
                                          <p:attrName>ppt_x</p:attrName>
                                        </p:attrNameLst>
                                      </p:cBhvr>
                                      <p:tavLst>
                                        <p:tav tm="0">
                                          <p:val>
                                            <p:strVal val="#ppt_x"/>
                                          </p:val>
                                        </p:tav>
                                        <p:tav tm="100000">
                                          <p:val>
                                            <p:strVal val="#ppt_x"/>
                                          </p:val>
                                        </p:tav>
                                      </p:tavLst>
                                    </p:anim>
                                    <p:anim calcmode="lin" valueType="num">
                                      <p:cBhvr additive="base">
                                        <p:cTn id="5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4559447" y="2142890"/>
            <a:ext cx="3660218" cy="1951380"/>
          </a:xfrm>
          <a:prstGeom prst="rect">
            <a:avLst/>
          </a:prstGeom>
        </p:spPr>
      </p:pic>
      <p:cxnSp>
        <p:nvCxnSpPr>
          <p:cNvPr id="55" name="直接箭头连接符 54"/>
          <p:cNvCxnSpPr/>
          <p:nvPr/>
        </p:nvCxnSpPr>
        <p:spPr>
          <a:xfrm flipH="1">
            <a:off x="2691350" y="2052531"/>
            <a:ext cx="1126671" cy="926158"/>
          </a:xfrm>
          <a:prstGeom prst="straightConnector1">
            <a:avLst/>
          </a:prstGeom>
          <a:ln>
            <a:gradFill>
              <a:gsLst>
                <a:gs pos="0">
                  <a:srgbClr val="DAD4C0">
                    <a:alpha val="52000"/>
                  </a:srgbClr>
                </a:gs>
                <a:gs pos="100000">
                  <a:srgbClr val="68532A"/>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H="1" flipV="1">
            <a:off x="8761235" y="2240906"/>
            <a:ext cx="1068772" cy="877674"/>
          </a:xfrm>
          <a:prstGeom prst="straightConnector1">
            <a:avLst/>
          </a:prstGeom>
          <a:ln>
            <a:gradFill>
              <a:gsLst>
                <a:gs pos="0">
                  <a:srgbClr val="DAD4C0">
                    <a:alpha val="52000"/>
                  </a:srgbClr>
                </a:gs>
                <a:gs pos="100000">
                  <a:srgbClr val="68532A"/>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820531" y="146830"/>
            <a:ext cx="8550936" cy="461665"/>
          </a:xfrm>
          <a:prstGeom prst="rect">
            <a:avLst/>
          </a:prstGeom>
          <a:noFill/>
        </p:spPr>
        <p:txBody>
          <a:bodyPr wrap="square" rtlCol="0">
            <a:spAutoFit/>
          </a:bodyPr>
          <a:lstStyle/>
          <a:p>
            <a:pPr algn="ctr"/>
            <a:r>
              <a:rPr lang="en-US" altLang="zh-CN"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2.</a:t>
            </a:r>
            <a:r>
              <a:rPr lang="zh-CN" altLang="en-US"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对附件中给定的地图数据填涂</a:t>
            </a:r>
          </a:p>
        </p:txBody>
      </p:sp>
      <p:sp>
        <p:nvSpPr>
          <p:cNvPr id="59" name="文本框 58"/>
          <p:cNvSpPr txBox="1"/>
          <p:nvPr/>
        </p:nvSpPr>
        <p:spPr>
          <a:xfrm>
            <a:off x="4010669" y="672993"/>
            <a:ext cx="4757774" cy="1315040"/>
          </a:xfrm>
          <a:prstGeom prst="rect">
            <a:avLst/>
          </a:prstGeom>
          <a:noFill/>
        </p:spPr>
        <p:txBody>
          <a:bodyPr wrap="square">
            <a:spAutoFit/>
          </a:bodyPr>
          <a:lstStyle/>
          <a:p>
            <a:pPr marL="266700" indent="266700" algn="l">
              <a:lnSpc>
                <a:spcPct val="115000"/>
              </a:lnSpc>
              <a:spcBef>
                <a:spcPts val="1200"/>
              </a:spcBef>
              <a:spcAft>
                <a:spcPts val="0"/>
              </a:spcAft>
            </a:pPr>
            <a:r>
              <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①</a:t>
            </a: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先对算法进行正确性检验</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15000"/>
              </a:lnSpc>
              <a:spcBef>
                <a:spcPts val="1200"/>
              </a:spcBef>
            </a:pPr>
            <a:r>
              <a:rPr lang="zh-CN" altLang="zh-CN" sz="18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②</a:t>
            </a:r>
            <a:r>
              <a:rPr lang="zh-CN" altLang="en-US" dirty="0">
                <a:solidFill>
                  <a:srgbClr val="654D2D"/>
                </a:solidFill>
                <a:latin typeface="幼圆" panose="02010509060101010101" pitchFamily="49" charset="-122"/>
                <a:ea typeface="幼圆" panose="02010509060101010101" pitchFamily="49" charset="-122"/>
                <a:cs typeface="Times New Roman" panose="02020603050405020304" pitchFamily="18" charset="0"/>
              </a:rPr>
              <a:t>读取文件数据</a:t>
            </a:r>
            <a:r>
              <a:rPr lang="en-US" altLang="zh-CN" dirty="0">
                <a:solidFill>
                  <a:srgbClr val="654D2D"/>
                </a:solidFill>
                <a:latin typeface="幼圆" panose="02010509060101010101" pitchFamily="49" charset="-122"/>
                <a:ea typeface="幼圆" panose="02010509060101010101" pitchFamily="49" charset="-122"/>
                <a:cs typeface="Times New Roman" panose="02020603050405020304" pitchFamily="18" charset="0"/>
              </a:rPr>
              <a:t>,</a:t>
            </a:r>
            <a:r>
              <a:rPr lang="zh-CN" altLang="en-US" dirty="0">
                <a:solidFill>
                  <a:srgbClr val="654D2D"/>
                </a:solidFill>
                <a:latin typeface="幼圆" panose="02010509060101010101" pitchFamily="49" charset="-122"/>
                <a:ea typeface="幼圆" panose="02010509060101010101" pitchFamily="49" charset="-122"/>
                <a:cs typeface="Times New Roman" panose="02020603050405020304" pitchFamily="18" charset="0"/>
              </a:rPr>
              <a:t>并将对应信息存入</a:t>
            </a:r>
            <a:endParaRPr lang="en-US" altLang="zh-CN"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15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③用步骤（</a:t>
            </a:r>
            <a:r>
              <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3</a:t>
            </a: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）的算法运行测试</a:t>
            </a:r>
            <a:endPar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p:txBody>
      </p:sp>
      <p:sp>
        <p:nvSpPr>
          <p:cNvPr id="62" name="文本框 61"/>
          <p:cNvSpPr txBox="1"/>
          <p:nvPr/>
        </p:nvSpPr>
        <p:spPr>
          <a:xfrm>
            <a:off x="2879556" y="4422725"/>
            <a:ext cx="6858001" cy="1333122"/>
          </a:xfrm>
          <a:prstGeom prst="rect">
            <a:avLst/>
          </a:prstGeom>
          <a:noFill/>
        </p:spPr>
        <p:txBody>
          <a:bodyPr wrap="square">
            <a:spAutoFit/>
          </a:bodyPr>
          <a:lstStyle/>
          <a:p>
            <a:pPr marL="266700" indent="266700" algn="just">
              <a:lnSpc>
                <a:spcPct val="115000"/>
              </a:lnSpc>
              <a:spcBef>
                <a:spcPts val="1200"/>
              </a:spcBef>
              <a:spcAft>
                <a:spcPts val="0"/>
              </a:spcAft>
            </a:pPr>
            <a:r>
              <a:rPr lang="zh-CN"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表</a:t>
            </a:r>
            <a:r>
              <a:rPr lang="en-US"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3</a:t>
            </a:r>
            <a:r>
              <a:rPr lang="zh-CN"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中，用了他人生成的</a:t>
            </a:r>
            <a:r>
              <a:rPr lang="en-US"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50</a:t>
            </a:r>
            <a:r>
              <a:rPr lang="zh-CN"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个点</a:t>
            </a:r>
            <a:r>
              <a:rPr lang="en-US"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200</a:t>
            </a:r>
            <a:r>
              <a:rPr lang="zh-CN"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条边的地图，分别用不同</a:t>
            </a:r>
            <a:endParaRPr lang="en-US"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的优化算法进行涂色（</a:t>
            </a:r>
            <a:r>
              <a:rPr lang="en-US"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4</a:t>
            </a:r>
            <a:r>
              <a:rPr lang="zh-CN" altLang="zh-CN" sz="1800" b="1" kern="100" dirty="0">
                <a:solidFill>
                  <a:srgbClr val="654D2D"/>
                </a:solidFill>
                <a:effectLst/>
                <a:latin typeface="等线" panose="02010600030101010101" charset="-122"/>
                <a:ea typeface="宋体" panose="02010600030101010101" pitchFamily="2" charset="-122"/>
                <a:cs typeface="Times New Roman" panose="02020603050405020304" pitchFamily="18" charset="0"/>
              </a:rPr>
              <a:t>种颜色），结果显示效率的排名如下：</a:t>
            </a:r>
            <a:endParaRPr lang="zh-CN" altLang="zh-CN" sz="1800" b="1" kern="100" dirty="0">
              <a:solidFill>
                <a:srgbClr val="654D2D"/>
              </a:solidFill>
              <a:effectLst/>
              <a:latin typeface="等线" panose="02010600030101010101" charset="-122"/>
              <a:ea typeface="等线" panose="02010600030101010101" charset="-122"/>
              <a:cs typeface="Times New Roman" panose="02020603050405020304" pitchFamily="18" charset="0"/>
            </a:endParaRPr>
          </a:p>
          <a:p>
            <a:pPr marL="266700" indent="266700" algn="just">
              <a:lnSpc>
                <a:spcPct val="115000"/>
              </a:lnSpc>
              <a:spcBef>
                <a:spcPts val="1200"/>
              </a:spcBef>
              <a:spcAft>
                <a:spcPts val="0"/>
              </a:spcAft>
            </a:pPr>
            <a:r>
              <a:rPr lang="en-US" altLang="zh-CN" sz="1800" b="1" kern="100" dirty="0">
                <a:solidFill>
                  <a:srgbClr val="654D2D"/>
                </a:solidFill>
                <a:effectLst/>
                <a:latin typeface="宋体" panose="02010600030101010101" pitchFamily="2" charset="-122"/>
                <a:ea typeface="等线" panose="02010600030101010101" charset="-122"/>
                <a:cs typeface="Times New Roman" panose="02020603050405020304" pitchFamily="18" charset="0"/>
              </a:rPr>
              <a:t>MRV_DH_SEARCH &gt; </a:t>
            </a:r>
            <a:r>
              <a:rPr lang="en-US" altLang="zh-CN" sz="1800" b="1" kern="100" dirty="0" err="1">
                <a:solidFill>
                  <a:srgbClr val="654D2D"/>
                </a:solidFill>
                <a:effectLst/>
                <a:latin typeface="宋体" panose="02010600030101010101" pitchFamily="2" charset="-122"/>
                <a:ea typeface="等线" panose="02010600030101010101" charset="-122"/>
                <a:cs typeface="Times New Roman" panose="02020603050405020304" pitchFamily="18" charset="0"/>
              </a:rPr>
              <a:t>one_DH</a:t>
            </a:r>
            <a:r>
              <a:rPr lang="en-US" altLang="zh-CN" sz="1800" b="1" kern="100" dirty="0">
                <a:solidFill>
                  <a:srgbClr val="654D2D"/>
                </a:solidFill>
                <a:effectLst/>
                <a:latin typeface="宋体" panose="02010600030101010101" pitchFamily="2" charset="-122"/>
                <a:ea typeface="等线" panose="02010600030101010101" charset="-122"/>
                <a:cs typeface="Times New Roman" panose="02020603050405020304" pitchFamily="18" charset="0"/>
              </a:rPr>
              <a:t> &gt; MRV_DH &gt; MRV</a:t>
            </a:r>
            <a:endParaRPr lang="zh-CN" altLang="zh-CN" sz="1800" b="1" kern="100" dirty="0">
              <a:solidFill>
                <a:srgbClr val="654D2D"/>
              </a:solidFill>
              <a:effectLst/>
              <a:latin typeface="等线" panose="02010600030101010101" charset="-122"/>
              <a:ea typeface="等线" panose="02010600030101010101" charset="-122"/>
              <a:cs typeface="Times New Roman" panose="02020603050405020304" pitchFamily="18" charset="0"/>
            </a:endParaRPr>
          </a:p>
        </p:txBody>
      </p:sp>
      <p:pic>
        <p:nvPicPr>
          <p:cNvPr id="63" name="图片 62"/>
          <p:cNvPicPr>
            <a:picLocks noChangeAspect="1"/>
          </p:cNvPicPr>
          <p:nvPr/>
        </p:nvPicPr>
        <p:blipFill>
          <a:blip r:embed="rId4"/>
          <a:stretch>
            <a:fillRect/>
          </a:stretch>
        </p:blipFill>
        <p:spPr>
          <a:xfrm>
            <a:off x="220477" y="2052531"/>
            <a:ext cx="5553886" cy="1685714"/>
          </a:xfrm>
          <a:prstGeom prst="rect">
            <a:avLst/>
          </a:prstGeom>
        </p:spPr>
      </p:pic>
      <p:pic>
        <p:nvPicPr>
          <p:cNvPr id="64" name="图片 63"/>
          <p:cNvPicPr>
            <a:picLocks noChangeAspect="1"/>
          </p:cNvPicPr>
          <p:nvPr/>
        </p:nvPicPr>
        <p:blipFill>
          <a:blip r:embed="rId5"/>
          <a:stretch>
            <a:fillRect/>
          </a:stretch>
        </p:blipFill>
        <p:spPr>
          <a:xfrm>
            <a:off x="5774363" y="2052530"/>
            <a:ext cx="5643956" cy="1685714"/>
          </a:xfrm>
          <a:prstGeom prst="rect">
            <a:avLst/>
          </a:prstGeom>
        </p:spPr>
      </p:pic>
      <p:sp>
        <p:nvSpPr>
          <p:cNvPr id="65" name="文本框 64"/>
          <p:cNvSpPr txBox="1"/>
          <p:nvPr/>
        </p:nvSpPr>
        <p:spPr>
          <a:xfrm>
            <a:off x="228498" y="3828604"/>
            <a:ext cx="5035528" cy="2750433"/>
          </a:xfrm>
          <a:prstGeom prst="rect">
            <a:avLst/>
          </a:prstGeom>
          <a:noFill/>
        </p:spPr>
        <p:txBody>
          <a:bodyPr wrap="square">
            <a:spAutoFit/>
          </a:bodyPr>
          <a:lstStyle/>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①表</a:t>
            </a:r>
            <a:r>
              <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rPr>
              <a:t>1</a:t>
            </a: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中各算法得到第一个可行解所</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需的时间差异不大，而可能因为</a:t>
            </a:r>
            <a:r>
              <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rPr>
              <a:t>MRV, DH, </a:t>
            </a:r>
          </a:p>
          <a:p>
            <a:pPr marL="266700" indent="266700" algn="just">
              <a:lnSpc>
                <a:spcPct val="115000"/>
              </a:lnSpc>
              <a:spcBef>
                <a:spcPts val="1200"/>
              </a:spcBef>
              <a:spcAft>
                <a:spcPts val="0"/>
              </a:spcAft>
            </a:pPr>
            <a:r>
              <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rPr>
              <a:t>SEARCH</a:t>
            </a: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中多次的搜索与排序，增加了一定</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的时间的消耗。</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②只有</a:t>
            </a:r>
            <a:r>
              <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rPr>
              <a:t>MRV_DH_SEARCH</a:t>
            </a: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能在较短时间内</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得到所有的可行解，说明优化是有效的。</a:t>
            </a:r>
            <a:endParaRPr lang="zh-CN" altLang="zh-CN" sz="1800" b="1" kern="100" dirty="0">
              <a:solidFill>
                <a:srgbClr val="654D2D"/>
              </a:solidFill>
              <a:effectLst/>
              <a:latin typeface="等线" panose="02010600030101010101" charset="-122"/>
              <a:ea typeface="等线" panose="02010600030101010101" charset="-122"/>
              <a:cs typeface="Times New Roman" panose="02020603050405020304" pitchFamily="18" charset="0"/>
            </a:endParaRPr>
          </a:p>
        </p:txBody>
      </p:sp>
      <p:sp>
        <p:nvSpPr>
          <p:cNvPr id="66" name="文本框 65"/>
          <p:cNvSpPr txBox="1"/>
          <p:nvPr/>
        </p:nvSpPr>
        <p:spPr>
          <a:xfrm>
            <a:off x="5984292" y="3828604"/>
            <a:ext cx="5553885" cy="2750433"/>
          </a:xfrm>
          <a:prstGeom prst="rect">
            <a:avLst/>
          </a:prstGeom>
          <a:noFill/>
        </p:spPr>
        <p:txBody>
          <a:bodyPr wrap="square">
            <a:spAutoFit/>
          </a:bodyPr>
          <a:lstStyle/>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①随着可涂颜色数的增多，得到第一个可</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行解的时间也减小，说明可涂颜色数对得到第一</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个可行解有促进作用。</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②进一步分析可知，可涂颜色数越多，在地图规</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模等其他条件一定时，得到所有解所需的时间必</a:t>
            </a:r>
            <a:endParaRPr lang="en-US" altLang="zh-CN" b="1" kern="100" dirty="0">
              <a:solidFill>
                <a:srgbClr val="654D2D"/>
              </a:solidFill>
              <a:latin typeface="等线" panose="02010600030101010101" charset="-122"/>
              <a:ea typeface="宋体" panose="02010600030101010101" pitchFamily="2" charset="-122"/>
              <a:cs typeface="Times New Roman" panose="02020603050405020304" pitchFamily="18" charset="0"/>
            </a:endParaRPr>
          </a:p>
          <a:p>
            <a:pPr marL="266700" indent="266700" algn="just">
              <a:lnSpc>
                <a:spcPct val="115000"/>
              </a:lnSpc>
              <a:spcBef>
                <a:spcPts val="1200"/>
              </a:spcBef>
              <a:spcAft>
                <a:spcPts val="0"/>
              </a:spcAft>
            </a:pPr>
            <a:r>
              <a:rPr lang="zh-CN" altLang="en-US" b="1" kern="100" dirty="0">
                <a:solidFill>
                  <a:srgbClr val="654D2D"/>
                </a:solidFill>
                <a:latin typeface="等线" panose="02010600030101010101" charset="-122"/>
                <a:ea typeface="宋体" panose="02010600030101010101" pitchFamily="2" charset="-122"/>
                <a:cs typeface="Times New Roman" panose="02020603050405020304" pitchFamily="18" charset="0"/>
              </a:rPr>
              <a:t>然是更大的，从其指数级的时间复杂度可知。</a:t>
            </a:r>
            <a:endParaRPr lang="zh-CN" altLang="zh-CN" sz="1800" b="1" kern="100" dirty="0">
              <a:solidFill>
                <a:srgbClr val="654D2D"/>
              </a:solidFill>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1500"/>
                                  </p:stCondLst>
                                  <p:childTnLst>
                                    <p:set>
                                      <p:cBhvr>
                                        <p:cTn id="6" dur="1" fill="hold">
                                          <p:stCondLst>
                                            <p:cond delay="0"/>
                                          </p:stCondLst>
                                        </p:cTn>
                                        <p:tgtEl>
                                          <p:spTgt spid="56"/>
                                        </p:tgtEl>
                                        <p:attrNameLst>
                                          <p:attrName>style.visibility</p:attrName>
                                        </p:attrNameLst>
                                      </p:cBhvr>
                                      <p:to>
                                        <p:strVal val="visible"/>
                                      </p:to>
                                    </p:set>
                                    <p:animEffect transition="in" filter="wipe(down)">
                                      <p:cBhvr>
                                        <p:cTn id="7" dur="750"/>
                                        <p:tgtEl>
                                          <p:spTgt spid="56"/>
                                        </p:tgtEl>
                                      </p:cBhvr>
                                    </p:animEffect>
                                  </p:childTnLst>
                                </p:cTn>
                              </p:par>
                              <p:par>
                                <p:cTn id="8" presetID="22" presetClass="entr" presetSubtype="1" fill="hold" nodeType="withEffect">
                                  <p:stCondLst>
                                    <p:cond delay="1250"/>
                                  </p:stCondLst>
                                  <p:childTnLst>
                                    <p:set>
                                      <p:cBhvr>
                                        <p:cTn id="9" dur="1" fill="hold">
                                          <p:stCondLst>
                                            <p:cond delay="0"/>
                                          </p:stCondLst>
                                        </p:cTn>
                                        <p:tgtEl>
                                          <p:spTgt spid="55"/>
                                        </p:tgtEl>
                                        <p:attrNameLst>
                                          <p:attrName>style.visibility</p:attrName>
                                        </p:attrNameLst>
                                      </p:cBhvr>
                                      <p:to>
                                        <p:strVal val="visible"/>
                                      </p:to>
                                    </p:set>
                                    <p:animEffect transition="in" filter="wipe(up)">
                                      <p:cBhvr>
                                        <p:cTn id="10" dur="1000"/>
                                        <p:tgtEl>
                                          <p:spTgt spid="55"/>
                                        </p:tgtEl>
                                      </p:cBhvr>
                                    </p:animEffect>
                                  </p:childTnLst>
                                </p:cTn>
                              </p:par>
                              <p:par>
                                <p:cTn id="11" presetID="42" presetClass="entr" presetSubtype="0" fill="hold" grpId="0" nodeType="withEffect">
                                  <p:stCondLst>
                                    <p:cond delay="50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1000"/>
                                        <p:tgtEl>
                                          <p:spTgt spid="58"/>
                                        </p:tgtEl>
                                      </p:cBhvr>
                                    </p:animEffect>
                                    <p:anim calcmode="lin" valueType="num">
                                      <p:cBhvr>
                                        <p:cTn id="14" dur="1000" fill="hold"/>
                                        <p:tgtEl>
                                          <p:spTgt spid="58"/>
                                        </p:tgtEl>
                                        <p:attrNameLst>
                                          <p:attrName>ppt_x</p:attrName>
                                        </p:attrNameLst>
                                      </p:cBhvr>
                                      <p:tavLst>
                                        <p:tav tm="0">
                                          <p:val>
                                            <p:strVal val="#ppt_x"/>
                                          </p:val>
                                        </p:tav>
                                        <p:tav tm="100000">
                                          <p:val>
                                            <p:strVal val="#ppt_x"/>
                                          </p:val>
                                        </p:tav>
                                      </p:tavLst>
                                    </p:anim>
                                    <p:anim calcmode="lin" valueType="num">
                                      <p:cBhvr>
                                        <p:cTn id="15"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xit" presetSubtype="4" fill="hold" nodeType="clickEffect">
                                  <p:stCondLst>
                                    <p:cond delay="0"/>
                                  </p:stCondLst>
                                  <p:childTnLst>
                                    <p:anim calcmode="lin" valueType="num">
                                      <p:cBhvr additive="base">
                                        <p:cTn id="19" dur="500"/>
                                        <p:tgtEl>
                                          <p:spTgt spid="8"/>
                                        </p:tgtEl>
                                        <p:attrNameLst>
                                          <p:attrName>ppt_x</p:attrName>
                                        </p:attrNameLst>
                                      </p:cBhvr>
                                      <p:tavLst>
                                        <p:tav tm="0">
                                          <p:val>
                                            <p:strVal val="ppt_x"/>
                                          </p:val>
                                        </p:tav>
                                        <p:tav tm="100000">
                                          <p:val>
                                            <p:strVal val="ppt_x"/>
                                          </p:val>
                                        </p:tav>
                                      </p:tavLst>
                                    </p:anim>
                                    <p:anim calcmode="lin" valueType="num">
                                      <p:cBhvr additive="base">
                                        <p:cTn id="20" dur="500"/>
                                        <p:tgtEl>
                                          <p:spTgt spid="8"/>
                                        </p:tgtEl>
                                        <p:attrNameLst>
                                          <p:attrName>ppt_y</p:attrName>
                                        </p:attrNameLst>
                                      </p:cBhvr>
                                      <p:tavLst>
                                        <p:tav tm="0">
                                          <p:val>
                                            <p:strVal val="ppt_y"/>
                                          </p:val>
                                        </p:tav>
                                        <p:tav tm="100000">
                                          <p:val>
                                            <p:strVal val="1+ppt_h/2"/>
                                          </p:val>
                                        </p:tav>
                                      </p:tavLst>
                                    </p:anim>
                                    <p:set>
                                      <p:cBhvr>
                                        <p:cTn id="21" dur="1" fill="hold">
                                          <p:stCondLst>
                                            <p:cond delay="499"/>
                                          </p:stCondLst>
                                        </p:cTn>
                                        <p:tgtEl>
                                          <p:spTgt spid="8"/>
                                        </p:tgtEl>
                                        <p:attrNameLst>
                                          <p:attrName>style.visibility</p:attrName>
                                        </p:attrNameLst>
                                      </p:cBhvr>
                                      <p:to>
                                        <p:strVal val="hidden"/>
                                      </p:to>
                                    </p:set>
                                  </p:childTnLst>
                                </p:cTn>
                              </p:par>
                              <p:par>
                                <p:cTn id="22" presetID="2" presetClass="exit" presetSubtype="4" fill="hold" grpId="0" nodeType="withEffect">
                                  <p:stCondLst>
                                    <p:cond delay="0"/>
                                  </p:stCondLst>
                                  <p:childTnLst>
                                    <p:anim calcmode="lin" valueType="num">
                                      <p:cBhvr additive="base">
                                        <p:cTn id="23" dur="500"/>
                                        <p:tgtEl>
                                          <p:spTgt spid="62"/>
                                        </p:tgtEl>
                                        <p:attrNameLst>
                                          <p:attrName>ppt_x</p:attrName>
                                        </p:attrNameLst>
                                      </p:cBhvr>
                                      <p:tavLst>
                                        <p:tav tm="0">
                                          <p:val>
                                            <p:strVal val="ppt_x"/>
                                          </p:val>
                                        </p:tav>
                                        <p:tav tm="100000">
                                          <p:val>
                                            <p:strVal val="ppt_x"/>
                                          </p:val>
                                        </p:tav>
                                      </p:tavLst>
                                    </p:anim>
                                    <p:anim calcmode="lin" valueType="num">
                                      <p:cBhvr additive="base">
                                        <p:cTn id="24" dur="500"/>
                                        <p:tgtEl>
                                          <p:spTgt spid="62"/>
                                        </p:tgtEl>
                                        <p:attrNameLst>
                                          <p:attrName>ppt_y</p:attrName>
                                        </p:attrNameLst>
                                      </p:cBhvr>
                                      <p:tavLst>
                                        <p:tav tm="0">
                                          <p:val>
                                            <p:strVal val="ppt_y"/>
                                          </p:val>
                                        </p:tav>
                                        <p:tav tm="100000">
                                          <p:val>
                                            <p:strVal val="1+ppt_h/2"/>
                                          </p:val>
                                        </p:tav>
                                      </p:tavLst>
                                    </p:anim>
                                    <p:set>
                                      <p:cBhvr>
                                        <p:cTn id="25" dur="1" fill="hold">
                                          <p:stCondLst>
                                            <p:cond delay="499"/>
                                          </p:stCondLst>
                                        </p:cTn>
                                        <p:tgtEl>
                                          <p:spTgt spid="6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3"/>
                                        </p:tgtEl>
                                        <p:attrNameLst>
                                          <p:attrName>style.visibility</p:attrName>
                                        </p:attrNameLst>
                                      </p:cBhvr>
                                      <p:to>
                                        <p:strVal val="visible"/>
                                      </p:to>
                                    </p:set>
                                    <p:anim calcmode="lin" valueType="num">
                                      <p:cBhvr additive="base">
                                        <p:cTn id="30" dur="500" fill="hold"/>
                                        <p:tgtEl>
                                          <p:spTgt spid="63"/>
                                        </p:tgtEl>
                                        <p:attrNameLst>
                                          <p:attrName>ppt_x</p:attrName>
                                        </p:attrNameLst>
                                      </p:cBhvr>
                                      <p:tavLst>
                                        <p:tav tm="0">
                                          <p:val>
                                            <p:strVal val="#ppt_x"/>
                                          </p:val>
                                        </p:tav>
                                        <p:tav tm="100000">
                                          <p:val>
                                            <p:strVal val="#ppt_x"/>
                                          </p:val>
                                        </p:tav>
                                      </p:tavLst>
                                    </p:anim>
                                    <p:anim calcmode="lin" valueType="num">
                                      <p:cBhvr additive="base">
                                        <p:cTn id="31" dur="500" fill="hold"/>
                                        <p:tgtEl>
                                          <p:spTgt spid="63"/>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64"/>
                                        </p:tgtEl>
                                        <p:attrNameLst>
                                          <p:attrName>style.visibility</p:attrName>
                                        </p:attrNameLst>
                                      </p:cBhvr>
                                      <p:to>
                                        <p:strVal val="visible"/>
                                      </p:to>
                                    </p:set>
                                    <p:anim calcmode="lin" valueType="num">
                                      <p:cBhvr additive="base">
                                        <p:cTn id="34" dur="500" fill="hold"/>
                                        <p:tgtEl>
                                          <p:spTgt spid="64"/>
                                        </p:tgtEl>
                                        <p:attrNameLst>
                                          <p:attrName>ppt_x</p:attrName>
                                        </p:attrNameLst>
                                      </p:cBhvr>
                                      <p:tavLst>
                                        <p:tav tm="0">
                                          <p:val>
                                            <p:strVal val="#ppt_x"/>
                                          </p:val>
                                        </p:tav>
                                        <p:tav tm="100000">
                                          <p:val>
                                            <p:strVal val="#ppt_x"/>
                                          </p:val>
                                        </p:tav>
                                      </p:tavLst>
                                    </p:anim>
                                    <p:anim calcmode="lin" valueType="num">
                                      <p:cBhvr additive="base">
                                        <p:cTn id="35" dur="500" fill="hold"/>
                                        <p:tgtEl>
                                          <p:spTgt spid="6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65"/>
                                        </p:tgtEl>
                                        <p:attrNameLst>
                                          <p:attrName>style.visibility</p:attrName>
                                        </p:attrNameLst>
                                      </p:cBhvr>
                                      <p:to>
                                        <p:strVal val="visible"/>
                                      </p:to>
                                    </p:set>
                                    <p:anim calcmode="lin" valueType="num">
                                      <p:cBhvr additive="base">
                                        <p:cTn id="38" dur="500" fill="hold"/>
                                        <p:tgtEl>
                                          <p:spTgt spid="65"/>
                                        </p:tgtEl>
                                        <p:attrNameLst>
                                          <p:attrName>ppt_x</p:attrName>
                                        </p:attrNameLst>
                                      </p:cBhvr>
                                      <p:tavLst>
                                        <p:tav tm="0">
                                          <p:val>
                                            <p:strVal val="#ppt_x"/>
                                          </p:val>
                                        </p:tav>
                                        <p:tav tm="100000">
                                          <p:val>
                                            <p:strVal val="#ppt_x"/>
                                          </p:val>
                                        </p:tav>
                                      </p:tavLst>
                                    </p:anim>
                                    <p:anim calcmode="lin" valueType="num">
                                      <p:cBhvr additive="base">
                                        <p:cTn id="39" dur="500" fill="hold"/>
                                        <p:tgtEl>
                                          <p:spTgt spid="65"/>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66"/>
                                        </p:tgtEl>
                                        <p:attrNameLst>
                                          <p:attrName>style.visibility</p:attrName>
                                        </p:attrNameLst>
                                      </p:cBhvr>
                                      <p:to>
                                        <p:strVal val="visible"/>
                                      </p:to>
                                    </p:set>
                                    <p:anim calcmode="lin" valueType="num">
                                      <p:cBhvr additive="base">
                                        <p:cTn id="42" dur="500" fill="hold"/>
                                        <p:tgtEl>
                                          <p:spTgt spid="66"/>
                                        </p:tgtEl>
                                        <p:attrNameLst>
                                          <p:attrName>ppt_x</p:attrName>
                                        </p:attrNameLst>
                                      </p:cBhvr>
                                      <p:tavLst>
                                        <p:tav tm="0">
                                          <p:val>
                                            <p:strVal val="#ppt_x"/>
                                          </p:val>
                                        </p:tav>
                                        <p:tav tm="100000">
                                          <p:val>
                                            <p:strVal val="#ppt_x"/>
                                          </p:val>
                                        </p:tav>
                                      </p:tavLst>
                                    </p:anim>
                                    <p:anim calcmode="lin" valueType="num">
                                      <p:cBhvr additive="base">
                                        <p:cTn id="4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2" grpId="0"/>
      <p:bldP spid="65" grpId="0"/>
      <p:bldP spid="6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1820531" y="146830"/>
            <a:ext cx="9072058" cy="461665"/>
          </a:xfrm>
          <a:prstGeom prst="rect">
            <a:avLst/>
          </a:prstGeom>
          <a:noFill/>
        </p:spPr>
        <p:txBody>
          <a:bodyPr wrap="square" rtlCol="0">
            <a:spAutoFit/>
          </a:bodyPr>
          <a:lstStyle/>
          <a:p>
            <a:pPr algn="ctr"/>
            <a:r>
              <a:rPr lang="en-US" altLang="zh-CN"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3.</a:t>
            </a:r>
            <a:r>
              <a:rPr lang="zh-CN" altLang="en-US" sz="2400" b="1" dirty="0">
                <a:solidFill>
                  <a:srgbClr val="654D2D"/>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随机产生不同规模的图，分析算法效率与图规模的关系（四色）。</a:t>
            </a:r>
          </a:p>
        </p:txBody>
      </p:sp>
      <p:sp>
        <p:nvSpPr>
          <p:cNvPr id="59" name="文本框 58"/>
          <p:cNvSpPr txBox="1"/>
          <p:nvPr/>
        </p:nvSpPr>
        <p:spPr>
          <a:xfrm>
            <a:off x="2911643" y="969772"/>
            <a:ext cx="5935579" cy="1315040"/>
          </a:xfrm>
          <a:prstGeom prst="rect">
            <a:avLst/>
          </a:prstGeom>
          <a:noFill/>
        </p:spPr>
        <p:txBody>
          <a:bodyPr wrap="square">
            <a:spAutoFit/>
          </a:bodyPr>
          <a:lstStyle/>
          <a:p>
            <a:pPr marL="266700" indent="266700">
              <a:lnSpc>
                <a:spcPct val="115000"/>
              </a:lnSpc>
              <a:spcBef>
                <a:spcPts val="1200"/>
              </a:spcBef>
            </a:pPr>
            <a:r>
              <a:rPr lang="zh-CN" altLang="zh-CN" sz="1800"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①</a:t>
            </a: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随机生成不同规模的图，并将数据写入文件</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15000"/>
              </a:lnSpc>
              <a:spcBef>
                <a:spcPts val="1200"/>
              </a:spcBef>
            </a:pPr>
            <a:r>
              <a:rPr lang="zh-CN" altLang="zh-CN" sz="18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②</a:t>
            </a:r>
            <a:r>
              <a:rPr lang="zh-CN" altLang="en-US" dirty="0">
                <a:solidFill>
                  <a:srgbClr val="654D2D"/>
                </a:solidFill>
                <a:latin typeface="幼圆" panose="02010509060101010101" pitchFamily="49" charset="-122"/>
                <a:ea typeface="幼圆" panose="02010509060101010101" pitchFamily="49" charset="-122"/>
                <a:cs typeface="Times New Roman" panose="02020603050405020304" pitchFamily="18" charset="0"/>
              </a:rPr>
              <a:t>调用</a:t>
            </a:r>
            <a:r>
              <a:rPr lang="en-US" altLang="zh-CN" dirty="0">
                <a:solidFill>
                  <a:srgbClr val="654D2D"/>
                </a:solidFill>
                <a:latin typeface="幼圆" panose="02010509060101010101" pitchFamily="49" charset="-122"/>
                <a:ea typeface="幼圆" panose="02010509060101010101" pitchFamily="49" charset="-122"/>
                <a:cs typeface="Times New Roman" panose="02020603050405020304" pitchFamily="18" charset="0"/>
              </a:rPr>
              <a:t>MRV_DH_SEARCH</a:t>
            </a:r>
            <a:r>
              <a:rPr lang="zh-CN" altLang="en-US" dirty="0">
                <a:solidFill>
                  <a:srgbClr val="654D2D"/>
                </a:solidFill>
                <a:latin typeface="幼圆" panose="02010509060101010101" pitchFamily="49" charset="-122"/>
                <a:ea typeface="幼圆" panose="02010509060101010101" pitchFamily="49" charset="-122"/>
                <a:cs typeface="Times New Roman" panose="02020603050405020304" pitchFamily="18" charset="0"/>
              </a:rPr>
              <a:t>算法，对生成的地图进行测试</a:t>
            </a:r>
            <a:endParaRPr lang="en-US" altLang="zh-CN"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15000"/>
              </a:lnSpc>
              <a:spcBef>
                <a:spcPts val="1200"/>
              </a:spcBef>
            </a:pPr>
            <a:r>
              <a:rPr lang="zh-CN" altLang="en-US" dirty="0">
                <a:solidFill>
                  <a:srgbClr val="654D2D"/>
                </a:solidFill>
                <a:latin typeface="幼圆" panose="02010509060101010101" pitchFamily="49" charset="-122"/>
                <a:ea typeface="幼圆" panose="02010509060101010101" pitchFamily="49" charset="-122"/>
                <a:cs typeface="Times New Roman" panose="02020603050405020304" pitchFamily="18" charset="0"/>
              </a:rPr>
              <a:t>③绘制表格，绘制关系图</a:t>
            </a:r>
            <a:endParaRPr lang="en-US" altLang="zh-CN"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507129" y="3839509"/>
            <a:ext cx="4383552" cy="2743140"/>
          </a:xfrm>
          <a:prstGeom prst="rect">
            <a:avLst/>
          </a:prstGeom>
        </p:spPr>
      </p:pic>
      <p:sp>
        <p:nvSpPr>
          <p:cNvPr id="16" name="文本框 15"/>
          <p:cNvSpPr txBox="1"/>
          <p:nvPr/>
        </p:nvSpPr>
        <p:spPr>
          <a:xfrm>
            <a:off x="5139692" y="2475522"/>
            <a:ext cx="6729662" cy="3859198"/>
          </a:xfrm>
          <a:prstGeom prst="rect">
            <a:avLst/>
          </a:prstGeom>
          <a:noFill/>
        </p:spPr>
        <p:txBody>
          <a:bodyPr wrap="square">
            <a:spAutoFit/>
          </a:bodyPr>
          <a:lstStyle/>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①分析可知，地图的规模影响着递归树的深度，对时间的影</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响非常大。因此得到规模小的地图所有可能解所需的时间远</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小于规模大的地图所需时间。</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②而分析图</a:t>
            </a:r>
            <a:r>
              <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21</a:t>
            </a: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可知，当地图规模线性增长时，时间消耗大致</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成指数级增长。并且随着地图规模的增大，指数级增长的速</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率趋于平缓，证明了多种剪枝策略结合后的算法对大规模地</a:t>
            </a:r>
            <a:endParaRPr lang="en-US" altLang="zh-CN"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a:p>
            <a:pPr marL="266700" indent="266700">
              <a:lnSpc>
                <a:spcPct val="150000"/>
              </a:lnSpc>
              <a:spcBef>
                <a:spcPts val="1200"/>
              </a:spcBef>
            </a:pPr>
            <a:r>
              <a:rPr lang="zh-CN" altLang="en-US" kern="100" dirty="0">
                <a:solidFill>
                  <a:srgbClr val="654D2D"/>
                </a:solidFill>
                <a:latin typeface="幼圆" panose="02010509060101010101" pitchFamily="49" charset="-122"/>
                <a:ea typeface="幼圆" panose="02010509060101010101" pitchFamily="49" charset="-122"/>
                <a:cs typeface="Times New Roman" panose="02020603050405020304" pitchFamily="18" charset="0"/>
              </a:rPr>
              <a:t>图中的优化作用更加明显。</a:t>
            </a:r>
            <a:endParaRPr lang="en-US" altLang="zh-CN" dirty="0">
              <a:solidFill>
                <a:srgbClr val="654D2D"/>
              </a:solidFill>
              <a:latin typeface="幼圆" panose="02010509060101010101" pitchFamily="49" charset="-122"/>
              <a:ea typeface="幼圆" panose="02010509060101010101" pitchFamily="49" charset="-122"/>
              <a:cs typeface="Times New Roman" panose="02020603050405020304" pitchFamily="18" charset="0"/>
            </a:endParaRPr>
          </a:p>
        </p:txBody>
      </p:sp>
      <p:pic>
        <p:nvPicPr>
          <p:cNvPr id="17" name="图片 16"/>
          <p:cNvPicPr>
            <a:picLocks noChangeAspect="1"/>
          </p:cNvPicPr>
          <p:nvPr/>
        </p:nvPicPr>
        <p:blipFill>
          <a:blip r:embed="rId4"/>
          <a:stretch>
            <a:fillRect/>
          </a:stretch>
        </p:blipFill>
        <p:spPr>
          <a:xfrm>
            <a:off x="507129" y="2386183"/>
            <a:ext cx="4383552" cy="1236758"/>
          </a:xfrm>
          <a:prstGeom prst="rect">
            <a:avLst/>
          </a:prstGeom>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1000"/>
                                        <p:tgtEl>
                                          <p:spTgt spid="59"/>
                                        </p:tgtEl>
                                      </p:cBhvr>
                                    </p:animEffect>
                                    <p:anim calcmode="lin" valueType="num">
                                      <p:cBhvr>
                                        <p:cTn id="13" dur="1000" fill="hold"/>
                                        <p:tgtEl>
                                          <p:spTgt spid="59"/>
                                        </p:tgtEl>
                                        <p:attrNameLst>
                                          <p:attrName>ppt_x</p:attrName>
                                        </p:attrNameLst>
                                      </p:cBhvr>
                                      <p:tavLst>
                                        <p:tav tm="0">
                                          <p:val>
                                            <p:strVal val="#ppt_x"/>
                                          </p:val>
                                        </p:tav>
                                        <p:tav tm="100000">
                                          <p:val>
                                            <p:strVal val="#ppt_x"/>
                                          </p:val>
                                        </p:tav>
                                      </p:tavLst>
                                    </p:anim>
                                    <p:anim calcmode="lin" valueType="num">
                                      <p:cBhvr>
                                        <p:cTn id="14"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829073" y="-509072"/>
            <a:ext cx="2749471" cy="6247864"/>
          </a:xfrm>
          <a:prstGeom prst="rect">
            <a:avLst/>
          </a:prstGeom>
          <a:noFill/>
        </p:spPr>
        <p:txBody>
          <a:bodyPr wrap="none" rtlCol="0">
            <a:spAutoFit/>
          </a:bodyPr>
          <a:lstStyle/>
          <a:p>
            <a:r>
              <a:rPr lang="en-US" altLang="zh-CN"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rPr>
              <a:t>4</a:t>
            </a:r>
            <a:endParaRPr lang="zh-CN" altLang="en-US" sz="40000" dirty="0">
              <a:solidFill>
                <a:srgbClr val="6C562A"/>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cs typeface="Nirmala UI" panose="020B0502040204020203" pitchFamily="34" charset="0"/>
            </a:endParaRPr>
          </a:p>
        </p:txBody>
      </p:sp>
      <p:sp>
        <p:nvSpPr>
          <p:cNvPr id="9" name="文本框 8"/>
          <p:cNvSpPr txBox="1"/>
          <p:nvPr/>
        </p:nvSpPr>
        <p:spPr>
          <a:xfrm>
            <a:off x="3880590" y="5017424"/>
            <a:ext cx="5010926" cy="923330"/>
          </a:xfrm>
          <a:prstGeom prst="rect">
            <a:avLst/>
          </a:prstGeom>
          <a:noFill/>
        </p:spPr>
        <p:txBody>
          <a:bodyPr wrap="square" rtlCol="0">
            <a:spAutoFit/>
          </a:bodyPr>
          <a:lstStyle/>
          <a:p>
            <a:pPr algn="ctr"/>
            <a:r>
              <a:rPr lang="zh-CN" altLang="en-US" sz="5400" b="1" dirty="0">
                <a:solidFill>
                  <a:srgbClr val="8A6E36"/>
                </a:solidFill>
                <a:latin typeface="幼圆" panose="02010509060101010101" pitchFamily="49" charset="-122"/>
                <a:ea typeface="幼圆" panose="02010509060101010101" pitchFamily="49" charset="-122"/>
              </a:rPr>
              <a:t>总结</a:t>
            </a:r>
          </a:p>
        </p:txBody>
      </p:sp>
      <p:cxnSp>
        <p:nvCxnSpPr>
          <p:cNvPr id="10" name="直接连接符 9"/>
          <p:cNvCxnSpPr/>
          <p:nvPr/>
        </p:nvCxnSpPr>
        <p:spPr>
          <a:xfrm flipV="1">
            <a:off x="8330287" y="2031347"/>
            <a:ext cx="1506434" cy="1165792"/>
          </a:xfrm>
          <a:prstGeom prst="line">
            <a:avLst/>
          </a:prstGeom>
          <a:ln>
            <a:solidFill>
              <a:srgbClr val="7F6531"/>
            </a:solidFill>
            <a:headEnd type="none"/>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V="1">
            <a:off x="9109526" y="1309273"/>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8891233" y="1808430"/>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825268" y="2391326"/>
            <a:ext cx="1865379" cy="1865378"/>
            <a:chOff x="2761485" y="2066543"/>
            <a:chExt cx="1865379" cy="1865378"/>
          </a:xfrm>
        </p:grpSpPr>
        <p:sp>
          <p:nvSpPr>
            <p:cNvPr id="16" name="矩形 15"/>
            <p:cNvSpPr/>
            <p:nvPr/>
          </p:nvSpPr>
          <p:spPr>
            <a:xfrm rot="20079229">
              <a:off x="2761488" y="2066544"/>
              <a:ext cx="1865376" cy="1865376"/>
            </a:xfrm>
            <a:prstGeom prst="rect">
              <a:avLst/>
            </a:prstGeom>
            <a:noFill/>
            <a:ln>
              <a:gradFill>
                <a:gsLst>
                  <a:gs pos="0">
                    <a:srgbClr val="68532A"/>
                  </a:gs>
                  <a:gs pos="100000">
                    <a:srgbClr val="CBC3A5">
                      <a:alpha val="14000"/>
                    </a:srgbClr>
                  </a:gs>
                </a:gsLst>
                <a:lin ang="1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1520771" flipH="1">
              <a:off x="2761486" y="2066545"/>
              <a:ext cx="1865376" cy="1865376"/>
            </a:xfrm>
            <a:prstGeom prst="rect">
              <a:avLst/>
            </a:prstGeom>
            <a:noFill/>
            <a:ln>
              <a:gradFill>
                <a:gsLst>
                  <a:gs pos="0">
                    <a:srgbClr val="68532A"/>
                  </a:gs>
                  <a:gs pos="100000">
                    <a:srgbClr val="CBC3A5">
                      <a:alpha val="14000"/>
                    </a:srgbClr>
                  </a:gs>
                </a:gsLst>
                <a:lin ang="1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8110056" flipH="1">
              <a:off x="2761485" y="2066543"/>
              <a:ext cx="1865376" cy="1865376"/>
            </a:xfrm>
            <a:prstGeom prst="rect">
              <a:avLst/>
            </a:prstGeom>
            <a:noFill/>
            <a:ln>
              <a:gradFill>
                <a:gsLst>
                  <a:gs pos="0">
                    <a:srgbClr val="68532A"/>
                  </a:gs>
                  <a:gs pos="100000">
                    <a:srgbClr val="CBC3A5">
                      <a:alpha val="14000"/>
                    </a:srgbClr>
                  </a:gs>
                </a:gsLst>
                <a:lin ang="3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withEffect">
                                  <p:stCondLst>
                                    <p:cond delay="75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7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1+#ppt_w/2"/>
                                          </p:val>
                                        </p:tav>
                                        <p:tav tm="100000">
                                          <p:val>
                                            <p:strVal val="#ppt_x"/>
                                          </p:val>
                                        </p:tav>
                                      </p:tavLst>
                                    </p:anim>
                                    <p:anim calcmode="lin" valueType="num">
                                      <p:cBhvr additive="base">
                                        <p:cTn id="12" dur="1000" fill="hold"/>
                                        <p:tgtEl>
                                          <p:spTgt spid="10"/>
                                        </p:tgtEl>
                                        <p:attrNameLst>
                                          <p:attrName>ppt_y</p:attrName>
                                        </p:attrNameLst>
                                      </p:cBhvr>
                                      <p:tavLst>
                                        <p:tav tm="0">
                                          <p:val>
                                            <p:strVal val="0-#ppt_h/2"/>
                                          </p:val>
                                        </p:tav>
                                        <p:tav tm="100000">
                                          <p:val>
                                            <p:strVal val="#ppt_y"/>
                                          </p:val>
                                        </p:tav>
                                      </p:tavLst>
                                    </p:anim>
                                  </p:childTnLst>
                                </p:cTn>
                              </p:par>
                              <p:par>
                                <p:cTn id="13" presetID="2" presetClass="entr" presetSubtype="3" fill="hold" nodeType="withEffect">
                                  <p:stCondLst>
                                    <p:cond delay="7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6" presetClass="entr" presetSubtype="0" fill="hold" grpId="0" nodeType="withEffect">
                                  <p:stCondLst>
                                    <p:cond delay="175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435">
                                          <p:stCondLst>
                                            <p:cond delay="0"/>
                                          </p:stCondLst>
                                        </p:cTn>
                                        <p:tgtEl>
                                          <p:spTgt spid="7"/>
                                        </p:tgtEl>
                                      </p:cBhvr>
                                    </p:animEffect>
                                    <p:anim calcmode="lin" valueType="num">
                                      <p:cBhvr>
                                        <p:cTn id="20" dur="1367"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1" dur="498"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2" dur="498" tmFilter="0, 0; 0.125,0.2665; 0.25,0.4; 0.375,0.465; 0.5,0.5;  0.625,0.535; 0.75,0.6; 0.875,0.7335; 1,1">
                                          <p:stCondLst>
                                            <p:cond delay="498"/>
                                          </p:stCondLst>
                                        </p:cTn>
                                        <p:tgtEl>
                                          <p:spTgt spid="7"/>
                                        </p:tgtEl>
                                        <p:attrNameLst>
                                          <p:attrName>ppt_y</p:attrName>
                                        </p:attrNameLst>
                                      </p:cBhvr>
                                      <p:tavLst>
                                        <p:tav tm="0" fmla="#ppt_y-sin(pi*$)/9">
                                          <p:val>
                                            <p:fltVal val="0"/>
                                          </p:val>
                                        </p:tav>
                                        <p:tav tm="100000">
                                          <p:val>
                                            <p:fltVal val="1"/>
                                          </p:val>
                                        </p:tav>
                                      </p:tavLst>
                                    </p:anim>
                                    <p:anim calcmode="lin" valueType="num">
                                      <p:cBhvr>
                                        <p:cTn id="23" dur="249" tmFilter="0, 0; 0.125,0.2665; 0.25,0.4; 0.375,0.465; 0.5,0.5;  0.625,0.535; 0.75,0.6; 0.875,0.7335; 1,1">
                                          <p:stCondLst>
                                            <p:cond delay="993"/>
                                          </p:stCondLst>
                                        </p:cTn>
                                        <p:tgtEl>
                                          <p:spTgt spid="7"/>
                                        </p:tgtEl>
                                        <p:attrNameLst>
                                          <p:attrName>ppt_y</p:attrName>
                                        </p:attrNameLst>
                                      </p:cBhvr>
                                      <p:tavLst>
                                        <p:tav tm="0" fmla="#ppt_y-sin(pi*$)/27">
                                          <p:val>
                                            <p:fltVal val="0"/>
                                          </p:val>
                                        </p:tav>
                                        <p:tav tm="100000">
                                          <p:val>
                                            <p:fltVal val="1"/>
                                          </p:val>
                                        </p:tav>
                                      </p:tavLst>
                                    </p:anim>
                                    <p:anim calcmode="lin" valueType="num">
                                      <p:cBhvr>
                                        <p:cTn id="24" dur="123" tmFilter="0, 0; 0.125,0.2665; 0.25,0.4; 0.375,0.465; 0.5,0.5;  0.625,0.535; 0.75,0.6; 0.875,0.7335; 1,1">
                                          <p:stCondLst>
                                            <p:cond delay="1242"/>
                                          </p:stCondLst>
                                        </p:cTn>
                                        <p:tgtEl>
                                          <p:spTgt spid="7"/>
                                        </p:tgtEl>
                                        <p:attrNameLst>
                                          <p:attrName>ppt_y</p:attrName>
                                        </p:attrNameLst>
                                      </p:cBhvr>
                                      <p:tavLst>
                                        <p:tav tm="0" fmla="#ppt_y-sin(pi*$)/81">
                                          <p:val>
                                            <p:fltVal val="0"/>
                                          </p:val>
                                        </p:tav>
                                        <p:tav tm="100000">
                                          <p:val>
                                            <p:fltVal val="1"/>
                                          </p:val>
                                        </p:tav>
                                      </p:tavLst>
                                    </p:anim>
                                    <p:animScale>
                                      <p:cBhvr>
                                        <p:cTn id="25" dur="20">
                                          <p:stCondLst>
                                            <p:cond delay="487"/>
                                          </p:stCondLst>
                                        </p:cTn>
                                        <p:tgtEl>
                                          <p:spTgt spid="7"/>
                                        </p:tgtEl>
                                      </p:cBhvr>
                                      <p:to x="100000" y="60000"/>
                                    </p:animScale>
                                    <p:animScale>
                                      <p:cBhvr>
                                        <p:cTn id="26" dur="124" decel="50000">
                                          <p:stCondLst>
                                            <p:cond delay="507"/>
                                          </p:stCondLst>
                                        </p:cTn>
                                        <p:tgtEl>
                                          <p:spTgt spid="7"/>
                                        </p:tgtEl>
                                      </p:cBhvr>
                                      <p:to x="100000" y="100000"/>
                                    </p:animScale>
                                    <p:animScale>
                                      <p:cBhvr>
                                        <p:cTn id="27" dur="20">
                                          <p:stCondLst>
                                            <p:cond delay="984"/>
                                          </p:stCondLst>
                                        </p:cTn>
                                        <p:tgtEl>
                                          <p:spTgt spid="7"/>
                                        </p:tgtEl>
                                      </p:cBhvr>
                                      <p:to x="100000" y="80000"/>
                                    </p:animScale>
                                    <p:animScale>
                                      <p:cBhvr>
                                        <p:cTn id="28" dur="124" decel="50000">
                                          <p:stCondLst>
                                            <p:cond delay="1004"/>
                                          </p:stCondLst>
                                        </p:cTn>
                                        <p:tgtEl>
                                          <p:spTgt spid="7"/>
                                        </p:tgtEl>
                                      </p:cBhvr>
                                      <p:to x="100000" y="100000"/>
                                    </p:animScale>
                                    <p:animScale>
                                      <p:cBhvr>
                                        <p:cTn id="29" dur="20">
                                          <p:stCondLst>
                                            <p:cond delay="1231"/>
                                          </p:stCondLst>
                                        </p:cTn>
                                        <p:tgtEl>
                                          <p:spTgt spid="7"/>
                                        </p:tgtEl>
                                      </p:cBhvr>
                                      <p:to x="100000" y="90000"/>
                                    </p:animScale>
                                    <p:animScale>
                                      <p:cBhvr>
                                        <p:cTn id="30" dur="124" decel="50000">
                                          <p:stCondLst>
                                            <p:cond delay="1251"/>
                                          </p:stCondLst>
                                        </p:cTn>
                                        <p:tgtEl>
                                          <p:spTgt spid="7"/>
                                        </p:tgtEl>
                                      </p:cBhvr>
                                      <p:to x="100000" y="100000"/>
                                    </p:animScale>
                                    <p:animScale>
                                      <p:cBhvr>
                                        <p:cTn id="31" dur="20">
                                          <p:stCondLst>
                                            <p:cond delay="1356"/>
                                          </p:stCondLst>
                                        </p:cTn>
                                        <p:tgtEl>
                                          <p:spTgt spid="7"/>
                                        </p:tgtEl>
                                      </p:cBhvr>
                                      <p:to x="100000" y="95000"/>
                                    </p:animScale>
                                    <p:animScale>
                                      <p:cBhvr>
                                        <p:cTn id="32" dur="124" decel="50000">
                                          <p:stCondLst>
                                            <p:cond delay="1376"/>
                                          </p:stCondLst>
                                        </p:cTn>
                                        <p:tgtEl>
                                          <p:spTgt spid="7"/>
                                        </p:tgtEl>
                                      </p:cBhvr>
                                      <p:to x="100000" y="100000"/>
                                    </p:animScale>
                                  </p:childTnLst>
                                </p:cTn>
                              </p:par>
                            </p:childTnLst>
                          </p:cTn>
                        </p:par>
                        <p:par>
                          <p:cTn id="33" fill="hold">
                            <p:stCondLst>
                              <p:cond delay="1750"/>
                            </p:stCondLst>
                            <p:childTnLst>
                              <p:par>
                                <p:cTn id="34" presetID="2" presetClass="entr" presetSubtype="4"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par>
                          <p:cTn id="38" fill="hold">
                            <p:stCondLst>
                              <p:cond delay="2250"/>
                            </p:stCondLst>
                            <p:childTnLst>
                              <p:par>
                                <p:cTn id="39" presetID="45" presetClass="entr" presetSubtype="0"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anim calcmode="lin" valueType="num">
                                      <p:cBhvr>
                                        <p:cTn id="42" dur="1000" fill="hold"/>
                                        <p:tgtEl>
                                          <p:spTgt spid="15"/>
                                        </p:tgtEl>
                                        <p:attrNameLst>
                                          <p:attrName>ppt_w</p:attrName>
                                        </p:attrNameLst>
                                      </p:cBhvr>
                                      <p:tavLst>
                                        <p:tav tm="0" fmla="#ppt_w*sin(2.5*pi*$)">
                                          <p:val>
                                            <p:fltVal val="0"/>
                                          </p:val>
                                        </p:tav>
                                        <p:tav tm="100000">
                                          <p:val>
                                            <p:fltVal val="1"/>
                                          </p:val>
                                        </p:tav>
                                      </p:tavLst>
                                    </p:anim>
                                    <p:anim calcmode="lin" valueType="num">
                                      <p:cBhvr>
                                        <p:cTn id="43" dur="10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8401" y="225080"/>
            <a:ext cx="11913448" cy="6481850"/>
            <a:chOff x="138401" y="225080"/>
            <a:chExt cx="11913448" cy="6481850"/>
          </a:xfrm>
        </p:grpSpPr>
        <p:sp>
          <p:nvSpPr>
            <p:cNvPr id="3" name="等腰三角形 2"/>
            <p:cNvSpPr/>
            <p:nvPr/>
          </p:nvSpPr>
          <p:spPr>
            <a:xfrm rot="13507525">
              <a:off x="139276" y="6088416"/>
              <a:ext cx="551652" cy="275826"/>
            </a:xfrm>
            <a:prstGeom prst="triangle">
              <a:avLst/>
            </a:prstGeom>
            <a:solidFill>
              <a:srgbClr val="574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654D2D"/>
                </a:solidFill>
                <a:latin typeface="幼圆" panose="02010509060101010101" pitchFamily="49" charset="-122"/>
                <a:ea typeface="幼圆" panose="02010509060101010101" pitchFamily="49" charset="-122"/>
              </a:endParaRPr>
            </a:p>
          </p:txBody>
        </p:sp>
        <p:sp>
          <p:nvSpPr>
            <p:cNvPr id="4" name="等腰三角形 3"/>
            <p:cNvSpPr/>
            <p:nvPr/>
          </p:nvSpPr>
          <p:spPr>
            <a:xfrm rot="18907525">
              <a:off x="138401" y="225080"/>
              <a:ext cx="551652" cy="275826"/>
            </a:xfrm>
            <a:prstGeom prst="triangle">
              <a:avLst/>
            </a:prstGeom>
            <a:solidFill>
              <a:srgbClr val="574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654D2D"/>
                </a:solidFill>
                <a:latin typeface="幼圆" panose="02010509060101010101" pitchFamily="49" charset="-122"/>
                <a:ea typeface="幼圆" panose="02010509060101010101" pitchFamily="49" charset="-122"/>
              </a:endParaRPr>
            </a:p>
          </p:txBody>
        </p:sp>
        <p:sp>
          <p:nvSpPr>
            <p:cNvPr id="5" name="等腰三角形 4"/>
            <p:cNvSpPr/>
            <p:nvPr/>
          </p:nvSpPr>
          <p:spPr>
            <a:xfrm rot="8092475" flipH="1">
              <a:off x="11501073" y="6293191"/>
              <a:ext cx="551652" cy="275826"/>
            </a:xfrm>
            <a:prstGeom prst="triangle">
              <a:avLst/>
            </a:prstGeom>
            <a:solidFill>
              <a:srgbClr val="574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654D2D"/>
                </a:solidFill>
                <a:latin typeface="幼圆" panose="02010509060101010101" pitchFamily="49" charset="-122"/>
                <a:ea typeface="幼圆" panose="02010509060101010101" pitchFamily="49" charset="-122"/>
              </a:endParaRPr>
            </a:p>
          </p:txBody>
        </p:sp>
        <p:sp>
          <p:nvSpPr>
            <p:cNvPr id="6" name="等腰三角形 5"/>
            <p:cNvSpPr/>
            <p:nvPr/>
          </p:nvSpPr>
          <p:spPr>
            <a:xfrm rot="2692475" flipH="1">
              <a:off x="11500198" y="225080"/>
              <a:ext cx="551651" cy="275826"/>
            </a:xfrm>
            <a:prstGeom prst="triangle">
              <a:avLst/>
            </a:prstGeom>
            <a:solidFill>
              <a:srgbClr val="574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654D2D"/>
                </a:solidFill>
                <a:latin typeface="幼圆" panose="02010509060101010101" pitchFamily="49" charset="-122"/>
                <a:ea typeface="幼圆" panose="02010509060101010101" pitchFamily="49" charset="-122"/>
              </a:endParaRPr>
            </a:p>
          </p:txBody>
        </p:sp>
      </p:grpSp>
      <p:sp>
        <p:nvSpPr>
          <p:cNvPr id="13" name="文本框 12"/>
          <p:cNvSpPr txBox="1"/>
          <p:nvPr/>
        </p:nvSpPr>
        <p:spPr>
          <a:xfrm>
            <a:off x="1784502" y="836159"/>
            <a:ext cx="9797897" cy="6021841"/>
          </a:xfrm>
          <a:prstGeom prst="rect">
            <a:avLst/>
          </a:prstGeom>
          <a:noFill/>
        </p:spPr>
        <p:txBody>
          <a:bodyPr wrap="square">
            <a:spAutoFit/>
          </a:bodyPr>
          <a:lstStyle/>
          <a:p>
            <a:pPr marL="533400" algn="just">
              <a:lnSpc>
                <a:spcPct val="150000"/>
              </a:lnSpc>
            </a:pPr>
            <a:r>
              <a:rPr lang="zh-CN" altLang="zh-CN" sz="2000" b="1"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①常规回溯算法的思路类似于穷举法，在四色问题中相当于穷举每一种涂色情况，再判断是否合法，以及舍弃。运用递归可以实现，较为简单，但时间复杂度为指数级。在大规模数据中，求解的时间往往会非常长，以至于难以得到结果。</a:t>
            </a:r>
            <a:endParaRPr lang="en-US" altLang="zh-CN" sz="2000" b="1"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a:p>
            <a:pPr marL="533400" algn="just">
              <a:lnSpc>
                <a:spcPct val="150000"/>
              </a:lnSpc>
            </a:pPr>
            <a:endParaRPr lang="en-US" altLang="zh-CN" sz="2000" b="1"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a:p>
            <a:pPr marL="533400" algn="just">
              <a:lnSpc>
                <a:spcPct val="150000"/>
              </a:lnSpc>
            </a:pPr>
            <a:r>
              <a:rPr lang="zh-CN" altLang="zh-CN" sz="2000" b="1"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②可以从多角度对回溯算法进行优化，如采取剪枝策略或者数学等效的方法，实验过程中从最开始无法在一定时间内得到大规模地图的解，到</a:t>
            </a:r>
            <a:r>
              <a:rPr lang="en-US" altLang="zh-CN" sz="2000" b="1"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1</a:t>
            </a:r>
            <a:r>
              <a:rPr lang="zh-CN" altLang="zh-CN" sz="2000" b="1"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分钟可以得到所有的解，将各种优化策略结合，对算法的效率是非常大</a:t>
            </a:r>
            <a:r>
              <a:rPr lang="zh-CN" altLang="zh-CN" sz="2000" b="1">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的提</a:t>
            </a:r>
            <a:r>
              <a:rPr lang="zh-CN" altLang="en-US" sz="2000" b="1">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升</a:t>
            </a:r>
            <a:r>
              <a:rPr lang="zh-CN" altLang="zh-CN" sz="2000" b="1">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a:t>
            </a:r>
            <a:r>
              <a:rPr lang="zh-CN" altLang="zh-CN" sz="2000" b="1"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所采取的优化策略总结</a:t>
            </a:r>
            <a:endParaRPr lang="en-US" altLang="zh-CN" sz="2000" b="1"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a:p>
            <a:pPr marL="533400" algn="just">
              <a:lnSpc>
                <a:spcPct val="150000"/>
              </a:lnSpc>
            </a:pPr>
            <a:endParaRPr lang="en-US" altLang="zh-CN" sz="2000" b="1"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a:p>
            <a:pPr marL="533400" algn="just">
              <a:lnSpc>
                <a:spcPct val="150000"/>
              </a:lnSpc>
            </a:pPr>
            <a:r>
              <a:rPr lang="zh-CN" altLang="zh-CN" sz="2000" b="1"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rPr>
              <a:t>③地图的规模与可涂颜色数都对回溯算法有着较大的影响，而优化也会更加的明显。但优化中所产生的搜索与递归有时会加大时间的消耗，反而降低效率，这也需要谨慎对待。</a:t>
            </a:r>
          </a:p>
          <a:p>
            <a:pPr marL="533400" algn="just">
              <a:lnSpc>
                <a:spcPct val="150000"/>
              </a:lnSpc>
            </a:pPr>
            <a:endParaRPr lang="zh-CN" altLang="zh-CN" sz="2000" b="1" kern="100" dirty="0">
              <a:solidFill>
                <a:srgbClr val="654D2D"/>
              </a:solidFill>
              <a:effectLst/>
              <a:latin typeface="幼圆" panose="02010509060101010101" pitchFamily="49" charset="-122"/>
              <a:ea typeface="幼圆" panose="02010509060101010101" pitchFamily="49" charset="-122"/>
              <a:cs typeface="Times New Roman" panose="02020603050405020304" pitchFamily="18" charset="0"/>
            </a:endParaRPr>
          </a:p>
        </p:txBody>
      </p:sp>
      <p:pic>
        <p:nvPicPr>
          <p:cNvPr id="17" name="图片 16"/>
          <p:cNvPicPr>
            <a:picLocks noChangeAspect="1"/>
          </p:cNvPicPr>
          <p:nvPr/>
        </p:nvPicPr>
        <p:blipFill>
          <a:blip r:embed="rId3"/>
          <a:stretch>
            <a:fillRect/>
          </a:stretch>
        </p:blipFill>
        <p:spPr>
          <a:xfrm>
            <a:off x="0" y="745748"/>
            <a:ext cx="1447619" cy="5066667"/>
          </a:xfrm>
          <a:prstGeom prst="rect">
            <a:avLst/>
          </a:prstGeom>
        </p:spPr>
      </p:pic>
      <p:sp>
        <p:nvSpPr>
          <p:cNvPr id="19" name="文本框 18"/>
          <p:cNvSpPr txBox="1"/>
          <p:nvPr/>
        </p:nvSpPr>
        <p:spPr>
          <a:xfrm>
            <a:off x="5745637" y="160973"/>
            <a:ext cx="1447619" cy="584775"/>
          </a:xfrm>
          <a:prstGeom prst="rect">
            <a:avLst/>
          </a:prstGeom>
          <a:noFill/>
        </p:spPr>
        <p:txBody>
          <a:bodyPr wrap="square">
            <a:spAutoFit/>
          </a:bodyPr>
          <a:lstStyle/>
          <a:p>
            <a:r>
              <a:rPr lang="zh-CN" altLang="en-US" sz="3200" b="1" dirty="0">
                <a:solidFill>
                  <a:srgbClr val="654D2D"/>
                </a:solidFill>
                <a:latin typeface="幼圆" panose="02010509060101010101" pitchFamily="49" charset="-122"/>
                <a:ea typeface="幼圆" panose="02010509060101010101" pitchFamily="49" charset="-122"/>
                <a:cs typeface="Times New Roman" panose="02020603050405020304" pitchFamily="18" charset="0"/>
              </a:rPr>
              <a:t>总结</a:t>
            </a:r>
            <a:endParaRPr lang="zh-CN" altLang="en-US" sz="3200" b="1" dirty="0">
              <a:solidFill>
                <a:srgbClr val="654D2D"/>
              </a:solidFill>
              <a:latin typeface="幼圆" panose="02010509060101010101" pitchFamily="49" charset="-122"/>
              <a:ea typeface="幼圆" panose="02010509060101010101" pitchFamily="49" charset="-122"/>
            </a:endParaRPr>
          </a:p>
        </p:txBody>
      </p:sp>
    </p:spTree>
  </p:cSld>
  <p:clrMapOvr>
    <a:masterClrMapping/>
  </p:clrMapOvr>
  <p:transition spd="slow">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127060" y="1967685"/>
            <a:ext cx="3863672" cy="2862322"/>
          </a:xfrm>
          <a:prstGeom prst="rect">
            <a:avLst/>
          </a:prstGeom>
          <a:noFill/>
        </p:spPr>
        <p:txBody>
          <a:bodyPr wrap="square" rtlCol="0">
            <a:spAutoFit/>
          </a:bodyPr>
          <a:lstStyle/>
          <a:p>
            <a:r>
              <a:rPr lang="en-US" altLang="zh-CN" sz="18000" b="1" spc="600" dirty="0">
                <a:solidFill>
                  <a:srgbClr val="654D2D"/>
                </a:solidFill>
                <a:effectLst>
                  <a:outerShdw blurRad="38100" dist="38100" dir="2700000" algn="tl">
                    <a:srgbClr val="000000">
                      <a:alpha val="43137"/>
                    </a:srgbClr>
                  </a:outerShdw>
                </a:effectLst>
                <a:latin typeface="Baskerville Old Face" panose="02020602080505020303" pitchFamily="18" charset="0"/>
                <a:ea typeface="华文新魏" panose="02010800040101010101" pitchFamily="2" charset="-122"/>
              </a:rPr>
              <a:t>T</a:t>
            </a:r>
            <a:r>
              <a:rPr lang="en-US" altLang="zh-CN" sz="4800" b="1" spc="600" dirty="0">
                <a:solidFill>
                  <a:srgbClr val="654D2D"/>
                </a:solidFill>
                <a:effectLst>
                  <a:outerShdw blurRad="38100" dist="38100" dir="2700000" algn="tl">
                    <a:srgbClr val="000000">
                      <a:alpha val="43137"/>
                    </a:srgbClr>
                  </a:outerShdw>
                </a:effectLst>
                <a:latin typeface="Baskerville Old Face" panose="02020602080505020303" pitchFamily="18" charset="0"/>
                <a:ea typeface="华文新魏" panose="02010800040101010101" pitchFamily="2" charset="-122"/>
              </a:rPr>
              <a:t>hanks</a:t>
            </a:r>
            <a:endParaRPr lang="zh-CN" altLang="en-US" sz="4800" b="1" spc="600" dirty="0">
              <a:solidFill>
                <a:srgbClr val="654D2D"/>
              </a:solidFill>
              <a:effectLst>
                <a:outerShdw blurRad="38100" dist="38100" dir="2700000" algn="tl">
                  <a:srgbClr val="000000">
                    <a:alpha val="43137"/>
                  </a:srgbClr>
                </a:outerShdw>
              </a:effectLst>
              <a:latin typeface="Baskerville Old Face" panose="02020602080505020303" pitchFamily="18" charset="0"/>
              <a:ea typeface="华文新魏" panose="02010800040101010101" pitchFamily="2" charset="-122"/>
            </a:endParaRPr>
          </a:p>
        </p:txBody>
      </p:sp>
      <p:grpSp>
        <p:nvGrpSpPr>
          <p:cNvPr id="14" name="组合 13"/>
          <p:cNvGrpSpPr/>
          <p:nvPr/>
        </p:nvGrpSpPr>
        <p:grpSpPr>
          <a:xfrm>
            <a:off x="3811977" y="1080454"/>
            <a:ext cx="4618504" cy="4618504"/>
            <a:chOff x="3959284" y="1422211"/>
            <a:chExt cx="4055409" cy="4055409"/>
          </a:xfrm>
        </p:grpSpPr>
        <p:sp>
          <p:nvSpPr>
            <p:cNvPr id="15" name="弧形 14"/>
            <p:cNvSpPr/>
            <p:nvPr/>
          </p:nvSpPr>
          <p:spPr>
            <a:xfrm rot="3942566" flipH="1">
              <a:off x="3959284" y="1422211"/>
              <a:ext cx="4055409" cy="4055409"/>
            </a:xfrm>
            <a:prstGeom prst="arc">
              <a:avLst>
                <a:gd name="adj1" fmla="val 16200000"/>
                <a:gd name="adj2" fmla="val 1204186"/>
              </a:avLst>
            </a:prstGeom>
            <a:noFill/>
            <a:ln w="28575">
              <a:gradFill>
                <a:gsLst>
                  <a:gs pos="50000">
                    <a:srgbClr val="B78B57"/>
                  </a:gs>
                  <a:gs pos="0">
                    <a:schemeClr val="accent2">
                      <a:lumMod val="60000"/>
                      <a:lumOff val="40000"/>
                      <a:alpha val="2000"/>
                    </a:schemeClr>
                  </a:gs>
                  <a:gs pos="100000">
                    <a:srgbClr val="654D2D"/>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18548610" flipH="1">
              <a:off x="3959284" y="1422211"/>
              <a:ext cx="4055409" cy="4055409"/>
            </a:xfrm>
            <a:prstGeom prst="arc">
              <a:avLst>
                <a:gd name="adj1" fmla="val 16200000"/>
                <a:gd name="adj2" fmla="val 1204186"/>
              </a:avLst>
            </a:prstGeom>
            <a:noFill/>
            <a:ln w="28575">
              <a:gradFill>
                <a:gsLst>
                  <a:gs pos="50000">
                    <a:srgbClr val="B78B57"/>
                  </a:gs>
                  <a:gs pos="0">
                    <a:schemeClr val="accent2">
                      <a:lumMod val="60000"/>
                      <a:lumOff val="40000"/>
                      <a:alpha val="2000"/>
                    </a:schemeClr>
                  </a:gs>
                  <a:gs pos="100000">
                    <a:srgbClr val="654D2D"/>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11219405" flipH="1">
              <a:off x="3959284" y="1422211"/>
              <a:ext cx="4055409" cy="4055409"/>
            </a:xfrm>
            <a:prstGeom prst="arc">
              <a:avLst>
                <a:gd name="adj1" fmla="val 16200000"/>
                <a:gd name="adj2" fmla="val 1204186"/>
              </a:avLst>
            </a:prstGeom>
            <a:noFill/>
            <a:ln w="28575">
              <a:gradFill>
                <a:gsLst>
                  <a:gs pos="50000">
                    <a:srgbClr val="B78B57"/>
                  </a:gs>
                  <a:gs pos="0">
                    <a:schemeClr val="accent2">
                      <a:lumMod val="60000"/>
                      <a:lumOff val="40000"/>
                      <a:alpha val="2000"/>
                    </a:schemeClr>
                  </a:gs>
                  <a:gs pos="100000">
                    <a:srgbClr val="654D2D"/>
                  </a:gs>
                </a:gsLst>
                <a:lin ang="5400000" scaled="1"/>
              </a:gra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cxnSp>
        <p:nvCxnSpPr>
          <p:cNvPr id="18" name="直接连接符 17"/>
          <p:cNvCxnSpPr/>
          <p:nvPr/>
        </p:nvCxnSpPr>
        <p:spPr>
          <a:xfrm flipV="1">
            <a:off x="7429786" y="1544896"/>
            <a:ext cx="1506434" cy="1165792"/>
          </a:xfrm>
          <a:prstGeom prst="line">
            <a:avLst/>
          </a:prstGeom>
          <a:ln>
            <a:solidFill>
              <a:srgbClr val="7F6531"/>
            </a:solidFill>
            <a:headEnd type="oval"/>
          </a:ln>
        </p:spPr>
        <p:style>
          <a:lnRef idx="1">
            <a:schemeClr val="dk1"/>
          </a:lnRef>
          <a:fillRef idx="0">
            <a:schemeClr val="dk1"/>
          </a:fillRef>
          <a:effectRef idx="0">
            <a:schemeClr val="dk1"/>
          </a:effectRef>
          <a:fontRef idx="minor">
            <a:schemeClr val="tx1"/>
          </a:fontRef>
        </p:style>
      </p:cxnSp>
      <p:cxnSp>
        <p:nvCxnSpPr>
          <p:cNvPr id="19" name="直接连接符 18"/>
          <p:cNvCxnSpPr/>
          <p:nvPr/>
        </p:nvCxnSpPr>
        <p:spPr>
          <a:xfrm flipV="1">
            <a:off x="8209025" y="822822"/>
            <a:ext cx="1287357" cy="942875"/>
          </a:xfrm>
          <a:prstGeom prst="line">
            <a:avLst/>
          </a:prstGeom>
          <a:ln w="28575">
            <a:gradFill>
              <a:gsLst>
                <a:gs pos="100000">
                  <a:srgbClr val="D0B786">
                    <a:alpha val="40000"/>
                  </a:srgbClr>
                </a:gs>
                <a:gs pos="0">
                  <a:srgbClr val="8A6E36"/>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7990732" y="1321979"/>
            <a:ext cx="1567543" cy="1165792"/>
          </a:xfrm>
          <a:prstGeom prst="line">
            <a:avLst/>
          </a:prstGeom>
          <a:ln>
            <a:gradFill>
              <a:gsLst>
                <a:gs pos="100000">
                  <a:srgbClr val="D0B786">
                    <a:alpha val="0"/>
                  </a:srgbClr>
                </a:gs>
                <a:gs pos="0">
                  <a:srgbClr val="8A6E36"/>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073427" y="4525610"/>
            <a:ext cx="2279810" cy="455976"/>
          </a:xfrm>
          <a:prstGeom prst="rect">
            <a:avLst/>
          </a:prstGeom>
          <a:solidFill>
            <a:srgbClr val="E7E8E0"/>
          </a:solidFill>
          <a:ln>
            <a:solidFill>
              <a:srgbClr val="E7E8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957060" y="4525610"/>
            <a:ext cx="4384008" cy="707886"/>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sz="2000" b="1" dirty="0">
                <a:solidFill>
                  <a:srgbClr val="654D2D"/>
                </a:solidFill>
                <a:latin typeface="幼圆" panose="02010509060101010101" pitchFamily="49" charset="-122"/>
                <a:ea typeface="幼圆" panose="02010509060101010101" pitchFamily="49" charset="-122"/>
              </a:rPr>
              <a:t>计算机与软件学院</a:t>
            </a:r>
            <a:r>
              <a:rPr lang="en-US" altLang="zh-CN" sz="2000" b="1" dirty="0">
                <a:solidFill>
                  <a:srgbClr val="654D2D"/>
                </a:solidFill>
                <a:latin typeface="幼圆" panose="02010509060101010101" pitchFamily="49" charset="-122"/>
                <a:ea typeface="幼圆" panose="02010509060101010101" pitchFamily="49" charset="-122"/>
              </a:rPr>
              <a:t>2021</a:t>
            </a:r>
            <a:r>
              <a:rPr lang="zh-CN" altLang="en-US" sz="2000" b="1" dirty="0">
                <a:solidFill>
                  <a:srgbClr val="654D2D"/>
                </a:solidFill>
                <a:latin typeface="幼圆" panose="02010509060101010101" pitchFamily="49" charset="-122"/>
                <a:ea typeface="幼圆" panose="02010509060101010101" pitchFamily="49" charset="-122"/>
              </a:rPr>
              <a:t>级计科卓越班</a:t>
            </a:r>
            <a:endParaRPr lang="en-US" altLang="zh-CN" sz="2000" b="1" dirty="0">
              <a:solidFill>
                <a:srgbClr val="654D2D"/>
              </a:solidFill>
              <a:latin typeface="幼圆" panose="02010509060101010101" pitchFamily="49" charset="-122"/>
              <a:ea typeface="幼圆" panose="02010509060101010101" pitchFamily="49" charset="-122"/>
            </a:endParaRPr>
          </a:p>
          <a:p>
            <a:pPr algn="ctr"/>
            <a:r>
              <a:rPr lang="zh-CN" altLang="en-US" sz="2000" b="1" dirty="0">
                <a:solidFill>
                  <a:srgbClr val="654D2D"/>
                </a:solidFill>
                <a:latin typeface="幼圆" panose="02010509060101010101" pitchFamily="49" charset="-122"/>
                <a:ea typeface="幼圆" panose="02010509060101010101" pitchFamily="49" charset="-122"/>
              </a:rPr>
              <a:t>张嘉豪</a:t>
            </a:r>
          </a:p>
        </p:txBody>
      </p:sp>
      <p:sp>
        <p:nvSpPr>
          <p:cNvPr id="23" name="文本框 22"/>
          <p:cNvSpPr txBox="1"/>
          <p:nvPr/>
        </p:nvSpPr>
        <p:spPr>
          <a:xfrm>
            <a:off x="4756012" y="5311649"/>
            <a:ext cx="2786105" cy="461665"/>
          </a:xfrm>
          <a:prstGeom prst="rect">
            <a:avLst/>
          </a:prstGeom>
          <a:noFill/>
        </p:spPr>
        <p:txBody>
          <a:bodyPr wrap="square" rtlCol="0">
            <a:spAutoFit/>
          </a:bodyPr>
          <a:lstStyle/>
          <a:p>
            <a:r>
              <a:rPr lang="zh-CN" altLang="en-US" sz="2400" b="1" dirty="0">
                <a:solidFill>
                  <a:srgbClr val="654D2D"/>
                </a:solidFill>
                <a:latin typeface="幼圆" panose="02010509060101010101" pitchFamily="49" charset="-122"/>
                <a:ea typeface="幼圆" panose="02010509060101010101" pitchFamily="49" charset="-122"/>
              </a:rPr>
              <a:t>指导教师</a:t>
            </a:r>
            <a:r>
              <a:rPr lang="en-US" altLang="zh-CN" sz="2400" b="1" dirty="0">
                <a:solidFill>
                  <a:srgbClr val="654D2D"/>
                </a:solidFill>
                <a:latin typeface="幼圆" panose="02010509060101010101" pitchFamily="49" charset="-122"/>
                <a:ea typeface="幼圆" panose="02010509060101010101" pitchFamily="49" charset="-122"/>
              </a:rPr>
              <a:t>: </a:t>
            </a:r>
            <a:r>
              <a:rPr lang="zh-CN" altLang="en-US" sz="2400" b="1" dirty="0">
                <a:solidFill>
                  <a:srgbClr val="654D2D"/>
                </a:solidFill>
                <a:latin typeface="幼圆" panose="02010509060101010101" pitchFamily="49" charset="-122"/>
                <a:ea typeface="幼圆" panose="02010509060101010101" pitchFamily="49" charset="-122"/>
              </a:rPr>
              <a:t>卢亚辉</a:t>
            </a:r>
          </a:p>
        </p:txBody>
      </p:sp>
    </p:spTree>
  </p:cSld>
  <p:clrMapOvr>
    <a:masterClrMapping/>
  </p:clrMapOvr>
  <mc:AlternateContent xmlns:mc="http://schemas.openxmlformats.org/markup-compatibility/2006" xmlns:p15="http://schemas.microsoft.com/office/powerpoint/2012/main">
    <mc:Choice Requires="p15">
      <p:transition spd="slow">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175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3" fill="hold" nodeType="withEffect">
                                  <p:stCondLst>
                                    <p:cond delay="10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1+#ppt_w/2"/>
                                          </p:val>
                                        </p:tav>
                                        <p:tav tm="100000">
                                          <p:val>
                                            <p:strVal val="#ppt_x"/>
                                          </p:val>
                                        </p:tav>
                                      </p:tavLst>
                                    </p:anim>
                                    <p:anim calcmode="lin" valueType="num">
                                      <p:cBhvr additive="base">
                                        <p:cTn id="16" dur="750" fill="hold"/>
                                        <p:tgtEl>
                                          <p:spTgt spid="19"/>
                                        </p:tgtEl>
                                        <p:attrNameLst>
                                          <p:attrName>ppt_y</p:attrName>
                                        </p:attrNameLst>
                                      </p:cBhvr>
                                      <p:tavLst>
                                        <p:tav tm="0">
                                          <p:val>
                                            <p:strVal val="0-#ppt_h/2"/>
                                          </p:val>
                                        </p:tav>
                                        <p:tav tm="100000">
                                          <p:val>
                                            <p:strVal val="#ppt_y"/>
                                          </p:val>
                                        </p:tav>
                                      </p:tavLst>
                                    </p:anim>
                                  </p:childTnLst>
                                </p:cTn>
                              </p:par>
                              <p:par>
                                <p:cTn id="17" presetID="2" presetClass="entr" presetSubtype="3" fill="hold" nodeType="withEffect">
                                  <p:stCondLst>
                                    <p:cond delay="100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750" fill="hold"/>
                                        <p:tgtEl>
                                          <p:spTgt spid="18"/>
                                        </p:tgtEl>
                                        <p:attrNameLst>
                                          <p:attrName>ppt_x</p:attrName>
                                        </p:attrNameLst>
                                      </p:cBhvr>
                                      <p:tavLst>
                                        <p:tav tm="0">
                                          <p:val>
                                            <p:strVal val="1+#ppt_w/2"/>
                                          </p:val>
                                        </p:tav>
                                        <p:tav tm="100000">
                                          <p:val>
                                            <p:strVal val="#ppt_x"/>
                                          </p:val>
                                        </p:tav>
                                      </p:tavLst>
                                    </p:anim>
                                    <p:anim calcmode="lin" valueType="num">
                                      <p:cBhvr additive="base">
                                        <p:cTn id="20" dur="750" fill="hold"/>
                                        <p:tgtEl>
                                          <p:spTgt spid="18"/>
                                        </p:tgtEl>
                                        <p:attrNameLst>
                                          <p:attrName>ppt_y</p:attrName>
                                        </p:attrNameLst>
                                      </p:cBhvr>
                                      <p:tavLst>
                                        <p:tav tm="0">
                                          <p:val>
                                            <p:strVal val="0-#ppt_h/2"/>
                                          </p:val>
                                        </p:tav>
                                        <p:tav tm="100000">
                                          <p:val>
                                            <p:strVal val="#ppt_y"/>
                                          </p:val>
                                        </p:tav>
                                      </p:tavLst>
                                    </p:anim>
                                  </p:childTnLst>
                                </p:cTn>
                              </p:par>
                              <p:par>
                                <p:cTn id="21" presetID="2" presetClass="entr" presetSubtype="3" fill="hold" nodeType="withEffect">
                                  <p:stCondLst>
                                    <p:cond delay="100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750" fill="hold"/>
                                        <p:tgtEl>
                                          <p:spTgt spid="20"/>
                                        </p:tgtEl>
                                        <p:attrNameLst>
                                          <p:attrName>ppt_x</p:attrName>
                                        </p:attrNameLst>
                                      </p:cBhvr>
                                      <p:tavLst>
                                        <p:tav tm="0">
                                          <p:val>
                                            <p:strVal val="1+#ppt_w/2"/>
                                          </p:val>
                                        </p:tav>
                                        <p:tav tm="100000">
                                          <p:val>
                                            <p:strVal val="#ppt_x"/>
                                          </p:val>
                                        </p:tav>
                                      </p:tavLst>
                                    </p:anim>
                                    <p:anim calcmode="lin" valueType="num">
                                      <p:cBhvr additive="base">
                                        <p:cTn id="24" dur="750" fill="hold"/>
                                        <p:tgtEl>
                                          <p:spTgt spid="20"/>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animBg="1"/>
      <p:bldP spid="12" grpId="0"/>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Theme">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2015</Words>
  <Application>Microsoft Office PowerPoint</Application>
  <PresentationFormat>宽屏</PresentationFormat>
  <Paragraphs>168</Paragraphs>
  <Slides>31</Slides>
  <Notes>31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等线</vt:lpstr>
      <vt:lpstr>宋体</vt:lpstr>
      <vt:lpstr>幼圆</vt:lpstr>
      <vt:lpstr>Arial</vt:lpstr>
      <vt:lpstr>Baskerville Old Face</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谷 雨</cp:lastModifiedBy>
  <cp:revision>86</cp:revision>
  <dcterms:created xsi:type="dcterms:W3CDTF">2017-08-18T03:02:00Z</dcterms:created>
  <dcterms:modified xsi:type="dcterms:W3CDTF">2023-05-11T12:45:06Z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