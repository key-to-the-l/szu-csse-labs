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0" r:id="rId3"/>
    <p:sldId id="273" r:id="rId4"/>
    <p:sldId id="261" r:id="rId5"/>
    <p:sldId id="276" r:id="rId6"/>
    <p:sldId id="275" r:id="rId7"/>
    <p:sldId id="277" r:id="rId8"/>
    <p:sldId id="278" r:id="rId9"/>
    <p:sldId id="282" r:id="rId10"/>
    <p:sldId id="281" r:id="rId11"/>
    <p:sldId id="280" r:id="rId12"/>
    <p:sldId id="283" r:id="rId13"/>
    <p:sldId id="284" r:id="rId14"/>
    <p:sldId id="279" r:id="rId15"/>
    <p:sldId id="285" r:id="rId16"/>
    <p:sldId id="286" r:id="rId17"/>
    <p:sldId id="287" r:id="rId18"/>
    <p:sldId id="288" r:id="rId19"/>
    <p:sldId id="289" r:id="rId20"/>
    <p:sldId id="290" r:id="rId21"/>
    <p:sldId id="291" r:id="rId22"/>
    <p:sldId id="292" r:id="rId23"/>
    <p:sldId id="293" r:id="rId24"/>
    <p:sldId id="294" r:id="rId25"/>
    <p:sldId id="295" r:id="rId26"/>
    <p:sldId id="296" r:id="rId27"/>
    <p:sldId id="297" r:id="rId28"/>
    <p:sldId id="298" r:id="rId29"/>
    <p:sldId id="299" r:id="rId30"/>
    <p:sldId id="274"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5">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50041"/>
    <a:srgbClr val="9400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howGuides="1">
      <p:cViewPr varScale="1">
        <p:scale>
          <a:sx n="115" d="100"/>
          <a:sy n="115" d="100"/>
        </p:scale>
        <p:origin x="474" y="102"/>
      </p:cViewPr>
      <p:guideLst>
        <p:guide orient="horz" pos="2155"/>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0D25FF6-7AC4-49C7-9C4D-F7CD10F7C8E3}" type="datetimeFigureOut">
              <a:rPr lang="zh-CN" altLang="en-US" smtClean="0"/>
              <a:t>2023/3/22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10D25FF6-7AC4-49C7-9C4D-F7CD10F7C8E3}" type="datetimeFigureOut">
              <a:rPr lang="zh-CN" altLang="en-US" smtClean="0"/>
              <a:t>2023/3/22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10D25FF6-7AC4-49C7-9C4D-F7CD10F7C8E3}" type="datetimeFigureOut">
              <a:rPr lang="zh-CN" altLang="en-US" smtClean="0"/>
              <a:t>2023/3/22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10D25FF6-7AC4-49C7-9C4D-F7CD10F7C8E3}" type="datetimeFigureOut">
              <a:rPr lang="zh-CN" altLang="en-US" smtClean="0"/>
              <a:t>2023/3/22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10D25FF6-7AC4-49C7-9C4D-F7CD10F7C8E3}" type="datetimeFigureOut">
              <a:rPr lang="zh-CN" altLang="en-US" smtClean="0"/>
              <a:t>2023/3/22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0D25FF6-7AC4-49C7-9C4D-F7CD10F7C8E3}" type="datetimeFigureOut">
              <a:rPr lang="zh-CN" altLang="en-US" smtClean="0"/>
              <a:t>2023/3/22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0D25FF6-7AC4-49C7-9C4D-F7CD10F7C8E3}" type="datetimeFigureOut">
              <a:rPr lang="zh-CN" altLang="en-US" smtClean="0"/>
              <a:t>2023/3/22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10D25FF6-7AC4-49C7-9C4D-F7CD10F7C8E3}" type="datetimeFigureOut">
              <a:rPr lang="zh-CN" altLang="en-US" smtClean="0"/>
              <a:t>2023/3/22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10D25FF6-7AC4-49C7-9C4D-F7CD10F7C8E3}" type="datetimeFigureOut">
              <a:rPr lang="zh-CN" altLang="en-US" smtClean="0"/>
              <a:t>2023/3/22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0D25FF6-7AC4-49C7-9C4D-F7CD10F7C8E3}" type="datetimeFigureOut">
              <a:rPr lang="zh-CN" altLang="en-US" smtClean="0"/>
              <a:t>2023/3/22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D25FF6-7AC4-49C7-9C4D-F7CD10F7C8E3}" type="datetimeFigureOut">
              <a:rPr lang="zh-CN" altLang="en-US" smtClean="0"/>
              <a:t>2023/3/22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48417F-7526-485E-AE3C-3E2AE40A04C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hyperlink" Target="http://www.runoob.com/" TargetMode="External"/><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12.gif"/><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17.gif"/><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22.gif"/><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28.gif"/><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34.gif"/><Relationship Id="rId5" Type="http://schemas.openxmlformats.org/officeDocument/2006/relationships/image" Target="../media/image33.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2">
            <a:extLst>
              <a:ext uri="{28A0092B-C50C-407E-A947-70E740481C1C}">
                <a14:useLocalDpi xmlns:a14="http://schemas.microsoft.com/office/drawing/2010/main" val="0"/>
              </a:ext>
            </a:extLst>
          </a:blip>
          <a:srcRect t="34428" b="21884"/>
          <a:stretch>
            <a:fillRect/>
          </a:stretch>
        </p:blipFill>
        <p:spPr>
          <a:xfrm>
            <a:off x="0" y="-31750"/>
            <a:ext cx="12192000" cy="1304290"/>
          </a:xfrm>
          <a:prstGeom prst="rect">
            <a:avLst/>
          </a:prstGeom>
        </p:spPr>
      </p:pic>
      <p:sp>
        <p:nvSpPr>
          <p:cNvPr id="8" name="矩形 7"/>
          <p:cNvSpPr/>
          <p:nvPr/>
        </p:nvSpPr>
        <p:spPr>
          <a:xfrm>
            <a:off x="0" y="-31750"/>
            <a:ext cx="12192000" cy="130429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宋体" panose="02010600030101010101" pitchFamily="2" charset="-122"/>
              <a:ea typeface="宋体" panose="02010600030101010101" pitchFamily="2" charset="-122"/>
            </a:endParaRPr>
          </a:p>
        </p:txBody>
      </p:sp>
      <p:sp>
        <p:nvSpPr>
          <p:cNvPr id="12" name="矩形 11"/>
          <p:cNvSpPr/>
          <p:nvPr/>
        </p:nvSpPr>
        <p:spPr>
          <a:xfrm>
            <a:off x="-1886018" y="-4009350"/>
            <a:ext cx="9321276" cy="3397261"/>
          </a:xfrm>
          <a:prstGeom prst="rect">
            <a:avLst/>
          </a:prstGeom>
          <a:blipFill dpi="0" rotWithShape="1">
            <a:blip r:embed="rId3">
              <a:alphaModFix amt="18000"/>
              <a:lum bright="70000" contrast="-7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10" name="文本框 9"/>
          <p:cNvSpPr txBox="1"/>
          <p:nvPr/>
        </p:nvSpPr>
        <p:spPr>
          <a:xfrm>
            <a:off x="850218" y="2501085"/>
            <a:ext cx="10491561" cy="1754326"/>
          </a:xfrm>
          <a:prstGeom prst="rect">
            <a:avLst/>
          </a:prstGeom>
          <a:noFill/>
        </p:spPr>
        <p:txBody>
          <a:bodyPr wrap="square" rtlCol="0">
            <a:spAutoFit/>
          </a:bodyPr>
          <a:lstStyle/>
          <a:p>
            <a:pPr algn="ctr"/>
            <a:r>
              <a:rPr lang="zh-CN" altLang="en-US" sz="5400" b="1" kern="0" dirty="0">
                <a:uFillTx/>
                <a:latin typeface="宋体" panose="02010600030101010101" pitchFamily="2" charset="-122"/>
                <a:ea typeface="宋体" panose="02010600030101010101" pitchFamily="2" charset="-122"/>
                <a:cs typeface="Franklin Gothic Medium" panose="020B0603020102020204" charset="0"/>
              </a:rPr>
              <a:t>实验一</a:t>
            </a:r>
            <a:endParaRPr lang="en-US" altLang="zh-CN" sz="5400" b="1" kern="0" dirty="0">
              <a:uFillTx/>
              <a:latin typeface="宋体" panose="02010600030101010101" pitchFamily="2" charset="-122"/>
              <a:ea typeface="宋体" panose="02010600030101010101" pitchFamily="2" charset="-122"/>
              <a:cs typeface="Franklin Gothic Medium" panose="020B0603020102020204" charset="0"/>
            </a:endParaRPr>
          </a:p>
          <a:p>
            <a:pPr algn="ctr"/>
            <a:r>
              <a:rPr lang="zh-CN" altLang="en-US" sz="5400" b="1" kern="0" dirty="0">
                <a:uFillTx/>
                <a:latin typeface="宋体" panose="02010600030101010101" pitchFamily="2" charset="-122"/>
                <a:ea typeface="宋体" panose="02010600030101010101" pitchFamily="2" charset="-122"/>
                <a:cs typeface="Franklin Gothic Medium" panose="020B0603020102020204" charset="0"/>
              </a:rPr>
              <a:t>排序算法的性能分析</a:t>
            </a:r>
            <a:endParaRPr lang="en-US" altLang="zh-CN" sz="5400" b="1" kern="0" dirty="0">
              <a:uFillTx/>
              <a:latin typeface="宋体" panose="02010600030101010101" pitchFamily="2" charset="-122"/>
              <a:ea typeface="宋体" panose="02010600030101010101" pitchFamily="2" charset="-122"/>
              <a:cs typeface="Franklin Gothic Medium" panose="020B0603020102020204" charset="0"/>
            </a:endParaRPr>
          </a:p>
        </p:txBody>
      </p:sp>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14891" y="245252"/>
            <a:ext cx="2162218" cy="2054575"/>
          </a:xfrm>
          <a:prstGeom prst="rect">
            <a:avLst/>
          </a:prstGeom>
          <a:effectLst>
            <a:outerShdw blurRad="292100" dist="25400" dir="5400000" algn="t" rotWithShape="0">
              <a:prstClr val="black">
                <a:alpha val="59000"/>
              </a:prstClr>
            </a:outerShdw>
          </a:effectLst>
        </p:spPr>
      </p:pic>
      <p:sp>
        <p:nvSpPr>
          <p:cNvPr id="19" name="文本框 18"/>
          <p:cNvSpPr txBox="1"/>
          <p:nvPr/>
        </p:nvSpPr>
        <p:spPr>
          <a:xfrm>
            <a:off x="3903994" y="4395946"/>
            <a:ext cx="4384008" cy="707886"/>
          </a:xfrm>
          <a:prstGeom prst="rect">
            <a:avLst/>
          </a:prstGeom>
          <a:noFill/>
        </p:spPr>
        <p:txBody>
          <a:bodyPr wrap="square" rtlCol="0">
            <a:spAutoFit/>
          </a:bodyPr>
          <a:lstStyle>
            <a:defPPr>
              <a:defRPr lang="zh-CN"/>
            </a:defPPr>
            <a:lvl1pPr>
              <a:defRPr>
                <a:solidFill>
                  <a:schemeClr val="bg1">
                    <a:lumMod val="50000"/>
                  </a:schemeClr>
                </a:solidFill>
                <a:latin typeface="宋体" panose="02010600030101010101" pitchFamily="2" charset="-122"/>
                <a:ea typeface="宋体" panose="02010600030101010101" pitchFamily="2" charset="-122"/>
              </a:defRPr>
            </a:lvl1pPr>
          </a:lstStyle>
          <a:p>
            <a:r>
              <a:rPr lang="zh-CN" altLang="en-US" sz="2000" dirty="0"/>
              <a:t>计算机与软件学院</a:t>
            </a:r>
            <a:r>
              <a:rPr lang="en-US" altLang="zh-CN" sz="2000" dirty="0"/>
              <a:t>2021</a:t>
            </a:r>
            <a:r>
              <a:rPr lang="zh-CN" altLang="en-US" sz="2000" dirty="0"/>
              <a:t>级计科卓越班</a:t>
            </a:r>
            <a:endParaRPr lang="en-US" altLang="zh-CN" sz="2000" dirty="0"/>
          </a:p>
          <a:p>
            <a:pPr algn="ctr"/>
            <a:r>
              <a:rPr lang="zh-CN" altLang="en-US" sz="2000" dirty="0"/>
              <a:t>张嘉豪</a:t>
            </a:r>
          </a:p>
        </p:txBody>
      </p:sp>
      <p:sp>
        <p:nvSpPr>
          <p:cNvPr id="20" name="文本框 19"/>
          <p:cNvSpPr txBox="1"/>
          <p:nvPr/>
        </p:nvSpPr>
        <p:spPr>
          <a:xfrm>
            <a:off x="4702945" y="5244367"/>
            <a:ext cx="2786105" cy="461665"/>
          </a:xfrm>
          <a:prstGeom prst="rect">
            <a:avLst/>
          </a:prstGeom>
          <a:noFill/>
        </p:spPr>
        <p:txBody>
          <a:bodyPr wrap="square" rtlCol="0">
            <a:spAutoFit/>
          </a:bodyPr>
          <a:lstStyle/>
          <a:p>
            <a:r>
              <a:rPr lang="zh-CN" altLang="en-US" sz="2400" b="1" dirty="0">
                <a:solidFill>
                  <a:schemeClr val="bg1">
                    <a:lumMod val="50000"/>
                  </a:schemeClr>
                </a:solidFill>
                <a:latin typeface="宋体" panose="02010600030101010101" pitchFamily="2" charset="-122"/>
                <a:ea typeface="宋体" panose="02010600030101010101" pitchFamily="2" charset="-122"/>
              </a:rPr>
              <a:t>指导教师</a:t>
            </a:r>
            <a:r>
              <a:rPr lang="en-US" altLang="zh-CN" sz="2400" b="1" dirty="0">
                <a:solidFill>
                  <a:schemeClr val="bg1">
                    <a:lumMod val="50000"/>
                  </a:schemeClr>
                </a:solidFill>
                <a:latin typeface="宋体" panose="02010600030101010101" pitchFamily="2" charset="-122"/>
                <a:ea typeface="宋体" panose="02010600030101010101" pitchFamily="2" charset="-122"/>
              </a:rPr>
              <a:t>: </a:t>
            </a:r>
            <a:r>
              <a:rPr lang="zh-CN" altLang="en-US" sz="2400" b="1" dirty="0">
                <a:solidFill>
                  <a:schemeClr val="bg1">
                    <a:lumMod val="50000"/>
                  </a:schemeClr>
                </a:solidFill>
                <a:latin typeface="宋体" panose="02010600030101010101" pitchFamily="2" charset="-122"/>
                <a:ea typeface="宋体" panose="02010600030101010101" pitchFamily="2" charset="-122"/>
              </a:rPr>
              <a:t>卢亚辉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additive="base">
                                        <p:cTn id="15" dur="500" fill="hold"/>
                                        <p:tgtEl>
                                          <p:spTgt spid="20"/>
                                        </p:tgtEl>
                                        <p:attrNameLst>
                                          <p:attrName>ppt_x</p:attrName>
                                        </p:attrNameLst>
                                      </p:cBhvr>
                                      <p:tavLst>
                                        <p:tav tm="0">
                                          <p:val>
                                            <p:strVal val="#ppt_x"/>
                                          </p:val>
                                        </p:tav>
                                        <p:tav tm="100000">
                                          <p:val>
                                            <p:strVal val="#ppt_x"/>
                                          </p:val>
                                        </p:tav>
                                      </p:tavLst>
                                    </p:anim>
                                    <p:anim calcmode="lin" valueType="num">
                                      <p:cBhvr additive="base">
                                        <p:cTn id="1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9" grpId="0"/>
      <p:bldP spid="2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l="13875" t="394" r="51375" b="-655"/>
          <a:stretch>
            <a:fillRect/>
          </a:stretch>
        </p:blipFill>
        <p:spPr>
          <a:xfrm>
            <a:off x="0" y="-15240"/>
            <a:ext cx="2944495" cy="6941820"/>
          </a:xfrm>
          <a:prstGeom prst="rect">
            <a:avLst/>
          </a:prstGeom>
        </p:spPr>
      </p:pic>
      <p:sp>
        <p:nvSpPr>
          <p:cNvPr id="5" name="矩形 4"/>
          <p:cNvSpPr/>
          <p:nvPr/>
        </p:nvSpPr>
        <p:spPr>
          <a:xfrm>
            <a:off x="0" y="-15240"/>
            <a:ext cx="2944495" cy="687324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sp>
        <p:nvSpPr>
          <p:cNvPr id="16" name="文本框 15"/>
          <p:cNvSpPr txBox="1"/>
          <p:nvPr/>
        </p:nvSpPr>
        <p:spPr>
          <a:xfrm>
            <a:off x="4352533" y="1296484"/>
            <a:ext cx="5786786" cy="584775"/>
          </a:xfrm>
          <a:prstGeom prst="rect">
            <a:avLst/>
          </a:prstGeom>
          <a:noFill/>
        </p:spPr>
        <p:txBody>
          <a:bodyPr wrap="square" rtlCol="0">
            <a:spAutoFit/>
          </a:bodyPr>
          <a:lstStyle/>
          <a:p>
            <a:r>
              <a:rPr lang="en-US" altLang="zh-CN" sz="3200" dirty="0">
                <a:solidFill>
                  <a:schemeClr val="accent4"/>
                </a:solidFill>
                <a:latin typeface="幼圆" panose="02010509060101010101" pitchFamily="49" charset="-122"/>
                <a:ea typeface="幼圆" panose="02010509060101010101" pitchFamily="49" charset="-122"/>
              </a:rPr>
              <a:t>01 / </a:t>
            </a:r>
            <a:r>
              <a:rPr lang="zh-CN" altLang="en-US" sz="3200" dirty="0">
                <a:solidFill>
                  <a:schemeClr val="accent4"/>
                </a:solidFill>
                <a:latin typeface="幼圆" panose="02010509060101010101" pitchFamily="49" charset="-122"/>
                <a:ea typeface="幼圆" panose="02010509060101010101" pitchFamily="49" charset="-122"/>
              </a:rPr>
              <a:t>前置工作</a:t>
            </a:r>
            <a:endParaRPr lang="en-US" altLang="zh-CN" sz="3200" dirty="0">
              <a:solidFill>
                <a:schemeClr val="accent4"/>
              </a:solidFill>
              <a:latin typeface="幼圆" panose="02010509060101010101" pitchFamily="49" charset="-122"/>
              <a:ea typeface="幼圆" panose="02010509060101010101" pitchFamily="49" charset="-122"/>
            </a:endParaRPr>
          </a:p>
        </p:txBody>
      </p:sp>
      <p:sp>
        <p:nvSpPr>
          <p:cNvPr id="17" name="文本框 16"/>
          <p:cNvSpPr txBox="1"/>
          <p:nvPr/>
        </p:nvSpPr>
        <p:spPr>
          <a:xfrm>
            <a:off x="4352533" y="2555818"/>
            <a:ext cx="5786786" cy="584775"/>
          </a:xfrm>
          <a:prstGeom prst="rect">
            <a:avLst/>
          </a:prstGeom>
          <a:noFill/>
        </p:spPr>
        <p:txBody>
          <a:bodyPr wrap="square" rtlCol="0">
            <a:spAutoFit/>
          </a:bodyPr>
          <a:lstStyle/>
          <a:p>
            <a:r>
              <a:rPr lang="en-US" altLang="zh-CN" sz="3200" dirty="0">
                <a:solidFill>
                  <a:schemeClr val="accent4"/>
                </a:solidFill>
                <a:latin typeface="幼圆" panose="02010509060101010101" pitchFamily="49" charset="-122"/>
                <a:ea typeface="幼圆" panose="02010509060101010101" pitchFamily="49" charset="-122"/>
              </a:rPr>
              <a:t>02 / </a:t>
            </a:r>
            <a:r>
              <a:rPr lang="zh-CN" altLang="en-US" sz="3200" dirty="0">
                <a:solidFill>
                  <a:schemeClr val="accent4"/>
                </a:solidFill>
                <a:latin typeface="幼圆" panose="02010509060101010101" pitchFamily="49" charset="-122"/>
                <a:ea typeface="幼圆" panose="02010509060101010101" pitchFamily="49" charset="-122"/>
              </a:rPr>
              <a:t>五大排序算法的研究</a:t>
            </a:r>
            <a:endParaRPr lang="en-US" altLang="zh-CN" sz="3200" dirty="0">
              <a:solidFill>
                <a:schemeClr val="accent4"/>
              </a:solidFill>
              <a:latin typeface="幼圆" panose="02010509060101010101" pitchFamily="49" charset="-122"/>
              <a:ea typeface="幼圆" panose="02010509060101010101" pitchFamily="49" charset="-122"/>
            </a:endParaRPr>
          </a:p>
        </p:txBody>
      </p:sp>
      <p:sp>
        <p:nvSpPr>
          <p:cNvPr id="18" name="文本框 17"/>
          <p:cNvSpPr txBox="1"/>
          <p:nvPr/>
        </p:nvSpPr>
        <p:spPr>
          <a:xfrm>
            <a:off x="4352533" y="3815152"/>
            <a:ext cx="7364897" cy="584775"/>
          </a:xfrm>
          <a:prstGeom prst="rect">
            <a:avLst/>
          </a:prstGeom>
          <a:noFill/>
        </p:spPr>
        <p:txBody>
          <a:bodyPr wrap="square" rtlCol="0">
            <a:spAutoFit/>
          </a:bodyPr>
          <a:lstStyle/>
          <a:p>
            <a:r>
              <a:rPr lang="en-US" altLang="zh-CN" sz="3200" dirty="0">
                <a:solidFill>
                  <a:schemeClr val="accent4"/>
                </a:solidFill>
                <a:latin typeface="幼圆" panose="02010509060101010101" pitchFamily="49" charset="-122"/>
                <a:ea typeface="幼圆" panose="02010509060101010101" pitchFamily="49" charset="-122"/>
              </a:rPr>
              <a:t>03 / </a:t>
            </a:r>
            <a:r>
              <a:rPr lang="zh-CN" altLang="en-US" sz="3200" dirty="0">
                <a:solidFill>
                  <a:schemeClr val="accent4"/>
                </a:solidFill>
                <a:latin typeface="幼圆" panose="02010509060101010101" pitchFamily="49" charset="-122"/>
                <a:ea typeface="幼圆" panose="02010509060101010101" pitchFamily="49" charset="-122"/>
              </a:rPr>
              <a:t>五大排序算法的比较与分析</a:t>
            </a:r>
            <a:endParaRPr lang="en-US" altLang="zh-CN" sz="3200" dirty="0">
              <a:solidFill>
                <a:schemeClr val="accent4"/>
              </a:solidFill>
              <a:latin typeface="幼圆" panose="02010509060101010101" pitchFamily="49" charset="-122"/>
              <a:ea typeface="幼圆" panose="02010509060101010101" pitchFamily="49" charset="-122"/>
            </a:endParaRPr>
          </a:p>
        </p:txBody>
      </p:sp>
      <p:sp>
        <p:nvSpPr>
          <p:cNvPr id="19" name="文本框 18"/>
          <p:cNvSpPr txBox="1"/>
          <p:nvPr/>
        </p:nvSpPr>
        <p:spPr>
          <a:xfrm>
            <a:off x="4352533" y="5074486"/>
            <a:ext cx="5786786" cy="584775"/>
          </a:xfrm>
          <a:prstGeom prst="rect">
            <a:avLst/>
          </a:prstGeom>
          <a:noFill/>
        </p:spPr>
        <p:txBody>
          <a:bodyPr wrap="square" rtlCol="0">
            <a:spAutoFit/>
          </a:bodyPr>
          <a:lstStyle/>
          <a:p>
            <a:r>
              <a:rPr lang="en-US" altLang="zh-CN" sz="3200" dirty="0">
                <a:solidFill>
                  <a:schemeClr val="accent4"/>
                </a:solidFill>
                <a:latin typeface="幼圆" panose="02010509060101010101" pitchFamily="49" charset="-122"/>
                <a:ea typeface="幼圆" panose="02010509060101010101" pitchFamily="49" charset="-122"/>
              </a:rPr>
              <a:t>04 / </a:t>
            </a:r>
            <a:r>
              <a:rPr lang="zh-CN" altLang="en-US" sz="3200" dirty="0">
                <a:solidFill>
                  <a:schemeClr val="accent4"/>
                </a:solidFill>
                <a:latin typeface="幼圆" panose="02010509060101010101" pitchFamily="49" charset="-122"/>
                <a:ea typeface="幼圆" panose="02010509060101010101" pitchFamily="49" charset="-122"/>
              </a:rPr>
              <a:t>其他工作与总结</a:t>
            </a:r>
            <a:endParaRPr lang="en-US" altLang="zh-CN" sz="3200" dirty="0">
              <a:solidFill>
                <a:schemeClr val="accent4"/>
              </a:solidFill>
              <a:latin typeface="幼圆" panose="02010509060101010101" pitchFamily="49" charset="-122"/>
              <a:ea typeface="幼圆" panose="02010509060101010101" pitchFamily="49" charset="-122"/>
            </a:endParaRPr>
          </a:p>
        </p:txBody>
      </p:sp>
      <p:sp>
        <p:nvSpPr>
          <p:cNvPr id="2" name="文本框 1"/>
          <p:cNvSpPr txBox="1"/>
          <p:nvPr/>
        </p:nvSpPr>
        <p:spPr>
          <a:xfrm>
            <a:off x="325119" y="2786650"/>
            <a:ext cx="2426548" cy="830997"/>
          </a:xfrm>
          <a:prstGeom prst="rect">
            <a:avLst/>
          </a:prstGeom>
          <a:noFill/>
        </p:spPr>
        <p:txBody>
          <a:bodyPr wrap="square" rtlCol="0">
            <a:spAutoFit/>
          </a:bodyPr>
          <a:lstStyle/>
          <a:p>
            <a:pPr algn="ctr"/>
            <a:r>
              <a:rPr lang="en-US" altLang="zh-CN" sz="4800" b="1" dirty="0">
                <a:solidFill>
                  <a:schemeClr val="bg1"/>
                </a:solidFill>
                <a:latin typeface="幼圆" panose="02010509060101010101" pitchFamily="49" charset="-122"/>
                <a:ea typeface="幼圆" panose="02010509060101010101" pitchFamily="49" charset="-122"/>
                <a:cs typeface="Franklin Gothic Medium" panose="020B0603020102020204" charset="0"/>
                <a:sym typeface="+mn-ea"/>
              </a:rPr>
              <a:t>Catalog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500" fill="hold"/>
                                        <p:tgtEl>
                                          <p:spTgt spid="19"/>
                                        </p:tgtEl>
                                        <p:attrNameLst>
                                          <p:attrName>ppt_x</p:attrName>
                                        </p:attrNameLst>
                                      </p:cBhvr>
                                      <p:tavLst>
                                        <p:tav tm="0">
                                          <p:val>
                                            <p:strVal val="#ppt_x"/>
                                          </p:val>
                                        </p:tav>
                                        <p:tav tm="100000">
                                          <p:val>
                                            <p:strVal val="#ppt_x"/>
                                          </p:val>
                                        </p:tav>
                                      </p:tavLst>
                                    </p:anim>
                                    <p:anim calcmode="lin" valueType="num">
                                      <p:cBhvr additive="base">
                                        <p:cTn id="16" dur="500" fill="hold"/>
                                        <p:tgtEl>
                                          <p:spTgt spid="1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l="13875" t="394" r="51375" b="-655"/>
          <a:stretch>
            <a:fillRect/>
          </a:stretch>
        </p:blipFill>
        <p:spPr>
          <a:xfrm>
            <a:off x="0" y="-15240"/>
            <a:ext cx="2944495" cy="6941820"/>
          </a:xfrm>
          <a:prstGeom prst="rect">
            <a:avLst/>
          </a:prstGeom>
        </p:spPr>
      </p:pic>
      <p:sp>
        <p:nvSpPr>
          <p:cNvPr id="5" name="矩形 4"/>
          <p:cNvSpPr/>
          <p:nvPr/>
        </p:nvSpPr>
        <p:spPr>
          <a:xfrm>
            <a:off x="0" y="-15240"/>
            <a:ext cx="2944495" cy="687324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sp>
        <p:nvSpPr>
          <p:cNvPr id="2" name="文本框 1"/>
          <p:cNvSpPr txBox="1"/>
          <p:nvPr/>
        </p:nvSpPr>
        <p:spPr>
          <a:xfrm>
            <a:off x="325120" y="3041015"/>
            <a:ext cx="2294255" cy="829945"/>
          </a:xfrm>
          <a:prstGeom prst="rect">
            <a:avLst/>
          </a:prstGeom>
          <a:noFill/>
        </p:spPr>
        <p:txBody>
          <a:bodyPr wrap="square" rtlCol="0">
            <a:spAutoFit/>
          </a:bodyPr>
          <a:lstStyle/>
          <a:p>
            <a:pPr algn="ctr"/>
            <a:r>
              <a:rPr lang="en-US" altLang="zh-CN" sz="4800" b="1" dirty="0">
                <a:solidFill>
                  <a:schemeClr val="bg1"/>
                </a:solidFill>
                <a:latin typeface="幼圆" panose="02010509060101010101" pitchFamily="49" charset="-122"/>
                <a:ea typeface="幼圆" panose="02010509060101010101" pitchFamily="49" charset="-122"/>
                <a:cs typeface="Franklin Gothic Medium" panose="020B0603020102020204" charset="0"/>
                <a:sym typeface="+mn-ea"/>
              </a:rPr>
              <a:t>Part 1</a:t>
            </a:r>
          </a:p>
        </p:txBody>
      </p:sp>
      <p:sp>
        <p:nvSpPr>
          <p:cNvPr id="9" name="菠萝大侠：文本框 23">
            <a:extLst>
              <a:ext uri="{FF2B5EF4-FFF2-40B4-BE49-F238E27FC236}">
                <a16:creationId xmlns:a16="http://schemas.microsoft.com/office/drawing/2014/main" id="{571645C9-5C20-426F-AA10-DD5C8D3A4B28}"/>
              </a:ext>
            </a:extLst>
          </p:cNvPr>
          <p:cNvSpPr txBox="1"/>
          <p:nvPr/>
        </p:nvSpPr>
        <p:spPr>
          <a:xfrm>
            <a:off x="1978483" y="2947838"/>
            <a:ext cx="8794115" cy="1015663"/>
          </a:xfrm>
          <a:prstGeom prst="rect">
            <a:avLst/>
          </a:prstGeom>
          <a:noFill/>
        </p:spPr>
        <p:txBody>
          <a:bodyPr wrap="square" rtlCol="0">
            <a:spAutoFit/>
          </a:bodyPr>
          <a:lstStyle/>
          <a:p>
            <a:pPr algn="ctr"/>
            <a:r>
              <a:rPr lang="zh-CN" altLang="en-US" sz="6000" spc="390" dirty="0">
                <a:solidFill>
                  <a:srgbClr val="213497"/>
                </a:solidFill>
                <a:uFillTx/>
                <a:latin typeface="幼圆" panose="02010509060101010101" pitchFamily="49" charset="-122"/>
                <a:ea typeface="幼圆" panose="02010509060101010101" pitchFamily="49" charset="-122"/>
              </a:rPr>
              <a:t>前置工作</a:t>
            </a:r>
            <a:endParaRPr lang="zh-CN" altLang="zh-CN" sz="6000" spc="390" dirty="0">
              <a:solidFill>
                <a:srgbClr val="213497"/>
              </a:solidFill>
              <a:uFillTx/>
              <a:latin typeface="幼圆" panose="02010509060101010101" pitchFamily="49" charset="-122"/>
              <a:ea typeface="幼圆" panose="020105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sp>
        <p:nvSpPr>
          <p:cNvPr id="62" name="矩形 6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pic>
        <p:nvPicPr>
          <p:cNvPr id="36" name="图片 35"/>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5" name="文本框 14">
            <a:extLst>
              <a:ext uri="{FF2B5EF4-FFF2-40B4-BE49-F238E27FC236}">
                <a16:creationId xmlns:a16="http://schemas.microsoft.com/office/drawing/2014/main" id="{08C786E0-38A9-4F5A-8B8C-801FC475793B}"/>
              </a:ext>
            </a:extLst>
          </p:cNvPr>
          <p:cNvSpPr txBox="1"/>
          <p:nvPr/>
        </p:nvSpPr>
        <p:spPr>
          <a:xfrm>
            <a:off x="4859866" y="981885"/>
            <a:ext cx="2472268" cy="707886"/>
          </a:xfrm>
          <a:prstGeom prst="rect">
            <a:avLst/>
          </a:prstGeom>
          <a:noFill/>
        </p:spPr>
        <p:txBody>
          <a:bodyPr wrap="square" rtlCol="0">
            <a:spAutoFit/>
          </a:bodyPr>
          <a:lstStyle/>
          <a:p>
            <a:r>
              <a:rPr lang="zh-CN" altLang="en-US" sz="4000" b="1" dirty="0">
                <a:solidFill>
                  <a:schemeClr val="bg1">
                    <a:lumMod val="50000"/>
                  </a:schemeClr>
                </a:solidFill>
                <a:latin typeface="幼圆" panose="02010509060101010101" pitchFamily="49" charset="-122"/>
                <a:ea typeface="幼圆" panose="02010509060101010101" pitchFamily="49" charset="-122"/>
              </a:rPr>
              <a:t>问题陈述</a:t>
            </a:r>
          </a:p>
        </p:txBody>
      </p:sp>
      <p:sp>
        <p:nvSpPr>
          <p:cNvPr id="16" name="文本框 15">
            <a:extLst>
              <a:ext uri="{FF2B5EF4-FFF2-40B4-BE49-F238E27FC236}">
                <a16:creationId xmlns:a16="http://schemas.microsoft.com/office/drawing/2014/main" id="{B87D3D9E-62AD-4A37-9653-4AA6956FA192}"/>
              </a:ext>
            </a:extLst>
          </p:cNvPr>
          <p:cNvSpPr txBox="1"/>
          <p:nvPr/>
        </p:nvSpPr>
        <p:spPr>
          <a:xfrm>
            <a:off x="2645833" y="2099013"/>
            <a:ext cx="6900334" cy="3170099"/>
          </a:xfrm>
          <a:prstGeom prst="rect">
            <a:avLst/>
          </a:prstGeom>
          <a:noFill/>
        </p:spPr>
        <p:txBody>
          <a:bodyPr wrap="square" rtlCol="0">
            <a:spAutoFit/>
          </a:bodyPr>
          <a:lstStyle/>
          <a:p>
            <a:pPr marL="455930" indent="-200025" algn="just"/>
            <a:r>
              <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1</a:t>
            </a:r>
            <a:r>
              <a:rPr lang="zh-CN"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、写出几种排序的原理，并给出对应的伪代码</a:t>
            </a:r>
            <a:endPar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endParaRPr>
          </a:p>
          <a:p>
            <a:pPr marL="455930" indent="-200025" algn="just"/>
            <a:endPar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endParaRPr>
          </a:p>
          <a:p>
            <a:pPr marL="455930" indent="-200025" algn="just"/>
            <a:r>
              <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2</a:t>
            </a:r>
            <a:r>
              <a:rPr lang="zh-CN" altLang="en-US" sz="2000" b="1" kern="100" dirty="0">
                <a:solidFill>
                  <a:schemeClr val="accent4">
                    <a:lumMod val="75000"/>
                    <a:lumOff val="25000"/>
                  </a:schemeClr>
                </a:solidFill>
                <a:effectLst/>
                <a:latin typeface="幼圆" panose="02010509060101010101" pitchFamily="49" charset="-122"/>
                <a:ea typeface="幼圆" panose="02010509060101010101" pitchFamily="49" charset="-122"/>
              </a:rPr>
              <a:t>、</a:t>
            </a:r>
            <a:r>
              <a:rPr lang="zh-CN"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实现选择排序、冒泡排序、合并排序、快速排序、插入排序算法；</a:t>
            </a:r>
            <a:endPar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endParaRPr>
          </a:p>
          <a:p>
            <a:pPr marL="455930" indent="-200025" algn="just"/>
            <a:endPar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endParaRPr>
          </a:p>
          <a:p>
            <a:pPr marL="455930" indent="-200025" algn="just"/>
            <a:r>
              <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3</a:t>
            </a:r>
            <a:r>
              <a:rPr lang="zh-CN"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、以待排序数组的大小</a:t>
            </a:r>
            <a:r>
              <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n</a:t>
            </a:r>
            <a:r>
              <a:rPr lang="zh-CN"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为输入规模，固定</a:t>
            </a:r>
            <a:r>
              <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n</a:t>
            </a:r>
            <a:r>
              <a:rPr lang="zh-CN"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，随机产生</a:t>
            </a:r>
            <a:r>
              <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20</a:t>
            </a:r>
            <a:r>
              <a:rPr lang="zh-CN"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组测试样本，统计不同排序算法在</a:t>
            </a:r>
            <a:r>
              <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20</a:t>
            </a:r>
            <a:r>
              <a:rPr lang="zh-CN"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个样本上的平均运行时间</a:t>
            </a:r>
            <a:r>
              <a:rPr lang="zh-CN" altLang="en-US" sz="2000" b="1" kern="100" dirty="0">
                <a:solidFill>
                  <a:schemeClr val="accent4">
                    <a:lumMod val="75000"/>
                    <a:lumOff val="25000"/>
                  </a:schemeClr>
                </a:solidFill>
                <a:effectLst/>
                <a:latin typeface="幼圆" panose="02010509060101010101" pitchFamily="49" charset="-122"/>
                <a:ea typeface="幼圆" panose="02010509060101010101" pitchFamily="49" charset="-122"/>
              </a:rPr>
              <a:t>。</a:t>
            </a:r>
            <a:r>
              <a:rPr lang="zh-CN"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分别以</a:t>
            </a:r>
            <a:r>
              <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n=10, n=100, n=1000, n=10000, n=100000</a:t>
            </a:r>
            <a:r>
              <a:rPr lang="zh-CN"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，重复</a:t>
            </a:r>
            <a:r>
              <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2</a:t>
            </a:r>
            <a:r>
              <a:rPr lang="zh-CN"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的实验</a:t>
            </a:r>
            <a:r>
              <a:rPr lang="zh-CN" altLang="en-US" sz="2000" b="1" kern="100" dirty="0">
                <a:solidFill>
                  <a:schemeClr val="accent4">
                    <a:lumMod val="75000"/>
                    <a:lumOff val="25000"/>
                  </a:schemeClr>
                </a:solidFill>
                <a:effectLst/>
                <a:latin typeface="幼圆" panose="02010509060101010101" pitchFamily="49" charset="-122"/>
                <a:ea typeface="幼圆" panose="02010509060101010101" pitchFamily="49" charset="-122"/>
              </a:rPr>
              <a:t>。</a:t>
            </a:r>
            <a:r>
              <a:rPr lang="zh-CN"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cs typeface="Times New Roman" panose="02020603050405020304" pitchFamily="18" charset="0"/>
              </a:rPr>
              <a:t>得出不同排序算法在</a:t>
            </a:r>
            <a:r>
              <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20</a:t>
            </a:r>
            <a:r>
              <a:rPr lang="zh-CN"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cs typeface="Times New Roman" panose="02020603050405020304" pitchFamily="18" charset="0"/>
              </a:rPr>
              <a:t>个随机样本的平均运行时间与输入规模</a:t>
            </a:r>
            <a:r>
              <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n</a:t>
            </a:r>
            <a:r>
              <a:rPr lang="zh-CN"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cs typeface="Times New Roman" panose="02020603050405020304" pitchFamily="18" charset="0"/>
              </a:rPr>
              <a:t>的关系</a:t>
            </a:r>
            <a:endParaRPr lang="zh-CN" altLang="en-US" sz="2800" b="1" dirty="0">
              <a:solidFill>
                <a:schemeClr val="accent4">
                  <a:lumMod val="75000"/>
                  <a:lumOff val="25000"/>
                </a:schemeClr>
              </a:solidFill>
              <a:latin typeface="幼圆" panose="02010509060101010101" pitchFamily="49" charset="-122"/>
              <a:ea typeface="幼圆" panose="02010509060101010101"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sp>
        <p:nvSpPr>
          <p:cNvPr id="62" name="矩形 6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pic>
        <p:nvPicPr>
          <p:cNvPr id="36" name="图片 35"/>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5" name="文本框 14">
            <a:extLst>
              <a:ext uri="{FF2B5EF4-FFF2-40B4-BE49-F238E27FC236}">
                <a16:creationId xmlns:a16="http://schemas.microsoft.com/office/drawing/2014/main" id="{08C786E0-38A9-4F5A-8B8C-801FC475793B}"/>
              </a:ext>
            </a:extLst>
          </p:cNvPr>
          <p:cNvSpPr txBox="1"/>
          <p:nvPr/>
        </p:nvSpPr>
        <p:spPr>
          <a:xfrm>
            <a:off x="3564466" y="973426"/>
            <a:ext cx="5063067" cy="707886"/>
          </a:xfrm>
          <a:prstGeom prst="rect">
            <a:avLst/>
          </a:prstGeom>
          <a:noFill/>
        </p:spPr>
        <p:txBody>
          <a:bodyPr wrap="square" rtlCol="0">
            <a:spAutoFit/>
          </a:bodyPr>
          <a:lstStyle/>
          <a:p>
            <a:r>
              <a:rPr lang="zh-CN" altLang="en-US" sz="4000" b="1" dirty="0">
                <a:solidFill>
                  <a:schemeClr val="bg1">
                    <a:lumMod val="50000"/>
                  </a:schemeClr>
                </a:solidFill>
                <a:latin typeface="幼圆" panose="02010509060101010101" pitchFamily="49" charset="-122"/>
                <a:ea typeface="幼圆" panose="02010509060101010101" pitchFamily="49" charset="-122"/>
              </a:rPr>
              <a:t>数据生成及计时工作</a:t>
            </a:r>
          </a:p>
        </p:txBody>
      </p:sp>
      <p:sp>
        <p:nvSpPr>
          <p:cNvPr id="16" name="文本框 15">
            <a:extLst>
              <a:ext uri="{FF2B5EF4-FFF2-40B4-BE49-F238E27FC236}">
                <a16:creationId xmlns:a16="http://schemas.microsoft.com/office/drawing/2014/main" id="{B87D3D9E-62AD-4A37-9653-4AA6956FA192}"/>
              </a:ext>
            </a:extLst>
          </p:cNvPr>
          <p:cNvSpPr txBox="1"/>
          <p:nvPr/>
        </p:nvSpPr>
        <p:spPr>
          <a:xfrm>
            <a:off x="127341" y="2117709"/>
            <a:ext cx="6900334" cy="2862322"/>
          </a:xfrm>
          <a:prstGeom prst="rect">
            <a:avLst/>
          </a:prstGeom>
          <a:noFill/>
        </p:spPr>
        <p:txBody>
          <a:bodyPr wrap="square" rtlCol="0">
            <a:spAutoFit/>
          </a:bodyPr>
          <a:lstStyle/>
          <a:p>
            <a:pPr marL="455930" indent="-200025" algn="just"/>
            <a:r>
              <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1</a:t>
            </a:r>
            <a:r>
              <a:rPr lang="zh-CN"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a:t>
            </a:r>
            <a:r>
              <a:rPr lang="zh-CN" altLang="en-US" sz="2000" b="1" kern="100" dirty="0">
                <a:solidFill>
                  <a:schemeClr val="accent4">
                    <a:lumMod val="75000"/>
                    <a:lumOff val="25000"/>
                  </a:schemeClr>
                </a:solidFill>
                <a:effectLst/>
                <a:latin typeface="幼圆" panose="02010509060101010101" pitchFamily="49" charset="-122"/>
                <a:ea typeface="幼圆" panose="02010509060101010101" pitchFamily="49" charset="-122"/>
              </a:rPr>
              <a:t>如图</a:t>
            </a:r>
            <a:r>
              <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1</a:t>
            </a:r>
            <a:r>
              <a:rPr lang="zh-CN" altLang="en-US" sz="2000" b="1" kern="100" dirty="0">
                <a:solidFill>
                  <a:schemeClr val="accent4">
                    <a:lumMod val="75000"/>
                    <a:lumOff val="25000"/>
                  </a:schemeClr>
                </a:solidFill>
                <a:effectLst/>
                <a:latin typeface="幼圆" panose="02010509060101010101" pitchFamily="49" charset="-122"/>
                <a:ea typeface="幼圆" panose="02010509060101010101" pitchFamily="49" charset="-122"/>
              </a:rPr>
              <a:t>所示，调用该函数产生随机数数据</a:t>
            </a:r>
            <a:endPar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endParaRPr>
          </a:p>
          <a:p>
            <a:pPr marL="455930" indent="-200025" algn="just"/>
            <a:r>
              <a:rPr lang="zh-CN" altLang="en-US" sz="2000" b="1" kern="100" dirty="0">
                <a:solidFill>
                  <a:schemeClr val="accent4">
                    <a:lumMod val="75000"/>
                    <a:lumOff val="25000"/>
                  </a:schemeClr>
                </a:solidFill>
                <a:effectLst/>
                <a:latin typeface="幼圆" panose="02010509060101010101" pitchFamily="49" charset="-122"/>
                <a:ea typeface="幼圆" panose="02010509060101010101" pitchFamily="49" charset="-122"/>
              </a:rPr>
              <a:t>优点：简单方便快捷</a:t>
            </a:r>
            <a:endPar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endParaRPr>
          </a:p>
          <a:p>
            <a:pPr marL="455930" indent="-200025" algn="just"/>
            <a:r>
              <a:rPr lang="zh-CN" altLang="en-US" sz="2000" b="1" kern="100" dirty="0">
                <a:solidFill>
                  <a:schemeClr val="accent4">
                    <a:lumMod val="75000"/>
                    <a:lumOff val="25000"/>
                  </a:schemeClr>
                </a:solidFill>
                <a:effectLst/>
                <a:latin typeface="幼圆" panose="02010509060101010101" pitchFamily="49" charset="-122"/>
                <a:ea typeface="幼圆" panose="02010509060101010101" pitchFamily="49" charset="-122"/>
              </a:rPr>
              <a:t>缺点：在数据规模较小时，为了计时而循环一定次数调用排序算法，调用该函数产生的时间开销增大，在后续分析中会导致一定误差</a:t>
            </a:r>
            <a:endPar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endParaRPr>
          </a:p>
          <a:p>
            <a:pPr marL="455930" indent="-200025" algn="just"/>
            <a:endPar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endParaRPr>
          </a:p>
          <a:p>
            <a:pPr marL="455930" indent="-200025" algn="just"/>
            <a:r>
              <a:rPr lang="en-US" altLang="zh-CN" sz="2000" b="1" kern="100" dirty="0">
                <a:solidFill>
                  <a:schemeClr val="accent4">
                    <a:lumMod val="75000"/>
                    <a:lumOff val="25000"/>
                  </a:schemeClr>
                </a:solidFill>
                <a:latin typeface="幼圆" panose="02010509060101010101" pitchFamily="49" charset="-122"/>
                <a:ea typeface="幼圆" panose="02010509060101010101" pitchFamily="49" charset="-122"/>
              </a:rPr>
              <a:t>2</a:t>
            </a:r>
            <a:r>
              <a:rPr lang="zh-CN" altLang="en-US" sz="2000" b="1" kern="100" dirty="0">
                <a:solidFill>
                  <a:schemeClr val="accent4">
                    <a:lumMod val="75000"/>
                    <a:lumOff val="25000"/>
                  </a:schemeClr>
                </a:solidFill>
                <a:latin typeface="幼圆" panose="02010509060101010101" pitchFamily="49" charset="-122"/>
                <a:ea typeface="幼圆" panose="02010509060101010101" pitchFamily="49" charset="-122"/>
              </a:rPr>
              <a:t>、如图</a:t>
            </a:r>
            <a:r>
              <a:rPr lang="en-US" altLang="zh-CN" sz="2000" b="1" kern="100" dirty="0">
                <a:solidFill>
                  <a:schemeClr val="accent4">
                    <a:lumMod val="75000"/>
                    <a:lumOff val="25000"/>
                  </a:schemeClr>
                </a:solidFill>
                <a:latin typeface="幼圆" panose="02010509060101010101" pitchFamily="49" charset="-122"/>
                <a:ea typeface="幼圆" panose="02010509060101010101" pitchFamily="49" charset="-122"/>
              </a:rPr>
              <a:t>2</a:t>
            </a:r>
            <a:r>
              <a:rPr lang="zh-CN" altLang="en-US" sz="2000" b="1" kern="100" dirty="0">
                <a:solidFill>
                  <a:schemeClr val="accent4">
                    <a:lumMod val="75000"/>
                    <a:lumOff val="25000"/>
                  </a:schemeClr>
                </a:solidFill>
                <a:latin typeface="幼圆" panose="02010509060101010101" pitchFamily="49" charset="-122"/>
                <a:ea typeface="幼圆" panose="02010509060101010101" pitchFamily="49" charset="-122"/>
              </a:rPr>
              <a:t>所示，通过两个</a:t>
            </a:r>
            <a:r>
              <a:rPr lang="en-US" altLang="zh-CN" sz="2000" b="1" kern="100" dirty="0" err="1">
                <a:solidFill>
                  <a:schemeClr val="accent4">
                    <a:lumMod val="75000"/>
                    <a:lumOff val="25000"/>
                  </a:schemeClr>
                </a:solidFill>
                <a:latin typeface="幼圆" panose="02010509060101010101" pitchFamily="49" charset="-122"/>
                <a:ea typeface="幼圆" panose="02010509060101010101" pitchFamily="49" charset="-122"/>
              </a:rPr>
              <a:t>clock_t</a:t>
            </a:r>
            <a:r>
              <a:rPr lang="zh-CN" altLang="en-US" sz="2000" b="1" kern="100" dirty="0">
                <a:solidFill>
                  <a:schemeClr val="accent4">
                    <a:lumMod val="75000"/>
                    <a:lumOff val="25000"/>
                  </a:schemeClr>
                </a:solidFill>
                <a:latin typeface="幼圆" panose="02010509060101010101" pitchFamily="49" charset="-122"/>
                <a:ea typeface="幼圆" panose="02010509060101010101" pitchFamily="49" charset="-122"/>
              </a:rPr>
              <a:t>变量的值</a:t>
            </a:r>
            <a:endParaRPr lang="en-US" altLang="zh-CN" sz="2000" b="1" kern="100" dirty="0">
              <a:solidFill>
                <a:schemeClr val="accent4">
                  <a:lumMod val="75000"/>
                  <a:lumOff val="25000"/>
                </a:schemeClr>
              </a:solidFill>
              <a:latin typeface="幼圆" panose="02010509060101010101" pitchFamily="49" charset="-122"/>
              <a:ea typeface="幼圆" panose="02010509060101010101" pitchFamily="49" charset="-122"/>
            </a:endParaRPr>
          </a:p>
          <a:p>
            <a:pPr marL="455930" indent="-200025" algn="just"/>
            <a:r>
              <a:rPr lang="zh-CN" altLang="en-US" sz="2000" b="1" kern="100" dirty="0">
                <a:solidFill>
                  <a:schemeClr val="accent4">
                    <a:lumMod val="75000"/>
                    <a:lumOff val="25000"/>
                  </a:schemeClr>
                </a:solidFill>
                <a:effectLst/>
                <a:latin typeface="幼圆" panose="02010509060101010101" pitchFamily="49" charset="-122"/>
                <a:ea typeface="幼圆" panose="02010509060101010101" pitchFamily="49" charset="-122"/>
              </a:rPr>
              <a:t>来计时（在小规模数据中，会除以循环的</a:t>
            </a:r>
            <a:endPar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endParaRPr>
          </a:p>
          <a:p>
            <a:pPr marL="455930" indent="-200025" algn="just"/>
            <a:r>
              <a:rPr lang="zh-CN" altLang="en-US" sz="2000" b="1" kern="100" dirty="0">
                <a:solidFill>
                  <a:schemeClr val="accent4">
                    <a:lumMod val="75000"/>
                    <a:lumOff val="25000"/>
                  </a:schemeClr>
                </a:solidFill>
                <a:latin typeface="幼圆" panose="02010509060101010101" pitchFamily="49" charset="-122"/>
                <a:ea typeface="幼圆" panose="02010509060101010101" pitchFamily="49" charset="-122"/>
              </a:rPr>
              <a:t>次数）</a:t>
            </a:r>
            <a:endPar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endParaRPr>
          </a:p>
        </p:txBody>
      </p:sp>
      <p:pic>
        <p:nvPicPr>
          <p:cNvPr id="4" name="图片 3">
            <a:extLst>
              <a:ext uri="{FF2B5EF4-FFF2-40B4-BE49-F238E27FC236}">
                <a16:creationId xmlns:a16="http://schemas.microsoft.com/office/drawing/2014/main" id="{3BB25C13-286B-4420-A76D-2645163E92C8}"/>
              </a:ext>
            </a:extLst>
          </p:cNvPr>
          <p:cNvPicPr>
            <a:picLocks noChangeAspect="1"/>
          </p:cNvPicPr>
          <p:nvPr/>
        </p:nvPicPr>
        <p:blipFill>
          <a:blip r:embed="rId4"/>
          <a:stretch>
            <a:fillRect/>
          </a:stretch>
        </p:blipFill>
        <p:spPr>
          <a:xfrm>
            <a:off x="7829112" y="1718523"/>
            <a:ext cx="4001502" cy="1536029"/>
          </a:xfrm>
          <a:prstGeom prst="rect">
            <a:avLst/>
          </a:prstGeom>
        </p:spPr>
      </p:pic>
      <p:sp>
        <p:nvSpPr>
          <p:cNvPr id="5" name="文本框 4">
            <a:extLst>
              <a:ext uri="{FF2B5EF4-FFF2-40B4-BE49-F238E27FC236}">
                <a16:creationId xmlns:a16="http://schemas.microsoft.com/office/drawing/2014/main" id="{4F1308EA-272A-4488-AD09-DCEEE9895EB7}"/>
              </a:ext>
            </a:extLst>
          </p:cNvPr>
          <p:cNvSpPr txBox="1"/>
          <p:nvPr/>
        </p:nvSpPr>
        <p:spPr>
          <a:xfrm>
            <a:off x="8614493" y="3291763"/>
            <a:ext cx="2853267" cy="646331"/>
          </a:xfrm>
          <a:prstGeom prst="rect">
            <a:avLst/>
          </a:prstGeom>
          <a:noFill/>
        </p:spPr>
        <p:txBody>
          <a:bodyPr wrap="square" rtlCol="0">
            <a:spAutoFit/>
          </a:bodyPr>
          <a:lstStyle/>
          <a:p>
            <a:r>
              <a:rPr lang="zh-CN" altLang="en-US" dirty="0">
                <a:latin typeface="幼圆" panose="02010509060101010101" pitchFamily="49" charset="-122"/>
                <a:ea typeface="幼圆" panose="02010509060101010101" pitchFamily="49" charset="-122"/>
              </a:rPr>
              <a:t>图一  随机数数据生成函数</a:t>
            </a:r>
          </a:p>
        </p:txBody>
      </p:sp>
      <p:pic>
        <p:nvPicPr>
          <p:cNvPr id="7" name="图片 6">
            <a:extLst>
              <a:ext uri="{FF2B5EF4-FFF2-40B4-BE49-F238E27FC236}">
                <a16:creationId xmlns:a16="http://schemas.microsoft.com/office/drawing/2014/main" id="{63900B4D-F899-4092-AC1E-E3B781AB7721}"/>
              </a:ext>
            </a:extLst>
          </p:cNvPr>
          <p:cNvPicPr>
            <a:picLocks noChangeAspect="1"/>
          </p:cNvPicPr>
          <p:nvPr/>
        </p:nvPicPr>
        <p:blipFill>
          <a:blip r:embed="rId5"/>
          <a:stretch>
            <a:fillRect/>
          </a:stretch>
        </p:blipFill>
        <p:spPr>
          <a:xfrm>
            <a:off x="6021090" y="3895658"/>
            <a:ext cx="5809524" cy="1695238"/>
          </a:xfrm>
          <a:prstGeom prst="rect">
            <a:avLst/>
          </a:prstGeom>
        </p:spPr>
      </p:pic>
      <p:sp>
        <p:nvSpPr>
          <p:cNvPr id="13" name="文本框 12">
            <a:extLst>
              <a:ext uri="{FF2B5EF4-FFF2-40B4-BE49-F238E27FC236}">
                <a16:creationId xmlns:a16="http://schemas.microsoft.com/office/drawing/2014/main" id="{E3BC4457-CC95-4957-A547-33E759E783E2}"/>
              </a:ext>
            </a:extLst>
          </p:cNvPr>
          <p:cNvSpPr txBox="1"/>
          <p:nvPr/>
        </p:nvSpPr>
        <p:spPr>
          <a:xfrm>
            <a:off x="7200899" y="5699908"/>
            <a:ext cx="2853267" cy="369332"/>
          </a:xfrm>
          <a:prstGeom prst="rect">
            <a:avLst/>
          </a:prstGeom>
          <a:noFill/>
        </p:spPr>
        <p:txBody>
          <a:bodyPr wrap="square" rtlCol="0">
            <a:spAutoFit/>
          </a:bodyPr>
          <a:lstStyle/>
          <a:p>
            <a:r>
              <a:rPr lang="zh-CN" altLang="en-US" dirty="0">
                <a:latin typeface="幼圆" panose="02010509060101010101" pitchFamily="49" charset="-122"/>
                <a:ea typeface="幼圆" panose="02010509060101010101" pitchFamily="49" charset="-122"/>
              </a:rPr>
              <a:t>图二</a:t>
            </a:r>
            <a:r>
              <a:rPr lang="en-US" altLang="zh-CN" dirty="0">
                <a:latin typeface="幼圆" panose="02010509060101010101" pitchFamily="49" charset="-122"/>
                <a:ea typeface="幼圆" panose="02010509060101010101" pitchFamily="49" charset="-122"/>
              </a:rPr>
              <a:t>  </a:t>
            </a:r>
            <a:r>
              <a:rPr lang="zh-CN" altLang="en-US" dirty="0">
                <a:latin typeface="幼圆" panose="02010509060101010101" pitchFamily="49" charset="-122"/>
                <a:ea typeface="幼圆" panose="02010509060101010101" pitchFamily="49" charset="-122"/>
              </a:rPr>
              <a:t>计时工作示意图</a:t>
            </a:r>
          </a:p>
        </p:txBody>
      </p:sp>
    </p:spTree>
    <p:extLst>
      <p:ext uri="{BB962C8B-B14F-4D97-AF65-F5344CB8AC3E}">
        <p14:creationId xmlns:p14="http://schemas.microsoft.com/office/powerpoint/2010/main" val="3546168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down)">
                                      <p:cBhvr>
                                        <p:cTn id="23" dur="500"/>
                                        <p:tgtEl>
                                          <p:spTgt spid="7"/>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down)">
                                      <p:cBhvr>
                                        <p:cTn id="2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sp>
        <p:nvSpPr>
          <p:cNvPr id="62" name="矩形 6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pic>
        <p:nvPicPr>
          <p:cNvPr id="36" name="图片 35"/>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5" name="文本框 14">
            <a:extLst>
              <a:ext uri="{FF2B5EF4-FFF2-40B4-BE49-F238E27FC236}">
                <a16:creationId xmlns:a16="http://schemas.microsoft.com/office/drawing/2014/main" id="{08C786E0-38A9-4F5A-8B8C-801FC475793B}"/>
              </a:ext>
            </a:extLst>
          </p:cNvPr>
          <p:cNvSpPr txBox="1"/>
          <p:nvPr/>
        </p:nvSpPr>
        <p:spPr>
          <a:xfrm>
            <a:off x="3852334" y="981885"/>
            <a:ext cx="4055534" cy="707886"/>
          </a:xfrm>
          <a:prstGeom prst="rect">
            <a:avLst/>
          </a:prstGeom>
          <a:noFill/>
        </p:spPr>
        <p:txBody>
          <a:bodyPr wrap="square" rtlCol="0">
            <a:spAutoFit/>
          </a:bodyPr>
          <a:lstStyle/>
          <a:p>
            <a:r>
              <a:rPr lang="zh-CN" altLang="en-US" sz="4000" b="1" dirty="0">
                <a:solidFill>
                  <a:schemeClr val="bg1">
                    <a:lumMod val="50000"/>
                  </a:schemeClr>
                </a:solidFill>
                <a:latin typeface="幼圆" panose="02010509060101010101" pitchFamily="49" charset="-122"/>
                <a:ea typeface="幼圆" panose="02010509060101010101" pitchFamily="49" charset="-122"/>
              </a:rPr>
              <a:t>算法正确性检验</a:t>
            </a:r>
          </a:p>
        </p:txBody>
      </p:sp>
      <p:sp>
        <p:nvSpPr>
          <p:cNvPr id="16" name="文本框 15">
            <a:extLst>
              <a:ext uri="{FF2B5EF4-FFF2-40B4-BE49-F238E27FC236}">
                <a16:creationId xmlns:a16="http://schemas.microsoft.com/office/drawing/2014/main" id="{B87D3D9E-62AD-4A37-9653-4AA6956FA192}"/>
              </a:ext>
            </a:extLst>
          </p:cNvPr>
          <p:cNvSpPr txBox="1"/>
          <p:nvPr/>
        </p:nvSpPr>
        <p:spPr>
          <a:xfrm>
            <a:off x="247501" y="2523312"/>
            <a:ext cx="6900334" cy="2554545"/>
          </a:xfrm>
          <a:prstGeom prst="rect">
            <a:avLst/>
          </a:prstGeom>
          <a:noFill/>
        </p:spPr>
        <p:txBody>
          <a:bodyPr wrap="square" rtlCol="0">
            <a:spAutoFit/>
          </a:bodyPr>
          <a:lstStyle/>
          <a:p>
            <a:pPr marL="455930" indent="-200025" algn="just"/>
            <a:r>
              <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1</a:t>
            </a:r>
            <a:r>
              <a:rPr lang="zh-CN"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a:t>
            </a:r>
            <a:r>
              <a:rPr lang="zh-CN" altLang="en-US" sz="2000" b="1" kern="100" dirty="0">
                <a:solidFill>
                  <a:schemeClr val="accent4">
                    <a:lumMod val="75000"/>
                    <a:lumOff val="25000"/>
                  </a:schemeClr>
                </a:solidFill>
                <a:effectLst/>
                <a:latin typeface="幼圆" panose="02010509060101010101" pitchFamily="49" charset="-122"/>
                <a:ea typeface="幼圆" panose="02010509060101010101" pitchFamily="49" charset="-122"/>
              </a:rPr>
              <a:t>如图</a:t>
            </a:r>
            <a:r>
              <a:rPr lang="zh-CN" altLang="en-US" sz="2000" b="1" kern="100" dirty="0">
                <a:solidFill>
                  <a:schemeClr val="accent4">
                    <a:lumMod val="75000"/>
                    <a:lumOff val="25000"/>
                  </a:schemeClr>
                </a:solidFill>
                <a:latin typeface="幼圆" panose="02010509060101010101" pitchFamily="49" charset="-122"/>
                <a:ea typeface="幼圆" panose="02010509060101010101" pitchFamily="49" charset="-122"/>
              </a:rPr>
              <a:t>三</a:t>
            </a:r>
            <a:r>
              <a:rPr lang="zh-CN" altLang="en-US" sz="2000" b="1" kern="100" dirty="0">
                <a:solidFill>
                  <a:schemeClr val="accent4">
                    <a:lumMod val="75000"/>
                    <a:lumOff val="25000"/>
                  </a:schemeClr>
                </a:solidFill>
                <a:effectLst/>
                <a:latin typeface="幼圆" panose="02010509060101010101" pitchFamily="49" charset="-122"/>
                <a:ea typeface="幼圆" panose="02010509060101010101" pitchFamily="49" charset="-122"/>
              </a:rPr>
              <a:t>所示，在随机数数据生成函数中添加输出语句</a:t>
            </a:r>
            <a:endPar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endParaRPr>
          </a:p>
          <a:p>
            <a:pPr marL="455930" indent="-200025" algn="just"/>
            <a:endPar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endParaRPr>
          </a:p>
          <a:p>
            <a:pPr marL="455930" indent="-200025" algn="just"/>
            <a:r>
              <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2</a:t>
            </a:r>
            <a:r>
              <a:rPr lang="zh-CN" altLang="en-US" sz="2000" b="1" kern="100" dirty="0">
                <a:solidFill>
                  <a:schemeClr val="accent4">
                    <a:lumMod val="75000"/>
                    <a:lumOff val="25000"/>
                  </a:schemeClr>
                </a:solidFill>
                <a:effectLst/>
                <a:latin typeface="幼圆" panose="02010509060101010101" pitchFamily="49" charset="-122"/>
                <a:ea typeface="幼圆" panose="02010509060101010101" pitchFamily="49" charset="-122"/>
              </a:rPr>
              <a:t>、图</a:t>
            </a:r>
            <a:r>
              <a:rPr lang="zh-CN" altLang="en-US" sz="2000" b="1" kern="100" dirty="0">
                <a:solidFill>
                  <a:schemeClr val="accent4">
                    <a:lumMod val="75000"/>
                    <a:lumOff val="25000"/>
                  </a:schemeClr>
                </a:solidFill>
                <a:latin typeface="幼圆" panose="02010509060101010101" pitchFamily="49" charset="-122"/>
                <a:ea typeface="幼圆" panose="02010509060101010101" pitchFamily="49" charset="-122"/>
              </a:rPr>
              <a:t>四</a:t>
            </a:r>
            <a:r>
              <a:rPr lang="zh-CN" altLang="en-US" sz="2000" b="1" kern="100" dirty="0">
                <a:solidFill>
                  <a:schemeClr val="accent4">
                    <a:lumMod val="75000"/>
                    <a:lumOff val="25000"/>
                  </a:schemeClr>
                </a:solidFill>
                <a:effectLst/>
                <a:latin typeface="幼圆" panose="02010509060101010101" pitchFamily="49" charset="-122"/>
                <a:ea typeface="幼圆" panose="02010509060101010101" pitchFamily="49" charset="-122"/>
              </a:rPr>
              <a:t>所示，在排序算法中添加结果输出语句，比较结果是否已排好序，是否为生成函数生成的数据</a:t>
            </a:r>
            <a:endPar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endParaRPr>
          </a:p>
          <a:p>
            <a:pPr marL="455930" indent="-200025" algn="just"/>
            <a:endPar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endParaRPr>
          </a:p>
          <a:p>
            <a:pPr marL="455930" indent="-200025" algn="just"/>
            <a:r>
              <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3</a:t>
            </a:r>
            <a:r>
              <a:rPr lang="zh-CN"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rPr>
              <a:t>、</a:t>
            </a:r>
            <a:r>
              <a:rPr lang="zh-CN" altLang="en-US" sz="2000" b="1" kern="100" dirty="0">
                <a:solidFill>
                  <a:schemeClr val="accent4">
                    <a:lumMod val="75000"/>
                    <a:lumOff val="25000"/>
                  </a:schemeClr>
                </a:solidFill>
                <a:effectLst/>
                <a:latin typeface="幼圆" panose="02010509060101010101" pitchFamily="49" charset="-122"/>
                <a:ea typeface="幼圆" panose="02010509060101010101" pitchFamily="49" charset="-122"/>
              </a:rPr>
              <a:t>说明：该检验在一个综合文件中进行，小规模数据多次测试确认正确后，再建立文件对各排序单独进行实验与研究。</a:t>
            </a:r>
            <a:endParaRPr lang="zh-CN" altLang="en-US" sz="2800" b="1" dirty="0">
              <a:solidFill>
                <a:schemeClr val="accent4">
                  <a:lumMod val="75000"/>
                  <a:lumOff val="25000"/>
                </a:schemeClr>
              </a:solidFill>
              <a:latin typeface="幼圆" panose="02010509060101010101" pitchFamily="49" charset="-122"/>
              <a:ea typeface="幼圆" panose="02010509060101010101" pitchFamily="49" charset="-122"/>
            </a:endParaRPr>
          </a:p>
        </p:txBody>
      </p:sp>
      <p:pic>
        <p:nvPicPr>
          <p:cNvPr id="4" name="图片 3">
            <a:extLst>
              <a:ext uri="{FF2B5EF4-FFF2-40B4-BE49-F238E27FC236}">
                <a16:creationId xmlns:a16="http://schemas.microsoft.com/office/drawing/2014/main" id="{AFA358A5-A24E-4EA7-880E-FD87235CFD0B}"/>
              </a:ext>
            </a:extLst>
          </p:cNvPr>
          <p:cNvPicPr>
            <a:picLocks noChangeAspect="1"/>
          </p:cNvPicPr>
          <p:nvPr/>
        </p:nvPicPr>
        <p:blipFill>
          <a:blip r:embed="rId4"/>
          <a:stretch>
            <a:fillRect/>
          </a:stretch>
        </p:blipFill>
        <p:spPr>
          <a:xfrm>
            <a:off x="8841126" y="4150724"/>
            <a:ext cx="2400000" cy="1666667"/>
          </a:xfrm>
          <a:prstGeom prst="rect">
            <a:avLst/>
          </a:prstGeom>
        </p:spPr>
      </p:pic>
      <p:sp>
        <p:nvSpPr>
          <p:cNvPr id="12" name="文本框 11">
            <a:extLst>
              <a:ext uri="{FF2B5EF4-FFF2-40B4-BE49-F238E27FC236}">
                <a16:creationId xmlns:a16="http://schemas.microsoft.com/office/drawing/2014/main" id="{64B7D7D2-933A-4169-8905-6259D21E40B2}"/>
              </a:ext>
            </a:extLst>
          </p:cNvPr>
          <p:cNvSpPr txBox="1"/>
          <p:nvPr/>
        </p:nvSpPr>
        <p:spPr>
          <a:xfrm>
            <a:off x="8614493" y="3518498"/>
            <a:ext cx="2853267" cy="646331"/>
          </a:xfrm>
          <a:prstGeom prst="rect">
            <a:avLst/>
          </a:prstGeom>
          <a:noFill/>
        </p:spPr>
        <p:txBody>
          <a:bodyPr wrap="square" rtlCol="0">
            <a:spAutoFit/>
          </a:bodyPr>
          <a:lstStyle/>
          <a:p>
            <a:r>
              <a:rPr lang="zh-CN" altLang="en-US" dirty="0">
                <a:latin typeface="幼圆" panose="02010509060101010101" pitchFamily="49" charset="-122"/>
                <a:ea typeface="幼圆" panose="02010509060101010101" pitchFamily="49" charset="-122"/>
              </a:rPr>
              <a:t>图三  随机数数据生成函数</a:t>
            </a:r>
          </a:p>
        </p:txBody>
      </p:sp>
      <p:sp>
        <p:nvSpPr>
          <p:cNvPr id="13" name="文本框 12">
            <a:extLst>
              <a:ext uri="{FF2B5EF4-FFF2-40B4-BE49-F238E27FC236}">
                <a16:creationId xmlns:a16="http://schemas.microsoft.com/office/drawing/2014/main" id="{202AD9B5-26C5-406B-9FE6-03C05884CFA5}"/>
              </a:ext>
            </a:extLst>
          </p:cNvPr>
          <p:cNvSpPr txBox="1"/>
          <p:nvPr/>
        </p:nvSpPr>
        <p:spPr>
          <a:xfrm>
            <a:off x="9154411" y="5827430"/>
            <a:ext cx="1962322" cy="369332"/>
          </a:xfrm>
          <a:prstGeom prst="rect">
            <a:avLst/>
          </a:prstGeom>
          <a:noFill/>
        </p:spPr>
        <p:txBody>
          <a:bodyPr wrap="square" rtlCol="0">
            <a:spAutoFit/>
          </a:bodyPr>
          <a:lstStyle/>
          <a:p>
            <a:r>
              <a:rPr lang="zh-CN" altLang="en-US" dirty="0">
                <a:latin typeface="幼圆" panose="02010509060101010101" pitchFamily="49" charset="-122"/>
                <a:ea typeface="幼圆" panose="02010509060101010101" pitchFamily="49" charset="-122"/>
              </a:rPr>
              <a:t>图四  结果输出</a:t>
            </a:r>
          </a:p>
        </p:txBody>
      </p:sp>
      <p:pic>
        <p:nvPicPr>
          <p:cNvPr id="8" name="图片 7">
            <a:extLst>
              <a:ext uri="{FF2B5EF4-FFF2-40B4-BE49-F238E27FC236}">
                <a16:creationId xmlns:a16="http://schemas.microsoft.com/office/drawing/2014/main" id="{10EEC96F-ED21-477A-98E1-B75F503DB18B}"/>
              </a:ext>
            </a:extLst>
          </p:cNvPr>
          <p:cNvPicPr>
            <a:picLocks noChangeAspect="1"/>
          </p:cNvPicPr>
          <p:nvPr/>
        </p:nvPicPr>
        <p:blipFill>
          <a:blip r:embed="rId5"/>
          <a:stretch>
            <a:fillRect/>
          </a:stretch>
        </p:blipFill>
        <p:spPr>
          <a:xfrm>
            <a:off x="7557810" y="1493226"/>
            <a:ext cx="4019048" cy="2038095"/>
          </a:xfrm>
          <a:prstGeom prst="rect">
            <a:avLst/>
          </a:prstGeom>
        </p:spPr>
      </p:pic>
    </p:spTree>
    <p:extLst>
      <p:ext uri="{BB962C8B-B14F-4D97-AF65-F5344CB8AC3E}">
        <p14:creationId xmlns:p14="http://schemas.microsoft.com/office/powerpoint/2010/main" val="4232520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l="13875" t="394" r="51375" b="-655"/>
          <a:stretch>
            <a:fillRect/>
          </a:stretch>
        </p:blipFill>
        <p:spPr>
          <a:xfrm>
            <a:off x="0" y="-15240"/>
            <a:ext cx="2944495" cy="6941820"/>
          </a:xfrm>
          <a:prstGeom prst="rect">
            <a:avLst/>
          </a:prstGeom>
        </p:spPr>
      </p:pic>
      <p:sp>
        <p:nvSpPr>
          <p:cNvPr id="5" name="矩形 4"/>
          <p:cNvSpPr/>
          <p:nvPr/>
        </p:nvSpPr>
        <p:spPr>
          <a:xfrm>
            <a:off x="0" y="-15240"/>
            <a:ext cx="2944495" cy="687324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sp>
        <p:nvSpPr>
          <p:cNvPr id="2" name="文本框 1"/>
          <p:cNvSpPr txBox="1"/>
          <p:nvPr/>
        </p:nvSpPr>
        <p:spPr>
          <a:xfrm>
            <a:off x="325120" y="3041015"/>
            <a:ext cx="2294255" cy="829945"/>
          </a:xfrm>
          <a:prstGeom prst="rect">
            <a:avLst/>
          </a:prstGeom>
          <a:noFill/>
        </p:spPr>
        <p:txBody>
          <a:bodyPr wrap="square" rtlCol="0">
            <a:spAutoFit/>
          </a:bodyPr>
          <a:lstStyle/>
          <a:p>
            <a:pPr algn="ctr"/>
            <a:r>
              <a:rPr lang="en-US" altLang="zh-CN" sz="4800" b="1" dirty="0">
                <a:solidFill>
                  <a:schemeClr val="bg1"/>
                </a:solidFill>
                <a:latin typeface="幼圆" panose="02010509060101010101" pitchFamily="49" charset="-122"/>
                <a:ea typeface="幼圆" panose="02010509060101010101" pitchFamily="49" charset="-122"/>
                <a:cs typeface="Franklin Gothic Medium" panose="020B0603020102020204" charset="0"/>
                <a:sym typeface="+mn-ea"/>
              </a:rPr>
              <a:t>Part 2</a:t>
            </a:r>
          </a:p>
        </p:txBody>
      </p:sp>
      <p:sp>
        <p:nvSpPr>
          <p:cNvPr id="9" name="菠萝大侠：文本框 23">
            <a:extLst>
              <a:ext uri="{FF2B5EF4-FFF2-40B4-BE49-F238E27FC236}">
                <a16:creationId xmlns:a16="http://schemas.microsoft.com/office/drawing/2014/main" id="{571645C9-5C20-426F-AA10-DD5C8D3A4B28}"/>
              </a:ext>
            </a:extLst>
          </p:cNvPr>
          <p:cNvSpPr txBox="1"/>
          <p:nvPr/>
        </p:nvSpPr>
        <p:spPr>
          <a:xfrm>
            <a:off x="1978483" y="2913548"/>
            <a:ext cx="10213517" cy="1015663"/>
          </a:xfrm>
          <a:prstGeom prst="rect">
            <a:avLst/>
          </a:prstGeom>
          <a:noFill/>
        </p:spPr>
        <p:txBody>
          <a:bodyPr wrap="square" rtlCol="0">
            <a:spAutoFit/>
          </a:bodyPr>
          <a:lstStyle/>
          <a:p>
            <a:pPr algn="ctr"/>
            <a:r>
              <a:rPr lang="zh-CN" altLang="en-US" sz="6000" spc="390" dirty="0">
                <a:solidFill>
                  <a:srgbClr val="213497"/>
                </a:solidFill>
                <a:uFillTx/>
                <a:latin typeface="幼圆" panose="02010509060101010101" pitchFamily="49" charset="-122"/>
                <a:ea typeface="幼圆" panose="02010509060101010101" pitchFamily="49" charset="-122"/>
              </a:rPr>
              <a:t>五大排序算法的研究</a:t>
            </a:r>
            <a:endParaRPr lang="zh-CN" altLang="zh-CN" sz="6000" spc="390" dirty="0">
              <a:solidFill>
                <a:srgbClr val="213497"/>
              </a:solidFill>
              <a:uFillTx/>
              <a:latin typeface="幼圆" panose="02010509060101010101" pitchFamily="49" charset="-122"/>
              <a:ea typeface="幼圆" panose="02010509060101010101" pitchFamily="49" charset="-122"/>
            </a:endParaRPr>
          </a:p>
        </p:txBody>
      </p:sp>
      <p:sp>
        <p:nvSpPr>
          <p:cNvPr id="6" name="文本框 5">
            <a:extLst>
              <a:ext uri="{FF2B5EF4-FFF2-40B4-BE49-F238E27FC236}">
                <a16:creationId xmlns:a16="http://schemas.microsoft.com/office/drawing/2014/main" id="{D22348ED-DD10-45A1-BA17-B81B726C5F4E}"/>
              </a:ext>
            </a:extLst>
          </p:cNvPr>
          <p:cNvSpPr txBox="1"/>
          <p:nvPr/>
        </p:nvSpPr>
        <p:spPr>
          <a:xfrm>
            <a:off x="3361265" y="5774267"/>
            <a:ext cx="8144936" cy="646331"/>
          </a:xfrm>
          <a:prstGeom prst="rect">
            <a:avLst/>
          </a:prstGeom>
          <a:noFill/>
        </p:spPr>
        <p:txBody>
          <a:bodyPr wrap="square" rtlCol="0">
            <a:spAutoFit/>
          </a:bodyPr>
          <a:lstStyle/>
          <a:p>
            <a:r>
              <a:rPr lang="zh-CN" altLang="en-US" dirty="0">
                <a:latin typeface="幼圆" panose="02010509060101010101" pitchFamily="49" charset="-122"/>
                <a:ea typeface="幼圆" panose="02010509060101010101" pitchFamily="49" charset="-122"/>
              </a:rPr>
              <a:t>说明：之后部分的截图多为实验报告中所截，所以图的编号遵循实验报告所示</a:t>
            </a:r>
            <a:endParaRPr lang="en-US" altLang="zh-CN" dirty="0">
              <a:latin typeface="幼圆" panose="02010509060101010101" pitchFamily="49" charset="-122"/>
              <a:ea typeface="幼圆" panose="02010509060101010101" pitchFamily="49" charset="-122"/>
            </a:endParaRPr>
          </a:p>
          <a:p>
            <a:r>
              <a:rPr lang="zh-CN" altLang="en-US" dirty="0">
                <a:latin typeface="幼圆" panose="02010509060101010101" pitchFamily="49" charset="-122"/>
                <a:ea typeface="幼圆" panose="02010509060101010101" pitchFamily="49" charset="-122"/>
              </a:rPr>
              <a:t>动图来源：</a:t>
            </a:r>
            <a:r>
              <a:rPr lang="en-US" altLang="zh-CN" dirty="0">
                <a:latin typeface="幼圆" panose="02010509060101010101" pitchFamily="49" charset="-122"/>
                <a:ea typeface="幼圆" panose="02010509060101010101" pitchFamily="49" charset="-122"/>
                <a:hlinkClick r:id="rId3"/>
              </a:rPr>
              <a:t>www.runoob.com</a:t>
            </a:r>
            <a:r>
              <a:rPr lang="en-US" altLang="zh-CN" dirty="0">
                <a:latin typeface="幼圆" panose="02010509060101010101" pitchFamily="49" charset="-122"/>
                <a:ea typeface="幼圆" panose="02010509060101010101" pitchFamily="49" charset="-122"/>
              </a:rPr>
              <a:t> </a:t>
            </a:r>
            <a:endParaRPr lang="zh-CN" altLang="en-US" dirty="0">
              <a:latin typeface="幼圆" panose="02010509060101010101" pitchFamily="49" charset="-122"/>
              <a:ea typeface="幼圆" panose="02010509060101010101" pitchFamily="49" charset="-122"/>
            </a:endParaRPr>
          </a:p>
        </p:txBody>
      </p:sp>
    </p:spTree>
    <p:extLst>
      <p:ext uri="{BB962C8B-B14F-4D97-AF65-F5344CB8AC3E}">
        <p14:creationId xmlns:p14="http://schemas.microsoft.com/office/powerpoint/2010/main" val="3199740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sp>
        <p:nvSpPr>
          <p:cNvPr id="62" name="矩形 6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pic>
        <p:nvPicPr>
          <p:cNvPr id="36" name="图片 35"/>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5" name="文本框 14">
            <a:extLst>
              <a:ext uri="{FF2B5EF4-FFF2-40B4-BE49-F238E27FC236}">
                <a16:creationId xmlns:a16="http://schemas.microsoft.com/office/drawing/2014/main" id="{08C786E0-38A9-4F5A-8B8C-801FC475793B}"/>
              </a:ext>
            </a:extLst>
          </p:cNvPr>
          <p:cNvSpPr txBox="1"/>
          <p:nvPr/>
        </p:nvSpPr>
        <p:spPr>
          <a:xfrm>
            <a:off x="4982634" y="865636"/>
            <a:ext cx="2226732" cy="707886"/>
          </a:xfrm>
          <a:prstGeom prst="rect">
            <a:avLst/>
          </a:prstGeom>
          <a:noFill/>
        </p:spPr>
        <p:txBody>
          <a:bodyPr wrap="square" rtlCol="0">
            <a:spAutoFit/>
          </a:bodyPr>
          <a:lstStyle/>
          <a:p>
            <a:r>
              <a:rPr lang="zh-CN" altLang="en-US" sz="4000" b="1" dirty="0">
                <a:solidFill>
                  <a:schemeClr val="bg1">
                    <a:lumMod val="50000"/>
                  </a:schemeClr>
                </a:solidFill>
                <a:latin typeface="幼圆" panose="02010509060101010101" pitchFamily="49" charset="-122"/>
                <a:ea typeface="幼圆" panose="02010509060101010101" pitchFamily="49" charset="-122"/>
              </a:rPr>
              <a:t>选择排序</a:t>
            </a:r>
          </a:p>
        </p:txBody>
      </p:sp>
      <p:pic>
        <p:nvPicPr>
          <p:cNvPr id="14" name="图片 13">
            <a:extLst>
              <a:ext uri="{FF2B5EF4-FFF2-40B4-BE49-F238E27FC236}">
                <a16:creationId xmlns:a16="http://schemas.microsoft.com/office/drawing/2014/main" id="{677D6925-B3F7-4EB6-AF05-BA9114719F6B}"/>
              </a:ext>
            </a:extLst>
          </p:cNvPr>
          <p:cNvPicPr>
            <a:picLocks noChangeAspect="1"/>
          </p:cNvPicPr>
          <p:nvPr/>
        </p:nvPicPr>
        <p:blipFill>
          <a:blip r:embed="rId4"/>
          <a:stretch>
            <a:fillRect/>
          </a:stretch>
        </p:blipFill>
        <p:spPr>
          <a:xfrm>
            <a:off x="683942" y="4345564"/>
            <a:ext cx="3168392" cy="1649599"/>
          </a:xfrm>
          <a:prstGeom prst="rect">
            <a:avLst/>
          </a:prstGeom>
        </p:spPr>
      </p:pic>
      <p:pic>
        <p:nvPicPr>
          <p:cNvPr id="18" name="图片 17">
            <a:extLst>
              <a:ext uri="{FF2B5EF4-FFF2-40B4-BE49-F238E27FC236}">
                <a16:creationId xmlns:a16="http://schemas.microsoft.com/office/drawing/2014/main" id="{D1EB4A8F-2000-449E-A438-41E0059EFAAA}"/>
              </a:ext>
            </a:extLst>
          </p:cNvPr>
          <p:cNvPicPr>
            <a:picLocks noChangeAspect="1"/>
          </p:cNvPicPr>
          <p:nvPr/>
        </p:nvPicPr>
        <p:blipFill>
          <a:blip r:embed="rId5"/>
          <a:stretch>
            <a:fillRect/>
          </a:stretch>
        </p:blipFill>
        <p:spPr>
          <a:xfrm>
            <a:off x="265163" y="1977932"/>
            <a:ext cx="4620873" cy="1809524"/>
          </a:xfrm>
          <a:prstGeom prst="rect">
            <a:avLst/>
          </a:prstGeom>
        </p:spPr>
      </p:pic>
      <p:pic>
        <p:nvPicPr>
          <p:cNvPr id="1032" name="Picture 8">
            <a:extLst>
              <a:ext uri="{FF2B5EF4-FFF2-40B4-BE49-F238E27FC236}">
                <a16:creationId xmlns:a16="http://schemas.microsoft.com/office/drawing/2014/main" id="{504A1901-17F6-410E-8229-626E39737F7E}"/>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4791045" y="3909004"/>
            <a:ext cx="6821105" cy="2085862"/>
          </a:xfrm>
          <a:prstGeom prst="rect">
            <a:avLst/>
          </a:prstGeom>
          <a:noFill/>
          <a:extLst>
            <a:ext uri="{909E8E84-426E-40DD-AFC4-6F175D3DCCD1}">
              <a14:hiddenFill xmlns:a14="http://schemas.microsoft.com/office/drawing/2010/main">
                <a:solidFill>
                  <a:srgbClr val="FFFFFF"/>
                </a:solidFill>
              </a14:hiddenFill>
            </a:ext>
          </a:extLst>
        </p:spPr>
      </p:pic>
      <p:sp>
        <p:nvSpPr>
          <p:cNvPr id="26" name="文本框 25">
            <a:extLst>
              <a:ext uri="{FF2B5EF4-FFF2-40B4-BE49-F238E27FC236}">
                <a16:creationId xmlns:a16="http://schemas.microsoft.com/office/drawing/2014/main" id="{5F47A69F-7A57-4DFD-8A52-0A5E01096631}"/>
              </a:ext>
            </a:extLst>
          </p:cNvPr>
          <p:cNvSpPr txBox="1"/>
          <p:nvPr/>
        </p:nvSpPr>
        <p:spPr>
          <a:xfrm>
            <a:off x="5042761" y="1897495"/>
            <a:ext cx="6787853" cy="1866858"/>
          </a:xfrm>
          <a:prstGeom prst="rect">
            <a:avLst/>
          </a:prstGeom>
          <a:noFill/>
        </p:spPr>
        <p:txBody>
          <a:bodyPr wrap="square" rtlCol="0" anchor="ctr" anchorCtr="0">
            <a:spAutoFit/>
          </a:bodyPr>
          <a:lstStyle/>
          <a:p>
            <a:pPr marL="455930" indent="-200025">
              <a:lnSpc>
                <a:spcPct val="150000"/>
              </a:lnSpc>
            </a:pPr>
            <a:r>
              <a:rPr lang="zh-CN" altLang="en-US" sz="2000" b="1" kern="100" dirty="0">
                <a:solidFill>
                  <a:schemeClr val="accent4">
                    <a:lumMod val="75000"/>
                    <a:lumOff val="25000"/>
                  </a:schemeClr>
                </a:solidFill>
                <a:effectLst/>
                <a:latin typeface="幼圆" panose="02010509060101010101" pitchFamily="49" charset="-122"/>
                <a:ea typeface="幼圆" panose="02010509060101010101" pitchFamily="49" charset="-122"/>
              </a:rPr>
              <a:t>算法思路：</a:t>
            </a:r>
            <a:endPar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endParaRPr>
          </a:p>
          <a:p>
            <a:pPr marL="455930" indent="-200025">
              <a:lnSpc>
                <a:spcPct val="150000"/>
              </a:lnSpc>
            </a:pPr>
            <a:r>
              <a:rPr lang="zh-CN" altLang="zh-CN" sz="2000" kern="100" dirty="0">
                <a:effectLst/>
                <a:latin typeface="幼圆" panose="02010509060101010101" pitchFamily="49" charset="-122"/>
                <a:ea typeface="幼圆" panose="02010509060101010101" pitchFamily="49" charset="-122"/>
              </a:rPr>
              <a:t>重复扫描未排序序列，找到其中的最小值，并把它放到</a:t>
            </a:r>
            <a:endParaRPr lang="en-US" altLang="zh-CN" sz="2000" kern="100" dirty="0">
              <a:effectLst/>
              <a:latin typeface="幼圆" panose="02010509060101010101" pitchFamily="49" charset="-122"/>
              <a:ea typeface="幼圆" panose="02010509060101010101" pitchFamily="49" charset="-122"/>
            </a:endParaRPr>
          </a:p>
          <a:p>
            <a:pPr marL="455930" indent="-200025">
              <a:lnSpc>
                <a:spcPct val="150000"/>
              </a:lnSpc>
            </a:pPr>
            <a:r>
              <a:rPr lang="zh-CN" altLang="zh-CN" sz="2000" kern="100" dirty="0">
                <a:effectLst/>
                <a:latin typeface="幼圆" panose="02010509060101010101" pitchFamily="49" charset="-122"/>
                <a:ea typeface="幼圆" panose="02010509060101010101" pitchFamily="49" charset="-122"/>
              </a:rPr>
              <a:t>未排序序列的最前端，即放在已</a:t>
            </a:r>
            <a:r>
              <a:rPr lang="zh-CN" altLang="en-US" sz="2000" kern="100" dirty="0">
                <a:effectLst/>
                <a:latin typeface="幼圆" panose="02010509060101010101" pitchFamily="49" charset="-122"/>
                <a:ea typeface="幼圆" panose="02010509060101010101" pitchFamily="49" charset="-122"/>
              </a:rPr>
              <a:t>排</a:t>
            </a:r>
            <a:r>
              <a:rPr lang="zh-CN" altLang="zh-CN" sz="2000" kern="100" dirty="0">
                <a:effectLst/>
                <a:latin typeface="幼圆" panose="02010509060101010101" pitchFamily="49" charset="-122"/>
                <a:ea typeface="幼圆" panose="02010509060101010101" pitchFamily="49" charset="-122"/>
              </a:rPr>
              <a:t>序序列的末端，使之</a:t>
            </a:r>
            <a:endParaRPr lang="en-US" altLang="zh-CN" sz="2000" kern="100" dirty="0">
              <a:effectLst/>
              <a:latin typeface="幼圆" panose="02010509060101010101" pitchFamily="49" charset="-122"/>
              <a:ea typeface="幼圆" panose="02010509060101010101" pitchFamily="49" charset="-122"/>
            </a:endParaRPr>
          </a:p>
          <a:p>
            <a:pPr marL="455930" indent="-200025">
              <a:lnSpc>
                <a:spcPct val="150000"/>
              </a:lnSpc>
            </a:pPr>
            <a:r>
              <a:rPr lang="zh-CN" altLang="zh-CN" sz="2000" kern="100" dirty="0">
                <a:effectLst/>
                <a:latin typeface="幼圆" panose="02010509060101010101" pitchFamily="49" charset="-122"/>
                <a:ea typeface="幼圆" panose="02010509060101010101" pitchFamily="49" charset="-122"/>
              </a:rPr>
              <a:t>有序。</a:t>
            </a:r>
            <a:endPar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endParaRPr>
          </a:p>
        </p:txBody>
      </p:sp>
    </p:spTree>
    <p:extLst>
      <p:ext uri="{BB962C8B-B14F-4D97-AF65-F5344CB8AC3E}">
        <p14:creationId xmlns:p14="http://schemas.microsoft.com/office/powerpoint/2010/main" val="1961540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1000"/>
                                        <p:tgtEl>
                                          <p:spTgt spid="14"/>
                                        </p:tgtEl>
                                      </p:cBhvr>
                                    </p:animEffect>
                                    <p:anim calcmode="lin" valueType="num">
                                      <p:cBhvr>
                                        <p:cTn id="14" dur="1000" fill="hold"/>
                                        <p:tgtEl>
                                          <p:spTgt spid="14"/>
                                        </p:tgtEl>
                                        <p:attrNameLst>
                                          <p:attrName>ppt_x</p:attrName>
                                        </p:attrNameLst>
                                      </p:cBhvr>
                                      <p:tavLst>
                                        <p:tav tm="0">
                                          <p:val>
                                            <p:strVal val="#ppt_x"/>
                                          </p:val>
                                        </p:tav>
                                        <p:tav tm="100000">
                                          <p:val>
                                            <p:strVal val="#ppt_x"/>
                                          </p:val>
                                        </p:tav>
                                      </p:tavLst>
                                    </p:anim>
                                    <p:anim calcmode="lin" valueType="num">
                                      <p:cBhvr>
                                        <p:cTn id="15"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1032"/>
                                        </p:tgtEl>
                                        <p:attrNameLst>
                                          <p:attrName>style.visibility</p:attrName>
                                        </p:attrNameLst>
                                      </p:cBhvr>
                                      <p:to>
                                        <p:strVal val="visible"/>
                                      </p:to>
                                    </p:set>
                                    <p:anim calcmode="lin" valueType="num">
                                      <p:cBhvr additive="base">
                                        <p:cTn id="20" dur="500" fill="hold"/>
                                        <p:tgtEl>
                                          <p:spTgt spid="1032"/>
                                        </p:tgtEl>
                                        <p:attrNameLst>
                                          <p:attrName>ppt_x</p:attrName>
                                        </p:attrNameLst>
                                      </p:cBhvr>
                                      <p:tavLst>
                                        <p:tav tm="0">
                                          <p:val>
                                            <p:strVal val="#ppt_x"/>
                                          </p:val>
                                        </p:tav>
                                        <p:tav tm="100000">
                                          <p:val>
                                            <p:strVal val="#ppt_x"/>
                                          </p:val>
                                        </p:tav>
                                      </p:tavLst>
                                    </p:anim>
                                    <p:anim calcmode="lin" valueType="num">
                                      <p:cBhvr additive="base">
                                        <p:cTn id="21" dur="500" fill="hold"/>
                                        <p:tgtEl>
                                          <p:spTgt spid="10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sp>
        <p:nvSpPr>
          <p:cNvPr id="62" name="矩形 6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pic>
        <p:nvPicPr>
          <p:cNvPr id="36" name="图片 35"/>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5" name="文本框 14">
            <a:extLst>
              <a:ext uri="{FF2B5EF4-FFF2-40B4-BE49-F238E27FC236}">
                <a16:creationId xmlns:a16="http://schemas.microsoft.com/office/drawing/2014/main" id="{08C786E0-38A9-4F5A-8B8C-801FC475793B}"/>
              </a:ext>
            </a:extLst>
          </p:cNvPr>
          <p:cNvSpPr txBox="1"/>
          <p:nvPr/>
        </p:nvSpPr>
        <p:spPr>
          <a:xfrm>
            <a:off x="4982634" y="865636"/>
            <a:ext cx="2226732" cy="707886"/>
          </a:xfrm>
          <a:prstGeom prst="rect">
            <a:avLst/>
          </a:prstGeom>
          <a:noFill/>
        </p:spPr>
        <p:txBody>
          <a:bodyPr wrap="square" rtlCol="0">
            <a:spAutoFit/>
          </a:bodyPr>
          <a:lstStyle/>
          <a:p>
            <a:r>
              <a:rPr lang="zh-CN" altLang="en-US" sz="4000" b="1" dirty="0">
                <a:solidFill>
                  <a:schemeClr val="bg1">
                    <a:lumMod val="50000"/>
                  </a:schemeClr>
                </a:solidFill>
                <a:latin typeface="幼圆" panose="02010509060101010101" pitchFamily="49" charset="-122"/>
                <a:ea typeface="幼圆" panose="02010509060101010101" pitchFamily="49" charset="-122"/>
              </a:rPr>
              <a:t>算法分析</a:t>
            </a:r>
          </a:p>
        </p:txBody>
      </p:sp>
      <p:sp>
        <p:nvSpPr>
          <p:cNvPr id="14" name="文本框 13">
            <a:extLst>
              <a:ext uri="{FF2B5EF4-FFF2-40B4-BE49-F238E27FC236}">
                <a16:creationId xmlns:a16="http://schemas.microsoft.com/office/drawing/2014/main" id="{6CC1F697-A709-46BF-9661-D930791FE494}"/>
              </a:ext>
            </a:extLst>
          </p:cNvPr>
          <p:cNvSpPr txBox="1"/>
          <p:nvPr/>
        </p:nvSpPr>
        <p:spPr>
          <a:xfrm>
            <a:off x="2345966" y="2179777"/>
            <a:ext cx="7500067" cy="3008571"/>
          </a:xfrm>
          <a:prstGeom prst="rect">
            <a:avLst/>
          </a:prstGeom>
          <a:noFill/>
        </p:spPr>
        <p:txBody>
          <a:bodyPr wrap="square" tIns="72000">
            <a:spAutoFit/>
          </a:bodyPr>
          <a:lstStyle/>
          <a:p>
            <a:pPr>
              <a:lnSpc>
                <a:spcPct val="150000"/>
              </a:lnSpc>
            </a:pPr>
            <a:r>
              <a:rPr lang="zh-CN" altLang="en-US" sz="2800" b="1" dirty="0">
                <a:latin typeface="幼圆" panose="02010509060101010101" pitchFamily="49" charset="-122"/>
                <a:ea typeface="幼圆" panose="02010509060101010101" pitchFamily="49" charset="-122"/>
              </a:rPr>
              <a:t>①时间复杂度</a:t>
            </a:r>
            <a:endParaRPr lang="en-US" altLang="zh-CN" sz="2800" b="1" dirty="0">
              <a:latin typeface="幼圆" panose="02010509060101010101" pitchFamily="49" charset="-122"/>
              <a:ea typeface="幼圆" panose="02010509060101010101" pitchFamily="49" charset="-122"/>
            </a:endParaRPr>
          </a:p>
          <a:p>
            <a:pPr>
              <a:lnSpc>
                <a:spcPct val="150000"/>
              </a:lnSpc>
            </a:pPr>
            <a:r>
              <a:rPr lang="zh-CN" altLang="en-US" dirty="0">
                <a:latin typeface="幼圆" panose="02010509060101010101" pitchFamily="49" charset="-122"/>
                <a:ea typeface="幼圆" panose="02010509060101010101" pitchFamily="49" charset="-122"/>
              </a:rPr>
              <a:t>该函数包括两层循环，外层循环的循环体共执行</a:t>
            </a:r>
            <a:r>
              <a:rPr lang="en-US" altLang="zh-CN" dirty="0">
                <a:latin typeface="幼圆" panose="02010509060101010101" pitchFamily="49" charset="-122"/>
                <a:ea typeface="幼圆" panose="02010509060101010101" pitchFamily="49" charset="-122"/>
              </a:rPr>
              <a:t>num-1</a:t>
            </a:r>
            <a:r>
              <a:rPr lang="zh-CN" altLang="en-US" dirty="0">
                <a:latin typeface="幼圆" panose="02010509060101010101" pitchFamily="49" charset="-122"/>
                <a:ea typeface="幼圆" panose="02010509060101010101" pitchFamily="49" charset="-122"/>
              </a:rPr>
              <a:t>次，里层循环的循环体每次执行</a:t>
            </a:r>
            <a:r>
              <a:rPr lang="en-US" altLang="zh-CN" dirty="0">
                <a:latin typeface="幼圆" panose="02010509060101010101" pitchFamily="49" charset="-122"/>
                <a:ea typeface="幼圆" panose="02010509060101010101" pitchFamily="49" charset="-122"/>
              </a:rPr>
              <a:t>num-</a:t>
            </a:r>
            <a:r>
              <a:rPr lang="en-US" altLang="zh-CN" dirty="0" err="1">
                <a:latin typeface="幼圆" panose="02010509060101010101" pitchFamily="49" charset="-122"/>
                <a:ea typeface="幼圆" panose="02010509060101010101" pitchFamily="49" charset="-122"/>
              </a:rPr>
              <a:t>i</a:t>
            </a:r>
            <a:r>
              <a:rPr lang="zh-CN" altLang="en-US" dirty="0">
                <a:latin typeface="幼圆" panose="02010509060101010101" pitchFamily="49" charset="-122"/>
                <a:ea typeface="幼圆" panose="02010509060101010101" pitchFamily="49" charset="-122"/>
              </a:rPr>
              <a:t>次。由此分析得到，该函数的时间复杂度为</a:t>
            </a:r>
            <a:r>
              <a:rPr lang="en-US" altLang="zh-CN" dirty="0">
                <a:latin typeface="幼圆" panose="02010509060101010101" pitchFamily="49" charset="-122"/>
                <a:ea typeface="幼圆" panose="02010509060101010101" pitchFamily="49" charset="-122"/>
              </a:rPr>
              <a:t>O(n^2)</a:t>
            </a:r>
            <a:r>
              <a:rPr lang="zh-CN" altLang="en-US" dirty="0">
                <a:latin typeface="幼圆" panose="02010509060101010101" pitchFamily="49" charset="-122"/>
                <a:ea typeface="幼圆" panose="02010509060101010101" pitchFamily="49" charset="-122"/>
              </a:rPr>
              <a:t>。</a:t>
            </a:r>
            <a:endParaRPr lang="en-US" altLang="zh-CN" dirty="0">
              <a:latin typeface="幼圆" panose="02010509060101010101" pitchFamily="49" charset="-122"/>
              <a:ea typeface="幼圆" panose="02010509060101010101" pitchFamily="49" charset="-122"/>
            </a:endParaRPr>
          </a:p>
          <a:p>
            <a:pPr>
              <a:lnSpc>
                <a:spcPct val="150000"/>
              </a:lnSpc>
            </a:pPr>
            <a:endParaRPr lang="zh-CN" altLang="en-US" dirty="0">
              <a:latin typeface="幼圆" panose="02010509060101010101" pitchFamily="49" charset="-122"/>
              <a:ea typeface="幼圆" panose="02010509060101010101" pitchFamily="49" charset="-122"/>
            </a:endParaRPr>
          </a:p>
          <a:p>
            <a:pPr>
              <a:lnSpc>
                <a:spcPct val="150000"/>
              </a:lnSpc>
            </a:pPr>
            <a:r>
              <a:rPr lang="zh-CN" altLang="en-US" sz="2800" b="1" dirty="0">
                <a:latin typeface="幼圆" panose="02010509060101010101" pitchFamily="49" charset="-122"/>
                <a:ea typeface="幼圆" panose="02010509060101010101" pitchFamily="49" charset="-122"/>
              </a:rPr>
              <a:t>②空间复杂度</a:t>
            </a:r>
            <a:endParaRPr lang="en-US" altLang="zh-CN" sz="2800" b="1" dirty="0">
              <a:latin typeface="幼圆" panose="02010509060101010101" pitchFamily="49" charset="-122"/>
              <a:ea typeface="幼圆" panose="02010509060101010101" pitchFamily="49" charset="-122"/>
            </a:endParaRPr>
          </a:p>
          <a:p>
            <a:pPr>
              <a:lnSpc>
                <a:spcPct val="150000"/>
              </a:lnSpc>
            </a:pPr>
            <a:r>
              <a:rPr lang="zh-CN" altLang="en-US" dirty="0">
                <a:latin typeface="幼圆" panose="02010509060101010101" pitchFamily="49" charset="-122"/>
                <a:ea typeface="幼圆" panose="02010509060101010101" pitchFamily="49" charset="-122"/>
              </a:rPr>
              <a:t>在原数组上进行交换排序操作，空间复杂度为</a:t>
            </a:r>
            <a:r>
              <a:rPr lang="en-US" altLang="zh-CN" dirty="0">
                <a:latin typeface="幼圆" panose="02010509060101010101" pitchFamily="49" charset="-122"/>
                <a:ea typeface="幼圆" panose="02010509060101010101" pitchFamily="49" charset="-122"/>
              </a:rPr>
              <a:t>O(1)</a:t>
            </a:r>
            <a:r>
              <a:rPr lang="zh-CN" altLang="en-US" dirty="0">
                <a:latin typeface="幼圆" panose="02010509060101010101" pitchFamily="49" charset="-122"/>
                <a:ea typeface="幼圆" panose="02010509060101010101" pitchFamily="49" charset="-122"/>
              </a:rPr>
              <a:t>。</a:t>
            </a:r>
          </a:p>
        </p:txBody>
      </p:sp>
    </p:spTree>
    <p:extLst>
      <p:ext uri="{BB962C8B-B14F-4D97-AF65-F5344CB8AC3E}">
        <p14:creationId xmlns:p14="http://schemas.microsoft.com/office/powerpoint/2010/main" val="221082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矩形 6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5" name="文本框 14">
            <a:extLst>
              <a:ext uri="{FF2B5EF4-FFF2-40B4-BE49-F238E27FC236}">
                <a16:creationId xmlns:a16="http://schemas.microsoft.com/office/drawing/2014/main" id="{08C786E0-38A9-4F5A-8B8C-801FC475793B}"/>
              </a:ext>
            </a:extLst>
          </p:cNvPr>
          <p:cNvSpPr txBox="1"/>
          <p:nvPr/>
        </p:nvSpPr>
        <p:spPr>
          <a:xfrm>
            <a:off x="4982634" y="865636"/>
            <a:ext cx="2226732" cy="707886"/>
          </a:xfrm>
          <a:prstGeom prst="rect">
            <a:avLst/>
          </a:prstGeom>
          <a:noFill/>
        </p:spPr>
        <p:txBody>
          <a:bodyPr wrap="square" rtlCol="0">
            <a:spAutoFit/>
          </a:bodyPr>
          <a:lstStyle/>
          <a:p>
            <a:r>
              <a:rPr lang="zh-CN" altLang="en-US" sz="4000" b="1" dirty="0">
                <a:solidFill>
                  <a:schemeClr val="bg1">
                    <a:lumMod val="50000"/>
                  </a:schemeClr>
                </a:solidFill>
                <a:latin typeface="幼圆" panose="02010509060101010101" pitchFamily="49" charset="-122"/>
                <a:ea typeface="幼圆" panose="02010509060101010101" pitchFamily="49" charset="-122"/>
              </a:rPr>
              <a:t>结果分析</a:t>
            </a:r>
          </a:p>
        </p:txBody>
      </p:sp>
      <p:pic>
        <p:nvPicPr>
          <p:cNvPr id="4" name="图片 3">
            <a:extLst>
              <a:ext uri="{FF2B5EF4-FFF2-40B4-BE49-F238E27FC236}">
                <a16:creationId xmlns:a16="http://schemas.microsoft.com/office/drawing/2014/main" id="{0B7024B9-BAD9-4A45-85E1-0A35FC261CE8}"/>
              </a:ext>
            </a:extLst>
          </p:cNvPr>
          <p:cNvPicPr>
            <a:picLocks noChangeAspect="1"/>
          </p:cNvPicPr>
          <p:nvPr/>
        </p:nvPicPr>
        <p:blipFill>
          <a:blip r:embed="rId4"/>
          <a:stretch>
            <a:fillRect/>
          </a:stretch>
        </p:blipFill>
        <p:spPr>
          <a:xfrm>
            <a:off x="380958" y="3564834"/>
            <a:ext cx="4601676" cy="2510006"/>
          </a:xfrm>
          <a:prstGeom prst="rect">
            <a:avLst/>
          </a:prstGeom>
        </p:spPr>
      </p:pic>
      <p:sp>
        <p:nvSpPr>
          <p:cNvPr id="17" name="文本框 16">
            <a:extLst>
              <a:ext uri="{FF2B5EF4-FFF2-40B4-BE49-F238E27FC236}">
                <a16:creationId xmlns:a16="http://schemas.microsoft.com/office/drawing/2014/main" id="{AAB3A055-4772-4865-9C84-80C6094DE716}"/>
              </a:ext>
            </a:extLst>
          </p:cNvPr>
          <p:cNvSpPr txBox="1"/>
          <p:nvPr/>
        </p:nvSpPr>
        <p:spPr>
          <a:xfrm>
            <a:off x="4774381" y="1928311"/>
            <a:ext cx="6976534" cy="3436444"/>
          </a:xfrm>
          <a:prstGeom prst="rect">
            <a:avLst/>
          </a:prstGeom>
          <a:noFill/>
        </p:spPr>
        <p:txBody>
          <a:bodyPr wrap="square" tIns="72000">
            <a:spAutoFit/>
          </a:bodyPr>
          <a:lstStyle/>
          <a:p>
            <a:pPr indent="266700" algn="just">
              <a:lnSpc>
                <a:spcPct val="150000"/>
              </a:lnSpc>
            </a:pPr>
            <a:r>
              <a:rPr lang="zh-CN" altLang="en-US" sz="2800" b="1" dirty="0">
                <a:latin typeface="幼圆" panose="02010509060101010101" pitchFamily="49" charset="-122"/>
                <a:ea typeface="幼圆" panose="02010509060101010101" pitchFamily="49" charset="-122"/>
              </a:rPr>
              <a:t>①</a:t>
            </a:r>
            <a:r>
              <a:rPr lang="zh-CN" altLang="zh-CN" sz="1800" kern="100" dirty="0">
                <a:effectLst/>
                <a:latin typeface="幼圆" panose="02010509060101010101" pitchFamily="49" charset="-122"/>
                <a:ea typeface="幼圆" panose="02010509060101010101" pitchFamily="49" charset="-122"/>
              </a:rPr>
              <a:t>由图</a:t>
            </a:r>
            <a:r>
              <a:rPr lang="en-US" altLang="zh-CN" sz="1800" kern="100" dirty="0">
                <a:effectLst/>
                <a:latin typeface="幼圆" panose="02010509060101010101" pitchFamily="49" charset="-122"/>
                <a:ea typeface="幼圆" panose="02010509060101010101" pitchFamily="49" charset="-122"/>
              </a:rPr>
              <a:t>17</a:t>
            </a:r>
            <a:r>
              <a:rPr lang="zh-CN" altLang="zh-CN" sz="1800" kern="100" dirty="0">
                <a:effectLst/>
                <a:latin typeface="幼圆" panose="02010509060101010101" pitchFamily="49" charset="-122"/>
                <a:ea typeface="幼圆" panose="02010509060101010101" pitchFamily="49" charset="-122"/>
              </a:rPr>
              <a:t>可以看出，选择排序的理论和实验图像基本重合。但在越小于参考点</a:t>
            </a:r>
            <a:r>
              <a:rPr lang="en-US" altLang="zh-CN" sz="1800" kern="100" dirty="0">
                <a:effectLst/>
                <a:latin typeface="幼圆" panose="02010509060101010101" pitchFamily="49" charset="-122"/>
                <a:ea typeface="幼圆" panose="02010509060101010101" pitchFamily="49" charset="-122"/>
              </a:rPr>
              <a:t>n=1000</a:t>
            </a:r>
            <a:r>
              <a:rPr lang="zh-CN" altLang="zh-CN" sz="1800" kern="100" dirty="0">
                <a:effectLst/>
                <a:latin typeface="幼圆" panose="02010509060101010101" pitchFamily="49" charset="-122"/>
                <a:ea typeface="幼圆" panose="02010509060101010101" pitchFamily="49" charset="-122"/>
              </a:rPr>
              <a:t>的规模下，偏差开始加大。在本次实验中的</a:t>
            </a:r>
            <a:r>
              <a:rPr lang="en-US" altLang="zh-CN" sz="1800" kern="100" dirty="0">
                <a:effectLst/>
                <a:latin typeface="幼圆" panose="02010509060101010101" pitchFamily="49" charset="-122"/>
                <a:ea typeface="幼圆" panose="02010509060101010101" pitchFamily="49" charset="-122"/>
              </a:rPr>
              <a:t>n=10</a:t>
            </a:r>
            <a:r>
              <a:rPr lang="zh-CN" altLang="zh-CN" sz="1800" kern="100" dirty="0">
                <a:effectLst/>
                <a:latin typeface="幼圆" panose="02010509060101010101" pitchFamily="49" charset="-122"/>
                <a:ea typeface="幼圆" panose="02010509060101010101" pitchFamily="49" charset="-122"/>
              </a:rPr>
              <a:t>及</a:t>
            </a:r>
            <a:r>
              <a:rPr lang="en-US" altLang="zh-CN" sz="1800" kern="100" dirty="0">
                <a:effectLst/>
                <a:latin typeface="幼圆" panose="02010509060101010101" pitchFamily="49" charset="-122"/>
                <a:ea typeface="幼圆" panose="02010509060101010101" pitchFamily="49" charset="-122"/>
              </a:rPr>
              <a:t>n=100</a:t>
            </a:r>
            <a:r>
              <a:rPr lang="zh-CN" altLang="zh-CN" sz="1800" kern="100" dirty="0">
                <a:effectLst/>
                <a:latin typeface="幼圆" panose="02010509060101010101" pitchFamily="49" charset="-122"/>
                <a:ea typeface="幼圆" panose="02010509060101010101" pitchFamily="49" charset="-122"/>
              </a:rPr>
              <a:t>时，理论</a:t>
            </a:r>
            <a:r>
              <a:rPr lang="zh-CN" altLang="en-US" sz="1800" kern="100" dirty="0">
                <a:effectLst/>
                <a:latin typeface="幼圆" panose="02010509060101010101" pitchFamily="49" charset="-122"/>
                <a:ea typeface="幼圆" panose="02010509060101010101" pitchFamily="49" charset="-122"/>
              </a:rPr>
              <a:t>大于</a:t>
            </a:r>
            <a:r>
              <a:rPr lang="zh-CN" altLang="zh-CN" sz="1800" kern="100" dirty="0">
                <a:effectLst/>
                <a:latin typeface="幼圆" panose="02010509060101010101" pitchFamily="49" charset="-122"/>
                <a:ea typeface="幼圆" panose="02010509060101010101" pitchFamily="49" charset="-122"/>
              </a:rPr>
              <a:t>实际。</a:t>
            </a:r>
          </a:p>
          <a:p>
            <a:pPr>
              <a:lnSpc>
                <a:spcPct val="150000"/>
              </a:lnSpc>
            </a:pPr>
            <a:endParaRPr lang="zh-CN" altLang="en-US" dirty="0">
              <a:latin typeface="幼圆" panose="02010509060101010101" pitchFamily="49" charset="-122"/>
              <a:ea typeface="幼圆" panose="02010509060101010101" pitchFamily="49" charset="-122"/>
            </a:endParaRPr>
          </a:p>
          <a:p>
            <a:pPr indent="266700" algn="just">
              <a:lnSpc>
                <a:spcPct val="150000"/>
              </a:lnSpc>
            </a:pPr>
            <a:r>
              <a:rPr lang="zh-CN" altLang="en-US" sz="2800" dirty="0">
                <a:latin typeface="幼圆" panose="02010509060101010101" pitchFamily="49" charset="-122"/>
                <a:ea typeface="幼圆" panose="02010509060101010101" pitchFamily="49" charset="-122"/>
              </a:rPr>
              <a:t>②</a:t>
            </a:r>
            <a:r>
              <a:rPr lang="zh-CN" altLang="zh-CN" sz="1800" b="1" u="sng" kern="100" dirty="0">
                <a:effectLst/>
                <a:latin typeface="幼圆" panose="02010509060101010101" pitchFamily="49" charset="-122"/>
                <a:ea typeface="幼圆" panose="02010509060101010101" pitchFamily="49" charset="-122"/>
              </a:rPr>
              <a:t>其原因可能在于，排序外的其它开销，数据规模较小时为了方便时间计算，循环了多次。而调用随机数数组生成函数的次数也增加，“非排序开销”增加，使得实际的时间开销增大。</a:t>
            </a:r>
          </a:p>
        </p:txBody>
      </p:sp>
      <p:pic>
        <p:nvPicPr>
          <p:cNvPr id="7" name="图片 6">
            <a:extLst>
              <a:ext uri="{FF2B5EF4-FFF2-40B4-BE49-F238E27FC236}">
                <a16:creationId xmlns:a16="http://schemas.microsoft.com/office/drawing/2014/main" id="{6C54262B-5B3A-4D5A-B31E-D5F6A2792F90}"/>
              </a:ext>
            </a:extLst>
          </p:cNvPr>
          <p:cNvPicPr>
            <a:picLocks noChangeAspect="1"/>
          </p:cNvPicPr>
          <p:nvPr/>
        </p:nvPicPr>
        <p:blipFill>
          <a:blip r:embed="rId5"/>
          <a:stretch>
            <a:fillRect/>
          </a:stretch>
        </p:blipFill>
        <p:spPr>
          <a:xfrm>
            <a:off x="172705" y="1598703"/>
            <a:ext cx="4601676" cy="1487701"/>
          </a:xfrm>
          <a:prstGeom prst="rect">
            <a:avLst/>
          </a:prstGeom>
        </p:spPr>
      </p:pic>
    </p:spTree>
    <p:extLst>
      <p:ext uri="{BB962C8B-B14F-4D97-AF65-F5344CB8AC3E}">
        <p14:creationId xmlns:p14="http://schemas.microsoft.com/office/powerpoint/2010/main" val="970443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ppt_x"/>
                                          </p:val>
                                        </p:tav>
                                        <p:tav tm="100000">
                                          <p:val>
                                            <p:strVal val="#ppt_x"/>
                                          </p:val>
                                        </p:tav>
                                      </p:tavLst>
                                    </p:anim>
                                    <p:anim calcmode="lin" valueType="num">
                                      <p:cBhvr additive="base">
                                        <p:cTn id="1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矩形 6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5" name="文本框 14">
            <a:extLst>
              <a:ext uri="{FF2B5EF4-FFF2-40B4-BE49-F238E27FC236}">
                <a16:creationId xmlns:a16="http://schemas.microsoft.com/office/drawing/2014/main" id="{08C786E0-38A9-4F5A-8B8C-801FC475793B}"/>
              </a:ext>
            </a:extLst>
          </p:cNvPr>
          <p:cNvSpPr txBox="1"/>
          <p:nvPr/>
        </p:nvSpPr>
        <p:spPr>
          <a:xfrm>
            <a:off x="4982634" y="865636"/>
            <a:ext cx="2226732" cy="707886"/>
          </a:xfrm>
          <a:prstGeom prst="rect">
            <a:avLst/>
          </a:prstGeom>
          <a:noFill/>
        </p:spPr>
        <p:txBody>
          <a:bodyPr wrap="square" rtlCol="0">
            <a:spAutoFit/>
          </a:bodyPr>
          <a:lstStyle/>
          <a:p>
            <a:r>
              <a:rPr lang="zh-CN" altLang="en-US" sz="4000" b="1" dirty="0">
                <a:solidFill>
                  <a:schemeClr val="bg1">
                    <a:lumMod val="50000"/>
                  </a:schemeClr>
                </a:solidFill>
                <a:latin typeface="宋体" panose="02010600030101010101" pitchFamily="2" charset="-122"/>
                <a:ea typeface="宋体" panose="02010600030101010101" pitchFamily="2" charset="-122"/>
              </a:rPr>
              <a:t>冒泡排序</a:t>
            </a:r>
          </a:p>
        </p:txBody>
      </p:sp>
      <p:pic>
        <p:nvPicPr>
          <p:cNvPr id="4" name="图片 3">
            <a:extLst>
              <a:ext uri="{FF2B5EF4-FFF2-40B4-BE49-F238E27FC236}">
                <a16:creationId xmlns:a16="http://schemas.microsoft.com/office/drawing/2014/main" id="{59C7B690-F982-48C2-8F11-E9DD7709441A}"/>
              </a:ext>
            </a:extLst>
          </p:cNvPr>
          <p:cNvPicPr>
            <a:picLocks noChangeAspect="1"/>
          </p:cNvPicPr>
          <p:nvPr/>
        </p:nvPicPr>
        <p:blipFill>
          <a:blip r:embed="rId4"/>
          <a:stretch>
            <a:fillRect/>
          </a:stretch>
        </p:blipFill>
        <p:spPr>
          <a:xfrm>
            <a:off x="473411" y="1573522"/>
            <a:ext cx="4058256" cy="2226708"/>
          </a:xfrm>
          <a:prstGeom prst="rect">
            <a:avLst/>
          </a:prstGeom>
        </p:spPr>
      </p:pic>
      <p:pic>
        <p:nvPicPr>
          <p:cNvPr id="6" name="图片 5">
            <a:extLst>
              <a:ext uri="{FF2B5EF4-FFF2-40B4-BE49-F238E27FC236}">
                <a16:creationId xmlns:a16="http://schemas.microsoft.com/office/drawing/2014/main" id="{91C9875B-BA89-4E2E-B22E-28EDAC691016}"/>
              </a:ext>
            </a:extLst>
          </p:cNvPr>
          <p:cNvPicPr>
            <a:picLocks noChangeAspect="1"/>
          </p:cNvPicPr>
          <p:nvPr/>
        </p:nvPicPr>
        <p:blipFill>
          <a:blip r:embed="rId5"/>
          <a:stretch>
            <a:fillRect/>
          </a:stretch>
        </p:blipFill>
        <p:spPr>
          <a:xfrm>
            <a:off x="561505" y="4208146"/>
            <a:ext cx="3882068" cy="1590176"/>
          </a:xfrm>
          <a:prstGeom prst="rect">
            <a:avLst/>
          </a:prstGeom>
        </p:spPr>
      </p:pic>
      <p:pic>
        <p:nvPicPr>
          <p:cNvPr id="2052" name="Picture 4">
            <a:extLst>
              <a:ext uri="{FF2B5EF4-FFF2-40B4-BE49-F238E27FC236}">
                <a16:creationId xmlns:a16="http://schemas.microsoft.com/office/drawing/2014/main" id="{300D0864-63FC-44FC-B1B4-5E8B36BA6561}"/>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5394543" y="4153375"/>
            <a:ext cx="6084288" cy="1893054"/>
          </a:xfrm>
          <a:prstGeom prst="rect">
            <a:avLst/>
          </a:prstGeom>
          <a:noFill/>
          <a:extLst>
            <a:ext uri="{909E8E84-426E-40DD-AFC4-6F175D3DCCD1}">
              <a14:hiddenFill xmlns:a14="http://schemas.microsoft.com/office/drawing/2010/main">
                <a:solidFill>
                  <a:srgbClr val="FFFFFF"/>
                </a:solidFill>
              </a14:hiddenFill>
            </a:ext>
          </a:extLst>
        </p:spPr>
      </p:pic>
      <p:sp>
        <p:nvSpPr>
          <p:cNvPr id="17" name="文本框 16">
            <a:extLst>
              <a:ext uri="{FF2B5EF4-FFF2-40B4-BE49-F238E27FC236}">
                <a16:creationId xmlns:a16="http://schemas.microsoft.com/office/drawing/2014/main" id="{0D78FDD7-9EC5-4977-8737-DF3919723305}"/>
              </a:ext>
            </a:extLst>
          </p:cNvPr>
          <p:cNvSpPr txBox="1"/>
          <p:nvPr/>
        </p:nvSpPr>
        <p:spPr>
          <a:xfrm>
            <a:off x="5042761" y="1861430"/>
            <a:ext cx="6787853" cy="1938992"/>
          </a:xfrm>
          <a:prstGeom prst="rect">
            <a:avLst/>
          </a:prstGeom>
          <a:noFill/>
        </p:spPr>
        <p:txBody>
          <a:bodyPr wrap="square" rtlCol="0" anchor="ctr" anchorCtr="0">
            <a:spAutoFit/>
          </a:bodyPr>
          <a:lstStyle/>
          <a:p>
            <a:pPr marL="455930" indent="-200025" fontAlgn="ctr">
              <a:lnSpc>
                <a:spcPct val="150000"/>
              </a:lnSpc>
            </a:pPr>
            <a:r>
              <a:rPr lang="zh-CN" altLang="en-US" sz="2000" b="1" kern="100" dirty="0">
                <a:solidFill>
                  <a:schemeClr val="accent4">
                    <a:lumMod val="75000"/>
                    <a:lumOff val="25000"/>
                  </a:schemeClr>
                </a:solidFill>
                <a:effectLst/>
                <a:latin typeface="幼圆" panose="02010509060101010101" pitchFamily="49" charset="-122"/>
                <a:ea typeface="幼圆" panose="02010509060101010101" pitchFamily="49" charset="-122"/>
              </a:rPr>
              <a:t>算法思路：</a:t>
            </a:r>
            <a:endPar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endParaRPr>
          </a:p>
          <a:p>
            <a:pPr marL="455930" indent="-200025" fontAlgn="ctr">
              <a:lnSpc>
                <a:spcPct val="150000"/>
              </a:lnSpc>
            </a:pPr>
            <a:r>
              <a:rPr lang="zh-CN" altLang="en-US" sz="2000" kern="100" dirty="0">
                <a:latin typeface="幼圆" panose="02010509060101010101" pitchFamily="49" charset="-122"/>
                <a:ea typeface="幼圆" panose="02010509060101010101" pitchFamily="49" charset="-122"/>
              </a:rPr>
              <a:t>重复扫描未排序序列</a:t>
            </a:r>
            <a:r>
              <a:rPr lang="en-US" altLang="zh-CN" sz="2000" kern="100" dirty="0">
                <a:latin typeface="幼圆" panose="02010509060101010101" pitchFamily="49" charset="-122"/>
                <a:ea typeface="幼圆" panose="02010509060101010101" pitchFamily="49" charset="-122"/>
              </a:rPr>
              <a:t>,</a:t>
            </a:r>
            <a:r>
              <a:rPr lang="zh-CN" altLang="en-US" sz="2000" kern="100" dirty="0">
                <a:latin typeface="幼圆" panose="02010509060101010101" pitchFamily="49" charset="-122"/>
                <a:ea typeface="幼圆" panose="02010509060101010101" pitchFamily="49" charset="-122"/>
              </a:rPr>
              <a:t>使相邻两数相比</a:t>
            </a:r>
            <a:r>
              <a:rPr lang="en-US" altLang="zh-CN" sz="2000" kern="100" dirty="0">
                <a:latin typeface="幼圆" panose="02010509060101010101" pitchFamily="49" charset="-122"/>
                <a:ea typeface="幼圆" panose="02010509060101010101" pitchFamily="49" charset="-122"/>
              </a:rPr>
              <a:t>,</a:t>
            </a:r>
            <a:r>
              <a:rPr lang="zh-CN" altLang="en-US" sz="2000" kern="100" dirty="0">
                <a:latin typeface="幼圆" panose="02010509060101010101" pitchFamily="49" charset="-122"/>
                <a:ea typeface="幼圆" panose="02010509060101010101" pitchFamily="49" charset="-122"/>
              </a:rPr>
              <a:t>将较大数放到后</a:t>
            </a:r>
            <a:endParaRPr lang="en-US" altLang="zh-CN" sz="2000" kern="100" dirty="0">
              <a:latin typeface="幼圆" panose="02010509060101010101" pitchFamily="49" charset="-122"/>
              <a:ea typeface="幼圆" panose="02010509060101010101" pitchFamily="49" charset="-122"/>
            </a:endParaRPr>
          </a:p>
          <a:p>
            <a:pPr marL="455930" indent="-200025" fontAlgn="ctr">
              <a:lnSpc>
                <a:spcPct val="150000"/>
              </a:lnSpc>
            </a:pPr>
            <a:r>
              <a:rPr lang="zh-CN" altLang="en-US" sz="2000" kern="100" dirty="0">
                <a:latin typeface="幼圆" panose="02010509060101010101" pitchFamily="49" charset="-122"/>
                <a:ea typeface="幼圆" panose="02010509060101010101" pitchFamily="49" charset="-122"/>
              </a:rPr>
              <a:t>面</a:t>
            </a:r>
            <a:r>
              <a:rPr lang="en-US" altLang="zh-CN" sz="2000" kern="100" dirty="0">
                <a:latin typeface="幼圆" panose="02010509060101010101" pitchFamily="49" charset="-122"/>
                <a:ea typeface="幼圆" panose="02010509060101010101" pitchFamily="49" charset="-122"/>
              </a:rPr>
              <a:t>,</a:t>
            </a:r>
            <a:r>
              <a:rPr lang="zh-CN" altLang="en-US" sz="2000" kern="100" dirty="0">
                <a:latin typeface="幼圆" panose="02010509060101010101" pitchFamily="49" charset="-122"/>
                <a:ea typeface="幼圆" panose="02010509060101010101" pitchFamily="49" charset="-122"/>
              </a:rPr>
              <a:t>直至遍历到最后两个数</a:t>
            </a:r>
            <a:r>
              <a:rPr lang="en-US" altLang="zh-CN" sz="2000" kern="100" dirty="0">
                <a:latin typeface="幼圆" panose="02010509060101010101" pitchFamily="49" charset="-122"/>
                <a:ea typeface="幼圆" panose="02010509060101010101" pitchFamily="49" charset="-122"/>
              </a:rPr>
              <a:t>,</a:t>
            </a:r>
            <a:r>
              <a:rPr lang="zh-CN" altLang="en-US" sz="2000" kern="100" dirty="0">
                <a:latin typeface="幼圆" panose="02010509060101010101" pitchFamily="49" charset="-122"/>
                <a:ea typeface="幼圆" panose="02010509060101010101" pitchFamily="49" charset="-122"/>
              </a:rPr>
              <a:t>比较之后</a:t>
            </a:r>
            <a:r>
              <a:rPr lang="en-US" altLang="zh-CN" sz="2000" kern="100" dirty="0">
                <a:latin typeface="幼圆" panose="02010509060101010101" pitchFamily="49" charset="-122"/>
                <a:ea typeface="幼圆" panose="02010509060101010101" pitchFamily="49" charset="-122"/>
              </a:rPr>
              <a:t>,</a:t>
            </a:r>
            <a:r>
              <a:rPr lang="zh-CN" altLang="en-US" sz="2000" kern="100" dirty="0">
                <a:latin typeface="幼圆" panose="02010509060101010101" pitchFamily="49" charset="-122"/>
                <a:ea typeface="幼圆" panose="02010509060101010101" pitchFamily="49" charset="-122"/>
              </a:rPr>
              <a:t>最大数即被放到了</a:t>
            </a:r>
            <a:endParaRPr lang="en-US" altLang="zh-CN" sz="2000" kern="100" dirty="0">
              <a:latin typeface="幼圆" panose="02010509060101010101" pitchFamily="49" charset="-122"/>
              <a:ea typeface="幼圆" panose="02010509060101010101" pitchFamily="49" charset="-122"/>
            </a:endParaRPr>
          </a:p>
          <a:p>
            <a:pPr marL="455930" indent="-200025" fontAlgn="ctr">
              <a:lnSpc>
                <a:spcPct val="150000"/>
              </a:lnSpc>
            </a:pPr>
            <a:r>
              <a:rPr lang="zh-CN" altLang="en-US" sz="2000" kern="100" dirty="0">
                <a:latin typeface="幼圆" panose="02010509060101010101" pitchFamily="49" charset="-122"/>
                <a:ea typeface="幼圆" panose="02010509060101010101" pitchFamily="49" charset="-122"/>
              </a:rPr>
              <a:t>末尾</a:t>
            </a:r>
            <a:endParaRPr lang="en-US" altLang="zh-CN" sz="2000" kern="100" dirty="0">
              <a:effectLst/>
              <a:latin typeface="幼圆" panose="02010509060101010101" pitchFamily="49" charset="-122"/>
              <a:ea typeface="幼圆" panose="02010509060101010101" pitchFamily="49" charset="-122"/>
            </a:endParaRPr>
          </a:p>
        </p:txBody>
      </p:sp>
    </p:spTree>
    <p:extLst>
      <p:ext uri="{BB962C8B-B14F-4D97-AF65-F5344CB8AC3E}">
        <p14:creationId xmlns:p14="http://schemas.microsoft.com/office/powerpoint/2010/main" val="1952130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052"/>
                                        </p:tgtEl>
                                        <p:attrNameLst>
                                          <p:attrName>style.visibility</p:attrName>
                                        </p:attrNameLst>
                                      </p:cBhvr>
                                      <p:to>
                                        <p:strVal val="visible"/>
                                      </p:to>
                                    </p:set>
                                    <p:anim calcmode="lin" valueType="num">
                                      <p:cBhvr additive="base">
                                        <p:cTn id="15" dur="500" fill="hold"/>
                                        <p:tgtEl>
                                          <p:spTgt spid="2052"/>
                                        </p:tgtEl>
                                        <p:attrNameLst>
                                          <p:attrName>ppt_x</p:attrName>
                                        </p:attrNameLst>
                                      </p:cBhvr>
                                      <p:tavLst>
                                        <p:tav tm="0">
                                          <p:val>
                                            <p:strVal val="#ppt_x"/>
                                          </p:val>
                                        </p:tav>
                                        <p:tav tm="100000">
                                          <p:val>
                                            <p:strVal val="#ppt_x"/>
                                          </p:val>
                                        </p:tav>
                                      </p:tavLst>
                                    </p:anim>
                                    <p:anim calcmode="lin" valueType="num">
                                      <p:cBhvr additive="base">
                                        <p:cTn id="16" dur="500" fill="hold"/>
                                        <p:tgtEl>
                                          <p:spTgt spid="205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sp>
        <p:nvSpPr>
          <p:cNvPr id="62" name="矩形 6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pic>
        <p:nvPicPr>
          <p:cNvPr id="36" name="图片 35"/>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5" name="文本框 14">
            <a:extLst>
              <a:ext uri="{FF2B5EF4-FFF2-40B4-BE49-F238E27FC236}">
                <a16:creationId xmlns:a16="http://schemas.microsoft.com/office/drawing/2014/main" id="{08C786E0-38A9-4F5A-8B8C-801FC475793B}"/>
              </a:ext>
            </a:extLst>
          </p:cNvPr>
          <p:cNvSpPr txBox="1"/>
          <p:nvPr/>
        </p:nvSpPr>
        <p:spPr>
          <a:xfrm>
            <a:off x="4982634" y="865636"/>
            <a:ext cx="2226732" cy="707886"/>
          </a:xfrm>
          <a:prstGeom prst="rect">
            <a:avLst/>
          </a:prstGeom>
          <a:noFill/>
        </p:spPr>
        <p:txBody>
          <a:bodyPr wrap="square" rtlCol="0">
            <a:spAutoFit/>
          </a:bodyPr>
          <a:lstStyle/>
          <a:p>
            <a:r>
              <a:rPr lang="zh-CN" altLang="en-US" sz="4000" b="1" dirty="0">
                <a:solidFill>
                  <a:schemeClr val="bg1">
                    <a:lumMod val="50000"/>
                  </a:schemeClr>
                </a:solidFill>
                <a:latin typeface="幼圆" panose="02010509060101010101" pitchFamily="49" charset="-122"/>
                <a:ea typeface="幼圆" panose="02010509060101010101" pitchFamily="49" charset="-122"/>
              </a:rPr>
              <a:t>算法分析</a:t>
            </a:r>
          </a:p>
        </p:txBody>
      </p:sp>
      <p:sp>
        <p:nvSpPr>
          <p:cNvPr id="14" name="文本框 13">
            <a:extLst>
              <a:ext uri="{FF2B5EF4-FFF2-40B4-BE49-F238E27FC236}">
                <a16:creationId xmlns:a16="http://schemas.microsoft.com/office/drawing/2014/main" id="{6CC1F697-A709-46BF-9661-D930791FE494}"/>
              </a:ext>
            </a:extLst>
          </p:cNvPr>
          <p:cNvSpPr txBox="1"/>
          <p:nvPr/>
        </p:nvSpPr>
        <p:spPr>
          <a:xfrm>
            <a:off x="1862665" y="1935863"/>
            <a:ext cx="8610601" cy="4255067"/>
          </a:xfrm>
          <a:prstGeom prst="rect">
            <a:avLst/>
          </a:prstGeom>
          <a:noFill/>
        </p:spPr>
        <p:txBody>
          <a:bodyPr wrap="square" tIns="72000">
            <a:spAutoFit/>
          </a:bodyPr>
          <a:lstStyle/>
          <a:p>
            <a:pPr>
              <a:lnSpc>
                <a:spcPct val="150000"/>
              </a:lnSpc>
            </a:pPr>
            <a:r>
              <a:rPr lang="zh-CN" altLang="en-US" sz="2800" b="1" dirty="0">
                <a:latin typeface="幼圆" panose="02010509060101010101" pitchFamily="49" charset="-122"/>
                <a:ea typeface="幼圆" panose="02010509060101010101" pitchFamily="49" charset="-122"/>
              </a:rPr>
              <a:t>①时间复杂度</a:t>
            </a:r>
            <a:endParaRPr lang="en-US" altLang="zh-CN" sz="2800" b="1" dirty="0">
              <a:latin typeface="幼圆" panose="02010509060101010101" pitchFamily="49" charset="-122"/>
              <a:ea typeface="幼圆" panose="02010509060101010101" pitchFamily="49" charset="-122"/>
            </a:endParaRPr>
          </a:p>
          <a:p>
            <a:pPr>
              <a:lnSpc>
                <a:spcPct val="150000"/>
              </a:lnSpc>
            </a:pPr>
            <a:r>
              <a:rPr lang="zh-CN" altLang="en-US" dirty="0">
                <a:latin typeface="幼圆" panose="02010509060101010101" pitchFamily="49" charset="-122"/>
                <a:ea typeface="幼圆" panose="02010509060101010101" pitchFamily="49" charset="-122"/>
              </a:rPr>
              <a:t>该函数包括两层循环，外层循环的循环体共执行</a:t>
            </a:r>
            <a:r>
              <a:rPr lang="en-US" altLang="zh-CN" dirty="0">
                <a:latin typeface="幼圆" panose="02010509060101010101" pitchFamily="49" charset="-122"/>
                <a:ea typeface="幼圆" panose="02010509060101010101" pitchFamily="49" charset="-122"/>
              </a:rPr>
              <a:t>num-1</a:t>
            </a:r>
            <a:r>
              <a:rPr lang="zh-CN" altLang="en-US" dirty="0">
                <a:latin typeface="幼圆" panose="02010509060101010101" pitchFamily="49" charset="-122"/>
                <a:ea typeface="幼圆" panose="02010509060101010101" pitchFamily="49" charset="-122"/>
              </a:rPr>
              <a:t>次，里层循环的循环体每次执行</a:t>
            </a:r>
            <a:r>
              <a:rPr lang="en-US" altLang="zh-CN" dirty="0">
                <a:latin typeface="幼圆" panose="02010509060101010101" pitchFamily="49" charset="-122"/>
                <a:ea typeface="幼圆" panose="02010509060101010101" pitchFamily="49" charset="-122"/>
              </a:rPr>
              <a:t>num-1-i</a:t>
            </a:r>
            <a:r>
              <a:rPr lang="zh-CN" altLang="en-US" dirty="0">
                <a:latin typeface="幼圆" panose="02010509060101010101" pitchFamily="49" charset="-122"/>
                <a:ea typeface="幼圆" panose="02010509060101010101" pitchFamily="49" charset="-122"/>
              </a:rPr>
              <a:t>次。</a:t>
            </a:r>
          </a:p>
          <a:p>
            <a:pPr>
              <a:lnSpc>
                <a:spcPct val="150000"/>
              </a:lnSpc>
            </a:pPr>
            <a:r>
              <a:rPr lang="zh-CN" altLang="en-US" dirty="0">
                <a:latin typeface="幼圆" panose="02010509060101010101" pitchFamily="49" charset="-122"/>
                <a:ea typeface="幼圆" panose="02010509060101010101" pitchFamily="49" charset="-122"/>
              </a:rPr>
              <a:t>最好情况下：数组已有序，该函数的时间复杂度为</a:t>
            </a:r>
            <a:r>
              <a:rPr lang="en-US" altLang="zh-CN" dirty="0">
                <a:latin typeface="幼圆" panose="02010509060101010101" pitchFamily="49" charset="-122"/>
                <a:ea typeface="幼圆" panose="02010509060101010101" pitchFamily="49" charset="-122"/>
              </a:rPr>
              <a:t>O(n)</a:t>
            </a:r>
          </a:p>
          <a:p>
            <a:pPr>
              <a:lnSpc>
                <a:spcPct val="150000"/>
              </a:lnSpc>
            </a:pPr>
            <a:r>
              <a:rPr lang="zh-CN" altLang="en-US" dirty="0">
                <a:latin typeface="幼圆" panose="02010509060101010101" pitchFamily="49" charset="-122"/>
                <a:ea typeface="幼圆" panose="02010509060101010101" pitchFamily="49" charset="-122"/>
              </a:rPr>
              <a:t>最坏情况下：数组逆序，需要执行</a:t>
            </a:r>
            <a:r>
              <a:rPr lang="en-US" altLang="zh-CN" dirty="0">
                <a:latin typeface="幼圆" panose="02010509060101010101" pitchFamily="49" charset="-122"/>
                <a:ea typeface="幼圆" panose="02010509060101010101" pitchFamily="49" charset="-122"/>
              </a:rPr>
              <a:t>n×</a:t>
            </a:r>
            <a:r>
              <a:rPr lang="zh-CN" altLang="en-US" dirty="0">
                <a:latin typeface="幼圆" panose="02010509060101010101" pitchFamily="49" charset="-122"/>
                <a:ea typeface="幼圆" panose="02010509060101010101" pitchFamily="49" charset="-122"/>
              </a:rPr>
              <a:t>（</a:t>
            </a:r>
            <a:r>
              <a:rPr lang="en-US" altLang="zh-CN" dirty="0">
                <a:latin typeface="幼圆" panose="02010509060101010101" pitchFamily="49" charset="-122"/>
                <a:ea typeface="幼圆" panose="02010509060101010101" pitchFamily="49" charset="-122"/>
              </a:rPr>
              <a:t>n-1</a:t>
            </a:r>
            <a:r>
              <a:rPr lang="zh-CN" altLang="en-US" dirty="0">
                <a:latin typeface="幼圆" panose="02010509060101010101" pitchFamily="49" charset="-122"/>
                <a:ea typeface="幼圆" panose="02010509060101010101" pitchFamily="49" charset="-122"/>
              </a:rPr>
              <a:t>）</a:t>
            </a:r>
            <a:r>
              <a:rPr lang="en-US" altLang="zh-CN" dirty="0">
                <a:latin typeface="幼圆" panose="02010509060101010101" pitchFamily="49" charset="-122"/>
                <a:ea typeface="幼圆" panose="02010509060101010101" pitchFamily="49" charset="-122"/>
              </a:rPr>
              <a:t>/2</a:t>
            </a:r>
            <a:r>
              <a:rPr lang="zh-CN" altLang="en-US" dirty="0">
                <a:latin typeface="幼圆" panose="02010509060101010101" pitchFamily="49" charset="-122"/>
                <a:ea typeface="幼圆" panose="02010509060101010101" pitchFamily="49" charset="-122"/>
              </a:rPr>
              <a:t>次交换操作，时间复杂度为</a:t>
            </a:r>
            <a:r>
              <a:rPr lang="en-US" altLang="zh-CN" dirty="0">
                <a:latin typeface="幼圆" panose="02010509060101010101" pitchFamily="49" charset="-122"/>
                <a:ea typeface="幼圆" panose="02010509060101010101" pitchFamily="49" charset="-122"/>
              </a:rPr>
              <a:t>O(n^2)</a:t>
            </a:r>
          </a:p>
          <a:p>
            <a:pPr>
              <a:lnSpc>
                <a:spcPct val="150000"/>
              </a:lnSpc>
            </a:pPr>
            <a:r>
              <a:rPr lang="zh-CN" altLang="en-US" dirty="0">
                <a:latin typeface="幼圆" panose="02010509060101010101" pitchFamily="49" charset="-122"/>
                <a:ea typeface="幼圆" panose="02010509060101010101" pitchFamily="49" charset="-122"/>
              </a:rPr>
              <a:t>平均时间复杂度：</a:t>
            </a:r>
            <a:r>
              <a:rPr lang="en-US" altLang="zh-CN" dirty="0">
                <a:latin typeface="幼圆" panose="02010509060101010101" pitchFamily="49" charset="-122"/>
                <a:ea typeface="幼圆" panose="02010509060101010101" pitchFamily="49" charset="-122"/>
              </a:rPr>
              <a:t>O(n^2)</a:t>
            </a:r>
            <a:r>
              <a:rPr lang="zh-CN" altLang="en-US" dirty="0">
                <a:latin typeface="幼圆" panose="02010509060101010101" pitchFamily="49" charset="-122"/>
                <a:ea typeface="幼圆" panose="02010509060101010101" pitchFamily="49" charset="-122"/>
              </a:rPr>
              <a:t>。</a:t>
            </a:r>
          </a:p>
          <a:p>
            <a:pPr>
              <a:lnSpc>
                <a:spcPct val="150000"/>
              </a:lnSpc>
            </a:pPr>
            <a:endParaRPr lang="zh-CN" altLang="en-US" dirty="0">
              <a:latin typeface="幼圆" panose="02010509060101010101" pitchFamily="49" charset="-122"/>
              <a:ea typeface="幼圆" panose="02010509060101010101" pitchFamily="49" charset="-122"/>
            </a:endParaRPr>
          </a:p>
          <a:p>
            <a:pPr>
              <a:lnSpc>
                <a:spcPct val="150000"/>
              </a:lnSpc>
            </a:pPr>
            <a:r>
              <a:rPr lang="zh-CN" altLang="en-US" sz="2800" b="1" dirty="0">
                <a:latin typeface="幼圆" panose="02010509060101010101" pitchFamily="49" charset="-122"/>
                <a:ea typeface="幼圆" panose="02010509060101010101" pitchFamily="49" charset="-122"/>
              </a:rPr>
              <a:t>②空间复杂度</a:t>
            </a:r>
            <a:endParaRPr lang="en-US" altLang="zh-CN" sz="2800" b="1" dirty="0">
              <a:latin typeface="幼圆" panose="02010509060101010101" pitchFamily="49" charset="-122"/>
              <a:ea typeface="幼圆" panose="02010509060101010101" pitchFamily="49" charset="-122"/>
            </a:endParaRPr>
          </a:p>
          <a:p>
            <a:pPr>
              <a:lnSpc>
                <a:spcPct val="150000"/>
              </a:lnSpc>
            </a:pPr>
            <a:r>
              <a:rPr lang="zh-CN" altLang="en-US" dirty="0">
                <a:latin typeface="幼圆" panose="02010509060101010101" pitchFamily="49" charset="-122"/>
                <a:ea typeface="幼圆" panose="02010509060101010101" pitchFamily="49" charset="-122"/>
              </a:rPr>
              <a:t>在原数组上进行排序，空间复杂度为</a:t>
            </a:r>
            <a:r>
              <a:rPr lang="en-US" altLang="zh-CN" dirty="0">
                <a:latin typeface="幼圆" panose="02010509060101010101" pitchFamily="49" charset="-122"/>
                <a:ea typeface="幼圆" panose="02010509060101010101" pitchFamily="49" charset="-122"/>
              </a:rPr>
              <a:t>O(1)</a:t>
            </a:r>
            <a:r>
              <a:rPr lang="zh-CN" altLang="en-US" dirty="0">
                <a:latin typeface="幼圆" panose="02010509060101010101" pitchFamily="49" charset="-122"/>
                <a:ea typeface="幼圆" panose="02010509060101010101" pitchFamily="49" charset="-122"/>
              </a:rPr>
              <a:t>。</a:t>
            </a:r>
          </a:p>
        </p:txBody>
      </p:sp>
    </p:spTree>
    <p:extLst>
      <p:ext uri="{BB962C8B-B14F-4D97-AF65-F5344CB8AC3E}">
        <p14:creationId xmlns:p14="http://schemas.microsoft.com/office/powerpoint/2010/main" val="3592495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sp>
        <p:nvSpPr>
          <p:cNvPr id="62" name="矩形 6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pic>
        <p:nvPicPr>
          <p:cNvPr id="36" name="图片 35"/>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5" name="文本框 14">
            <a:extLst>
              <a:ext uri="{FF2B5EF4-FFF2-40B4-BE49-F238E27FC236}">
                <a16:creationId xmlns:a16="http://schemas.microsoft.com/office/drawing/2014/main" id="{08C786E0-38A9-4F5A-8B8C-801FC475793B}"/>
              </a:ext>
            </a:extLst>
          </p:cNvPr>
          <p:cNvSpPr txBox="1"/>
          <p:nvPr/>
        </p:nvSpPr>
        <p:spPr>
          <a:xfrm>
            <a:off x="4982634" y="783507"/>
            <a:ext cx="2226732" cy="707886"/>
          </a:xfrm>
          <a:prstGeom prst="rect">
            <a:avLst/>
          </a:prstGeom>
          <a:noFill/>
        </p:spPr>
        <p:txBody>
          <a:bodyPr wrap="square" rtlCol="0">
            <a:spAutoFit/>
          </a:bodyPr>
          <a:lstStyle/>
          <a:p>
            <a:r>
              <a:rPr lang="zh-CN" altLang="en-US" sz="4000" b="1" dirty="0">
                <a:solidFill>
                  <a:schemeClr val="bg1">
                    <a:lumMod val="50000"/>
                  </a:schemeClr>
                </a:solidFill>
                <a:latin typeface="幼圆" panose="02010509060101010101" pitchFamily="49" charset="-122"/>
                <a:ea typeface="幼圆" panose="02010509060101010101" pitchFamily="49" charset="-122"/>
              </a:rPr>
              <a:t>结果分析</a:t>
            </a:r>
          </a:p>
        </p:txBody>
      </p:sp>
      <p:sp>
        <p:nvSpPr>
          <p:cNvPr id="17" name="文本框 16">
            <a:extLst>
              <a:ext uri="{FF2B5EF4-FFF2-40B4-BE49-F238E27FC236}">
                <a16:creationId xmlns:a16="http://schemas.microsoft.com/office/drawing/2014/main" id="{AAB3A055-4772-4865-9C84-80C6094DE716}"/>
              </a:ext>
            </a:extLst>
          </p:cNvPr>
          <p:cNvSpPr txBox="1"/>
          <p:nvPr/>
        </p:nvSpPr>
        <p:spPr>
          <a:xfrm>
            <a:off x="4715114" y="1352044"/>
            <a:ext cx="7115500" cy="4670565"/>
          </a:xfrm>
          <a:prstGeom prst="rect">
            <a:avLst/>
          </a:prstGeom>
          <a:noFill/>
        </p:spPr>
        <p:txBody>
          <a:bodyPr wrap="square" tIns="72000">
            <a:spAutoFit/>
          </a:bodyPr>
          <a:lstStyle/>
          <a:p>
            <a:pPr indent="266700" algn="just">
              <a:lnSpc>
                <a:spcPct val="150000"/>
              </a:lnSpc>
            </a:pPr>
            <a:r>
              <a:rPr lang="zh-CN" altLang="en-US" sz="2800" b="1" dirty="0">
                <a:latin typeface="幼圆" panose="02010509060101010101" pitchFamily="49" charset="-122"/>
                <a:ea typeface="幼圆" panose="02010509060101010101" pitchFamily="49" charset="-122"/>
              </a:rPr>
              <a:t>①</a:t>
            </a:r>
            <a:r>
              <a:rPr lang="zh-CN" altLang="en-US" kern="100" dirty="0">
                <a:latin typeface="幼圆" panose="02010509060101010101" pitchFamily="49" charset="-122"/>
                <a:ea typeface="幼圆" panose="02010509060101010101" pitchFamily="49" charset="-122"/>
              </a:rPr>
              <a:t>由图</a:t>
            </a:r>
            <a:r>
              <a:rPr lang="en-US" altLang="zh-CN" kern="100" dirty="0">
                <a:latin typeface="幼圆" panose="02010509060101010101" pitchFamily="49" charset="-122"/>
                <a:ea typeface="幼圆" panose="02010509060101010101" pitchFamily="49" charset="-122"/>
              </a:rPr>
              <a:t>19</a:t>
            </a:r>
            <a:r>
              <a:rPr lang="zh-CN" altLang="en-US" kern="100" dirty="0">
                <a:latin typeface="幼圆" panose="02010509060101010101" pitchFamily="49" charset="-122"/>
                <a:ea typeface="幼圆" panose="02010509060101010101" pitchFamily="49" charset="-122"/>
              </a:rPr>
              <a:t>可以看出，冒泡排序的理论和实验图像基本重合，拟合程度较好。但在</a:t>
            </a:r>
            <a:r>
              <a:rPr lang="en-US" altLang="zh-CN" kern="100" dirty="0">
                <a:latin typeface="幼圆" panose="02010509060101010101" pitchFamily="49" charset="-122"/>
                <a:ea typeface="幼圆" panose="02010509060101010101" pitchFamily="49" charset="-122"/>
              </a:rPr>
              <a:t>n=100</a:t>
            </a:r>
            <a:r>
              <a:rPr lang="zh-CN" altLang="en-US" kern="100" dirty="0">
                <a:latin typeface="幼圆" panose="02010509060101010101" pitchFamily="49" charset="-122"/>
                <a:ea typeface="幼圆" panose="02010509060101010101" pitchFamily="49" charset="-122"/>
              </a:rPr>
              <a:t>及以下时，实际时间更大，而在</a:t>
            </a:r>
            <a:r>
              <a:rPr lang="en-US" altLang="zh-CN" kern="100" dirty="0">
                <a:latin typeface="幼圆" panose="02010509060101010101" pitchFamily="49" charset="-122"/>
                <a:ea typeface="幼圆" panose="02010509060101010101" pitchFamily="49" charset="-122"/>
              </a:rPr>
              <a:t>n=1000</a:t>
            </a:r>
            <a:r>
              <a:rPr lang="zh-CN" altLang="en-US" kern="100" dirty="0">
                <a:latin typeface="幼圆" panose="02010509060101010101" pitchFamily="49" charset="-122"/>
                <a:ea typeface="幼圆" panose="02010509060101010101" pitchFamily="49" charset="-122"/>
              </a:rPr>
              <a:t>到</a:t>
            </a:r>
            <a:r>
              <a:rPr lang="en-US" altLang="zh-CN" kern="100" dirty="0">
                <a:latin typeface="幼圆" panose="02010509060101010101" pitchFamily="49" charset="-122"/>
                <a:ea typeface="幼圆" panose="02010509060101010101" pitchFamily="49" charset="-122"/>
              </a:rPr>
              <a:t>n=100000</a:t>
            </a:r>
            <a:r>
              <a:rPr lang="zh-CN" altLang="en-US" kern="100" dirty="0">
                <a:latin typeface="幼圆" panose="02010509060101010101" pitchFamily="49" charset="-122"/>
                <a:ea typeface="幼圆" panose="02010509060101010101" pitchFamily="49" charset="-122"/>
              </a:rPr>
              <a:t>之间，理论时间大于实际时间。</a:t>
            </a:r>
            <a:endParaRPr lang="en-US" altLang="zh-CN" kern="100" dirty="0">
              <a:latin typeface="幼圆" panose="02010509060101010101" pitchFamily="49" charset="-122"/>
              <a:ea typeface="幼圆" panose="02010509060101010101" pitchFamily="49" charset="-122"/>
            </a:endParaRPr>
          </a:p>
          <a:p>
            <a:pPr indent="266700" algn="just">
              <a:lnSpc>
                <a:spcPct val="150000"/>
              </a:lnSpc>
            </a:pPr>
            <a:endParaRPr lang="zh-CN" altLang="en-US" dirty="0">
              <a:latin typeface="幼圆" panose="02010509060101010101" pitchFamily="49" charset="-122"/>
              <a:ea typeface="幼圆" panose="02010509060101010101" pitchFamily="49" charset="-122"/>
            </a:endParaRPr>
          </a:p>
          <a:p>
            <a:pPr indent="266700" algn="just">
              <a:lnSpc>
                <a:spcPct val="150000"/>
              </a:lnSpc>
            </a:pPr>
            <a:r>
              <a:rPr lang="zh-CN" altLang="en-US" sz="2800" dirty="0">
                <a:latin typeface="幼圆" panose="02010509060101010101" pitchFamily="49" charset="-122"/>
                <a:ea typeface="幼圆" panose="02010509060101010101" pitchFamily="49" charset="-122"/>
              </a:rPr>
              <a:t>②</a:t>
            </a:r>
            <a:r>
              <a:rPr lang="zh-CN" altLang="en-US" b="1" u="sng" kern="100" dirty="0">
                <a:latin typeface="幼圆" panose="02010509060101010101" pitchFamily="49" charset="-122"/>
                <a:ea typeface="幼圆" panose="02010509060101010101" pitchFamily="49" charset="-122"/>
              </a:rPr>
              <a:t>其原因可能在于，执行交换操作的时间占比发生变化</a:t>
            </a:r>
            <a:r>
              <a:rPr lang="zh-CN" altLang="en-US" b="1" kern="100" dirty="0">
                <a:latin typeface="幼圆" panose="02010509060101010101" pitchFamily="49" charset="-122"/>
                <a:ea typeface="幼圆" panose="02010509060101010101" pitchFamily="49" charset="-122"/>
              </a:rPr>
              <a:t>。</a:t>
            </a:r>
            <a:r>
              <a:rPr lang="zh-CN" altLang="en-US" kern="100" dirty="0">
                <a:latin typeface="幼圆" panose="02010509060101010101" pitchFamily="49" charset="-122"/>
                <a:ea typeface="幼圆" panose="02010509060101010101" pitchFamily="49" charset="-122"/>
              </a:rPr>
              <a:t>数据规模较小时交换的次数不多，而为了方便时间计算，循环了多次，所调用的随机数数组生成函数的时间占比更大，使实际时间大于理论值。</a:t>
            </a:r>
          </a:p>
          <a:p>
            <a:pPr indent="266700" algn="just">
              <a:lnSpc>
                <a:spcPct val="150000"/>
              </a:lnSpc>
            </a:pPr>
            <a:r>
              <a:rPr lang="zh-CN" altLang="en-US" kern="100" dirty="0">
                <a:latin typeface="幼圆" panose="02010509060101010101" pitchFamily="49" charset="-122"/>
                <a:ea typeface="幼圆" panose="02010509060101010101" pitchFamily="49" charset="-122"/>
              </a:rPr>
              <a:t>   而数据规模较大时，调用随机数数组生成函数的时间占比减小，执行交换操作的时间占比更大，而实际的交换次数少于理论值，使得实际的时间小于理论时间。</a:t>
            </a:r>
          </a:p>
        </p:txBody>
      </p:sp>
      <p:pic>
        <p:nvPicPr>
          <p:cNvPr id="5" name="图片 4">
            <a:extLst>
              <a:ext uri="{FF2B5EF4-FFF2-40B4-BE49-F238E27FC236}">
                <a16:creationId xmlns:a16="http://schemas.microsoft.com/office/drawing/2014/main" id="{987C88CF-E2C1-4F7F-86F7-857B3E2EBAEF}"/>
              </a:ext>
            </a:extLst>
          </p:cNvPr>
          <p:cNvPicPr>
            <a:picLocks noChangeAspect="1"/>
          </p:cNvPicPr>
          <p:nvPr/>
        </p:nvPicPr>
        <p:blipFill>
          <a:blip r:embed="rId4"/>
          <a:stretch>
            <a:fillRect/>
          </a:stretch>
        </p:blipFill>
        <p:spPr>
          <a:xfrm>
            <a:off x="239433" y="1840557"/>
            <a:ext cx="4197100" cy="1247624"/>
          </a:xfrm>
          <a:prstGeom prst="rect">
            <a:avLst/>
          </a:prstGeom>
        </p:spPr>
      </p:pic>
      <p:pic>
        <p:nvPicPr>
          <p:cNvPr id="8" name="图片 7">
            <a:extLst>
              <a:ext uri="{FF2B5EF4-FFF2-40B4-BE49-F238E27FC236}">
                <a16:creationId xmlns:a16="http://schemas.microsoft.com/office/drawing/2014/main" id="{99373BF7-06BA-4AD7-AF2D-7BD1EF419E24}"/>
              </a:ext>
            </a:extLst>
          </p:cNvPr>
          <p:cNvPicPr>
            <a:picLocks noChangeAspect="1"/>
          </p:cNvPicPr>
          <p:nvPr/>
        </p:nvPicPr>
        <p:blipFill>
          <a:blip r:embed="rId5"/>
          <a:stretch>
            <a:fillRect/>
          </a:stretch>
        </p:blipFill>
        <p:spPr>
          <a:xfrm>
            <a:off x="73434" y="3259666"/>
            <a:ext cx="4529098" cy="2760134"/>
          </a:xfrm>
          <a:prstGeom prst="rect">
            <a:avLst/>
          </a:prstGeom>
        </p:spPr>
      </p:pic>
    </p:spTree>
    <p:extLst>
      <p:ext uri="{BB962C8B-B14F-4D97-AF65-F5344CB8AC3E}">
        <p14:creationId xmlns:p14="http://schemas.microsoft.com/office/powerpoint/2010/main" val="2513890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sp>
        <p:nvSpPr>
          <p:cNvPr id="62" name="矩形 6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pic>
        <p:nvPicPr>
          <p:cNvPr id="36" name="图片 35"/>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5" name="文本框 14">
            <a:extLst>
              <a:ext uri="{FF2B5EF4-FFF2-40B4-BE49-F238E27FC236}">
                <a16:creationId xmlns:a16="http://schemas.microsoft.com/office/drawing/2014/main" id="{08C786E0-38A9-4F5A-8B8C-801FC475793B}"/>
              </a:ext>
            </a:extLst>
          </p:cNvPr>
          <p:cNvSpPr txBox="1"/>
          <p:nvPr/>
        </p:nvSpPr>
        <p:spPr>
          <a:xfrm>
            <a:off x="4982634" y="704025"/>
            <a:ext cx="2226732" cy="707886"/>
          </a:xfrm>
          <a:prstGeom prst="rect">
            <a:avLst/>
          </a:prstGeom>
          <a:noFill/>
        </p:spPr>
        <p:txBody>
          <a:bodyPr wrap="square" rtlCol="0">
            <a:spAutoFit/>
          </a:bodyPr>
          <a:lstStyle/>
          <a:p>
            <a:r>
              <a:rPr lang="zh-CN" altLang="en-US" sz="4000" b="1" dirty="0">
                <a:solidFill>
                  <a:schemeClr val="bg1">
                    <a:lumMod val="50000"/>
                  </a:schemeClr>
                </a:solidFill>
                <a:latin typeface="幼圆" panose="02010509060101010101" pitchFamily="49" charset="-122"/>
                <a:ea typeface="幼圆" panose="02010509060101010101" pitchFamily="49" charset="-122"/>
              </a:rPr>
              <a:t>合并排序</a:t>
            </a:r>
          </a:p>
        </p:txBody>
      </p:sp>
      <p:sp>
        <p:nvSpPr>
          <p:cNvPr id="26" name="文本框 25">
            <a:extLst>
              <a:ext uri="{FF2B5EF4-FFF2-40B4-BE49-F238E27FC236}">
                <a16:creationId xmlns:a16="http://schemas.microsoft.com/office/drawing/2014/main" id="{5F47A69F-7A57-4DFD-8A52-0A5E01096631}"/>
              </a:ext>
            </a:extLst>
          </p:cNvPr>
          <p:cNvSpPr txBox="1"/>
          <p:nvPr/>
        </p:nvSpPr>
        <p:spPr>
          <a:xfrm>
            <a:off x="5042761" y="1573522"/>
            <a:ext cx="6787853" cy="2096087"/>
          </a:xfrm>
          <a:prstGeom prst="rect">
            <a:avLst/>
          </a:prstGeom>
          <a:noFill/>
        </p:spPr>
        <p:txBody>
          <a:bodyPr wrap="square" rtlCol="0" anchor="ctr" anchorCtr="0">
            <a:spAutoFit/>
          </a:bodyPr>
          <a:lstStyle/>
          <a:p>
            <a:pPr marL="455930" indent="-200025"/>
            <a:r>
              <a:rPr lang="zh-CN" altLang="en-US" sz="2000" b="1" kern="100" dirty="0">
                <a:solidFill>
                  <a:schemeClr val="accent4">
                    <a:lumMod val="75000"/>
                    <a:lumOff val="25000"/>
                  </a:schemeClr>
                </a:solidFill>
                <a:effectLst/>
                <a:latin typeface="幼圆" panose="02010509060101010101" pitchFamily="49" charset="-122"/>
                <a:ea typeface="幼圆" panose="02010509060101010101" pitchFamily="49" charset="-122"/>
              </a:rPr>
              <a:t>算法思路：</a:t>
            </a:r>
            <a:endPar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endParaRPr>
          </a:p>
          <a:p>
            <a:pPr indent="266700" algn="just">
              <a:lnSpc>
                <a:spcPct val="125000"/>
              </a:lnSpc>
            </a:pPr>
            <a:r>
              <a:rPr lang="zh-CN" altLang="zh-CN" sz="1800" kern="100" dirty="0">
                <a:effectLst/>
                <a:latin typeface="幼圆" panose="02010509060101010101" pitchFamily="49" charset="-122"/>
                <a:ea typeface="幼圆" panose="02010509060101010101" pitchFamily="49" charset="-122"/>
              </a:rPr>
              <a:t>分治思想，合并排序代码有两个函数，第一个函数的作用是划分，使用二分的方法将序列不断划分为子序列，直到每个子序列都只有一个元素。第二个函数的作用是合并排序，将两个有序子序列（单个函数的子序列视为有序子序列）合并成一个有序子序列，直到只存在一个序列为止。</a:t>
            </a:r>
          </a:p>
        </p:txBody>
      </p:sp>
      <p:pic>
        <p:nvPicPr>
          <p:cNvPr id="4" name="图片 3">
            <a:extLst>
              <a:ext uri="{FF2B5EF4-FFF2-40B4-BE49-F238E27FC236}">
                <a16:creationId xmlns:a16="http://schemas.microsoft.com/office/drawing/2014/main" id="{DC2A11A7-3AC6-4531-A5B1-35B333FABB54}"/>
              </a:ext>
            </a:extLst>
          </p:cNvPr>
          <p:cNvPicPr>
            <a:picLocks noChangeAspect="1"/>
          </p:cNvPicPr>
          <p:nvPr/>
        </p:nvPicPr>
        <p:blipFill>
          <a:blip r:embed="rId4"/>
          <a:stretch>
            <a:fillRect/>
          </a:stretch>
        </p:blipFill>
        <p:spPr>
          <a:xfrm>
            <a:off x="122665" y="1382276"/>
            <a:ext cx="4920096" cy="1933390"/>
          </a:xfrm>
          <a:prstGeom prst="rect">
            <a:avLst/>
          </a:prstGeom>
        </p:spPr>
      </p:pic>
      <p:pic>
        <p:nvPicPr>
          <p:cNvPr id="6" name="图片 5">
            <a:extLst>
              <a:ext uri="{FF2B5EF4-FFF2-40B4-BE49-F238E27FC236}">
                <a16:creationId xmlns:a16="http://schemas.microsoft.com/office/drawing/2014/main" id="{C03E7021-E247-4842-B07F-C9AF363B7840}"/>
              </a:ext>
            </a:extLst>
          </p:cNvPr>
          <p:cNvPicPr>
            <a:picLocks noChangeAspect="1"/>
          </p:cNvPicPr>
          <p:nvPr/>
        </p:nvPicPr>
        <p:blipFill>
          <a:blip r:embed="rId5"/>
          <a:stretch>
            <a:fillRect/>
          </a:stretch>
        </p:blipFill>
        <p:spPr>
          <a:xfrm>
            <a:off x="243446" y="3366058"/>
            <a:ext cx="3390842" cy="3012632"/>
          </a:xfrm>
          <a:prstGeom prst="rect">
            <a:avLst/>
          </a:prstGeom>
        </p:spPr>
      </p:pic>
      <p:pic>
        <p:nvPicPr>
          <p:cNvPr id="4098" name="Picture 2">
            <a:extLst>
              <a:ext uri="{FF2B5EF4-FFF2-40B4-BE49-F238E27FC236}">
                <a16:creationId xmlns:a16="http://schemas.microsoft.com/office/drawing/2014/main" id="{41A516B8-8AF9-43B2-854C-14E50BFCEF76}"/>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5401387" y="3941801"/>
            <a:ext cx="6070599" cy="23392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4742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098"/>
                                        </p:tgtEl>
                                        <p:attrNameLst>
                                          <p:attrName>style.visibility</p:attrName>
                                        </p:attrNameLst>
                                      </p:cBhvr>
                                      <p:to>
                                        <p:strVal val="visible"/>
                                      </p:to>
                                    </p:set>
                                    <p:anim calcmode="lin" valueType="num">
                                      <p:cBhvr additive="base">
                                        <p:cTn id="19" dur="500" fill="hold"/>
                                        <p:tgtEl>
                                          <p:spTgt spid="4098"/>
                                        </p:tgtEl>
                                        <p:attrNameLst>
                                          <p:attrName>ppt_x</p:attrName>
                                        </p:attrNameLst>
                                      </p:cBhvr>
                                      <p:tavLst>
                                        <p:tav tm="0">
                                          <p:val>
                                            <p:strVal val="#ppt_x"/>
                                          </p:val>
                                        </p:tav>
                                        <p:tav tm="100000">
                                          <p:val>
                                            <p:strVal val="#ppt_x"/>
                                          </p:val>
                                        </p:tav>
                                      </p:tavLst>
                                    </p:anim>
                                    <p:anim calcmode="lin" valueType="num">
                                      <p:cBhvr additive="base">
                                        <p:cTn id="20" dur="500" fill="hold"/>
                                        <p:tgtEl>
                                          <p:spTgt spid="40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sp>
        <p:nvSpPr>
          <p:cNvPr id="62" name="矩形 6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pic>
        <p:nvPicPr>
          <p:cNvPr id="36" name="图片 35"/>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5" name="文本框 14">
            <a:extLst>
              <a:ext uri="{FF2B5EF4-FFF2-40B4-BE49-F238E27FC236}">
                <a16:creationId xmlns:a16="http://schemas.microsoft.com/office/drawing/2014/main" id="{08C786E0-38A9-4F5A-8B8C-801FC475793B}"/>
              </a:ext>
            </a:extLst>
          </p:cNvPr>
          <p:cNvSpPr txBox="1"/>
          <p:nvPr/>
        </p:nvSpPr>
        <p:spPr>
          <a:xfrm>
            <a:off x="4982634" y="865636"/>
            <a:ext cx="2226732" cy="707886"/>
          </a:xfrm>
          <a:prstGeom prst="rect">
            <a:avLst/>
          </a:prstGeom>
          <a:noFill/>
        </p:spPr>
        <p:txBody>
          <a:bodyPr wrap="square" rtlCol="0">
            <a:spAutoFit/>
          </a:bodyPr>
          <a:lstStyle/>
          <a:p>
            <a:r>
              <a:rPr lang="zh-CN" altLang="en-US" sz="4000" b="1" dirty="0">
                <a:solidFill>
                  <a:schemeClr val="bg1">
                    <a:lumMod val="50000"/>
                  </a:schemeClr>
                </a:solidFill>
                <a:latin typeface="幼圆" panose="02010509060101010101" pitchFamily="49" charset="-122"/>
                <a:ea typeface="幼圆" panose="02010509060101010101" pitchFamily="49" charset="-122"/>
              </a:rPr>
              <a:t>算法分析</a:t>
            </a:r>
          </a:p>
        </p:txBody>
      </p:sp>
      <mc:AlternateContent xmlns:mc="http://schemas.openxmlformats.org/markup-compatibility/2006">
        <mc:Choice xmlns:a14="http://schemas.microsoft.com/office/drawing/2010/main" Requires="a14">
          <p:sp>
            <p:nvSpPr>
              <p:cNvPr id="14" name="文本框 13">
                <a:extLst>
                  <a:ext uri="{FF2B5EF4-FFF2-40B4-BE49-F238E27FC236}">
                    <a16:creationId xmlns:a16="http://schemas.microsoft.com/office/drawing/2014/main" id="{6CC1F697-A709-46BF-9661-D930791FE494}"/>
                  </a:ext>
                </a:extLst>
              </p:cNvPr>
              <p:cNvSpPr txBox="1"/>
              <p:nvPr/>
            </p:nvSpPr>
            <p:spPr>
              <a:xfrm>
                <a:off x="1790699" y="2146851"/>
                <a:ext cx="8610602" cy="3074422"/>
              </a:xfrm>
              <a:prstGeom prst="rect">
                <a:avLst/>
              </a:prstGeom>
              <a:noFill/>
            </p:spPr>
            <p:txBody>
              <a:bodyPr wrap="square" tIns="72000">
                <a:spAutoFit/>
              </a:bodyPr>
              <a:lstStyle/>
              <a:p>
                <a:pPr>
                  <a:lnSpc>
                    <a:spcPct val="150000"/>
                  </a:lnSpc>
                </a:pPr>
                <a:r>
                  <a:rPr lang="zh-CN" altLang="en-US" sz="2800" b="1" dirty="0">
                    <a:latin typeface="幼圆" panose="02010509060101010101" pitchFamily="49" charset="-122"/>
                    <a:ea typeface="幼圆" panose="02010509060101010101" pitchFamily="49" charset="-122"/>
                  </a:rPr>
                  <a:t>①时间复杂度</a:t>
                </a:r>
                <a:endParaRPr lang="en-US" altLang="zh-CN" sz="2800" b="1" dirty="0">
                  <a:latin typeface="幼圆" panose="02010509060101010101" pitchFamily="49" charset="-122"/>
                  <a:ea typeface="幼圆" panose="02010509060101010101" pitchFamily="49" charset="-122"/>
                </a:endParaRPr>
              </a:p>
              <a:p>
                <a:pPr>
                  <a:lnSpc>
                    <a:spcPct val="150000"/>
                  </a:lnSpc>
                </a:pPr>
                <a:r>
                  <a:rPr lang="zh-CN" altLang="zh-CN" sz="1800" kern="100" dirty="0">
                    <a:effectLst/>
                    <a:latin typeface="幼圆" panose="02010509060101010101" pitchFamily="49" charset="-122"/>
                    <a:ea typeface="幼圆" panose="02010509060101010101" pitchFamily="49" charset="-122"/>
                  </a:rPr>
                  <a:t>将序列二分，需要</a:t>
                </a:r>
                <a14:m>
                  <m:oMath xmlns:m="http://schemas.openxmlformats.org/officeDocument/2006/math">
                    <m:func>
                      <m:funcPr>
                        <m:ctrlPr>
                          <a:rPr lang="zh-CN" altLang="zh-CN" sz="1800" i="1" kern="100">
                            <a:effectLst/>
                            <a:latin typeface="Cambria Math" panose="02040503050406030204" pitchFamily="18" charset="0"/>
                            <a:ea typeface="Cambria Math" panose="02040503050406030204" pitchFamily="18" charset="0"/>
                          </a:rPr>
                        </m:ctrlPr>
                      </m:funcPr>
                      <m:fName>
                        <m:sSub>
                          <m:sSubPr>
                            <m:ctrlPr>
                              <a:rPr lang="zh-CN" altLang="zh-CN" sz="1800" i="1" kern="100">
                                <a:effectLst/>
                                <a:latin typeface="Cambria Math" panose="02040503050406030204" pitchFamily="18" charset="0"/>
                                <a:ea typeface="Cambria Math" panose="02040503050406030204" pitchFamily="18" charset="0"/>
                              </a:rPr>
                            </m:ctrlPr>
                          </m:sSubPr>
                          <m:e>
                            <m:r>
                              <m:rPr>
                                <m:sty m:val="p"/>
                              </m:rPr>
                              <a:rPr lang="en-US" altLang="zh-CN" sz="1800" kern="100">
                                <a:effectLst/>
                                <a:latin typeface="Cambria Math" panose="02040503050406030204" pitchFamily="18" charset="0"/>
                                <a:ea typeface="宋体" panose="02010600030101010101" pitchFamily="2" charset="-122"/>
                              </a:rPr>
                              <m:t>log</m:t>
                            </m:r>
                          </m:e>
                          <m:sub>
                            <m:r>
                              <a:rPr lang="en-US" altLang="zh-CN" sz="1800" i="1" kern="100">
                                <a:effectLst/>
                                <a:latin typeface="Cambria Math" panose="02040503050406030204" pitchFamily="18" charset="0"/>
                                <a:ea typeface="宋体" panose="02010600030101010101" pitchFamily="2" charset="-122"/>
                              </a:rPr>
                              <m:t>2</m:t>
                            </m:r>
                          </m:sub>
                        </m:sSub>
                      </m:fName>
                      <m:e>
                        <m:r>
                          <a:rPr lang="en-US" altLang="zh-CN" sz="1800" i="1" kern="100">
                            <a:effectLst/>
                            <a:latin typeface="Cambria Math" panose="02040503050406030204" pitchFamily="18" charset="0"/>
                            <a:ea typeface="宋体" panose="02010600030101010101" pitchFamily="2" charset="-122"/>
                          </a:rPr>
                          <m:t>𝑛</m:t>
                        </m:r>
                      </m:e>
                    </m:func>
                  </m:oMath>
                </a14:m>
                <a:r>
                  <a:rPr lang="zh-CN" altLang="zh-CN" sz="1800" kern="100" dirty="0">
                    <a:effectLst/>
                    <a:latin typeface="幼圆" panose="02010509060101010101" pitchFamily="49" charset="-122"/>
                    <a:ea typeface="幼圆" panose="02010509060101010101" pitchFamily="49" charset="-122"/>
                  </a:rPr>
                  <a:t>轮，每一轮中，都要对两个子序列进行归并排序，循环次数不确定，时间复杂度为</a:t>
                </a:r>
                <a:r>
                  <a:rPr lang="en-US" altLang="zh-CN" sz="1800" kern="100" dirty="0">
                    <a:effectLst/>
                    <a:latin typeface="幼圆" panose="02010509060101010101" pitchFamily="49" charset="-122"/>
                    <a:ea typeface="幼圆" panose="02010509060101010101" pitchFamily="49" charset="-122"/>
                  </a:rPr>
                  <a:t>O(n)</a:t>
                </a:r>
                <a:r>
                  <a:rPr lang="zh-CN" altLang="zh-CN" sz="1800" kern="100" dirty="0">
                    <a:effectLst/>
                    <a:latin typeface="幼圆" panose="02010509060101010101" pitchFamily="49" charset="-122"/>
                    <a:ea typeface="幼圆" panose="02010509060101010101" pitchFamily="49" charset="-122"/>
                  </a:rPr>
                  <a:t>，则分析得到该算法的平均复杂度是</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rPr>
                      <m:t>𝑂</m:t>
                    </m:r>
                    <m:d>
                      <m:dPr>
                        <m:ctrlPr>
                          <a:rPr lang="zh-CN" altLang="zh-CN" sz="1800" i="1" kern="100">
                            <a:effectLst/>
                            <a:latin typeface="Cambria Math" panose="02040503050406030204" pitchFamily="18" charset="0"/>
                            <a:ea typeface="Cambria Math" panose="02040503050406030204" pitchFamily="18" charset="0"/>
                          </a:rPr>
                        </m:ctrlPr>
                      </m:dPr>
                      <m:e>
                        <m:r>
                          <a:rPr lang="en-US" altLang="zh-CN" sz="1800" i="1" kern="100">
                            <a:effectLst/>
                            <a:latin typeface="Cambria Math" panose="02040503050406030204" pitchFamily="18" charset="0"/>
                            <a:ea typeface="宋体" panose="02010600030101010101" pitchFamily="2" charset="-122"/>
                          </a:rPr>
                          <m:t>𝑛𝑙𝑜𝑔</m:t>
                        </m:r>
                        <m:d>
                          <m:dPr>
                            <m:ctrlPr>
                              <a:rPr lang="zh-CN" altLang="zh-CN" sz="1800" i="1" kern="100">
                                <a:effectLst/>
                                <a:latin typeface="Cambria Math" panose="02040503050406030204" pitchFamily="18" charset="0"/>
                                <a:ea typeface="Cambria Math" panose="02040503050406030204" pitchFamily="18" charset="0"/>
                              </a:rPr>
                            </m:ctrlPr>
                          </m:dPr>
                          <m:e>
                            <m:r>
                              <a:rPr lang="en-US" altLang="zh-CN" sz="1800" i="1" kern="100">
                                <a:effectLst/>
                                <a:latin typeface="Cambria Math" panose="02040503050406030204" pitchFamily="18" charset="0"/>
                                <a:ea typeface="宋体" panose="02010600030101010101" pitchFamily="2" charset="-122"/>
                              </a:rPr>
                              <m:t>𝑛</m:t>
                            </m:r>
                          </m:e>
                        </m:d>
                      </m:e>
                    </m:d>
                    <m:r>
                      <a:rPr lang="zh-CN" altLang="zh-CN" sz="1800" i="1" kern="100">
                        <a:effectLst/>
                        <a:latin typeface="Cambria Math" panose="02040503050406030204" pitchFamily="18" charset="0"/>
                        <a:ea typeface="宋体" panose="02010600030101010101" pitchFamily="2" charset="-122"/>
                      </a:rPr>
                      <m:t>。</m:t>
                    </m:r>
                  </m:oMath>
                </a14:m>
                <a:endParaRPr lang="zh-CN" altLang="zh-CN" sz="1800" kern="100" dirty="0">
                  <a:effectLst/>
                  <a:latin typeface="幼圆" panose="02010509060101010101" pitchFamily="49" charset="-122"/>
                  <a:ea typeface="幼圆" panose="02010509060101010101" pitchFamily="49" charset="-122"/>
                </a:endParaRPr>
              </a:p>
              <a:p>
                <a:pPr>
                  <a:lnSpc>
                    <a:spcPct val="150000"/>
                  </a:lnSpc>
                </a:pPr>
                <a:endParaRPr lang="zh-CN" altLang="en-US" dirty="0">
                  <a:latin typeface="幼圆" panose="02010509060101010101" pitchFamily="49" charset="-122"/>
                  <a:ea typeface="幼圆" panose="02010509060101010101" pitchFamily="49" charset="-122"/>
                </a:endParaRPr>
              </a:p>
              <a:p>
                <a:pPr>
                  <a:lnSpc>
                    <a:spcPct val="150000"/>
                  </a:lnSpc>
                </a:pPr>
                <a:r>
                  <a:rPr lang="zh-CN" altLang="en-US" sz="2800" b="1" dirty="0">
                    <a:latin typeface="幼圆" panose="02010509060101010101" pitchFamily="49" charset="-122"/>
                    <a:ea typeface="幼圆" panose="02010509060101010101" pitchFamily="49" charset="-122"/>
                  </a:rPr>
                  <a:t>②空间复杂度</a:t>
                </a:r>
                <a:endParaRPr lang="en-US" altLang="zh-CN" sz="2800" b="1" dirty="0">
                  <a:latin typeface="幼圆" panose="02010509060101010101" pitchFamily="49" charset="-122"/>
                  <a:ea typeface="幼圆" panose="02010509060101010101" pitchFamily="49" charset="-122"/>
                </a:endParaRPr>
              </a:p>
              <a:p>
                <a:pPr>
                  <a:lnSpc>
                    <a:spcPct val="150000"/>
                  </a:lnSpc>
                </a:pPr>
                <a:r>
                  <a:rPr lang="zh-CN" altLang="zh-CN" sz="1800" kern="100" dirty="0">
                    <a:effectLst/>
                    <a:latin typeface="幼圆" panose="02010509060101010101" pitchFamily="49" charset="-122"/>
                    <a:ea typeface="幼圆" panose="02010509060101010101" pitchFamily="49" charset="-122"/>
                  </a:rPr>
                  <a:t>如图</a:t>
                </a:r>
                <a:r>
                  <a:rPr lang="en-US" altLang="zh-CN" sz="1800" kern="100" dirty="0">
                    <a:effectLst/>
                    <a:latin typeface="幼圆" panose="02010509060101010101" pitchFamily="49" charset="-122"/>
                    <a:ea typeface="幼圆" panose="02010509060101010101" pitchFamily="49" charset="-122"/>
                  </a:rPr>
                  <a:t>8</a:t>
                </a:r>
                <a:r>
                  <a:rPr lang="zh-CN" altLang="zh-CN" sz="1800" kern="100" dirty="0">
                    <a:effectLst/>
                    <a:latin typeface="幼圆" panose="02010509060101010101" pitchFamily="49" charset="-122"/>
                    <a:ea typeface="幼圆" panose="02010509060101010101" pitchFamily="49" charset="-122"/>
                  </a:rPr>
                  <a:t>，图</a:t>
                </a:r>
                <a:r>
                  <a:rPr lang="en-US" altLang="zh-CN" sz="1800" kern="100" dirty="0">
                    <a:effectLst/>
                    <a:latin typeface="幼圆" panose="02010509060101010101" pitchFamily="49" charset="-122"/>
                    <a:ea typeface="幼圆" panose="02010509060101010101" pitchFamily="49" charset="-122"/>
                  </a:rPr>
                  <a:t>9</a:t>
                </a:r>
                <a:r>
                  <a:rPr lang="zh-CN" altLang="zh-CN" sz="1800" kern="100" dirty="0">
                    <a:effectLst/>
                    <a:latin typeface="幼圆" panose="02010509060101010101" pitchFamily="49" charset="-122"/>
                    <a:ea typeface="幼圆" panose="02010509060101010101" pitchFamily="49" charset="-122"/>
                  </a:rPr>
                  <a:t>所示，</a:t>
                </a:r>
                <a:r>
                  <a:rPr lang="en-US" altLang="zh-CN" sz="1800" kern="100" dirty="0">
                    <a:effectLst/>
                    <a:latin typeface="幼圆" panose="02010509060101010101" pitchFamily="49" charset="-122"/>
                    <a:ea typeface="幼圆" panose="02010509060101010101" pitchFamily="49" charset="-122"/>
                  </a:rPr>
                  <a:t>b</a:t>
                </a:r>
                <a:r>
                  <a:rPr lang="zh-CN" altLang="zh-CN" sz="1800" kern="100" dirty="0">
                    <a:effectLst/>
                    <a:latin typeface="幼圆" panose="02010509060101010101" pitchFamily="49" charset="-122"/>
                    <a:ea typeface="幼圆" panose="02010509060101010101" pitchFamily="49" charset="-122"/>
                  </a:rPr>
                  <a:t>数组为辅助数组，与原数组</a:t>
                </a:r>
                <a:r>
                  <a:rPr lang="zh-CN" altLang="en-US" sz="1800" kern="100" dirty="0">
                    <a:effectLst/>
                    <a:latin typeface="幼圆" panose="02010509060101010101" pitchFamily="49" charset="-122"/>
                    <a:ea typeface="幼圆" panose="02010509060101010101" pitchFamily="49" charset="-122"/>
                  </a:rPr>
                  <a:t>等</a:t>
                </a:r>
                <a:r>
                  <a:rPr lang="zh-CN" altLang="zh-CN" sz="1800" kern="100" dirty="0">
                    <a:effectLst/>
                    <a:latin typeface="幼圆" panose="02010509060101010101" pitchFamily="49" charset="-122"/>
                    <a:ea typeface="幼圆" panose="02010509060101010101" pitchFamily="49" charset="-122"/>
                  </a:rPr>
                  <a:t>长，空间复杂度为</a:t>
                </a:r>
                <a:r>
                  <a:rPr lang="en-US" altLang="zh-CN" sz="1800" kern="100" dirty="0">
                    <a:effectLst/>
                    <a:latin typeface="幼圆" panose="02010509060101010101" pitchFamily="49" charset="-122"/>
                    <a:ea typeface="幼圆" panose="02010509060101010101" pitchFamily="49" charset="-122"/>
                  </a:rPr>
                  <a:t>O(n)</a:t>
                </a:r>
                <a:r>
                  <a:rPr lang="zh-CN" altLang="zh-CN" sz="1800" kern="100" dirty="0">
                    <a:effectLst/>
                    <a:latin typeface="幼圆" panose="02010509060101010101" pitchFamily="49" charset="-122"/>
                    <a:ea typeface="幼圆" panose="02010509060101010101" pitchFamily="49" charset="-122"/>
                  </a:rPr>
                  <a:t>。</a:t>
                </a:r>
              </a:p>
            </p:txBody>
          </p:sp>
        </mc:Choice>
        <mc:Fallback>
          <p:sp>
            <p:nvSpPr>
              <p:cNvPr id="14" name="文本框 13">
                <a:extLst>
                  <a:ext uri="{FF2B5EF4-FFF2-40B4-BE49-F238E27FC236}">
                    <a16:creationId xmlns:a16="http://schemas.microsoft.com/office/drawing/2014/main" id="{6CC1F697-A709-46BF-9661-D930791FE494}"/>
                  </a:ext>
                </a:extLst>
              </p:cNvPr>
              <p:cNvSpPr txBox="1">
                <a:spLocks noRot="1" noChangeAspect="1" noMove="1" noResize="1" noEditPoints="1" noAdjustHandles="1" noChangeArrowheads="1" noChangeShapeType="1" noTextEdit="1"/>
              </p:cNvSpPr>
              <p:nvPr/>
            </p:nvSpPr>
            <p:spPr>
              <a:xfrm>
                <a:off x="1790699" y="2146851"/>
                <a:ext cx="8610602" cy="3074422"/>
              </a:xfrm>
              <a:prstGeom prst="rect">
                <a:avLst/>
              </a:prstGeom>
              <a:blipFill>
                <a:blip r:embed="rId4"/>
                <a:stretch>
                  <a:fillRect l="-1487" b="-158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84572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sp>
        <p:nvSpPr>
          <p:cNvPr id="62" name="矩形 6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pic>
        <p:nvPicPr>
          <p:cNvPr id="36" name="图片 35"/>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5" name="文本框 14">
            <a:extLst>
              <a:ext uri="{FF2B5EF4-FFF2-40B4-BE49-F238E27FC236}">
                <a16:creationId xmlns:a16="http://schemas.microsoft.com/office/drawing/2014/main" id="{08C786E0-38A9-4F5A-8B8C-801FC475793B}"/>
              </a:ext>
            </a:extLst>
          </p:cNvPr>
          <p:cNvSpPr txBox="1"/>
          <p:nvPr/>
        </p:nvSpPr>
        <p:spPr>
          <a:xfrm>
            <a:off x="4982634" y="783507"/>
            <a:ext cx="2226732" cy="707886"/>
          </a:xfrm>
          <a:prstGeom prst="rect">
            <a:avLst/>
          </a:prstGeom>
          <a:noFill/>
        </p:spPr>
        <p:txBody>
          <a:bodyPr wrap="square" rtlCol="0">
            <a:spAutoFit/>
          </a:bodyPr>
          <a:lstStyle/>
          <a:p>
            <a:r>
              <a:rPr lang="zh-CN" altLang="en-US" sz="4000" b="1" dirty="0">
                <a:solidFill>
                  <a:schemeClr val="bg1">
                    <a:lumMod val="50000"/>
                  </a:schemeClr>
                </a:solidFill>
                <a:latin typeface="幼圆" panose="02010509060101010101" pitchFamily="49" charset="-122"/>
                <a:ea typeface="幼圆" panose="02010509060101010101" pitchFamily="49" charset="-122"/>
              </a:rPr>
              <a:t>结果分析</a:t>
            </a:r>
          </a:p>
        </p:txBody>
      </p:sp>
      <p:sp>
        <p:nvSpPr>
          <p:cNvPr id="17" name="文本框 16">
            <a:extLst>
              <a:ext uri="{FF2B5EF4-FFF2-40B4-BE49-F238E27FC236}">
                <a16:creationId xmlns:a16="http://schemas.microsoft.com/office/drawing/2014/main" id="{AAB3A055-4772-4865-9C84-80C6094DE716}"/>
              </a:ext>
            </a:extLst>
          </p:cNvPr>
          <p:cNvSpPr txBox="1"/>
          <p:nvPr/>
        </p:nvSpPr>
        <p:spPr>
          <a:xfrm>
            <a:off x="4667651" y="2132463"/>
            <a:ext cx="7115500" cy="2593073"/>
          </a:xfrm>
          <a:prstGeom prst="rect">
            <a:avLst/>
          </a:prstGeom>
          <a:noFill/>
        </p:spPr>
        <p:txBody>
          <a:bodyPr wrap="square" tIns="72000">
            <a:spAutoFit/>
          </a:bodyPr>
          <a:lstStyle/>
          <a:p>
            <a:pPr indent="266700" algn="just">
              <a:lnSpc>
                <a:spcPct val="150000"/>
              </a:lnSpc>
            </a:pPr>
            <a:r>
              <a:rPr lang="zh-CN" altLang="en-US" sz="2800" b="1" dirty="0">
                <a:latin typeface="幼圆" panose="02010509060101010101" pitchFamily="49" charset="-122"/>
                <a:ea typeface="幼圆" panose="02010509060101010101" pitchFamily="49" charset="-122"/>
              </a:rPr>
              <a:t>①</a:t>
            </a:r>
            <a:r>
              <a:rPr lang="zh-CN" altLang="en-US" kern="100" dirty="0">
                <a:latin typeface="幼圆" panose="02010509060101010101" pitchFamily="49" charset="-122"/>
                <a:ea typeface="幼圆" panose="02010509060101010101" pitchFamily="49" charset="-122"/>
              </a:rPr>
              <a:t>由图</a:t>
            </a:r>
            <a:r>
              <a:rPr lang="en-US" altLang="zh-CN" kern="100" dirty="0">
                <a:latin typeface="幼圆" panose="02010509060101010101" pitchFamily="49" charset="-122"/>
                <a:ea typeface="幼圆" panose="02010509060101010101" pitchFamily="49" charset="-122"/>
              </a:rPr>
              <a:t>21</a:t>
            </a:r>
            <a:r>
              <a:rPr lang="zh-CN" altLang="en-US" kern="100" dirty="0">
                <a:latin typeface="幼圆" panose="02010509060101010101" pitchFamily="49" charset="-122"/>
                <a:ea typeface="幼圆" panose="02010509060101010101" pitchFamily="49" charset="-122"/>
              </a:rPr>
              <a:t>可以看出，合并排序的理论和实验图像基本重合，拟合程度很好。但在</a:t>
            </a:r>
            <a:r>
              <a:rPr lang="en-US" altLang="zh-CN" kern="100" dirty="0">
                <a:latin typeface="幼圆" panose="02010509060101010101" pitchFamily="49" charset="-122"/>
                <a:ea typeface="幼圆" panose="02010509060101010101" pitchFamily="49" charset="-122"/>
              </a:rPr>
              <a:t>n=100</a:t>
            </a:r>
            <a:r>
              <a:rPr lang="zh-CN" altLang="en-US" kern="100" dirty="0">
                <a:latin typeface="幼圆" panose="02010509060101010101" pitchFamily="49" charset="-122"/>
                <a:ea typeface="幼圆" panose="02010509060101010101" pitchFamily="49" charset="-122"/>
              </a:rPr>
              <a:t>及以下时，出现些许误差，实际时间更大。</a:t>
            </a:r>
            <a:endParaRPr lang="en-US" altLang="zh-CN" kern="100" dirty="0">
              <a:latin typeface="幼圆" panose="02010509060101010101" pitchFamily="49" charset="-122"/>
              <a:ea typeface="幼圆" panose="02010509060101010101" pitchFamily="49" charset="-122"/>
            </a:endParaRPr>
          </a:p>
          <a:p>
            <a:pPr indent="266700" algn="just">
              <a:lnSpc>
                <a:spcPct val="150000"/>
              </a:lnSpc>
            </a:pPr>
            <a:endParaRPr lang="zh-CN" altLang="en-US" dirty="0">
              <a:latin typeface="幼圆" panose="02010509060101010101" pitchFamily="49" charset="-122"/>
              <a:ea typeface="幼圆" panose="02010509060101010101" pitchFamily="49" charset="-122"/>
            </a:endParaRPr>
          </a:p>
          <a:p>
            <a:pPr indent="266700" algn="just">
              <a:lnSpc>
                <a:spcPct val="150000"/>
              </a:lnSpc>
            </a:pPr>
            <a:r>
              <a:rPr lang="zh-CN" altLang="en-US" sz="2800" b="1" dirty="0">
                <a:latin typeface="幼圆" panose="02010509060101010101" pitchFamily="49" charset="-122"/>
                <a:ea typeface="幼圆" panose="02010509060101010101" pitchFamily="49" charset="-122"/>
              </a:rPr>
              <a:t>②</a:t>
            </a:r>
            <a:r>
              <a:rPr lang="zh-CN" altLang="en-US" b="1" kern="100" dirty="0">
                <a:latin typeface="幼圆" panose="02010509060101010101" pitchFamily="49" charset="-122"/>
                <a:ea typeface="幼圆" panose="02010509060101010101" pitchFamily="49" charset="-122"/>
              </a:rPr>
              <a:t>其原因可能在于，合并排序所需要的辅助空间多，数据规模较小时，开辟空间的时间开销将更显著，使得实际时间大于理论时间</a:t>
            </a:r>
          </a:p>
        </p:txBody>
      </p:sp>
      <p:pic>
        <p:nvPicPr>
          <p:cNvPr id="4" name="图片 3">
            <a:extLst>
              <a:ext uri="{FF2B5EF4-FFF2-40B4-BE49-F238E27FC236}">
                <a16:creationId xmlns:a16="http://schemas.microsoft.com/office/drawing/2014/main" id="{A6784A93-BDA1-4AFC-A941-D83E073B33C5}"/>
              </a:ext>
            </a:extLst>
          </p:cNvPr>
          <p:cNvPicPr>
            <a:picLocks noChangeAspect="1"/>
          </p:cNvPicPr>
          <p:nvPr/>
        </p:nvPicPr>
        <p:blipFill>
          <a:blip r:embed="rId4"/>
          <a:stretch>
            <a:fillRect/>
          </a:stretch>
        </p:blipFill>
        <p:spPr>
          <a:xfrm>
            <a:off x="93866" y="1491393"/>
            <a:ext cx="4525079" cy="1618100"/>
          </a:xfrm>
          <a:prstGeom prst="rect">
            <a:avLst/>
          </a:prstGeom>
        </p:spPr>
      </p:pic>
      <p:pic>
        <p:nvPicPr>
          <p:cNvPr id="7" name="图片 6">
            <a:extLst>
              <a:ext uri="{FF2B5EF4-FFF2-40B4-BE49-F238E27FC236}">
                <a16:creationId xmlns:a16="http://schemas.microsoft.com/office/drawing/2014/main" id="{2E96D5FE-C3A7-413E-9563-F4A8FF489CF9}"/>
              </a:ext>
            </a:extLst>
          </p:cNvPr>
          <p:cNvPicPr>
            <a:picLocks noChangeAspect="1"/>
          </p:cNvPicPr>
          <p:nvPr/>
        </p:nvPicPr>
        <p:blipFill>
          <a:blip r:embed="rId5"/>
          <a:stretch>
            <a:fillRect/>
          </a:stretch>
        </p:blipFill>
        <p:spPr>
          <a:xfrm>
            <a:off x="250341" y="3451315"/>
            <a:ext cx="4368604" cy="2760134"/>
          </a:xfrm>
          <a:prstGeom prst="rect">
            <a:avLst/>
          </a:prstGeom>
        </p:spPr>
      </p:pic>
    </p:spTree>
    <p:extLst>
      <p:ext uri="{BB962C8B-B14F-4D97-AF65-F5344CB8AC3E}">
        <p14:creationId xmlns:p14="http://schemas.microsoft.com/office/powerpoint/2010/main" val="381900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inVertical)">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sp>
        <p:nvSpPr>
          <p:cNvPr id="62" name="矩形 6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pic>
        <p:nvPicPr>
          <p:cNvPr id="36" name="图片 35"/>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5" name="文本框 14">
            <a:extLst>
              <a:ext uri="{FF2B5EF4-FFF2-40B4-BE49-F238E27FC236}">
                <a16:creationId xmlns:a16="http://schemas.microsoft.com/office/drawing/2014/main" id="{08C786E0-38A9-4F5A-8B8C-801FC475793B}"/>
              </a:ext>
            </a:extLst>
          </p:cNvPr>
          <p:cNvSpPr txBox="1"/>
          <p:nvPr/>
        </p:nvSpPr>
        <p:spPr>
          <a:xfrm>
            <a:off x="4982634" y="700685"/>
            <a:ext cx="2226732" cy="707886"/>
          </a:xfrm>
          <a:prstGeom prst="rect">
            <a:avLst/>
          </a:prstGeom>
          <a:noFill/>
        </p:spPr>
        <p:txBody>
          <a:bodyPr wrap="square" rtlCol="0">
            <a:spAutoFit/>
          </a:bodyPr>
          <a:lstStyle/>
          <a:p>
            <a:r>
              <a:rPr lang="zh-CN" altLang="en-US" sz="4000" b="1" dirty="0">
                <a:solidFill>
                  <a:schemeClr val="bg1">
                    <a:lumMod val="50000"/>
                  </a:schemeClr>
                </a:solidFill>
                <a:latin typeface="幼圆" panose="02010509060101010101" pitchFamily="49" charset="-122"/>
                <a:ea typeface="幼圆" panose="02010509060101010101" pitchFamily="49" charset="-122"/>
              </a:rPr>
              <a:t>快速排序</a:t>
            </a:r>
          </a:p>
        </p:txBody>
      </p:sp>
      <p:sp>
        <p:nvSpPr>
          <p:cNvPr id="26" name="文本框 25">
            <a:extLst>
              <a:ext uri="{FF2B5EF4-FFF2-40B4-BE49-F238E27FC236}">
                <a16:creationId xmlns:a16="http://schemas.microsoft.com/office/drawing/2014/main" id="{5F47A69F-7A57-4DFD-8A52-0A5E01096631}"/>
              </a:ext>
            </a:extLst>
          </p:cNvPr>
          <p:cNvSpPr txBox="1"/>
          <p:nvPr/>
        </p:nvSpPr>
        <p:spPr>
          <a:xfrm>
            <a:off x="5042761" y="1302143"/>
            <a:ext cx="6787853" cy="2803909"/>
          </a:xfrm>
          <a:prstGeom prst="rect">
            <a:avLst/>
          </a:prstGeom>
          <a:noFill/>
        </p:spPr>
        <p:txBody>
          <a:bodyPr wrap="square" rtlCol="0" anchor="ctr" anchorCtr="0">
            <a:spAutoFit/>
          </a:bodyPr>
          <a:lstStyle/>
          <a:p>
            <a:pPr marL="455930" indent="-200025">
              <a:lnSpc>
                <a:spcPct val="150000"/>
              </a:lnSpc>
            </a:pPr>
            <a:r>
              <a:rPr lang="zh-CN" altLang="en-US" sz="2000" b="1" kern="100" dirty="0">
                <a:solidFill>
                  <a:schemeClr val="accent4">
                    <a:lumMod val="75000"/>
                    <a:lumOff val="25000"/>
                  </a:schemeClr>
                </a:solidFill>
                <a:effectLst/>
                <a:latin typeface="幼圆" panose="02010509060101010101" pitchFamily="49" charset="-122"/>
                <a:ea typeface="幼圆" panose="02010509060101010101" pitchFamily="49" charset="-122"/>
              </a:rPr>
              <a:t>算法思路：</a:t>
            </a:r>
            <a:endPar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endParaRPr>
          </a:p>
          <a:p>
            <a:pPr marL="455930" indent="-200025">
              <a:lnSpc>
                <a:spcPct val="150000"/>
              </a:lnSpc>
            </a:pPr>
            <a:r>
              <a:rPr lang="zh-CN" altLang="en-US" sz="2000" kern="100" dirty="0">
                <a:latin typeface="幼圆" panose="02010509060101010101" pitchFamily="49" charset="-122"/>
                <a:ea typeface="幼圆" panose="02010509060101010101" pitchFamily="49" charset="-122"/>
              </a:rPr>
              <a:t>选择一个数作为基准数（这里默认选择第一位为基</a:t>
            </a:r>
            <a:endParaRPr lang="en-US" altLang="zh-CN" sz="2000" kern="100" dirty="0">
              <a:latin typeface="幼圆" panose="02010509060101010101" pitchFamily="49" charset="-122"/>
              <a:ea typeface="幼圆" panose="02010509060101010101" pitchFamily="49" charset="-122"/>
            </a:endParaRPr>
          </a:p>
          <a:p>
            <a:pPr marL="455930" indent="-200025">
              <a:lnSpc>
                <a:spcPct val="150000"/>
              </a:lnSpc>
            </a:pPr>
            <a:r>
              <a:rPr lang="zh-CN" altLang="en-US" sz="2000" kern="100" dirty="0">
                <a:latin typeface="幼圆" panose="02010509060101010101" pitchFamily="49" charset="-122"/>
                <a:ea typeface="幼圆" panose="02010509060101010101" pitchFamily="49" charset="-122"/>
              </a:rPr>
              <a:t>准数）。通过比较，将序列中比基准数大的项移至右侧，</a:t>
            </a:r>
            <a:endParaRPr lang="en-US" altLang="zh-CN" sz="2000" kern="100" dirty="0">
              <a:latin typeface="幼圆" panose="02010509060101010101" pitchFamily="49" charset="-122"/>
              <a:ea typeface="幼圆" panose="02010509060101010101" pitchFamily="49" charset="-122"/>
            </a:endParaRPr>
          </a:p>
          <a:p>
            <a:pPr marL="455930" indent="-200025">
              <a:lnSpc>
                <a:spcPct val="150000"/>
              </a:lnSpc>
            </a:pPr>
            <a:r>
              <a:rPr lang="zh-CN" altLang="en-US" sz="2000" kern="100" dirty="0">
                <a:latin typeface="幼圆" panose="02010509060101010101" pitchFamily="49" charset="-122"/>
                <a:ea typeface="幼圆" panose="02010509060101010101" pitchFamily="49" charset="-122"/>
              </a:rPr>
              <a:t>比基准数小的项移至左侧，将基准数放至中间，划分出</a:t>
            </a:r>
            <a:endParaRPr lang="en-US" altLang="zh-CN" sz="2000" kern="100" dirty="0">
              <a:latin typeface="幼圆" panose="02010509060101010101" pitchFamily="49" charset="-122"/>
              <a:ea typeface="幼圆" panose="02010509060101010101" pitchFamily="49" charset="-122"/>
            </a:endParaRPr>
          </a:p>
          <a:p>
            <a:pPr marL="455930" indent="-200025">
              <a:lnSpc>
                <a:spcPct val="150000"/>
              </a:lnSpc>
            </a:pPr>
            <a:r>
              <a:rPr lang="zh-CN" altLang="en-US" sz="2000" kern="100" dirty="0">
                <a:latin typeface="幼圆" panose="02010509060101010101" pitchFamily="49" charset="-122"/>
                <a:ea typeface="幼圆" panose="02010509060101010101" pitchFamily="49" charset="-122"/>
              </a:rPr>
              <a:t>左右两个子序列。然后子序列再递归进行快速排序，直</a:t>
            </a:r>
            <a:endParaRPr lang="en-US" altLang="zh-CN" sz="2000" kern="100" dirty="0">
              <a:latin typeface="幼圆" panose="02010509060101010101" pitchFamily="49" charset="-122"/>
              <a:ea typeface="幼圆" panose="02010509060101010101" pitchFamily="49" charset="-122"/>
            </a:endParaRPr>
          </a:p>
          <a:p>
            <a:pPr marL="455930" indent="-200025">
              <a:lnSpc>
                <a:spcPct val="150000"/>
              </a:lnSpc>
            </a:pPr>
            <a:r>
              <a:rPr lang="zh-CN" altLang="en-US" sz="2000" kern="100" dirty="0">
                <a:latin typeface="幼圆" panose="02010509060101010101" pitchFamily="49" charset="-122"/>
                <a:ea typeface="幼圆" panose="02010509060101010101" pitchFamily="49" charset="-122"/>
              </a:rPr>
              <a:t>到每个子序列只有一个元素为止，排序完成。</a:t>
            </a:r>
            <a:endPar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endParaRPr>
          </a:p>
        </p:txBody>
      </p:sp>
      <p:pic>
        <p:nvPicPr>
          <p:cNvPr id="4" name="图片 3">
            <a:extLst>
              <a:ext uri="{FF2B5EF4-FFF2-40B4-BE49-F238E27FC236}">
                <a16:creationId xmlns:a16="http://schemas.microsoft.com/office/drawing/2014/main" id="{BDCE814F-250F-465B-A978-F6C72905C001}"/>
              </a:ext>
            </a:extLst>
          </p:cNvPr>
          <p:cNvPicPr>
            <a:picLocks noChangeAspect="1"/>
          </p:cNvPicPr>
          <p:nvPr/>
        </p:nvPicPr>
        <p:blipFill>
          <a:blip r:embed="rId4"/>
          <a:stretch>
            <a:fillRect/>
          </a:stretch>
        </p:blipFill>
        <p:spPr>
          <a:xfrm>
            <a:off x="-1" y="1302143"/>
            <a:ext cx="4799511" cy="2362228"/>
          </a:xfrm>
          <a:prstGeom prst="rect">
            <a:avLst/>
          </a:prstGeom>
        </p:spPr>
      </p:pic>
      <p:pic>
        <p:nvPicPr>
          <p:cNvPr id="6" name="图片 5">
            <a:extLst>
              <a:ext uri="{FF2B5EF4-FFF2-40B4-BE49-F238E27FC236}">
                <a16:creationId xmlns:a16="http://schemas.microsoft.com/office/drawing/2014/main" id="{66D04176-6CBA-4AD2-96A7-BB64D6C6D7DA}"/>
              </a:ext>
            </a:extLst>
          </p:cNvPr>
          <p:cNvPicPr>
            <a:picLocks noChangeAspect="1"/>
          </p:cNvPicPr>
          <p:nvPr/>
        </p:nvPicPr>
        <p:blipFill>
          <a:blip r:embed="rId5"/>
          <a:stretch>
            <a:fillRect/>
          </a:stretch>
        </p:blipFill>
        <p:spPr>
          <a:xfrm>
            <a:off x="421152" y="3664371"/>
            <a:ext cx="3617946" cy="2803909"/>
          </a:xfrm>
          <a:prstGeom prst="rect">
            <a:avLst/>
          </a:prstGeom>
        </p:spPr>
      </p:pic>
      <p:pic>
        <p:nvPicPr>
          <p:cNvPr id="5122" name="Picture 2">
            <a:extLst>
              <a:ext uri="{FF2B5EF4-FFF2-40B4-BE49-F238E27FC236}">
                <a16:creationId xmlns:a16="http://schemas.microsoft.com/office/drawing/2014/main" id="{C71775D6-4771-42C7-9CB5-9BBD79EE01FB}"/>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4771830" y="4297471"/>
            <a:ext cx="6914352" cy="2148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5164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additive="base">
                                        <p:cTn id="17" dur="500" fill="hold"/>
                                        <p:tgtEl>
                                          <p:spTgt spid="26"/>
                                        </p:tgtEl>
                                        <p:attrNameLst>
                                          <p:attrName>ppt_x</p:attrName>
                                        </p:attrNameLst>
                                      </p:cBhvr>
                                      <p:tavLst>
                                        <p:tav tm="0">
                                          <p:val>
                                            <p:strVal val="#ppt_x"/>
                                          </p:val>
                                        </p:tav>
                                        <p:tav tm="100000">
                                          <p:val>
                                            <p:strVal val="#ppt_x"/>
                                          </p:val>
                                        </p:tav>
                                      </p:tavLst>
                                    </p:anim>
                                    <p:anim calcmode="lin" valueType="num">
                                      <p:cBhvr additive="base">
                                        <p:cTn id="18" dur="500" fill="hold"/>
                                        <p:tgtEl>
                                          <p:spTgt spid="26"/>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122"/>
                                        </p:tgtEl>
                                        <p:attrNameLst>
                                          <p:attrName>style.visibility</p:attrName>
                                        </p:attrNameLst>
                                      </p:cBhvr>
                                      <p:to>
                                        <p:strVal val="visible"/>
                                      </p:to>
                                    </p:set>
                                    <p:anim calcmode="lin" valueType="num">
                                      <p:cBhvr additive="base">
                                        <p:cTn id="21" dur="500" fill="hold"/>
                                        <p:tgtEl>
                                          <p:spTgt spid="5122"/>
                                        </p:tgtEl>
                                        <p:attrNameLst>
                                          <p:attrName>ppt_x</p:attrName>
                                        </p:attrNameLst>
                                      </p:cBhvr>
                                      <p:tavLst>
                                        <p:tav tm="0">
                                          <p:val>
                                            <p:strVal val="#ppt_x"/>
                                          </p:val>
                                        </p:tav>
                                        <p:tav tm="100000">
                                          <p:val>
                                            <p:strVal val="#ppt_x"/>
                                          </p:val>
                                        </p:tav>
                                      </p:tavLst>
                                    </p:anim>
                                    <p:anim calcmode="lin" valueType="num">
                                      <p:cBhvr additive="base">
                                        <p:cTn id="22"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sp>
        <p:nvSpPr>
          <p:cNvPr id="62" name="矩形 6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pic>
        <p:nvPicPr>
          <p:cNvPr id="36" name="图片 35"/>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5" name="文本框 14">
            <a:extLst>
              <a:ext uri="{FF2B5EF4-FFF2-40B4-BE49-F238E27FC236}">
                <a16:creationId xmlns:a16="http://schemas.microsoft.com/office/drawing/2014/main" id="{08C786E0-38A9-4F5A-8B8C-801FC475793B}"/>
              </a:ext>
            </a:extLst>
          </p:cNvPr>
          <p:cNvSpPr txBox="1"/>
          <p:nvPr/>
        </p:nvSpPr>
        <p:spPr>
          <a:xfrm>
            <a:off x="4982634" y="865636"/>
            <a:ext cx="2226732" cy="707886"/>
          </a:xfrm>
          <a:prstGeom prst="rect">
            <a:avLst/>
          </a:prstGeom>
          <a:noFill/>
        </p:spPr>
        <p:txBody>
          <a:bodyPr wrap="square" rtlCol="0">
            <a:spAutoFit/>
          </a:bodyPr>
          <a:lstStyle/>
          <a:p>
            <a:r>
              <a:rPr lang="zh-CN" altLang="en-US" sz="4000" b="1" dirty="0">
                <a:solidFill>
                  <a:schemeClr val="bg1">
                    <a:lumMod val="50000"/>
                  </a:schemeClr>
                </a:solidFill>
                <a:latin typeface="幼圆" panose="02010509060101010101" pitchFamily="49" charset="-122"/>
                <a:ea typeface="幼圆" panose="02010509060101010101" pitchFamily="49" charset="-122"/>
              </a:rPr>
              <a:t>算法分析</a:t>
            </a:r>
          </a:p>
        </p:txBody>
      </p:sp>
      <p:sp>
        <p:nvSpPr>
          <p:cNvPr id="14" name="文本框 13">
            <a:extLst>
              <a:ext uri="{FF2B5EF4-FFF2-40B4-BE49-F238E27FC236}">
                <a16:creationId xmlns:a16="http://schemas.microsoft.com/office/drawing/2014/main" id="{6CC1F697-A709-46BF-9661-D930791FE494}"/>
              </a:ext>
            </a:extLst>
          </p:cNvPr>
          <p:cNvSpPr txBox="1"/>
          <p:nvPr/>
        </p:nvSpPr>
        <p:spPr>
          <a:xfrm>
            <a:off x="1570565" y="1328150"/>
            <a:ext cx="9300636" cy="5039897"/>
          </a:xfrm>
          <a:prstGeom prst="rect">
            <a:avLst/>
          </a:prstGeom>
          <a:noFill/>
        </p:spPr>
        <p:txBody>
          <a:bodyPr wrap="square" tIns="72000">
            <a:spAutoFit/>
          </a:bodyPr>
          <a:lstStyle/>
          <a:p>
            <a:pPr>
              <a:lnSpc>
                <a:spcPct val="150000"/>
              </a:lnSpc>
            </a:pPr>
            <a:r>
              <a:rPr lang="zh-CN" altLang="en-US" sz="2400" b="1" dirty="0">
                <a:latin typeface="幼圆" panose="02010509060101010101" pitchFamily="49" charset="-122"/>
                <a:ea typeface="幼圆" panose="02010509060101010101" pitchFamily="49" charset="-122"/>
              </a:rPr>
              <a:t>①时间复杂度</a:t>
            </a:r>
            <a:endParaRPr lang="en-US" altLang="zh-CN" sz="2400" b="1" dirty="0">
              <a:latin typeface="幼圆" panose="02010509060101010101" pitchFamily="49" charset="-122"/>
              <a:ea typeface="幼圆" panose="02010509060101010101" pitchFamily="49" charset="-122"/>
            </a:endParaRPr>
          </a:p>
          <a:p>
            <a:pPr>
              <a:lnSpc>
                <a:spcPct val="150000"/>
              </a:lnSpc>
            </a:pPr>
            <a:r>
              <a:rPr lang="zh-CN" altLang="en-US" dirty="0">
                <a:latin typeface="幼圆" panose="02010509060101010101" pitchFamily="49" charset="-122"/>
                <a:ea typeface="幼圆" panose="02010509060101010101" pitchFamily="49" charset="-122"/>
              </a:rPr>
              <a:t>最好情况下：划分的两个子序列长度相同，时间复杂度为</a:t>
            </a:r>
            <a:r>
              <a:rPr lang="en-US" altLang="zh-CN" dirty="0">
                <a:latin typeface="幼圆" panose="02010509060101010101" pitchFamily="49" charset="-122"/>
                <a:ea typeface="幼圆" panose="02010509060101010101" pitchFamily="49" charset="-122"/>
              </a:rPr>
              <a:t>O(</a:t>
            </a:r>
            <a:r>
              <a:rPr lang="en-US" altLang="zh-CN" dirty="0" err="1">
                <a:latin typeface="幼圆" panose="02010509060101010101" pitchFamily="49" charset="-122"/>
                <a:ea typeface="幼圆" panose="02010509060101010101" pitchFamily="49" charset="-122"/>
              </a:rPr>
              <a:t>nlog</a:t>
            </a:r>
            <a:r>
              <a:rPr lang="en-US" altLang="zh-CN" dirty="0">
                <a:latin typeface="幼圆" panose="02010509060101010101" pitchFamily="49" charset="-122"/>
                <a:ea typeface="幼圆" panose="02010509060101010101" pitchFamily="49" charset="-122"/>
              </a:rPr>
              <a:t>(n))</a:t>
            </a:r>
          </a:p>
          <a:p>
            <a:pPr>
              <a:lnSpc>
                <a:spcPct val="150000"/>
              </a:lnSpc>
            </a:pPr>
            <a:r>
              <a:rPr lang="zh-CN" altLang="en-US" dirty="0">
                <a:latin typeface="幼圆" panose="02010509060101010101" pitchFamily="49" charset="-122"/>
                <a:ea typeface="幼圆" panose="02010509060101010101" pitchFamily="49" charset="-122"/>
              </a:rPr>
              <a:t>最坏情况下：选取的基准数为最大或最小值，时间复杂度为</a:t>
            </a:r>
            <a:r>
              <a:rPr lang="en-US" altLang="zh-CN" dirty="0">
                <a:latin typeface="幼圆" panose="02010509060101010101" pitchFamily="49" charset="-122"/>
                <a:ea typeface="幼圆" panose="02010509060101010101" pitchFamily="49" charset="-122"/>
              </a:rPr>
              <a:t>O(n^2 )</a:t>
            </a:r>
          </a:p>
          <a:p>
            <a:pPr>
              <a:lnSpc>
                <a:spcPct val="150000"/>
              </a:lnSpc>
            </a:pPr>
            <a:r>
              <a:rPr lang="zh-CN" altLang="en-US" dirty="0">
                <a:latin typeface="幼圆" panose="02010509060101010101" pitchFamily="49" charset="-122"/>
                <a:ea typeface="幼圆" panose="02010509060101010101" pitchFamily="49" charset="-122"/>
              </a:rPr>
              <a:t>平均时间复杂度：</a:t>
            </a:r>
            <a:r>
              <a:rPr lang="en-US" altLang="zh-CN" dirty="0">
                <a:latin typeface="幼圆" panose="02010509060101010101" pitchFamily="49" charset="-122"/>
                <a:ea typeface="幼圆" panose="02010509060101010101" pitchFamily="49" charset="-122"/>
              </a:rPr>
              <a:t>O(</a:t>
            </a:r>
            <a:r>
              <a:rPr lang="en-US" altLang="zh-CN" dirty="0" err="1">
                <a:latin typeface="幼圆" panose="02010509060101010101" pitchFamily="49" charset="-122"/>
                <a:ea typeface="幼圆" panose="02010509060101010101" pitchFamily="49" charset="-122"/>
              </a:rPr>
              <a:t>nlog</a:t>
            </a:r>
            <a:r>
              <a:rPr lang="en-US" altLang="zh-CN" dirty="0">
                <a:latin typeface="幼圆" panose="02010509060101010101" pitchFamily="49" charset="-122"/>
                <a:ea typeface="幼圆" panose="02010509060101010101" pitchFamily="49" charset="-122"/>
              </a:rPr>
              <a:t>(n))</a:t>
            </a:r>
          </a:p>
          <a:p>
            <a:pPr>
              <a:lnSpc>
                <a:spcPct val="150000"/>
              </a:lnSpc>
            </a:pPr>
            <a:endParaRPr lang="zh-CN" altLang="en-US" dirty="0">
              <a:latin typeface="幼圆" panose="02010509060101010101" pitchFamily="49" charset="-122"/>
              <a:ea typeface="幼圆" panose="02010509060101010101" pitchFamily="49" charset="-122"/>
            </a:endParaRPr>
          </a:p>
          <a:p>
            <a:pPr>
              <a:lnSpc>
                <a:spcPct val="150000"/>
              </a:lnSpc>
            </a:pPr>
            <a:r>
              <a:rPr lang="zh-CN" altLang="en-US" sz="2400" b="1" dirty="0">
                <a:latin typeface="幼圆" panose="02010509060101010101" pitchFamily="49" charset="-122"/>
                <a:ea typeface="幼圆" panose="02010509060101010101" pitchFamily="49" charset="-122"/>
              </a:rPr>
              <a:t>②空间复杂度</a:t>
            </a:r>
            <a:endParaRPr lang="en-US" altLang="zh-CN" sz="2400" b="1" dirty="0">
              <a:latin typeface="幼圆" panose="02010509060101010101" pitchFamily="49" charset="-122"/>
              <a:ea typeface="幼圆" panose="02010509060101010101" pitchFamily="49" charset="-122"/>
            </a:endParaRPr>
          </a:p>
          <a:p>
            <a:pPr>
              <a:lnSpc>
                <a:spcPct val="150000"/>
              </a:lnSpc>
            </a:pPr>
            <a:r>
              <a:rPr lang="zh-CN" altLang="en-US" dirty="0">
                <a:latin typeface="幼圆" panose="02010509060101010101" pitchFamily="49" charset="-122"/>
                <a:ea typeface="幼圆" panose="02010509060101010101" pitchFamily="49" charset="-122"/>
              </a:rPr>
              <a:t>递归调用快排产生的递归树深度范围在</a:t>
            </a:r>
            <a:r>
              <a:rPr lang="en-US" altLang="zh-CN" dirty="0">
                <a:latin typeface="幼圆" panose="02010509060101010101" pitchFamily="49" charset="-122"/>
                <a:ea typeface="幼圆" panose="02010509060101010101" pitchFamily="49" charset="-122"/>
              </a:rPr>
              <a:t>log_2⁡n</a:t>
            </a:r>
            <a:r>
              <a:rPr lang="zh-CN" altLang="en-US" dirty="0">
                <a:latin typeface="幼圆" panose="02010509060101010101" pitchFamily="49" charset="-122"/>
                <a:ea typeface="幼圆" panose="02010509060101010101" pitchFamily="49" charset="-122"/>
              </a:rPr>
              <a:t>到</a:t>
            </a:r>
            <a:r>
              <a:rPr lang="en-US" altLang="zh-CN" dirty="0">
                <a:latin typeface="幼圆" panose="02010509060101010101" pitchFamily="49" charset="-122"/>
                <a:ea typeface="幼圆" panose="02010509060101010101" pitchFamily="49" charset="-122"/>
              </a:rPr>
              <a:t>n-1</a:t>
            </a:r>
            <a:r>
              <a:rPr lang="zh-CN" altLang="en-US" dirty="0">
                <a:latin typeface="幼圆" panose="02010509060101010101" pitchFamily="49" charset="-122"/>
                <a:ea typeface="幼圆" panose="02010509060101010101" pitchFamily="49" charset="-122"/>
              </a:rPr>
              <a:t>之间，故空间复杂度为</a:t>
            </a:r>
            <a:r>
              <a:rPr lang="en-US" altLang="zh-CN" dirty="0">
                <a:latin typeface="幼圆" panose="02010509060101010101" pitchFamily="49" charset="-122"/>
                <a:ea typeface="幼圆" panose="02010509060101010101" pitchFamily="49" charset="-122"/>
              </a:rPr>
              <a:t>O(</a:t>
            </a:r>
            <a:r>
              <a:rPr lang="en-US" altLang="zh-CN" dirty="0" err="1">
                <a:latin typeface="幼圆" panose="02010509060101010101" pitchFamily="49" charset="-122"/>
                <a:ea typeface="幼圆" panose="02010509060101010101" pitchFamily="49" charset="-122"/>
              </a:rPr>
              <a:t>logn</a:t>
            </a:r>
            <a:r>
              <a:rPr lang="en-US" altLang="zh-CN" dirty="0">
                <a:latin typeface="幼圆" panose="02010509060101010101" pitchFamily="49" charset="-122"/>
                <a:ea typeface="幼圆" panose="02010509060101010101" pitchFamily="49" charset="-122"/>
              </a:rPr>
              <a:t>)</a:t>
            </a:r>
            <a:r>
              <a:rPr lang="zh-CN" altLang="en-US" dirty="0">
                <a:latin typeface="幼圆" panose="02010509060101010101" pitchFamily="49" charset="-122"/>
                <a:ea typeface="幼圆" panose="02010509060101010101" pitchFamily="49" charset="-122"/>
              </a:rPr>
              <a:t>。</a:t>
            </a:r>
            <a:endParaRPr lang="en-US" altLang="zh-CN" dirty="0">
              <a:latin typeface="幼圆" panose="02010509060101010101" pitchFamily="49" charset="-122"/>
              <a:ea typeface="幼圆" panose="02010509060101010101" pitchFamily="49" charset="-122"/>
            </a:endParaRPr>
          </a:p>
          <a:p>
            <a:pPr>
              <a:lnSpc>
                <a:spcPct val="150000"/>
              </a:lnSpc>
            </a:pPr>
            <a:endParaRPr lang="zh-CN" altLang="en-US" dirty="0">
              <a:latin typeface="幼圆" panose="02010509060101010101" pitchFamily="49" charset="-122"/>
              <a:ea typeface="幼圆" panose="02010509060101010101" pitchFamily="49" charset="-122"/>
            </a:endParaRPr>
          </a:p>
          <a:p>
            <a:pPr>
              <a:lnSpc>
                <a:spcPct val="150000"/>
              </a:lnSpc>
            </a:pPr>
            <a:r>
              <a:rPr lang="zh-CN" altLang="en-US" sz="2400" b="1" dirty="0">
                <a:latin typeface="幼圆" panose="02010509060101010101" pitchFamily="49" charset="-122"/>
                <a:ea typeface="幼圆" panose="02010509060101010101" pitchFamily="49" charset="-122"/>
              </a:rPr>
              <a:t>③与冒泡排序比较</a:t>
            </a:r>
          </a:p>
          <a:p>
            <a:pPr>
              <a:lnSpc>
                <a:spcPct val="150000"/>
              </a:lnSpc>
            </a:pPr>
            <a:r>
              <a:rPr lang="zh-CN" altLang="en-US" dirty="0">
                <a:latin typeface="幼圆" panose="02010509060101010101" pitchFamily="49" charset="-122"/>
                <a:ea typeface="幼圆" panose="02010509060101010101" pitchFamily="49" charset="-122"/>
              </a:rPr>
              <a:t>快速排序的核心也是大数与小数交换，但与冒泡排序不同，它不是比较两个相邻数据，数据的交换是跳跃式的，交换的距离更大，使得比较和交换的次数减少，提高了排序的效率。</a:t>
            </a:r>
          </a:p>
        </p:txBody>
      </p:sp>
    </p:spTree>
    <p:extLst>
      <p:ext uri="{BB962C8B-B14F-4D97-AF65-F5344CB8AC3E}">
        <p14:creationId xmlns:p14="http://schemas.microsoft.com/office/powerpoint/2010/main" val="3742871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sp>
        <p:nvSpPr>
          <p:cNvPr id="62" name="矩形 6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pic>
        <p:nvPicPr>
          <p:cNvPr id="36" name="图片 35"/>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5" name="文本框 14">
            <a:extLst>
              <a:ext uri="{FF2B5EF4-FFF2-40B4-BE49-F238E27FC236}">
                <a16:creationId xmlns:a16="http://schemas.microsoft.com/office/drawing/2014/main" id="{08C786E0-38A9-4F5A-8B8C-801FC475793B}"/>
              </a:ext>
            </a:extLst>
          </p:cNvPr>
          <p:cNvSpPr txBox="1"/>
          <p:nvPr/>
        </p:nvSpPr>
        <p:spPr>
          <a:xfrm>
            <a:off x="4982634" y="783507"/>
            <a:ext cx="2226732" cy="707886"/>
          </a:xfrm>
          <a:prstGeom prst="rect">
            <a:avLst/>
          </a:prstGeom>
          <a:noFill/>
        </p:spPr>
        <p:txBody>
          <a:bodyPr wrap="square" rtlCol="0">
            <a:spAutoFit/>
          </a:bodyPr>
          <a:lstStyle/>
          <a:p>
            <a:r>
              <a:rPr lang="zh-CN" altLang="en-US" sz="4000" b="1" dirty="0">
                <a:solidFill>
                  <a:schemeClr val="bg1">
                    <a:lumMod val="50000"/>
                  </a:schemeClr>
                </a:solidFill>
                <a:latin typeface="幼圆" panose="02010509060101010101" pitchFamily="49" charset="-122"/>
                <a:ea typeface="幼圆" panose="02010509060101010101" pitchFamily="49" charset="-122"/>
              </a:rPr>
              <a:t>结果分析</a:t>
            </a:r>
          </a:p>
        </p:txBody>
      </p:sp>
      <p:sp>
        <p:nvSpPr>
          <p:cNvPr id="17" name="文本框 16">
            <a:extLst>
              <a:ext uri="{FF2B5EF4-FFF2-40B4-BE49-F238E27FC236}">
                <a16:creationId xmlns:a16="http://schemas.microsoft.com/office/drawing/2014/main" id="{AAB3A055-4772-4865-9C84-80C6094DE716}"/>
              </a:ext>
            </a:extLst>
          </p:cNvPr>
          <p:cNvSpPr txBox="1"/>
          <p:nvPr/>
        </p:nvSpPr>
        <p:spPr>
          <a:xfrm>
            <a:off x="4715114" y="1682941"/>
            <a:ext cx="7115500" cy="3853931"/>
          </a:xfrm>
          <a:prstGeom prst="rect">
            <a:avLst/>
          </a:prstGeom>
          <a:noFill/>
        </p:spPr>
        <p:txBody>
          <a:bodyPr wrap="square" tIns="72000">
            <a:spAutoFit/>
          </a:bodyPr>
          <a:lstStyle/>
          <a:p>
            <a:pPr indent="266700" algn="just">
              <a:lnSpc>
                <a:spcPct val="150000"/>
              </a:lnSpc>
            </a:pPr>
            <a:r>
              <a:rPr lang="zh-CN" altLang="en-US" sz="2800" b="1" dirty="0">
                <a:latin typeface="幼圆" panose="02010509060101010101" pitchFamily="49" charset="-122"/>
                <a:ea typeface="幼圆" panose="02010509060101010101" pitchFamily="49" charset="-122"/>
              </a:rPr>
              <a:t>①</a:t>
            </a:r>
            <a:r>
              <a:rPr lang="zh-CN" altLang="en-US" kern="100" dirty="0">
                <a:latin typeface="幼圆" panose="02010509060101010101" pitchFamily="49" charset="-122"/>
                <a:ea typeface="幼圆" panose="02010509060101010101" pitchFamily="49" charset="-122"/>
              </a:rPr>
              <a:t>由图</a:t>
            </a:r>
            <a:r>
              <a:rPr lang="en-US" altLang="zh-CN" kern="100" dirty="0">
                <a:latin typeface="幼圆" panose="02010509060101010101" pitchFamily="49" charset="-122"/>
                <a:ea typeface="幼圆" panose="02010509060101010101" pitchFamily="49" charset="-122"/>
              </a:rPr>
              <a:t>23</a:t>
            </a:r>
            <a:r>
              <a:rPr lang="zh-CN" altLang="en-US" kern="100" dirty="0">
                <a:latin typeface="幼圆" panose="02010509060101010101" pitchFamily="49" charset="-122"/>
                <a:ea typeface="幼圆" panose="02010509060101010101" pitchFamily="49" charset="-122"/>
              </a:rPr>
              <a:t>可以看出，快速排序的理论和实验图像拟合程度一般。理论时间大于实际时间</a:t>
            </a:r>
            <a:endParaRPr lang="en-US" altLang="zh-CN" kern="100" dirty="0">
              <a:latin typeface="幼圆" panose="02010509060101010101" pitchFamily="49" charset="-122"/>
              <a:ea typeface="幼圆" panose="02010509060101010101" pitchFamily="49" charset="-122"/>
            </a:endParaRPr>
          </a:p>
          <a:p>
            <a:pPr indent="266700" algn="just">
              <a:lnSpc>
                <a:spcPct val="150000"/>
              </a:lnSpc>
            </a:pPr>
            <a:endParaRPr lang="zh-CN" altLang="en-US" dirty="0">
              <a:latin typeface="幼圆" panose="02010509060101010101" pitchFamily="49" charset="-122"/>
              <a:ea typeface="幼圆" panose="02010509060101010101" pitchFamily="49" charset="-122"/>
            </a:endParaRPr>
          </a:p>
          <a:p>
            <a:pPr indent="266700" algn="just">
              <a:lnSpc>
                <a:spcPct val="150000"/>
              </a:lnSpc>
            </a:pPr>
            <a:r>
              <a:rPr lang="zh-CN" altLang="en-US" sz="2800" dirty="0">
                <a:latin typeface="幼圆" panose="02010509060101010101" pitchFamily="49" charset="-122"/>
                <a:ea typeface="幼圆" panose="02010509060101010101" pitchFamily="49" charset="-122"/>
              </a:rPr>
              <a:t>②</a:t>
            </a:r>
            <a:r>
              <a:rPr lang="zh-CN" altLang="en-US" kern="100" dirty="0">
                <a:latin typeface="幼圆" panose="02010509060101010101" pitchFamily="49" charset="-122"/>
                <a:ea typeface="幼圆" panose="02010509060101010101" pitchFamily="49" charset="-122"/>
              </a:rPr>
              <a:t>可能的原因在于，参照点使用的为</a:t>
            </a:r>
            <a:r>
              <a:rPr lang="en-US" altLang="zh-CN" kern="100" dirty="0">
                <a:latin typeface="幼圆" panose="02010509060101010101" pitchFamily="49" charset="-122"/>
                <a:ea typeface="幼圆" panose="02010509060101010101" pitchFamily="49" charset="-122"/>
              </a:rPr>
              <a:t>N=10000000</a:t>
            </a:r>
            <a:r>
              <a:rPr lang="zh-CN" altLang="en-US" kern="100" dirty="0">
                <a:latin typeface="幼圆" panose="02010509060101010101" pitchFamily="49" charset="-122"/>
                <a:ea typeface="幼圆" panose="02010509060101010101" pitchFamily="49" charset="-122"/>
              </a:rPr>
              <a:t>时的时间，而此时划分子序列的时间与递归调用空间开销都较大，即与</a:t>
            </a:r>
            <a:r>
              <a:rPr lang="en-US" altLang="zh-CN" kern="100" dirty="0">
                <a:latin typeface="幼圆" panose="02010509060101010101" pitchFamily="49" charset="-122"/>
                <a:ea typeface="幼圆" panose="02010509060101010101" pitchFamily="49" charset="-122"/>
              </a:rPr>
              <a:t>n=1000000</a:t>
            </a:r>
            <a:r>
              <a:rPr lang="zh-CN" altLang="en-US" kern="100" dirty="0">
                <a:latin typeface="幼圆" panose="02010509060101010101" pitchFamily="49" charset="-122"/>
                <a:ea typeface="幼圆" panose="02010509060101010101" pitchFamily="49" charset="-122"/>
              </a:rPr>
              <a:t>及更小规模数据时间的关系不只是</a:t>
            </a:r>
            <a:r>
              <a:rPr lang="en-US" altLang="zh-CN" kern="100" dirty="0">
                <a:latin typeface="幼圆" panose="02010509060101010101" pitchFamily="49" charset="-122"/>
                <a:ea typeface="幼圆" panose="02010509060101010101" pitchFamily="49" charset="-122"/>
              </a:rPr>
              <a:t>O(</a:t>
            </a:r>
            <a:r>
              <a:rPr lang="en-US" altLang="zh-CN" kern="100" dirty="0" err="1">
                <a:latin typeface="幼圆" panose="02010509060101010101" pitchFamily="49" charset="-122"/>
                <a:ea typeface="幼圆" panose="02010509060101010101" pitchFamily="49" charset="-122"/>
              </a:rPr>
              <a:t>NlgN</a:t>
            </a:r>
            <a:r>
              <a:rPr lang="en-US" altLang="zh-CN" kern="100" dirty="0">
                <a:latin typeface="幼圆" panose="02010509060101010101" pitchFamily="49" charset="-122"/>
                <a:ea typeface="幼圆" panose="02010509060101010101" pitchFamily="49" charset="-122"/>
              </a:rPr>
              <a:t>)/ O(</a:t>
            </a:r>
            <a:r>
              <a:rPr lang="en-US" altLang="zh-CN" kern="100" dirty="0" err="1">
                <a:latin typeface="幼圆" panose="02010509060101010101" pitchFamily="49" charset="-122"/>
                <a:ea typeface="幼圆" panose="02010509060101010101" pitchFamily="49" charset="-122"/>
              </a:rPr>
              <a:t>nlgn</a:t>
            </a:r>
            <a:r>
              <a:rPr lang="en-US" altLang="zh-CN" kern="100" dirty="0">
                <a:latin typeface="幼圆" panose="02010509060101010101" pitchFamily="49" charset="-122"/>
                <a:ea typeface="幼圆" panose="02010509060101010101" pitchFamily="49" charset="-122"/>
              </a:rPr>
              <a:t>)</a:t>
            </a:r>
            <a:r>
              <a:rPr lang="zh-CN" altLang="en-US" kern="100" dirty="0">
                <a:latin typeface="幼圆" panose="02010509060101010101" pitchFamily="49" charset="-122"/>
                <a:ea typeface="幼圆" panose="02010509060101010101" pitchFamily="49" charset="-122"/>
              </a:rPr>
              <a:t>的倍数，因此误差较大。</a:t>
            </a:r>
            <a:r>
              <a:rPr lang="zh-CN" altLang="zh-CN" b="1" u="sng" dirty="0">
                <a:latin typeface="幼圆" panose="02010509060101010101" pitchFamily="49" charset="-122"/>
                <a:ea typeface="幼圆" panose="02010509060101010101" pitchFamily="49" charset="-122"/>
              </a:rPr>
              <a:t>而使用</a:t>
            </a:r>
            <a:r>
              <a:rPr lang="en-US" altLang="zh-CN" b="1" u="sng" dirty="0">
                <a:latin typeface="幼圆" panose="02010509060101010101" pitchFamily="49" charset="-122"/>
                <a:ea typeface="幼圆" panose="02010509060101010101" pitchFamily="49" charset="-122"/>
              </a:rPr>
              <a:t>N=100000</a:t>
            </a:r>
            <a:r>
              <a:rPr lang="zh-CN" altLang="zh-CN" b="1" u="sng" dirty="0">
                <a:latin typeface="幼圆" panose="02010509060101010101" pitchFamily="49" charset="-122"/>
                <a:ea typeface="幼圆" panose="02010509060101010101" pitchFamily="49" charset="-122"/>
              </a:rPr>
              <a:t>时的时间为参照点时，获得的图像拟合效果较好，规模较小时产生的误差与合并排序类似。</a:t>
            </a:r>
            <a:endParaRPr lang="en-US" altLang="zh-CN" b="1" u="sng" kern="100" dirty="0">
              <a:latin typeface="幼圆" panose="02010509060101010101" pitchFamily="49" charset="-122"/>
              <a:ea typeface="幼圆" panose="02010509060101010101" pitchFamily="49" charset="-122"/>
            </a:endParaRPr>
          </a:p>
        </p:txBody>
      </p:sp>
      <p:pic>
        <p:nvPicPr>
          <p:cNvPr id="4" name="图片 3">
            <a:extLst>
              <a:ext uri="{FF2B5EF4-FFF2-40B4-BE49-F238E27FC236}">
                <a16:creationId xmlns:a16="http://schemas.microsoft.com/office/drawing/2014/main" id="{3FC3D253-5CDF-405C-A547-D6611F531722}"/>
              </a:ext>
            </a:extLst>
          </p:cNvPr>
          <p:cNvPicPr>
            <a:picLocks noChangeAspect="1"/>
          </p:cNvPicPr>
          <p:nvPr/>
        </p:nvPicPr>
        <p:blipFill>
          <a:blip r:embed="rId4"/>
          <a:stretch>
            <a:fillRect/>
          </a:stretch>
        </p:blipFill>
        <p:spPr>
          <a:xfrm>
            <a:off x="0" y="1491393"/>
            <a:ext cx="4572000" cy="1669142"/>
          </a:xfrm>
          <a:prstGeom prst="rect">
            <a:avLst/>
          </a:prstGeom>
        </p:spPr>
      </p:pic>
      <p:pic>
        <p:nvPicPr>
          <p:cNvPr id="7" name="图片 6">
            <a:extLst>
              <a:ext uri="{FF2B5EF4-FFF2-40B4-BE49-F238E27FC236}">
                <a16:creationId xmlns:a16="http://schemas.microsoft.com/office/drawing/2014/main" id="{1EF746A6-4A37-4A0B-943D-380F8D1D2DBB}"/>
              </a:ext>
            </a:extLst>
          </p:cNvPr>
          <p:cNvPicPr>
            <a:picLocks noChangeAspect="1"/>
          </p:cNvPicPr>
          <p:nvPr/>
        </p:nvPicPr>
        <p:blipFill>
          <a:blip r:embed="rId5"/>
          <a:stretch>
            <a:fillRect/>
          </a:stretch>
        </p:blipFill>
        <p:spPr>
          <a:xfrm>
            <a:off x="279401" y="3609907"/>
            <a:ext cx="3742266" cy="2412702"/>
          </a:xfrm>
          <a:prstGeom prst="rect">
            <a:avLst/>
          </a:prstGeom>
        </p:spPr>
      </p:pic>
      <p:pic>
        <p:nvPicPr>
          <p:cNvPr id="11" name="图片 10">
            <a:extLst>
              <a:ext uri="{FF2B5EF4-FFF2-40B4-BE49-F238E27FC236}">
                <a16:creationId xmlns:a16="http://schemas.microsoft.com/office/drawing/2014/main" id="{D674AD10-1456-4B5A-A19E-779A3DE2F4DF}"/>
              </a:ext>
            </a:extLst>
          </p:cNvPr>
          <p:cNvPicPr>
            <a:picLocks noChangeAspect="1"/>
          </p:cNvPicPr>
          <p:nvPr/>
        </p:nvPicPr>
        <p:blipFill>
          <a:blip r:embed="rId6"/>
          <a:stretch>
            <a:fillRect/>
          </a:stretch>
        </p:blipFill>
        <p:spPr>
          <a:xfrm>
            <a:off x="2396067" y="2022055"/>
            <a:ext cx="6438095" cy="3914286"/>
          </a:xfrm>
          <a:prstGeom prst="rect">
            <a:avLst/>
          </a:prstGeom>
        </p:spPr>
      </p:pic>
    </p:spTree>
    <p:extLst>
      <p:ext uri="{BB962C8B-B14F-4D97-AF65-F5344CB8AC3E}">
        <p14:creationId xmlns:p14="http://schemas.microsoft.com/office/powerpoint/2010/main" val="3220903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fill="hold"/>
                                        <p:tgtEl>
                                          <p:spTgt spid="11"/>
                                        </p:tgtEl>
                                        <p:attrNameLst>
                                          <p:attrName>ppt_x</p:attrName>
                                        </p:attrNameLst>
                                      </p:cBhvr>
                                      <p:tavLst>
                                        <p:tav tm="0">
                                          <p:val>
                                            <p:strVal val="#ppt_x"/>
                                          </p:val>
                                        </p:tav>
                                        <p:tav tm="100000">
                                          <p:val>
                                            <p:strVal val="#ppt_x"/>
                                          </p:val>
                                        </p:tav>
                                      </p:tavLst>
                                    </p:anim>
                                    <p:anim calcmode="lin" valueType="num">
                                      <p:cBhvr additive="base">
                                        <p:cTn id="2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sp>
        <p:nvSpPr>
          <p:cNvPr id="62" name="矩形 6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pic>
        <p:nvPicPr>
          <p:cNvPr id="36" name="图片 35"/>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5" name="文本框 14">
            <a:extLst>
              <a:ext uri="{FF2B5EF4-FFF2-40B4-BE49-F238E27FC236}">
                <a16:creationId xmlns:a16="http://schemas.microsoft.com/office/drawing/2014/main" id="{08C786E0-38A9-4F5A-8B8C-801FC475793B}"/>
              </a:ext>
            </a:extLst>
          </p:cNvPr>
          <p:cNvSpPr txBox="1"/>
          <p:nvPr/>
        </p:nvSpPr>
        <p:spPr>
          <a:xfrm>
            <a:off x="4982634" y="865636"/>
            <a:ext cx="2226732" cy="707886"/>
          </a:xfrm>
          <a:prstGeom prst="rect">
            <a:avLst/>
          </a:prstGeom>
          <a:noFill/>
        </p:spPr>
        <p:txBody>
          <a:bodyPr wrap="square" rtlCol="0">
            <a:spAutoFit/>
          </a:bodyPr>
          <a:lstStyle/>
          <a:p>
            <a:r>
              <a:rPr lang="zh-CN" altLang="en-US" sz="4000" b="1" dirty="0">
                <a:solidFill>
                  <a:schemeClr val="bg1">
                    <a:lumMod val="50000"/>
                  </a:schemeClr>
                </a:solidFill>
                <a:latin typeface="幼圆" panose="02010509060101010101" pitchFamily="49" charset="-122"/>
                <a:ea typeface="幼圆" panose="02010509060101010101" pitchFamily="49" charset="-122"/>
              </a:rPr>
              <a:t>插入排序</a:t>
            </a:r>
          </a:p>
        </p:txBody>
      </p:sp>
      <p:sp>
        <p:nvSpPr>
          <p:cNvPr id="26" name="文本框 25">
            <a:extLst>
              <a:ext uri="{FF2B5EF4-FFF2-40B4-BE49-F238E27FC236}">
                <a16:creationId xmlns:a16="http://schemas.microsoft.com/office/drawing/2014/main" id="{5F47A69F-7A57-4DFD-8A52-0A5E01096631}"/>
              </a:ext>
            </a:extLst>
          </p:cNvPr>
          <p:cNvSpPr txBox="1"/>
          <p:nvPr/>
        </p:nvSpPr>
        <p:spPr>
          <a:xfrm>
            <a:off x="4690208" y="1435832"/>
            <a:ext cx="7485259" cy="2790187"/>
          </a:xfrm>
          <a:prstGeom prst="rect">
            <a:avLst/>
          </a:prstGeom>
          <a:noFill/>
        </p:spPr>
        <p:txBody>
          <a:bodyPr wrap="square" rtlCol="0" anchor="ctr" anchorCtr="0">
            <a:spAutoFit/>
          </a:bodyPr>
          <a:lstStyle/>
          <a:p>
            <a:pPr marL="455930" indent="-200025">
              <a:lnSpc>
                <a:spcPct val="150000"/>
              </a:lnSpc>
            </a:pPr>
            <a:r>
              <a:rPr lang="zh-CN" altLang="en-US" sz="2000" b="1" kern="100" dirty="0">
                <a:solidFill>
                  <a:schemeClr val="accent4">
                    <a:lumMod val="75000"/>
                    <a:lumOff val="25000"/>
                  </a:schemeClr>
                </a:solidFill>
                <a:effectLst/>
                <a:latin typeface="幼圆" panose="02010509060101010101" pitchFamily="49" charset="-122"/>
                <a:ea typeface="幼圆" panose="02010509060101010101" pitchFamily="49" charset="-122"/>
              </a:rPr>
              <a:t>算法思路：</a:t>
            </a:r>
            <a:endPar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endParaRPr>
          </a:p>
          <a:p>
            <a:pPr marL="455930" indent="-200025">
              <a:lnSpc>
                <a:spcPct val="150000"/>
              </a:lnSpc>
            </a:pPr>
            <a:r>
              <a:rPr lang="zh-CN" altLang="en-US" sz="2000" kern="100" dirty="0">
                <a:latin typeface="幼圆" panose="02010509060101010101" pitchFamily="49" charset="-122"/>
                <a:ea typeface="幼圆" panose="02010509060101010101" pitchFamily="49" charset="-122"/>
              </a:rPr>
              <a:t>将无序序列元素依次插入到结果序列，结果序列最初只</a:t>
            </a:r>
            <a:endParaRPr lang="en-US" altLang="zh-CN" sz="2000" kern="100" dirty="0">
              <a:latin typeface="幼圆" panose="02010509060101010101" pitchFamily="49" charset="-122"/>
              <a:ea typeface="幼圆" panose="02010509060101010101" pitchFamily="49" charset="-122"/>
            </a:endParaRPr>
          </a:p>
          <a:p>
            <a:pPr marL="455930" indent="-200025">
              <a:lnSpc>
                <a:spcPct val="150000"/>
              </a:lnSpc>
            </a:pPr>
            <a:r>
              <a:rPr lang="zh-CN" altLang="en-US" sz="2000" kern="100" dirty="0">
                <a:latin typeface="幼圆" panose="02010509060101010101" pitchFamily="49" charset="-122"/>
                <a:ea typeface="幼圆" panose="02010509060101010101" pitchFamily="49" charset="-122"/>
              </a:rPr>
              <a:t>有一个元素，每趟循环通过比较大小不断交换，将一个</a:t>
            </a:r>
            <a:endParaRPr lang="en-US" altLang="zh-CN" sz="2000" kern="100" dirty="0">
              <a:latin typeface="幼圆" panose="02010509060101010101" pitchFamily="49" charset="-122"/>
              <a:ea typeface="幼圆" panose="02010509060101010101" pitchFamily="49" charset="-122"/>
            </a:endParaRPr>
          </a:p>
          <a:p>
            <a:pPr marL="455930" indent="-200025">
              <a:lnSpc>
                <a:spcPct val="150000"/>
              </a:lnSpc>
            </a:pPr>
            <a:r>
              <a:rPr lang="zh-CN" altLang="en-US" sz="2000" kern="100" dirty="0">
                <a:latin typeface="幼圆" panose="02010509060101010101" pitchFamily="49" charset="-122"/>
                <a:ea typeface="幼圆" panose="02010509060101010101" pitchFamily="49" charset="-122"/>
              </a:rPr>
              <a:t>无序序列中待排序的元素，插入到前面已经排好序的有</a:t>
            </a:r>
            <a:endParaRPr lang="en-US" altLang="zh-CN" sz="2000" kern="100" dirty="0">
              <a:latin typeface="幼圆" panose="02010509060101010101" pitchFamily="49" charset="-122"/>
              <a:ea typeface="幼圆" panose="02010509060101010101" pitchFamily="49" charset="-122"/>
            </a:endParaRPr>
          </a:p>
          <a:p>
            <a:pPr marL="455930" indent="-200025">
              <a:lnSpc>
                <a:spcPct val="150000"/>
              </a:lnSpc>
            </a:pPr>
            <a:r>
              <a:rPr lang="zh-CN" altLang="en-US" sz="2000" kern="100" dirty="0">
                <a:latin typeface="幼圆" panose="02010509060101010101" pitchFamily="49" charset="-122"/>
                <a:ea typeface="幼圆" panose="02010509060101010101" pitchFamily="49" charset="-122"/>
              </a:rPr>
              <a:t>序序列的正确位置上</a:t>
            </a:r>
            <a:r>
              <a:rPr lang="en-US" altLang="zh-CN" sz="2000" kern="100" dirty="0">
                <a:latin typeface="幼圆" panose="02010509060101010101" pitchFamily="49" charset="-122"/>
                <a:ea typeface="幼圆" panose="02010509060101010101" pitchFamily="49" charset="-122"/>
              </a:rPr>
              <a:t>, </a:t>
            </a:r>
            <a:r>
              <a:rPr lang="zh-CN" altLang="en-US" sz="2000" kern="100" dirty="0">
                <a:latin typeface="幼圆" panose="02010509060101010101" pitchFamily="49" charset="-122"/>
                <a:ea typeface="幼圆" panose="02010509060101010101" pitchFamily="49" charset="-122"/>
              </a:rPr>
              <a:t>直到元素全部插入到正确位置上</a:t>
            </a:r>
            <a:endParaRPr lang="en-US" altLang="zh-CN" sz="2000" kern="100" dirty="0">
              <a:latin typeface="幼圆" panose="02010509060101010101" pitchFamily="49" charset="-122"/>
              <a:ea typeface="幼圆" panose="02010509060101010101" pitchFamily="49" charset="-122"/>
            </a:endParaRPr>
          </a:p>
          <a:p>
            <a:pPr marL="455930" indent="-200025">
              <a:lnSpc>
                <a:spcPct val="150000"/>
              </a:lnSpc>
            </a:pPr>
            <a:r>
              <a:rPr lang="zh-CN" altLang="en-US" sz="2000" kern="100" dirty="0">
                <a:latin typeface="幼圆" panose="02010509060101010101" pitchFamily="49" charset="-122"/>
                <a:ea typeface="幼圆" panose="02010509060101010101" pitchFamily="49" charset="-122"/>
              </a:rPr>
              <a:t>为止。</a:t>
            </a:r>
            <a:endParaRPr lang="en-US" altLang="zh-CN" sz="2000" b="1" kern="100" dirty="0">
              <a:solidFill>
                <a:schemeClr val="accent4">
                  <a:lumMod val="75000"/>
                  <a:lumOff val="25000"/>
                </a:schemeClr>
              </a:solidFill>
              <a:effectLst/>
              <a:latin typeface="幼圆" panose="02010509060101010101" pitchFamily="49" charset="-122"/>
              <a:ea typeface="幼圆" panose="02010509060101010101" pitchFamily="49" charset="-122"/>
            </a:endParaRPr>
          </a:p>
        </p:txBody>
      </p:sp>
      <p:pic>
        <p:nvPicPr>
          <p:cNvPr id="4" name="图片 3">
            <a:extLst>
              <a:ext uri="{FF2B5EF4-FFF2-40B4-BE49-F238E27FC236}">
                <a16:creationId xmlns:a16="http://schemas.microsoft.com/office/drawing/2014/main" id="{225BBF7D-9905-4FB7-A2B6-D30B28275908}"/>
              </a:ext>
            </a:extLst>
          </p:cNvPr>
          <p:cNvPicPr>
            <a:picLocks noChangeAspect="1"/>
          </p:cNvPicPr>
          <p:nvPr/>
        </p:nvPicPr>
        <p:blipFill>
          <a:blip r:embed="rId4"/>
          <a:stretch>
            <a:fillRect/>
          </a:stretch>
        </p:blipFill>
        <p:spPr>
          <a:xfrm>
            <a:off x="0" y="1268114"/>
            <a:ext cx="4690208" cy="2798248"/>
          </a:xfrm>
          <a:prstGeom prst="rect">
            <a:avLst/>
          </a:prstGeom>
        </p:spPr>
      </p:pic>
      <p:pic>
        <p:nvPicPr>
          <p:cNvPr id="6" name="图片 5">
            <a:extLst>
              <a:ext uri="{FF2B5EF4-FFF2-40B4-BE49-F238E27FC236}">
                <a16:creationId xmlns:a16="http://schemas.microsoft.com/office/drawing/2014/main" id="{C637A166-78A4-4C4D-B010-399406CAE772}"/>
              </a:ext>
            </a:extLst>
          </p:cNvPr>
          <p:cNvPicPr>
            <a:picLocks noChangeAspect="1"/>
          </p:cNvPicPr>
          <p:nvPr/>
        </p:nvPicPr>
        <p:blipFill>
          <a:blip r:embed="rId5"/>
          <a:stretch>
            <a:fillRect/>
          </a:stretch>
        </p:blipFill>
        <p:spPr>
          <a:xfrm>
            <a:off x="462480" y="4407004"/>
            <a:ext cx="3765248" cy="1940372"/>
          </a:xfrm>
          <a:prstGeom prst="rect">
            <a:avLst/>
          </a:prstGeom>
        </p:spPr>
      </p:pic>
      <p:pic>
        <p:nvPicPr>
          <p:cNvPr id="6146" name="Picture 2">
            <a:extLst>
              <a:ext uri="{FF2B5EF4-FFF2-40B4-BE49-F238E27FC236}">
                <a16:creationId xmlns:a16="http://schemas.microsoft.com/office/drawing/2014/main" id="{AFDB6C09-564C-45F2-834A-69F28BED60E3}"/>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6427435" y="3900774"/>
            <a:ext cx="4267204" cy="2657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3494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146"/>
                                        </p:tgtEl>
                                        <p:attrNameLst>
                                          <p:attrName>style.visibility</p:attrName>
                                        </p:attrNameLst>
                                      </p:cBhvr>
                                      <p:to>
                                        <p:strVal val="visible"/>
                                      </p:to>
                                    </p:set>
                                    <p:animEffect transition="in" filter="fade">
                                      <p:cBhvr>
                                        <p:cTn id="22" dur="1000"/>
                                        <p:tgtEl>
                                          <p:spTgt spid="6146"/>
                                        </p:tgtEl>
                                      </p:cBhvr>
                                    </p:animEffect>
                                    <p:anim calcmode="lin" valueType="num">
                                      <p:cBhvr>
                                        <p:cTn id="23" dur="1000" fill="hold"/>
                                        <p:tgtEl>
                                          <p:spTgt spid="6146"/>
                                        </p:tgtEl>
                                        <p:attrNameLst>
                                          <p:attrName>ppt_x</p:attrName>
                                        </p:attrNameLst>
                                      </p:cBhvr>
                                      <p:tavLst>
                                        <p:tav tm="0">
                                          <p:val>
                                            <p:strVal val="#ppt_x"/>
                                          </p:val>
                                        </p:tav>
                                        <p:tav tm="100000">
                                          <p:val>
                                            <p:strVal val="#ppt_x"/>
                                          </p:val>
                                        </p:tav>
                                      </p:tavLst>
                                    </p:anim>
                                    <p:anim calcmode="lin" valueType="num">
                                      <p:cBhvr>
                                        <p:cTn id="24" dur="1000" fill="hold"/>
                                        <p:tgtEl>
                                          <p:spTgt spid="61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sp>
        <p:nvSpPr>
          <p:cNvPr id="62" name="矩形 6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pic>
        <p:nvPicPr>
          <p:cNvPr id="36" name="图片 35"/>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5" name="文本框 14">
            <a:extLst>
              <a:ext uri="{FF2B5EF4-FFF2-40B4-BE49-F238E27FC236}">
                <a16:creationId xmlns:a16="http://schemas.microsoft.com/office/drawing/2014/main" id="{08C786E0-38A9-4F5A-8B8C-801FC475793B}"/>
              </a:ext>
            </a:extLst>
          </p:cNvPr>
          <p:cNvSpPr txBox="1"/>
          <p:nvPr/>
        </p:nvSpPr>
        <p:spPr>
          <a:xfrm>
            <a:off x="4982634" y="865636"/>
            <a:ext cx="2226732" cy="707886"/>
          </a:xfrm>
          <a:prstGeom prst="rect">
            <a:avLst/>
          </a:prstGeom>
          <a:noFill/>
        </p:spPr>
        <p:txBody>
          <a:bodyPr wrap="square" rtlCol="0">
            <a:spAutoFit/>
          </a:bodyPr>
          <a:lstStyle/>
          <a:p>
            <a:r>
              <a:rPr lang="zh-CN" altLang="en-US" sz="4000" b="1" dirty="0">
                <a:solidFill>
                  <a:schemeClr val="bg1">
                    <a:lumMod val="50000"/>
                  </a:schemeClr>
                </a:solidFill>
                <a:latin typeface="幼圆" panose="02010509060101010101" pitchFamily="49" charset="-122"/>
                <a:ea typeface="幼圆" panose="02010509060101010101" pitchFamily="49" charset="-122"/>
              </a:rPr>
              <a:t>算法分析</a:t>
            </a:r>
          </a:p>
        </p:txBody>
      </p:sp>
      <p:sp>
        <p:nvSpPr>
          <p:cNvPr id="14" name="文本框 13">
            <a:extLst>
              <a:ext uri="{FF2B5EF4-FFF2-40B4-BE49-F238E27FC236}">
                <a16:creationId xmlns:a16="http://schemas.microsoft.com/office/drawing/2014/main" id="{6CC1F697-A709-46BF-9661-D930791FE494}"/>
              </a:ext>
            </a:extLst>
          </p:cNvPr>
          <p:cNvSpPr txBox="1"/>
          <p:nvPr/>
        </p:nvSpPr>
        <p:spPr>
          <a:xfrm>
            <a:off x="1625598" y="1965840"/>
            <a:ext cx="10016069" cy="3436444"/>
          </a:xfrm>
          <a:prstGeom prst="rect">
            <a:avLst/>
          </a:prstGeom>
          <a:noFill/>
        </p:spPr>
        <p:txBody>
          <a:bodyPr wrap="square" tIns="72000">
            <a:spAutoFit/>
          </a:bodyPr>
          <a:lstStyle/>
          <a:p>
            <a:pPr>
              <a:lnSpc>
                <a:spcPct val="150000"/>
              </a:lnSpc>
            </a:pPr>
            <a:r>
              <a:rPr lang="zh-CN" altLang="en-US" sz="2800" b="1" dirty="0">
                <a:latin typeface="幼圆" panose="02010509060101010101" pitchFamily="49" charset="-122"/>
                <a:ea typeface="幼圆" panose="02010509060101010101" pitchFamily="49" charset="-122"/>
              </a:rPr>
              <a:t>①时间复杂度</a:t>
            </a:r>
            <a:endParaRPr lang="en-US" altLang="zh-CN" sz="2800" b="1" dirty="0">
              <a:latin typeface="幼圆" panose="02010509060101010101" pitchFamily="49" charset="-122"/>
              <a:ea typeface="幼圆" panose="02010509060101010101" pitchFamily="49" charset="-122"/>
            </a:endParaRPr>
          </a:p>
          <a:p>
            <a:pPr>
              <a:lnSpc>
                <a:spcPct val="150000"/>
              </a:lnSpc>
            </a:pPr>
            <a:r>
              <a:rPr lang="zh-CN" altLang="en-US" dirty="0">
                <a:latin typeface="幼圆" panose="02010509060101010101" pitchFamily="49" charset="-122"/>
                <a:ea typeface="幼圆" panose="02010509060101010101" pitchFamily="49" charset="-122"/>
              </a:rPr>
              <a:t>最好情况下：数据初始有序，比较次数最少，时间复杂度为</a:t>
            </a:r>
            <a:r>
              <a:rPr lang="en-US" altLang="zh-CN" dirty="0">
                <a:latin typeface="幼圆" panose="02010509060101010101" pitchFamily="49" charset="-122"/>
                <a:ea typeface="幼圆" panose="02010509060101010101" pitchFamily="49" charset="-122"/>
              </a:rPr>
              <a:t>O(n)</a:t>
            </a:r>
            <a:r>
              <a:rPr lang="zh-CN" altLang="en-US" dirty="0">
                <a:latin typeface="幼圆" panose="02010509060101010101" pitchFamily="49" charset="-122"/>
                <a:ea typeface="幼圆" panose="02010509060101010101" pitchFamily="49" charset="-122"/>
              </a:rPr>
              <a:t>。</a:t>
            </a:r>
          </a:p>
          <a:p>
            <a:pPr>
              <a:lnSpc>
                <a:spcPct val="150000"/>
              </a:lnSpc>
            </a:pPr>
            <a:r>
              <a:rPr lang="zh-CN" altLang="en-US" dirty="0">
                <a:latin typeface="幼圆" panose="02010509060101010101" pitchFamily="49" charset="-122"/>
                <a:ea typeface="幼圆" panose="02010509060101010101" pitchFamily="49" charset="-122"/>
              </a:rPr>
              <a:t>最坏情况下： 数据初始逆序，比较次数最多，需要执行</a:t>
            </a:r>
            <a:r>
              <a:rPr lang="en-US" altLang="zh-CN" dirty="0">
                <a:latin typeface="幼圆" panose="02010509060101010101" pitchFamily="49" charset="-122"/>
                <a:ea typeface="幼圆" panose="02010509060101010101" pitchFamily="49" charset="-122"/>
              </a:rPr>
              <a:t>(n×(n-1))/2</a:t>
            </a:r>
            <a:r>
              <a:rPr lang="zh-CN" altLang="en-US" dirty="0">
                <a:latin typeface="幼圆" panose="02010509060101010101" pitchFamily="49" charset="-122"/>
                <a:ea typeface="幼圆" panose="02010509060101010101" pitchFamily="49" charset="-122"/>
              </a:rPr>
              <a:t>次。时间复杂度为</a:t>
            </a:r>
            <a:r>
              <a:rPr lang="en-US" altLang="zh-CN" dirty="0">
                <a:latin typeface="幼圆" panose="02010509060101010101" pitchFamily="49" charset="-122"/>
                <a:ea typeface="幼圆" panose="02010509060101010101" pitchFamily="49" charset="-122"/>
              </a:rPr>
              <a:t>O(n^2 )</a:t>
            </a:r>
            <a:r>
              <a:rPr lang="zh-CN" altLang="en-US" dirty="0">
                <a:latin typeface="幼圆" panose="02010509060101010101" pitchFamily="49" charset="-122"/>
                <a:ea typeface="幼圆" panose="02010509060101010101" pitchFamily="49" charset="-122"/>
              </a:rPr>
              <a:t>。</a:t>
            </a:r>
          </a:p>
          <a:p>
            <a:pPr>
              <a:lnSpc>
                <a:spcPct val="150000"/>
              </a:lnSpc>
            </a:pPr>
            <a:r>
              <a:rPr lang="zh-CN" altLang="en-US" dirty="0">
                <a:latin typeface="幼圆" panose="02010509060101010101" pitchFamily="49" charset="-122"/>
                <a:ea typeface="幼圆" panose="02010509060101010101" pitchFamily="49" charset="-122"/>
              </a:rPr>
              <a:t>平均时间复杂度为：</a:t>
            </a:r>
            <a:r>
              <a:rPr lang="en-US" altLang="zh-CN" dirty="0">
                <a:latin typeface="幼圆" panose="02010509060101010101" pitchFamily="49" charset="-122"/>
                <a:ea typeface="幼圆" panose="02010509060101010101" pitchFamily="49" charset="-122"/>
              </a:rPr>
              <a:t>O(n^2 )</a:t>
            </a:r>
          </a:p>
          <a:p>
            <a:pPr>
              <a:lnSpc>
                <a:spcPct val="150000"/>
              </a:lnSpc>
            </a:pPr>
            <a:endParaRPr lang="zh-CN" altLang="en-US" dirty="0">
              <a:latin typeface="幼圆" panose="02010509060101010101" pitchFamily="49" charset="-122"/>
              <a:ea typeface="幼圆" panose="02010509060101010101" pitchFamily="49" charset="-122"/>
            </a:endParaRPr>
          </a:p>
          <a:p>
            <a:pPr>
              <a:lnSpc>
                <a:spcPct val="150000"/>
              </a:lnSpc>
            </a:pPr>
            <a:r>
              <a:rPr lang="zh-CN" altLang="en-US" sz="2800" b="1" dirty="0">
                <a:latin typeface="幼圆" panose="02010509060101010101" pitchFamily="49" charset="-122"/>
                <a:ea typeface="幼圆" panose="02010509060101010101" pitchFamily="49" charset="-122"/>
              </a:rPr>
              <a:t>②空间复杂度</a:t>
            </a:r>
            <a:endParaRPr lang="en-US" altLang="zh-CN" sz="2800" b="1" dirty="0">
              <a:latin typeface="幼圆" panose="02010509060101010101" pitchFamily="49" charset="-122"/>
              <a:ea typeface="幼圆" panose="02010509060101010101" pitchFamily="49" charset="-122"/>
            </a:endParaRPr>
          </a:p>
          <a:p>
            <a:pPr>
              <a:lnSpc>
                <a:spcPct val="150000"/>
              </a:lnSpc>
            </a:pPr>
            <a:r>
              <a:rPr lang="zh-CN" altLang="zh-CN" sz="1800" kern="100" dirty="0">
                <a:effectLst/>
                <a:latin typeface="幼圆" panose="02010509060101010101" pitchFamily="49" charset="-122"/>
                <a:ea typeface="幼圆" panose="02010509060101010101" pitchFamily="49" charset="-122"/>
              </a:rPr>
              <a:t>排序只需要在原数组中进行，故空间复杂度为</a:t>
            </a:r>
            <a:r>
              <a:rPr lang="en-US" altLang="zh-CN" sz="1800" kern="100" dirty="0">
                <a:effectLst/>
                <a:latin typeface="幼圆" panose="02010509060101010101" pitchFamily="49" charset="-122"/>
                <a:ea typeface="幼圆" panose="02010509060101010101" pitchFamily="49" charset="-122"/>
              </a:rPr>
              <a:t>O(1)</a:t>
            </a:r>
            <a:r>
              <a:rPr lang="zh-CN" altLang="en-US" dirty="0">
                <a:latin typeface="幼圆" panose="02010509060101010101" pitchFamily="49" charset="-122"/>
                <a:ea typeface="幼圆" panose="02010509060101010101" pitchFamily="49" charset="-122"/>
              </a:rPr>
              <a:t>。</a:t>
            </a:r>
          </a:p>
        </p:txBody>
      </p:sp>
    </p:spTree>
    <p:extLst>
      <p:ext uri="{BB962C8B-B14F-4D97-AF65-F5344CB8AC3E}">
        <p14:creationId xmlns:p14="http://schemas.microsoft.com/office/powerpoint/2010/main" val="3443964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sp>
        <p:nvSpPr>
          <p:cNvPr id="62" name="矩形 6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pic>
        <p:nvPicPr>
          <p:cNvPr id="36" name="图片 35"/>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5" name="文本框 14">
            <a:extLst>
              <a:ext uri="{FF2B5EF4-FFF2-40B4-BE49-F238E27FC236}">
                <a16:creationId xmlns:a16="http://schemas.microsoft.com/office/drawing/2014/main" id="{08C786E0-38A9-4F5A-8B8C-801FC475793B}"/>
              </a:ext>
            </a:extLst>
          </p:cNvPr>
          <p:cNvSpPr txBox="1"/>
          <p:nvPr/>
        </p:nvSpPr>
        <p:spPr>
          <a:xfrm>
            <a:off x="4982634" y="783507"/>
            <a:ext cx="2226732" cy="707886"/>
          </a:xfrm>
          <a:prstGeom prst="rect">
            <a:avLst/>
          </a:prstGeom>
          <a:noFill/>
        </p:spPr>
        <p:txBody>
          <a:bodyPr wrap="square" rtlCol="0">
            <a:spAutoFit/>
          </a:bodyPr>
          <a:lstStyle/>
          <a:p>
            <a:r>
              <a:rPr lang="zh-CN" altLang="en-US" sz="4000" b="1" dirty="0">
                <a:solidFill>
                  <a:schemeClr val="bg1">
                    <a:lumMod val="50000"/>
                  </a:schemeClr>
                </a:solidFill>
                <a:latin typeface="幼圆" panose="02010509060101010101" pitchFamily="49" charset="-122"/>
                <a:ea typeface="幼圆" panose="02010509060101010101" pitchFamily="49" charset="-122"/>
              </a:rPr>
              <a:t>结果分析</a:t>
            </a:r>
          </a:p>
        </p:txBody>
      </p:sp>
      <p:sp>
        <p:nvSpPr>
          <p:cNvPr id="17" name="文本框 16">
            <a:extLst>
              <a:ext uri="{FF2B5EF4-FFF2-40B4-BE49-F238E27FC236}">
                <a16:creationId xmlns:a16="http://schemas.microsoft.com/office/drawing/2014/main" id="{AAB3A055-4772-4865-9C84-80C6094DE716}"/>
              </a:ext>
            </a:extLst>
          </p:cNvPr>
          <p:cNvSpPr txBox="1"/>
          <p:nvPr/>
        </p:nvSpPr>
        <p:spPr>
          <a:xfrm>
            <a:off x="4715114" y="1716965"/>
            <a:ext cx="7115500" cy="3424070"/>
          </a:xfrm>
          <a:prstGeom prst="rect">
            <a:avLst/>
          </a:prstGeom>
          <a:noFill/>
        </p:spPr>
        <p:txBody>
          <a:bodyPr wrap="square" tIns="72000">
            <a:spAutoFit/>
          </a:bodyPr>
          <a:lstStyle/>
          <a:p>
            <a:pPr indent="266700" algn="just">
              <a:lnSpc>
                <a:spcPct val="150000"/>
              </a:lnSpc>
            </a:pPr>
            <a:r>
              <a:rPr lang="zh-CN" altLang="en-US" sz="2800" b="1" dirty="0">
                <a:latin typeface="幼圆" panose="02010509060101010101" pitchFamily="49" charset="-122"/>
                <a:ea typeface="幼圆" panose="02010509060101010101" pitchFamily="49" charset="-122"/>
              </a:rPr>
              <a:t>①</a:t>
            </a:r>
            <a:r>
              <a:rPr lang="zh-CN" altLang="en-US" kern="100" dirty="0">
                <a:latin typeface="幼圆" panose="02010509060101010101" pitchFamily="49" charset="-122"/>
                <a:ea typeface="幼圆" panose="02010509060101010101" pitchFamily="49" charset="-122"/>
              </a:rPr>
              <a:t>由图</a:t>
            </a:r>
            <a:r>
              <a:rPr lang="en-US" altLang="zh-CN" kern="100" dirty="0">
                <a:latin typeface="幼圆" panose="02010509060101010101" pitchFamily="49" charset="-122"/>
                <a:ea typeface="幼圆" panose="02010509060101010101" pitchFamily="49" charset="-122"/>
              </a:rPr>
              <a:t>26</a:t>
            </a:r>
            <a:r>
              <a:rPr lang="zh-CN" altLang="en-US" kern="100" dirty="0">
                <a:latin typeface="幼圆" panose="02010509060101010101" pitchFamily="49" charset="-122"/>
                <a:ea typeface="幼圆" panose="02010509060101010101" pitchFamily="49" charset="-122"/>
              </a:rPr>
              <a:t>可以看出，插入排序的理论和实验图像在规模</a:t>
            </a:r>
            <a:r>
              <a:rPr lang="en-US" altLang="zh-CN" kern="100" dirty="0">
                <a:latin typeface="幼圆" panose="02010509060101010101" pitchFamily="49" charset="-122"/>
                <a:ea typeface="幼圆" panose="02010509060101010101" pitchFamily="49" charset="-122"/>
              </a:rPr>
              <a:t>n=1000</a:t>
            </a:r>
            <a:r>
              <a:rPr lang="zh-CN" altLang="en-US" kern="100" dirty="0">
                <a:latin typeface="幼圆" panose="02010509060101010101" pitchFamily="49" charset="-122"/>
                <a:ea typeface="幼圆" panose="02010509060101010101" pitchFamily="49" charset="-122"/>
              </a:rPr>
              <a:t>及更大时基本重合，拟合程度较好，而规模较小时，实际时间大于理论时间。</a:t>
            </a:r>
            <a:endParaRPr lang="en-US" altLang="zh-CN" kern="100" dirty="0">
              <a:latin typeface="幼圆" panose="02010509060101010101" pitchFamily="49" charset="-122"/>
              <a:ea typeface="幼圆" panose="02010509060101010101" pitchFamily="49" charset="-122"/>
            </a:endParaRPr>
          </a:p>
          <a:p>
            <a:pPr indent="266700" algn="just">
              <a:lnSpc>
                <a:spcPct val="150000"/>
              </a:lnSpc>
            </a:pPr>
            <a:endParaRPr lang="zh-CN" altLang="en-US" dirty="0">
              <a:latin typeface="幼圆" panose="02010509060101010101" pitchFamily="49" charset="-122"/>
              <a:ea typeface="幼圆" panose="02010509060101010101" pitchFamily="49" charset="-122"/>
            </a:endParaRPr>
          </a:p>
          <a:p>
            <a:pPr indent="266700" algn="just">
              <a:lnSpc>
                <a:spcPct val="150000"/>
              </a:lnSpc>
            </a:pPr>
            <a:r>
              <a:rPr lang="zh-CN" altLang="en-US" sz="2800" b="1" dirty="0">
                <a:latin typeface="幼圆" panose="02010509060101010101" pitchFamily="49" charset="-122"/>
                <a:ea typeface="幼圆" panose="02010509060101010101" pitchFamily="49" charset="-122"/>
              </a:rPr>
              <a:t>②</a:t>
            </a:r>
            <a:r>
              <a:rPr lang="zh-CN" altLang="en-US" b="1" u="sng" kern="100" dirty="0">
                <a:latin typeface="幼圆" panose="02010509060101010101" pitchFamily="49" charset="-122"/>
                <a:ea typeface="幼圆" panose="02010509060101010101" pitchFamily="49" charset="-122"/>
              </a:rPr>
              <a:t>其原因可能在于，排序外的其它开销。数据规模较小时为了方便时间计算，循环了多次。而调用随机数数组生成函数的次数也增加，“非排序开销”增加，使得实际的时间开销增大。</a:t>
            </a:r>
            <a:endParaRPr lang="zh-CN" altLang="en-US" kern="100" dirty="0">
              <a:latin typeface="幼圆" panose="02010509060101010101" pitchFamily="49" charset="-122"/>
              <a:ea typeface="幼圆" panose="02010509060101010101" pitchFamily="49" charset="-122"/>
            </a:endParaRPr>
          </a:p>
        </p:txBody>
      </p:sp>
      <p:pic>
        <p:nvPicPr>
          <p:cNvPr id="4" name="图片 3">
            <a:extLst>
              <a:ext uri="{FF2B5EF4-FFF2-40B4-BE49-F238E27FC236}">
                <a16:creationId xmlns:a16="http://schemas.microsoft.com/office/drawing/2014/main" id="{0E4090EC-EE8F-4619-8475-201AC32F157D}"/>
              </a:ext>
            </a:extLst>
          </p:cNvPr>
          <p:cNvPicPr>
            <a:picLocks noChangeAspect="1"/>
          </p:cNvPicPr>
          <p:nvPr/>
        </p:nvPicPr>
        <p:blipFill>
          <a:blip r:embed="rId4"/>
          <a:stretch>
            <a:fillRect/>
          </a:stretch>
        </p:blipFill>
        <p:spPr>
          <a:xfrm>
            <a:off x="73434" y="1491393"/>
            <a:ext cx="4555066" cy="1377892"/>
          </a:xfrm>
          <a:prstGeom prst="rect">
            <a:avLst/>
          </a:prstGeom>
        </p:spPr>
      </p:pic>
      <p:pic>
        <p:nvPicPr>
          <p:cNvPr id="7" name="图片 6">
            <a:extLst>
              <a:ext uri="{FF2B5EF4-FFF2-40B4-BE49-F238E27FC236}">
                <a16:creationId xmlns:a16="http://schemas.microsoft.com/office/drawing/2014/main" id="{9A36AD0D-4044-49D2-BA4E-4FCC3719034D}"/>
              </a:ext>
            </a:extLst>
          </p:cNvPr>
          <p:cNvPicPr>
            <a:picLocks noChangeAspect="1"/>
          </p:cNvPicPr>
          <p:nvPr/>
        </p:nvPicPr>
        <p:blipFill>
          <a:blip r:embed="rId5"/>
          <a:stretch>
            <a:fillRect/>
          </a:stretch>
        </p:blipFill>
        <p:spPr>
          <a:xfrm>
            <a:off x="78998" y="3143943"/>
            <a:ext cx="4549502" cy="2878666"/>
          </a:xfrm>
          <a:prstGeom prst="rect">
            <a:avLst/>
          </a:prstGeom>
        </p:spPr>
      </p:pic>
    </p:spTree>
    <p:extLst>
      <p:ext uri="{BB962C8B-B14F-4D97-AF65-F5344CB8AC3E}">
        <p14:creationId xmlns:p14="http://schemas.microsoft.com/office/powerpoint/2010/main" val="1000871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anim calcmode="lin" valueType="num">
                                      <p:cBhvr additive="base">
                                        <p:cTn id="11" dur="500" fill="hold"/>
                                        <p:tgtEl>
                                          <p:spTgt spid="62"/>
                                        </p:tgtEl>
                                        <p:attrNameLst>
                                          <p:attrName>ppt_x</p:attrName>
                                        </p:attrNameLst>
                                      </p:cBhvr>
                                      <p:tavLst>
                                        <p:tav tm="0">
                                          <p:val>
                                            <p:strVal val="#ppt_x"/>
                                          </p:val>
                                        </p:tav>
                                        <p:tav tm="100000">
                                          <p:val>
                                            <p:strVal val="#ppt_x"/>
                                          </p:val>
                                        </p:tav>
                                      </p:tavLst>
                                    </p:anim>
                                    <p:anim calcmode="lin" valueType="num">
                                      <p:cBhvr additive="base">
                                        <p:cTn id="12" dur="500" fill="hold"/>
                                        <p:tgtEl>
                                          <p:spTgt spid="6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1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l="13875" t="394" r="51375" b="-655"/>
          <a:stretch>
            <a:fillRect/>
          </a:stretch>
        </p:blipFill>
        <p:spPr>
          <a:xfrm>
            <a:off x="0" y="-15240"/>
            <a:ext cx="2944495" cy="6941820"/>
          </a:xfrm>
          <a:prstGeom prst="rect">
            <a:avLst/>
          </a:prstGeom>
        </p:spPr>
      </p:pic>
      <p:sp>
        <p:nvSpPr>
          <p:cNvPr id="5" name="矩形 4"/>
          <p:cNvSpPr/>
          <p:nvPr/>
        </p:nvSpPr>
        <p:spPr>
          <a:xfrm>
            <a:off x="0" y="-15240"/>
            <a:ext cx="2944495" cy="687324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sp>
        <p:nvSpPr>
          <p:cNvPr id="2" name="文本框 1"/>
          <p:cNvSpPr txBox="1"/>
          <p:nvPr/>
        </p:nvSpPr>
        <p:spPr>
          <a:xfrm>
            <a:off x="325120" y="3041015"/>
            <a:ext cx="2294255" cy="829945"/>
          </a:xfrm>
          <a:prstGeom prst="rect">
            <a:avLst/>
          </a:prstGeom>
          <a:noFill/>
        </p:spPr>
        <p:txBody>
          <a:bodyPr wrap="square" rtlCol="0">
            <a:spAutoFit/>
          </a:bodyPr>
          <a:lstStyle/>
          <a:p>
            <a:pPr algn="ctr"/>
            <a:r>
              <a:rPr lang="en-US" altLang="zh-CN" sz="4800" b="1" dirty="0">
                <a:solidFill>
                  <a:schemeClr val="bg1"/>
                </a:solidFill>
                <a:latin typeface="幼圆" panose="02010509060101010101" pitchFamily="49" charset="-122"/>
                <a:ea typeface="幼圆" panose="02010509060101010101" pitchFamily="49" charset="-122"/>
                <a:cs typeface="Franklin Gothic Medium" panose="020B0603020102020204" charset="0"/>
                <a:sym typeface="+mn-ea"/>
              </a:rPr>
              <a:t>Part 3</a:t>
            </a:r>
          </a:p>
        </p:txBody>
      </p:sp>
      <p:sp>
        <p:nvSpPr>
          <p:cNvPr id="9" name="菠萝大侠：文本框 23">
            <a:extLst>
              <a:ext uri="{FF2B5EF4-FFF2-40B4-BE49-F238E27FC236}">
                <a16:creationId xmlns:a16="http://schemas.microsoft.com/office/drawing/2014/main" id="{571645C9-5C20-426F-AA10-DD5C8D3A4B28}"/>
              </a:ext>
            </a:extLst>
          </p:cNvPr>
          <p:cNvSpPr txBox="1"/>
          <p:nvPr/>
        </p:nvSpPr>
        <p:spPr>
          <a:xfrm>
            <a:off x="1978483" y="2991609"/>
            <a:ext cx="10467517" cy="830997"/>
          </a:xfrm>
          <a:prstGeom prst="rect">
            <a:avLst/>
          </a:prstGeom>
          <a:noFill/>
        </p:spPr>
        <p:txBody>
          <a:bodyPr wrap="square" rtlCol="0">
            <a:spAutoFit/>
          </a:bodyPr>
          <a:lstStyle/>
          <a:p>
            <a:pPr algn="ctr"/>
            <a:r>
              <a:rPr lang="zh-CN" altLang="en-US" sz="4800" spc="390" dirty="0">
                <a:solidFill>
                  <a:srgbClr val="213497"/>
                </a:solidFill>
                <a:uFillTx/>
                <a:latin typeface="幼圆" panose="02010509060101010101" pitchFamily="49" charset="-122"/>
                <a:ea typeface="幼圆" panose="02010509060101010101" pitchFamily="49" charset="-122"/>
              </a:rPr>
              <a:t>五大排序算法的比较与分析</a:t>
            </a:r>
            <a:endParaRPr lang="zh-CN" altLang="zh-CN" sz="4800" spc="390" dirty="0">
              <a:solidFill>
                <a:srgbClr val="213497"/>
              </a:solidFill>
              <a:uFillTx/>
              <a:latin typeface="幼圆" panose="02010509060101010101" pitchFamily="49" charset="-122"/>
              <a:ea typeface="幼圆" panose="02010509060101010101" pitchFamily="49" charset="-122"/>
            </a:endParaRPr>
          </a:p>
        </p:txBody>
      </p:sp>
    </p:spTree>
    <p:extLst>
      <p:ext uri="{BB962C8B-B14F-4D97-AF65-F5344CB8AC3E}">
        <p14:creationId xmlns:p14="http://schemas.microsoft.com/office/powerpoint/2010/main" val="1783574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sp>
        <p:nvSpPr>
          <p:cNvPr id="62" name="矩形 6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pic>
        <p:nvPicPr>
          <p:cNvPr id="36" name="图片 35"/>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5" name="文本框 14">
            <a:extLst>
              <a:ext uri="{FF2B5EF4-FFF2-40B4-BE49-F238E27FC236}">
                <a16:creationId xmlns:a16="http://schemas.microsoft.com/office/drawing/2014/main" id="{08C786E0-38A9-4F5A-8B8C-801FC475793B}"/>
              </a:ext>
            </a:extLst>
          </p:cNvPr>
          <p:cNvSpPr txBox="1"/>
          <p:nvPr/>
        </p:nvSpPr>
        <p:spPr>
          <a:xfrm>
            <a:off x="4982634" y="783507"/>
            <a:ext cx="2226732" cy="707886"/>
          </a:xfrm>
          <a:prstGeom prst="rect">
            <a:avLst/>
          </a:prstGeom>
          <a:noFill/>
        </p:spPr>
        <p:txBody>
          <a:bodyPr wrap="square" rtlCol="0">
            <a:spAutoFit/>
          </a:bodyPr>
          <a:lstStyle/>
          <a:p>
            <a:r>
              <a:rPr lang="zh-CN" altLang="en-US" sz="4000" b="1" dirty="0">
                <a:solidFill>
                  <a:schemeClr val="bg1">
                    <a:lumMod val="50000"/>
                  </a:schemeClr>
                </a:solidFill>
                <a:latin typeface="幼圆" panose="02010509060101010101" pitchFamily="49" charset="-122"/>
                <a:ea typeface="幼圆" panose="02010509060101010101" pitchFamily="49" charset="-122"/>
              </a:rPr>
              <a:t>结果展示</a:t>
            </a:r>
          </a:p>
        </p:txBody>
      </p:sp>
      <p:pic>
        <p:nvPicPr>
          <p:cNvPr id="5" name="图片 4">
            <a:extLst>
              <a:ext uri="{FF2B5EF4-FFF2-40B4-BE49-F238E27FC236}">
                <a16:creationId xmlns:a16="http://schemas.microsoft.com/office/drawing/2014/main" id="{88AAE811-310D-4BB8-8B8A-ECBF397BEC98}"/>
              </a:ext>
            </a:extLst>
          </p:cNvPr>
          <p:cNvPicPr>
            <a:picLocks noChangeAspect="1"/>
          </p:cNvPicPr>
          <p:nvPr/>
        </p:nvPicPr>
        <p:blipFill>
          <a:blip r:embed="rId4"/>
          <a:stretch>
            <a:fillRect/>
          </a:stretch>
        </p:blipFill>
        <p:spPr>
          <a:xfrm>
            <a:off x="101135" y="2719828"/>
            <a:ext cx="6580952" cy="1771429"/>
          </a:xfrm>
          <a:prstGeom prst="rect">
            <a:avLst/>
          </a:prstGeom>
        </p:spPr>
      </p:pic>
      <p:pic>
        <p:nvPicPr>
          <p:cNvPr id="10" name="图片 9">
            <a:extLst>
              <a:ext uri="{FF2B5EF4-FFF2-40B4-BE49-F238E27FC236}">
                <a16:creationId xmlns:a16="http://schemas.microsoft.com/office/drawing/2014/main" id="{AB8F8128-8D8F-4FFA-81EC-A33BB6E50C4E}"/>
              </a:ext>
            </a:extLst>
          </p:cNvPr>
          <p:cNvPicPr>
            <a:picLocks noChangeAspect="1"/>
          </p:cNvPicPr>
          <p:nvPr/>
        </p:nvPicPr>
        <p:blipFill>
          <a:blip r:embed="rId5"/>
          <a:stretch>
            <a:fillRect/>
          </a:stretch>
        </p:blipFill>
        <p:spPr>
          <a:xfrm>
            <a:off x="101135" y="1653271"/>
            <a:ext cx="6570598" cy="3904544"/>
          </a:xfrm>
          <a:prstGeom prst="rect">
            <a:avLst/>
          </a:prstGeom>
        </p:spPr>
      </p:pic>
      <p:sp>
        <p:nvSpPr>
          <p:cNvPr id="17" name="文本框 16">
            <a:extLst>
              <a:ext uri="{FF2B5EF4-FFF2-40B4-BE49-F238E27FC236}">
                <a16:creationId xmlns:a16="http://schemas.microsoft.com/office/drawing/2014/main" id="{AAB3A055-4772-4865-9C84-80C6094DE716}"/>
              </a:ext>
            </a:extLst>
          </p:cNvPr>
          <p:cNvSpPr txBox="1"/>
          <p:nvPr/>
        </p:nvSpPr>
        <p:spPr>
          <a:xfrm>
            <a:off x="6417733" y="1516741"/>
            <a:ext cx="5774267" cy="4269429"/>
          </a:xfrm>
          <a:prstGeom prst="rect">
            <a:avLst/>
          </a:prstGeom>
          <a:noFill/>
        </p:spPr>
        <p:txBody>
          <a:bodyPr wrap="square" tIns="72000">
            <a:spAutoFit/>
          </a:bodyPr>
          <a:lstStyle/>
          <a:p>
            <a:pPr indent="266700" algn="just">
              <a:lnSpc>
                <a:spcPct val="150000"/>
              </a:lnSpc>
            </a:pPr>
            <a:r>
              <a:rPr lang="zh-CN" altLang="en-US" sz="2800" b="1" dirty="0">
                <a:latin typeface="幼圆" panose="02010509060101010101" pitchFamily="49" charset="-122"/>
                <a:ea typeface="幼圆" panose="02010509060101010101" pitchFamily="49" charset="-122"/>
              </a:rPr>
              <a:t>①</a:t>
            </a:r>
            <a:r>
              <a:rPr lang="zh-CN" altLang="en-US" b="1" kern="100" dirty="0">
                <a:latin typeface="幼圆" panose="02010509060101010101" pitchFamily="49" charset="-122"/>
                <a:ea typeface="幼圆" panose="02010509060101010101" pitchFamily="49" charset="-122"/>
              </a:rPr>
              <a:t>由图</a:t>
            </a:r>
            <a:r>
              <a:rPr lang="en-US" altLang="zh-CN" b="1" kern="100" dirty="0">
                <a:latin typeface="幼圆" panose="02010509060101010101" pitchFamily="49" charset="-122"/>
                <a:ea typeface="幼圆" panose="02010509060101010101" pitchFamily="49" charset="-122"/>
              </a:rPr>
              <a:t>27</a:t>
            </a:r>
            <a:r>
              <a:rPr lang="zh-CN" altLang="en-US" b="1" kern="100" dirty="0">
                <a:latin typeface="幼圆" panose="02010509060101010101" pitchFamily="49" charset="-122"/>
                <a:ea typeface="幼圆" panose="02010509060101010101" pitchFamily="49" charset="-122"/>
              </a:rPr>
              <a:t>和表</a:t>
            </a:r>
            <a:r>
              <a:rPr lang="en-US" altLang="zh-CN" b="1" kern="100" dirty="0">
                <a:latin typeface="幼圆" panose="02010509060101010101" pitchFamily="49" charset="-122"/>
                <a:ea typeface="幼圆" panose="02010509060101010101" pitchFamily="49" charset="-122"/>
              </a:rPr>
              <a:t>6</a:t>
            </a:r>
            <a:r>
              <a:rPr lang="zh-CN" altLang="en-US" b="1" kern="100" dirty="0">
                <a:latin typeface="幼圆" panose="02010509060101010101" pitchFamily="49" charset="-122"/>
                <a:ea typeface="幼圆" panose="02010509060101010101" pitchFamily="49" charset="-122"/>
              </a:rPr>
              <a:t>可以看出，五大排序的性能有一定的差别，排序如下</a:t>
            </a:r>
          </a:p>
          <a:p>
            <a:pPr indent="266700" algn="just">
              <a:lnSpc>
                <a:spcPct val="150000"/>
              </a:lnSpc>
            </a:pPr>
            <a:r>
              <a:rPr lang="zh-CN" altLang="en-US" kern="100" dirty="0">
                <a:latin typeface="幼圆" panose="02010509060101010101" pitchFamily="49" charset="-122"/>
                <a:ea typeface="幼圆" panose="02010509060101010101" pitchFamily="49" charset="-122"/>
              </a:rPr>
              <a:t>快速排序</a:t>
            </a:r>
            <a:r>
              <a:rPr lang="en-US" altLang="zh-CN" kern="100" dirty="0">
                <a:latin typeface="幼圆" panose="02010509060101010101" pitchFamily="49" charset="-122"/>
                <a:ea typeface="幼圆" panose="02010509060101010101" pitchFamily="49" charset="-122"/>
              </a:rPr>
              <a:t>&gt;</a:t>
            </a:r>
            <a:r>
              <a:rPr lang="zh-CN" altLang="en-US" kern="100" dirty="0">
                <a:latin typeface="幼圆" panose="02010509060101010101" pitchFamily="49" charset="-122"/>
                <a:ea typeface="幼圆" panose="02010509060101010101" pitchFamily="49" charset="-122"/>
              </a:rPr>
              <a:t>合并排序</a:t>
            </a:r>
            <a:r>
              <a:rPr lang="en-US" altLang="zh-CN" kern="100" dirty="0">
                <a:latin typeface="幼圆" panose="02010509060101010101" pitchFamily="49" charset="-122"/>
                <a:ea typeface="幼圆" panose="02010509060101010101" pitchFamily="49" charset="-122"/>
              </a:rPr>
              <a:t>&gt;</a:t>
            </a:r>
            <a:r>
              <a:rPr lang="zh-CN" altLang="en-US" kern="100" dirty="0">
                <a:latin typeface="幼圆" panose="02010509060101010101" pitchFamily="49" charset="-122"/>
                <a:ea typeface="幼圆" panose="02010509060101010101" pitchFamily="49" charset="-122"/>
              </a:rPr>
              <a:t>插入排序</a:t>
            </a:r>
            <a:r>
              <a:rPr lang="en-US" altLang="zh-CN" kern="100" dirty="0">
                <a:latin typeface="幼圆" panose="02010509060101010101" pitchFamily="49" charset="-122"/>
                <a:ea typeface="幼圆" panose="02010509060101010101" pitchFamily="49" charset="-122"/>
              </a:rPr>
              <a:t>&gt;</a:t>
            </a:r>
            <a:r>
              <a:rPr lang="zh-CN" altLang="en-US" kern="100" dirty="0">
                <a:latin typeface="幼圆" panose="02010509060101010101" pitchFamily="49" charset="-122"/>
                <a:ea typeface="幼圆" panose="02010509060101010101" pitchFamily="49" charset="-122"/>
              </a:rPr>
              <a:t>选择排序</a:t>
            </a:r>
            <a:r>
              <a:rPr lang="en-US" altLang="zh-CN" kern="100" dirty="0">
                <a:latin typeface="幼圆" panose="02010509060101010101" pitchFamily="49" charset="-122"/>
                <a:ea typeface="幼圆" panose="02010509060101010101" pitchFamily="49" charset="-122"/>
              </a:rPr>
              <a:t>&gt;</a:t>
            </a:r>
            <a:r>
              <a:rPr lang="zh-CN" altLang="en-US" kern="100" dirty="0">
                <a:latin typeface="幼圆" panose="02010509060101010101" pitchFamily="49" charset="-122"/>
                <a:ea typeface="幼圆" panose="02010509060101010101" pitchFamily="49" charset="-122"/>
              </a:rPr>
              <a:t>冒泡排序</a:t>
            </a:r>
            <a:endParaRPr lang="en-US" altLang="zh-CN" kern="100" dirty="0">
              <a:latin typeface="幼圆" panose="02010509060101010101" pitchFamily="49" charset="-122"/>
              <a:ea typeface="幼圆" panose="02010509060101010101" pitchFamily="49" charset="-122"/>
            </a:endParaRPr>
          </a:p>
          <a:p>
            <a:pPr indent="266700" algn="just">
              <a:lnSpc>
                <a:spcPct val="150000"/>
              </a:lnSpc>
            </a:pPr>
            <a:r>
              <a:rPr lang="zh-CN" altLang="en-US" kern="100" dirty="0">
                <a:latin typeface="幼圆" panose="02010509060101010101" pitchFamily="49" charset="-122"/>
                <a:ea typeface="幼圆" panose="02010509060101010101" pitchFamily="49" charset="-122"/>
              </a:rPr>
              <a:t>原因：选择排序、冒泡排序和插入排序的时间复杂度为</a:t>
            </a:r>
            <a:r>
              <a:rPr lang="en-US" altLang="zh-CN" kern="100" dirty="0">
                <a:latin typeface="幼圆" panose="02010509060101010101" pitchFamily="49" charset="-122"/>
                <a:ea typeface="幼圆" panose="02010509060101010101" pitchFamily="49" charset="-122"/>
              </a:rPr>
              <a:t>O(n^2)</a:t>
            </a:r>
            <a:r>
              <a:rPr lang="zh-CN" altLang="en-US" kern="100" dirty="0">
                <a:latin typeface="幼圆" panose="02010509060101010101" pitchFamily="49" charset="-122"/>
                <a:ea typeface="幼圆" panose="02010509060101010101" pitchFamily="49" charset="-122"/>
              </a:rPr>
              <a:t>级别的，其时间开销随数据规模大小增长而增长的速度远远超过了合并排序和快速排序的</a:t>
            </a:r>
            <a:r>
              <a:rPr lang="en-US" altLang="zh-CN" kern="100" dirty="0">
                <a:latin typeface="幼圆" panose="02010509060101010101" pitchFamily="49" charset="-122"/>
                <a:ea typeface="幼圆" panose="02010509060101010101" pitchFamily="49" charset="-122"/>
              </a:rPr>
              <a:t>O(n lg n)</a:t>
            </a:r>
            <a:r>
              <a:rPr lang="zh-CN" altLang="en-US" kern="100" dirty="0">
                <a:latin typeface="幼圆" panose="02010509060101010101" pitchFamily="49" charset="-122"/>
                <a:ea typeface="幼圆" panose="02010509060101010101" pitchFamily="49" charset="-122"/>
              </a:rPr>
              <a:t>。</a:t>
            </a:r>
          </a:p>
          <a:p>
            <a:pPr indent="266700" algn="just">
              <a:lnSpc>
                <a:spcPct val="150000"/>
              </a:lnSpc>
            </a:pPr>
            <a:endParaRPr lang="zh-CN" altLang="en-US" dirty="0">
              <a:latin typeface="幼圆" panose="02010509060101010101" pitchFamily="49" charset="-122"/>
              <a:ea typeface="幼圆" panose="02010509060101010101" pitchFamily="49" charset="-122"/>
            </a:endParaRPr>
          </a:p>
          <a:p>
            <a:pPr indent="266700" algn="just">
              <a:lnSpc>
                <a:spcPct val="150000"/>
              </a:lnSpc>
            </a:pPr>
            <a:r>
              <a:rPr lang="zh-CN" altLang="en-US" sz="2800" b="1" dirty="0">
                <a:latin typeface="幼圆" panose="02010509060101010101" pitchFamily="49" charset="-122"/>
                <a:ea typeface="幼圆" panose="02010509060101010101" pitchFamily="49" charset="-122"/>
              </a:rPr>
              <a:t>②</a:t>
            </a:r>
            <a:r>
              <a:rPr lang="zh-CN" altLang="zh-CN" b="1" dirty="0">
                <a:latin typeface="幼圆" panose="02010509060101010101" pitchFamily="49" charset="-122"/>
                <a:ea typeface="幼圆" panose="02010509060101010101" pitchFamily="49" charset="-122"/>
              </a:rPr>
              <a:t>但相同的时间复杂度级别的算法，其实际运行的时间也有较大差异。</a:t>
            </a:r>
            <a:endParaRPr lang="zh-CN" altLang="en-US" kern="100" dirty="0">
              <a:latin typeface="幼圆" panose="02010509060101010101" pitchFamily="49" charset="-122"/>
              <a:ea typeface="幼圆" panose="02010509060101010101" pitchFamily="49" charset="-122"/>
            </a:endParaRPr>
          </a:p>
        </p:txBody>
      </p:sp>
    </p:spTree>
    <p:extLst>
      <p:ext uri="{BB962C8B-B14F-4D97-AF65-F5344CB8AC3E}">
        <p14:creationId xmlns:p14="http://schemas.microsoft.com/office/powerpoint/2010/main" val="880196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1000"/>
                                        <p:tgtEl>
                                          <p:spTgt spid="17"/>
                                        </p:tgtEl>
                                      </p:cBhvr>
                                    </p:animEffect>
                                    <p:anim calcmode="lin" valueType="num">
                                      <p:cBhvr>
                                        <p:cTn id="20" dur="1000" fill="hold"/>
                                        <p:tgtEl>
                                          <p:spTgt spid="17"/>
                                        </p:tgtEl>
                                        <p:attrNameLst>
                                          <p:attrName>ppt_x</p:attrName>
                                        </p:attrNameLst>
                                      </p:cBhvr>
                                      <p:tavLst>
                                        <p:tav tm="0">
                                          <p:val>
                                            <p:strVal val="#ppt_x"/>
                                          </p:val>
                                        </p:tav>
                                        <p:tav tm="100000">
                                          <p:val>
                                            <p:strVal val="#ppt_x"/>
                                          </p:val>
                                        </p:tav>
                                      </p:tavLst>
                                    </p:anim>
                                    <p:anim calcmode="lin" valueType="num">
                                      <p:cBhvr>
                                        <p:cTn id="2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sp>
        <p:nvSpPr>
          <p:cNvPr id="62" name="矩形 6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pic>
        <p:nvPicPr>
          <p:cNvPr id="36" name="图片 35"/>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10" name="图片 9">
            <a:extLst>
              <a:ext uri="{FF2B5EF4-FFF2-40B4-BE49-F238E27FC236}">
                <a16:creationId xmlns:a16="http://schemas.microsoft.com/office/drawing/2014/main" id="{AB8F8128-8D8F-4FFA-81EC-A33BB6E50C4E}"/>
              </a:ext>
            </a:extLst>
          </p:cNvPr>
          <p:cNvPicPr>
            <a:picLocks noChangeAspect="1"/>
          </p:cNvPicPr>
          <p:nvPr/>
        </p:nvPicPr>
        <p:blipFill>
          <a:blip r:embed="rId4"/>
          <a:stretch>
            <a:fillRect/>
          </a:stretch>
        </p:blipFill>
        <p:spPr>
          <a:xfrm>
            <a:off x="101135" y="1476728"/>
            <a:ext cx="6570598" cy="3904544"/>
          </a:xfrm>
          <a:prstGeom prst="rect">
            <a:avLst/>
          </a:prstGeom>
        </p:spPr>
      </p:pic>
      <p:sp>
        <p:nvSpPr>
          <p:cNvPr id="17" name="文本框 16">
            <a:extLst>
              <a:ext uri="{FF2B5EF4-FFF2-40B4-BE49-F238E27FC236}">
                <a16:creationId xmlns:a16="http://schemas.microsoft.com/office/drawing/2014/main" id="{AAB3A055-4772-4865-9C84-80C6094DE716}"/>
              </a:ext>
            </a:extLst>
          </p:cNvPr>
          <p:cNvSpPr txBox="1"/>
          <p:nvPr/>
        </p:nvSpPr>
        <p:spPr>
          <a:xfrm>
            <a:off x="6316598" y="818573"/>
            <a:ext cx="5774267" cy="5515924"/>
          </a:xfrm>
          <a:prstGeom prst="rect">
            <a:avLst/>
          </a:prstGeom>
          <a:noFill/>
        </p:spPr>
        <p:txBody>
          <a:bodyPr wrap="square" tIns="72000">
            <a:spAutoFit/>
          </a:bodyPr>
          <a:lstStyle/>
          <a:p>
            <a:pPr indent="266700" algn="just">
              <a:lnSpc>
                <a:spcPct val="150000"/>
              </a:lnSpc>
            </a:pPr>
            <a:r>
              <a:rPr lang="en-US" altLang="zh-CN" sz="2800" b="1" dirty="0">
                <a:latin typeface="幼圆" panose="02010509060101010101" pitchFamily="49" charset="-122"/>
                <a:ea typeface="幼圆" panose="02010509060101010101" pitchFamily="49" charset="-122"/>
              </a:rPr>
              <a:t>A</a:t>
            </a:r>
            <a:r>
              <a:rPr lang="zh-CN" altLang="zh-CN" dirty="0">
                <a:latin typeface="幼圆" panose="02010509060101010101" pitchFamily="49" charset="-122"/>
                <a:ea typeface="幼圆" panose="02010509060101010101" pitchFamily="49" charset="-122"/>
              </a:rPr>
              <a:t>冒泡排序的时间要远大于选择排序和插入排序</a:t>
            </a:r>
            <a:r>
              <a:rPr lang="zh-CN" altLang="en-US" dirty="0">
                <a:latin typeface="幼圆" panose="02010509060101010101" pitchFamily="49" charset="-122"/>
                <a:ea typeface="幼圆" panose="02010509060101010101" pitchFamily="49" charset="-122"/>
              </a:rPr>
              <a:t>。</a:t>
            </a:r>
            <a:r>
              <a:rPr lang="zh-CN" altLang="zh-CN" dirty="0">
                <a:latin typeface="幼圆" panose="02010509060101010101" pitchFamily="49" charset="-122"/>
                <a:ea typeface="幼圆" panose="02010509060101010101" pitchFamily="49" charset="-122"/>
              </a:rPr>
              <a:t>主要是因为冒泡排序中相邻两个数据都要进行比较，可能发生交换，其数据交换和赋值语句更多，时间开销也就更大（从这个角度思考如果编写一个交换函数，能一定程度上提示冒泡排序的效率）</a:t>
            </a:r>
            <a:r>
              <a:rPr lang="zh-CN" altLang="en-US" kern="100" dirty="0">
                <a:latin typeface="幼圆" panose="02010509060101010101" pitchFamily="49" charset="-122"/>
                <a:ea typeface="幼圆" panose="02010509060101010101" pitchFamily="49" charset="-122"/>
              </a:rPr>
              <a:t>。</a:t>
            </a:r>
          </a:p>
          <a:p>
            <a:pPr indent="266700" algn="just">
              <a:lnSpc>
                <a:spcPct val="150000"/>
              </a:lnSpc>
            </a:pPr>
            <a:endParaRPr lang="zh-CN" altLang="en-US" dirty="0">
              <a:latin typeface="幼圆" panose="02010509060101010101" pitchFamily="49" charset="-122"/>
              <a:ea typeface="幼圆" panose="02010509060101010101" pitchFamily="49" charset="-122"/>
            </a:endParaRPr>
          </a:p>
          <a:p>
            <a:pPr indent="266700" algn="just">
              <a:lnSpc>
                <a:spcPct val="150000"/>
              </a:lnSpc>
            </a:pPr>
            <a:r>
              <a:rPr lang="en-US" altLang="zh-CN" sz="2800" b="1" dirty="0">
                <a:latin typeface="幼圆" panose="02010509060101010101" pitchFamily="49" charset="-122"/>
                <a:ea typeface="幼圆" panose="02010509060101010101" pitchFamily="49" charset="-122"/>
              </a:rPr>
              <a:t>B</a:t>
            </a:r>
            <a:r>
              <a:rPr lang="zh-CN" altLang="zh-CN" b="1" dirty="0">
                <a:latin typeface="幼圆" panose="02010509060101010101" pitchFamily="49" charset="-122"/>
                <a:ea typeface="幼圆" panose="02010509060101010101" pitchFamily="49" charset="-122"/>
              </a:rPr>
              <a:t>快速排序的效率略大于合并排序</a:t>
            </a:r>
            <a:r>
              <a:rPr lang="zh-CN" altLang="en-US" b="1" dirty="0">
                <a:latin typeface="幼圆" panose="02010509060101010101" pitchFamily="49" charset="-122"/>
                <a:ea typeface="幼圆" panose="02010509060101010101" pitchFamily="49" charset="-122"/>
              </a:rPr>
              <a:t>。</a:t>
            </a:r>
            <a:r>
              <a:rPr lang="zh-CN" altLang="zh-CN" dirty="0">
                <a:latin typeface="幼圆" panose="02010509060101010101" pitchFamily="49" charset="-122"/>
                <a:ea typeface="幼圆" panose="02010509060101010101" pitchFamily="49" charset="-122"/>
              </a:rPr>
              <a:t>原因可能在于，在大规模数据中，选取第一个数作为基准数，碰到最坏情况的概率比较低，因此快速排序的效率可能会较高，还可能是因为在</a:t>
            </a:r>
            <a:r>
              <a:rPr lang="en-US" altLang="zh-CN" dirty="0">
                <a:latin typeface="幼圆" panose="02010509060101010101" pitchFamily="49" charset="-122"/>
                <a:ea typeface="幼圆" panose="02010509060101010101" pitchFamily="49" charset="-122"/>
              </a:rPr>
              <a:t>C++</a:t>
            </a:r>
            <a:r>
              <a:rPr lang="zh-CN" altLang="zh-CN" dirty="0">
                <a:latin typeface="幼圆" panose="02010509060101010101" pitchFamily="49" charset="-122"/>
                <a:ea typeface="幼圆" panose="02010509060101010101" pitchFamily="49" charset="-122"/>
              </a:rPr>
              <a:t>中比较操作相对于赋值（移动）操作要快的多，而快速排序的比较操作较多，</a:t>
            </a:r>
            <a:r>
              <a:rPr lang="zh-CN" altLang="en-US" dirty="0">
                <a:latin typeface="幼圆" panose="02010509060101010101" pitchFamily="49" charset="-122"/>
                <a:ea typeface="幼圆" panose="02010509060101010101" pitchFamily="49" charset="-122"/>
              </a:rPr>
              <a:t>合</a:t>
            </a:r>
            <a:r>
              <a:rPr lang="zh-CN" altLang="zh-CN" dirty="0">
                <a:latin typeface="幼圆" panose="02010509060101010101" pitchFamily="49" charset="-122"/>
                <a:ea typeface="幼圆" panose="02010509060101010101" pitchFamily="49" charset="-122"/>
              </a:rPr>
              <a:t>并排序的移动操作较多，因此快速排序更快。</a:t>
            </a:r>
            <a:endParaRPr lang="zh-CN" altLang="en-US" kern="100" dirty="0">
              <a:latin typeface="幼圆" panose="02010509060101010101" pitchFamily="49" charset="-122"/>
              <a:ea typeface="幼圆" panose="02010509060101010101" pitchFamily="49" charset="-122"/>
            </a:endParaRPr>
          </a:p>
        </p:txBody>
      </p:sp>
    </p:spTree>
    <p:extLst>
      <p:ext uri="{BB962C8B-B14F-4D97-AF65-F5344CB8AC3E}">
        <p14:creationId xmlns:p14="http://schemas.microsoft.com/office/powerpoint/2010/main" val="2797662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anim calcmode="lin" valueType="num">
                                      <p:cBhvr>
                                        <p:cTn id="14" dur="1000" fill="hold"/>
                                        <p:tgtEl>
                                          <p:spTgt spid="17"/>
                                        </p:tgtEl>
                                        <p:attrNameLst>
                                          <p:attrName>ppt_x</p:attrName>
                                        </p:attrNameLst>
                                      </p:cBhvr>
                                      <p:tavLst>
                                        <p:tav tm="0">
                                          <p:val>
                                            <p:strVal val="#ppt_x"/>
                                          </p:val>
                                        </p:tav>
                                        <p:tav tm="100000">
                                          <p:val>
                                            <p:strVal val="#ppt_x"/>
                                          </p:val>
                                        </p:tav>
                                      </p:tavLst>
                                    </p:anim>
                                    <p:anim calcmode="lin" valueType="num">
                                      <p:cBhvr>
                                        <p:cTn id="1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sp>
        <p:nvSpPr>
          <p:cNvPr id="62" name="矩形 6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pic>
        <p:nvPicPr>
          <p:cNvPr id="36" name="图片 35"/>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7" name="文本框 16">
            <a:extLst>
              <a:ext uri="{FF2B5EF4-FFF2-40B4-BE49-F238E27FC236}">
                <a16:creationId xmlns:a16="http://schemas.microsoft.com/office/drawing/2014/main" id="{AAB3A055-4772-4865-9C84-80C6094DE716}"/>
              </a:ext>
            </a:extLst>
          </p:cNvPr>
          <p:cNvSpPr txBox="1"/>
          <p:nvPr/>
        </p:nvSpPr>
        <p:spPr>
          <a:xfrm>
            <a:off x="6240398" y="1716039"/>
            <a:ext cx="5774267" cy="3608736"/>
          </a:xfrm>
          <a:prstGeom prst="rect">
            <a:avLst/>
          </a:prstGeom>
          <a:noFill/>
        </p:spPr>
        <p:txBody>
          <a:bodyPr wrap="square" tIns="72000">
            <a:spAutoFit/>
          </a:bodyPr>
          <a:lstStyle/>
          <a:p>
            <a:pPr indent="266700" algn="just">
              <a:lnSpc>
                <a:spcPct val="150000"/>
              </a:lnSpc>
            </a:pPr>
            <a:r>
              <a:rPr lang="zh-CN" altLang="en-US" sz="2800" b="1" dirty="0">
                <a:latin typeface="幼圆" panose="02010509060101010101" pitchFamily="49" charset="-122"/>
                <a:ea typeface="幼圆" panose="02010509060101010101" pitchFamily="49" charset="-122"/>
              </a:rPr>
              <a:t>③</a:t>
            </a:r>
            <a:r>
              <a:rPr lang="zh-CN" altLang="en-US" b="1" dirty="0">
                <a:latin typeface="幼圆" panose="02010509060101010101" pitchFamily="49" charset="-122"/>
                <a:ea typeface="幼圆" panose="02010509060101010101" pitchFamily="49" charset="-122"/>
              </a:rPr>
              <a:t>如图</a:t>
            </a:r>
            <a:r>
              <a:rPr lang="en-US" altLang="zh-CN" b="1" dirty="0">
                <a:latin typeface="幼圆" panose="02010509060101010101" pitchFamily="49" charset="-122"/>
                <a:ea typeface="幼圆" panose="02010509060101010101" pitchFamily="49" charset="-122"/>
              </a:rPr>
              <a:t>28</a:t>
            </a:r>
            <a:r>
              <a:rPr lang="zh-CN" altLang="en-US" b="1" dirty="0">
                <a:latin typeface="幼圆" panose="02010509060101010101" pitchFamily="49" charset="-122"/>
                <a:ea typeface="幼圆" panose="02010509060101010101" pitchFamily="49" charset="-122"/>
              </a:rPr>
              <a:t>所示，在小规模数据下，插入排序和选择排序比快速排序要快</a:t>
            </a:r>
            <a:endParaRPr lang="en-US" altLang="zh-CN" b="1" dirty="0">
              <a:latin typeface="幼圆" panose="02010509060101010101" pitchFamily="49" charset="-122"/>
              <a:ea typeface="幼圆" panose="02010509060101010101" pitchFamily="49" charset="-122"/>
            </a:endParaRPr>
          </a:p>
          <a:p>
            <a:pPr indent="266700" algn="just">
              <a:lnSpc>
                <a:spcPct val="150000"/>
              </a:lnSpc>
            </a:pPr>
            <a:r>
              <a:rPr lang="en-US" altLang="zh-CN" dirty="0">
                <a:latin typeface="幼圆" panose="02010509060101010101" pitchFamily="49" charset="-122"/>
                <a:ea typeface="幼圆" panose="02010509060101010101" pitchFamily="49" charset="-122"/>
              </a:rPr>
              <a:t>   </a:t>
            </a:r>
            <a:r>
              <a:rPr lang="zh-CN" altLang="en-US" dirty="0">
                <a:latin typeface="幼圆" panose="02010509060101010101" pitchFamily="49" charset="-122"/>
                <a:ea typeface="幼圆" panose="02010509060101010101" pitchFamily="49" charset="-122"/>
              </a:rPr>
              <a:t>原因可能在于快速排序在递归调用中有额外的开销，插入排序和选择排序需要的内存更少，插入排序比快速排序更稳定，因此可能导致小规模数据下，快速排序更慢。（差异不是特别大，分析可能是因为计算时间而进行的循环，随机数的产生带来的时间开销减小了差异）</a:t>
            </a:r>
            <a:endParaRPr lang="zh-CN" altLang="en-US" kern="100" dirty="0">
              <a:latin typeface="幼圆" panose="02010509060101010101" pitchFamily="49" charset="-122"/>
              <a:ea typeface="幼圆" panose="02010509060101010101" pitchFamily="49" charset="-122"/>
            </a:endParaRPr>
          </a:p>
        </p:txBody>
      </p:sp>
      <p:pic>
        <p:nvPicPr>
          <p:cNvPr id="4" name="图片 3">
            <a:extLst>
              <a:ext uri="{FF2B5EF4-FFF2-40B4-BE49-F238E27FC236}">
                <a16:creationId xmlns:a16="http://schemas.microsoft.com/office/drawing/2014/main" id="{D2DB395C-D79D-4A99-923E-AC8BDB10A405}"/>
              </a:ext>
            </a:extLst>
          </p:cNvPr>
          <p:cNvPicPr>
            <a:picLocks noChangeAspect="1"/>
          </p:cNvPicPr>
          <p:nvPr/>
        </p:nvPicPr>
        <p:blipFill>
          <a:blip r:embed="rId4"/>
          <a:stretch>
            <a:fillRect/>
          </a:stretch>
        </p:blipFill>
        <p:spPr>
          <a:xfrm>
            <a:off x="30884" y="1629526"/>
            <a:ext cx="6285714" cy="3780952"/>
          </a:xfrm>
          <a:prstGeom prst="rect">
            <a:avLst/>
          </a:prstGeom>
        </p:spPr>
      </p:pic>
    </p:spTree>
    <p:extLst>
      <p:ext uri="{BB962C8B-B14F-4D97-AF65-F5344CB8AC3E}">
        <p14:creationId xmlns:p14="http://schemas.microsoft.com/office/powerpoint/2010/main" val="84841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l="13875" t="394" r="51375" b="-655"/>
          <a:stretch>
            <a:fillRect/>
          </a:stretch>
        </p:blipFill>
        <p:spPr>
          <a:xfrm>
            <a:off x="0" y="-15240"/>
            <a:ext cx="2944495" cy="6941820"/>
          </a:xfrm>
          <a:prstGeom prst="rect">
            <a:avLst/>
          </a:prstGeom>
        </p:spPr>
      </p:pic>
      <p:sp>
        <p:nvSpPr>
          <p:cNvPr id="5" name="矩形 4"/>
          <p:cNvSpPr/>
          <p:nvPr/>
        </p:nvSpPr>
        <p:spPr>
          <a:xfrm>
            <a:off x="0" y="-15240"/>
            <a:ext cx="2944495" cy="687324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sp>
        <p:nvSpPr>
          <p:cNvPr id="2" name="文本框 1"/>
          <p:cNvSpPr txBox="1"/>
          <p:nvPr/>
        </p:nvSpPr>
        <p:spPr>
          <a:xfrm>
            <a:off x="325120" y="3041015"/>
            <a:ext cx="2294255" cy="829945"/>
          </a:xfrm>
          <a:prstGeom prst="rect">
            <a:avLst/>
          </a:prstGeom>
          <a:noFill/>
        </p:spPr>
        <p:txBody>
          <a:bodyPr wrap="square" rtlCol="0">
            <a:spAutoFit/>
          </a:bodyPr>
          <a:lstStyle/>
          <a:p>
            <a:pPr algn="ctr"/>
            <a:r>
              <a:rPr lang="en-US" altLang="zh-CN" sz="4800" b="1" dirty="0">
                <a:solidFill>
                  <a:schemeClr val="bg1"/>
                </a:solidFill>
                <a:latin typeface="幼圆" panose="02010509060101010101" pitchFamily="49" charset="-122"/>
                <a:ea typeface="幼圆" panose="02010509060101010101" pitchFamily="49" charset="-122"/>
                <a:cs typeface="Franklin Gothic Medium" panose="020B0603020102020204" charset="0"/>
                <a:sym typeface="+mn-ea"/>
              </a:rPr>
              <a:t>Part 4</a:t>
            </a:r>
          </a:p>
        </p:txBody>
      </p:sp>
      <p:sp>
        <p:nvSpPr>
          <p:cNvPr id="9" name="菠萝大侠：文本框 23">
            <a:extLst>
              <a:ext uri="{FF2B5EF4-FFF2-40B4-BE49-F238E27FC236}">
                <a16:creationId xmlns:a16="http://schemas.microsoft.com/office/drawing/2014/main" id="{571645C9-5C20-426F-AA10-DD5C8D3A4B28}"/>
              </a:ext>
            </a:extLst>
          </p:cNvPr>
          <p:cNvSpPr txBox="1"/>
          <p:nvPr/>
        </p:nvSpPr>
        <p:spPr>
          <a:xfrm>
            <a:off x="2944495" y="2913548"/>
            <a:ext cx="8794115" cy="1015663"/>
          </a:xfrm>
          <a:prstGeom prst="rect">
            <a:avLst/>
          </a:prstGeom>
          <a:noFill/>
        </p:spPr>
        <p:txBody>
          <a:bodyPr wrap="square" rtlCol="0">
            <a:spAutoFit/>
          </a:bodyPr>
          <a:lstStyle/>
          <a:p>
            <a:pPr algn="ctr"/>
            <a:r>
              <a:rPr lang="zh-CN" altLang="en-US" sz="6000" spc="390" dirty="0">
                <a:solidFill>
                  <a:srgbClr val="213497"/>
                </a:solidFill>
                <a:uFillTx/>
                <a:latin typeface="幼圆" panose="02010509060101010101" pitchFamily="49" charset="-122"/>
                <a:ea typeface="幼圆" panose="02010509060101010101" pitchFamily="49" charset="-122"/>
              </a:rPr>
              <a:t>其他工作与总结</a:t>
            </a:r>
            <a:endParaRPr lang="zh-CN" altLang="zh-CN" sz="6000" spc="390" dirty="0">
              <a:solidFill>
                <a:srgbClr val="213497"/>
              </a:solidFill>
              <a:uFillTx/>
              <a:latin typeface="幼圆" panose="02010509060101010101" pitchFamily="49" charset="-122"/>
              <a:ea typeface="幼圆" panose="02010509060101010101" pitchFamily="49" charset="-122"/>
            </a:endParaRPr>
          </a:p>
        </p:txBody>
      </p:sp>
    </p:spTree>
    <p:extLst>
      <p:ext uri="{BB962C8B-B14F-4D97-AF65-F5344CB8AC3E}">
        <p14:creationId xmlns:p14="http://schemas.microsoft.com/office/powerpoint/2010/main" val="506379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sp>
        <p:nvSpPr>
          <p:cNvPr id="62" name="矩形 6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pic>
        <p:nvPicPr>
          <p:cNvPr id="36" name="图片 35"/>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7" name="文本框 16">
            <a:extLst>
              <a:ext uri="{FF2B5EF4-FFF2-40B4-BE49-F238E27FC236}">
                <a16:creationId xmlns:a16="http://schemas.microsoft.com/office/drawing/2014/main" id="{AAB3A055-4772-4865-9C84-80C6094DE716}"/>
              </a:ext>
            </a:extLst>
          </p:cNvPr>
          <p:cNvSpPr txBox="1"/>
          <p:nvPr/>
        </p:nvSpPr>
        <p:spPr>
          <a:xfrm>
            <a:off x="5249333" y="641947"/>
            <a:ext cx="5774267" cy="2777739"/>
          </a:xfrm>
          <a:prstGeom prst="rect">
            <a:avLst/>
          </a:prstGeom>
          <a:noFill/>
        </p:spPr>
        <p:txBody>
          <a:bodyPr wrap="square" tIns="72000">
            <a:spAutoFit/>
          </a:bodyPr>
          <a:lstStyle/>
          <a:p>
            <a:pPr indent="266700" algn="just">
              <a:lnSpc>
                <a:spcPct val="150000"/>
              </a:lnSpc>
            </a:pPr>
            <a:r>
              <a:rPr lang="zh-CN" altLang="en-US" sz="2800" b="1" dirty="0">
                <a:latin typeface="幼圆" panose="02010509060101010101" pitchFamily="49" charset="-122"/>
                <a:ea typeface="幼圆" panose="02010509060101010101" pitchFamily="49" charset="-122"/>
              </a:rPr>
              <a:t>①</a:t>
            </a:r>
            <a:r>
              <a:rPr lang="zh-CN" altLang="en-US" b="1" dirty="0">
                <a:latin typeface="幼圆" panose="02010509060101010101" pitchFamily="49" charset="-122"/>
                <a:ea typeface="幼圆" panose="02010509060101010101" pitchFamily="49" charset="-122"/>
              </a:rPr>
              <a:t>尝试使用未优化的快速排序算法在有限的时间内排序</a:t>
            </a:r>
            <a:r>
              <a:rPr lang="en-US" altLang="zh-CN" b="1" dirty="0">
                <a:latin typeface="幼圆" panose="02010509060101010101" pitchFamily="49" charset="-122"/>
                <a:ea typeface="幼圆" panose="02010509060101010101" pitchFamily="49" charset="-122"/>
              </a:rPr>
              <a:t>1</a:t>
            </a:r>
            <a:r>
              <a:rPr lang="zh-CN" altLang="en-US" b="1" dirty="0">
                <a:latin typeface="幼圆" panose="02010509060101010101" pitchFamily="49" charset="-122"/>
                <a:ea typeface="幼圆" panose="02010509060101010101" pitchFamily="49" charset="-122"/>
              </a:rPr>
              <a:t>亿的数据，失败，编写了计数排序在有限的时间内排序</a:t>
            </a:r>
            <a:r>
              <a:rPr lang="en-US" altLang="zh-CN" b="1" dirty="0">
                <a:latin typeface="幼圆" panose="02010509060101010101" pitchFamily="49" charset="-122"/>
                <a:ea typeface="幼圆" panose="02010509060101010101" pitchFamily="49" charset="-122"/>
              </a:rPr>
              <a:t>1</a:t>
            </a:r>
            <a:r>
              <a:rPr lang="zh-CN" altLang="en-US" b="1" dirty="0">
                <a:latin typeface="幼圆" panose="02010509060101010101" pitchFamily="49" charset="-122"/>
                <a:ea typeface="幼圆" panose="02010509060101010101" pitchFamily="49" charset="-122"/>
              </a:rPr>
              <a:t>亿的数据，成功。从下两图可大致推断，计数排序时间复杂度基本符合</a:t>
            </a:r>
            <a:r>
              <a:rPr lang="en-US" altLang="zh-CN" b="1" dirty="0">
                <a:latin typeface="幼圆" panose="02010509060101010101" pitchFamily="49" charset="-122"/>
                <a:ea typeface="幼圆" panose="02010509060101010101" pitchFamily="49" charset="-122"/>
              </a:rPr>
              <a:t>O(n</a:t>
            </a:r>
            <a:r>
              <a:rPr lang="zh-CN" altLang="en-US" b="1" dirty="0">
                <a:latin typeface="幼圆" panose="02010509060101010101" pitchFamily="49" charset="-122"/>
                <a:ea typeface="幼圆" panose="02010509060101010101" pitchFamily="49" charset="-122"/>
              </a:rPr>
              <a:t>）</a:t>
            </a:r>
            <a:endParaRPr lang="en-US" altLang="zh-CN" kern="100" dirty="0">
              <a:latin typeface="幼圆" panose="02010509060101010101" pitchFamily="49" charset="-122"/>
              <a:ea typeface="幼圆" panose="02010509060101010101" pitchFamily="49" charset="-122"/>
            </a:endParaRPr>
          </a:p>
          <a:p>
            <a:pPr indent="266700" algn="just">
              <a:lnSpc>
                <a:spcPct val="150000"/>
              </a:lnSpc>
            </a:pPr>
            <a:r>
              <a:rPr lang="en-US" altLang="zh-CN" b="1" kern="100" dirty="0">
                <a:latin typeface="幼圆" panose="02010509060101010101" pitchFamily="49" charset="-122"/>
                <a:ea typeface="幼圆" panose="02010509060101010101" pitchFamily="49" charset="-122"/>
              </a:rPr>
              <a:t>   </a:t>
            </a:r>
            <a:r>
              <a:rPr lang="zh-CN" altLang="en-US" b="1" kern="100" dirty="0">
                <a:latin typeface="幼圆" panose="02010509060101010101" pitchFamily="49" charset="-122"/>
                <a:ea typeface="幼圆" panose="02010509060101010101" pitchFamily="49" charset="-122"/>
              </a:rPr>
              <a:t>但计数排序所需要的空间过大，难以完成</a:t>
            </a:r>
            <a:r>
              <a:rPr lang="en-US" altLang="zh-CN" b="1" kern="100" dirty="0">
                <a:latin typeface="幼圆" panose="02010509060101010101" pitchFamily="49" charset="-122"/>
                <a:ea typeface="幼圆" panose="02010509060101010101" pitchFamily="49" charset="-122"/>
              </a:rPr>
              <a:t>1</a:t>
            </a:r>
            <a:r>
              <a:rPr lang="zh-CN" altLang="en-US" b="1" kern="100" dirty="0">
                <a:latin typeface="幼圆" panose="02010509060101010101" pitchFamily="49" charset="-122"/>
                <a:ea typeface="幼圆" panose="02010509060101010101" pitchFamily="49" charset="-122"/>
              </a:rPr>
              <a:t>万亿数据的排序，可以考虑使用堆排序或桶排序</a:t>
            </a:r>
            <a:endParaRPr lang="en-US" altLang="zh-CN" b="1" dirty="0">
              <a:latin typeface="幼圆" panose="02010509060101010101" pitchFamily="49" charset="-122"/>
              <a:ea typeface="幼圆" panose="02010509060101010101" pitchFamily="49" charset="-122"/>
            </a:endParaRPr>
          </a:p>
        </p:txBody>
      </p:sp>
      <p:pic>
        <p:nvPicPr>
          <p:cNvPr id="8" name="图片 7">
            <a:extLst>
              <a:ext uri="{FF2B5EF4-FFF2-40B4-BE49-F238E27FC236}">
                <a16:creationId xmlns:a16="http://schemas.microsoft.com/office/drawing/2014/main" id="{628FEB07-43FE-4030-BB25-0685D2115E27}"/>
              </a:ext>
            </a:extLst>
          </p:cNvPr>
          <p:cNvPicPr/>
          <p:nvPr/>
        </p:nvPicPr>
        <p:blipFill>
          <a:blip r:embed="rId4"/>
          <a:stretch>
            <a:fillRect/>
          </a:stretch>
        </p:blipFill>
        <p:spPr>
          <a:xfrm>
            <a:off x="1417212" y="1001219"/>
            <a:ext cx="3331846" cy="4836934"/>
          </a:xfrm>
          <a:prstGeom prst="rect">
            <a:avLst/>
          </a:prstGeom>
        </p:spPr>
      </p:pic>
      <p:pic>
        <p:nvPicPr>
          <p:cNvPr id="10" name="图片 9">
            <a:extLst>
              <a:ext uri="{FF2B5EF4-FFF2-40B4-BE49-F238E27FC236}">
                <a16:creationId xmlns:a16="http://schemas.microsoft.com/office/drawing/2014/main" id="{08E25761-A473-49F2-85EA-E90D744E8555}"/>
              </a:ext>
            </a:extLst>
          </p:cNvPr>
          <p:cNvPicPr/>
          <p:nvPr/>
        </p:nvPicPr>
        <p:blipFill>
          <a:blip r:embed="rId5"/>
          <a:stretch>
            <a:fillRect/>
          </a:stretch>
        </p:blipFill>
        <p:spPr>
          <a:xfrm>
            <a:off x="5468725" y="3423405"/>
            <a:ext cx="4835208" cy="1452851"/>
          </a:xfrm>
          <a:prstGeom prst="rect">
            <a:avLst/>
          </a:prstGeom>
        </p:spPr>
      </p:pic>
      <p:pic>
        <p:nvPicPr>
          <p:cNvPr id="5" name="图片 4">
            <a:extLst>
              <a:ext uri="{FF2B5EF4-FFF2-40B4-BE49-F238E27FC236}">
                <a16:creationId xmlns:a16="http://schemas.microsoft.com/office/drawing/2014/main" id="{E94BB16D-2C8A-4DEF-8B3F-042BE2C13E4C}"/>
              </a:ext>
            </a:extLst>
          </p:cNvPr>
          <p:cNvPicPr>
            <a:picLocks noChangeAspect="1"/>
          </p:cNvPicPr>
          <p:nvPr/>
        </p:nvPicPr>
        <p:blipFill>
          <a:blip r:embed="rId6"/>
          <a:stretch>
            <a:fillRect/>
          </a:stretch>
        </p:blipFill>
        <p:spPr>
          <a:xfrm>
            <a:off x="5468725" y="4969934"/>
            <a:ext cx="5068470" cy="1517280"/>
          </a:xfrm>
          <a:prstGeom prst="rect">
            <a:avLst/>
          </a:prstGeom>
        </p:spPr>
      </p:pic>
    </p:spTree>
    <p:extLst>
      <p:ext uri="{BB962C8B-B14F-4D97-AF65-F5344CB8AC3E}">
        <p14:creationId xmlns:p14="http://schemas.microsoft.com/office/powerpoint/2010/main" val="62597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sp>
        <p:nvSpPr>
          <p:cNvPr id="62" name="矩形 6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pic>
        <p:nvPicPr>
          <p:cNvPr id="36" name="图片 35"/>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7" name="文本框 16">
            <a:extLst>
              <a:ext uri="{FF2B5EF4-FFF2-40B4-BE49-F238E27FC236}">
                <a16:creationId xmlns:a16="http://schemas.microsoft.com/office/drawing/2014/main" id="{AAB3A055-4772-4865-9C84-80C6094DE716}"/>
              </a:ext>
            </a:extLst>
          </p:cNvPr>
          <p:cNvSpPr txBox="1"/>
          <p:nvPr/>
        </p:nvSpPr>
        <p:spPr>
          <a:xfrm>
            <a:off x="2332566" y="1537036"/>
            <a:ext cx="7526867" cy="4294052"/>
          </a:xfrm>
          <a:prstGeom prst="rect">
            <a:avLst/>
          </a:prstGeom>
          <a:noFill/>
        </p:spPr>
        <p:txBody>
          <a:bodyPr wrap="square" tIns="72000">
            <a:spAutoFit/>
          </a:bodyPr>
          <a:lstStyle/>
          <a:p>
            <a:pPr>
              <a:lnSpc>
                <a:spcPct val="150000"/>
              </a:lnSpc>
            </a:pPr>
            <a:r>
              <a:rPr lang="zh-CN" altLang="en-US" sz="3200" b="1" dirty="0">
                <a:latin typeface="幼圆" panose="02010509060101010101" pitchFamily="49" charset="-122"/>
                <a:ea typeface="幼圆" panose="02010509060101010101" pitchFamily="49" charset="-122"/>
              </a:rPr>
              <a:t>②</a:t>
            </a:r>
            <a:r>
              <a:rPr lang="zh-CN" altLang="zh-CN" sz="2000" dirty="0">
                <a:latin typeface="幼圆" panose="02010509060101010101" pitchFamily="49" charset="-122"/>
                <a:ea typeface="幼圆" panose="02010509060101010101" pitchFamily="49" charset="-122"/>
              </a:rPr>
              <a:t>面临规模较大的数据的排序时，可以考虑选择时间复杂度为</a:t>
            </a:r>
            <a:r>
              <a:rPr lang="en-US" altLang="zh-CN" sz="2000" dirty="0">
                <a:latin typeface="幼圆" panose="02010509060101010101" pitchFamily="49" charset="-122"/>
                <a:ea typeface="幼圆" panose="02010509060101010101" pitchFamily="49" charset="-122"/>
              </a:rPr>
              <a:t>O(</a:t>
            </a:r>
            <a:r>
              <a:rPr lang="en-US" altLang="zh-CN" sz="2000" dirty="0" err="1">
                <a:latin typeface="幼圆" panose="02010509060101010101" pitchFamily="49" charset="-122"/>
                <a:ea typeface="幼圆" panose="02010509060101010101" pitchFamily="49" charset="-122"/>
              </a:rPr>
              <a:t>nlgn</a:t>
            </a:r>
            <a:r>
              <a:rPr lang="en-US" altLang="zh-CN" sz="2000" dirty="0">
                <a:latin typeface="幼圆" panose="02010509060101010101" pitchFamily="49" charset="-122"/>
                <a:ea typeface="幼圆" panose="02010509060101010101" pitchFamily="49" charset="-122"/>
              </a:rPr>
              <a:t>)</a:t>
            </a:r>
            <a:r>
              <a:rPr lang="zh-CN" altLang="zh-CN" sz="2000" dirty="0">
                <a:latin typeface="幼圆" panose="02010509060101010101" pitchFamily="49" charset="-122"/>
                <a:ea typeface="幼圆" panose="02010509060101010101" pitchFamily="49" charset="-122"/>
              </a:rPr>
              <a:t>的合并排序和快速排序。而面临规模较小的数据的排序时，这两个排序算法不一定更快，可以结合具体情况考虑和选择，例如观察未排序序列是否具备某些特征。</a:t>
            </a:r>
          </a:p>
          <a:p>
            <a:pPr>
              <a:lnSpc>
                <a:spcPct val="150000"/>
              </a:lnSpc>
            </a:pPr>
            <a:r>
              <a:rPr lang="zh-CN" altLang="en-US" sz="3200" b="1" dirty="0">
                <a:latin typeface="幼圆" panose="02010509060101010101" pitchFamily="49" charset="-122"/>
                <a:ea typeface="幼圆" panose="02010509060101010101" pitchFamily="49" charset="-122"/>
              </a:rPr>
              <a:t>③</a:t>
            </a:r>
            <a:r>
              <a:rPr lang="zh-CN" altLang="zh-CN" sz="2000" dirty="0">
                <a:latin typeface="幼圆" panose="02010509060101010101" pitchFamily="49" charset="-122"/>
                <a:ea typeface="幼圆" panose="02010509060101010101" pitchFamily="49" charset="-122"/>
              </a:rPr>
              <a:t>在解决一个问题的时候，不一定要急着去设计算法，而是可以</a:t>
            </a:r>
            <a:r>
              <a:rPr lang="zh-CN" altLang="en-US" sz="2000" dirty="0">
                <a:latin typeface="幼圆" panose="02010509060101010101" pitchFamily="49" charset="-122"/>
                <a:ea typeface="幼圆" panose="02010509060101010101" pitchFamily="49" charset="-122"/>
              </a:rPr>
              <a:t>先</a:t>
            </a:r>
            <a:r>
              <a:rPr lang="zh-CN" altLang="zh-CN" sz="2000" dirty="0">
                <a:latin typeface="幼圆" panose="02010509060101010101" pitchFamily="49" charset="-122"/>
                <a:ea typeface="幼圆" panose="02010509060101010101" pitchFamily="49" charset="-122"/>
              </a:rPr>
              <a:t>估计算法的复杂度，根据复杂度去</a:t>
            </a:r>
            <a:r>
              <a:rPr lang="zh-CN" altLang="en-US" sz="2000" dirty="0">
                <a:latin typeface="幼圆" panose="02010509060101010101" pitchFamily="49" charset="-122"/>
                <a:ea typeface="幼圆" panose="02010509060101010101" pitchFamily="49" charset="-122"/>
              </a:rPr>
              <a:t>选择和</a:t>
            </a:r>
            <a:r>
              <a:rPr lang="zh-CN" altLang="zh-CN" sz="2000" dirty="0">
                <a:latin typeface="幼圆" panose="02010509060101010101" pitchFamily="49" charset="-122"/>
                <a:ea typeface="幼圆" panose="02010509060101010101" pitchFamily="49" charset="-122"/>
              </a:rPr>
              <a:t>设计算法，同时可以尝试去分解问题</a:t>
            </a:r>
            <a:r>
              <a:rPr lang="zh-CN" altLang="en-US" sz="2000" dirty="0">
                <a:latin typeface="幼圆" panose="02010509060101010101" pitchFamily="49" charset="-122"/>
                <a:ea typeface="幼圆" panose="02010509060101010101" pitchFamily="49" charset="-122"/>
              </a:rPr>
              <a:t>（如二分）</a:t>
            </a:r>
            <a:r>
              <a:rPr lang="zh-CN" altLang="zh-CN" sz="2000" dirty="0">
                <a:latin typeface="幼圆" panose="02010509060101010101" pitchFamily="49" charset="-122"/>
                <a:ea typeface="幼圆" panose="02010509060101010101" pitchFamily="49" charset="-122"/>
              </a:rPr>
              <a:t>，设计多个算法帮助解决问题，有时能提高效率（例如合并排序）</a:t>
            </a:r>
          </a:p>
        </p:txBody>
      </p:sp>
    </p:spTree>
    <p:extLst>
      <p:ext uri="{BB962C8B-B14F-4D97-AF65-F5344CB8AC3E}">
        <p14:creationId xmlns:p14="http://schemas.microsoft.com/office/powerpoint/2010/main" val="2385704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2">
            <a:extLst>
              <a:ext uri="{28A0092B-C50C-407E-A947-70E740481C1C}">
                <a14:useLocalDpi xmlns:a14="http://schemas.microsoft.com/office/drawing/2010/main" val="0"/>
              </a:ext>
            </a:extLst>
          </a:blip>
          <a:srcRect t="34428" b="21884"/>
          <a:stretch>
            <a:fillRect/>
          </a:stretch>
        </p:blipFill>
        <p:spPr>
          <a:xfrm>
            <a:off x="0" y="-31750"/>
            <a:ext cx="12192000" cy="1304290"/>
          </a:xfrm>
          <a:prstGeom prst="rect">
            <a:avLst/>
          </a:prstGeom>
        </p:spPr>
      </p:pic>
      <p:sp>
        <p:nvSpPr>
          <p:cNvPr id="8" name="矩形 7"/>
          <p:cNvSpPr/>
          <p:nvPr/>
        </p:nvSpPr>
        <p:spPr>
          <a:xfrm>
            <a:off x="0" y="-31750"/>
            <a:ext cx="12192000" cy="130429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幼圆" panose="02010509060101010101" pitchFamily="49" charset="-122"/>
              <a:ea typeface="幼圆" panose="02010509060101010101" pitchFamily="49" charset="-122"/>
            </a:endParaRPr>
          </a:p>
        </p:txBody>
      </p:sp>
      <p:sp>
        <p:nvSpPr>
          <p:cNvPr id="12" name="矩形 11"/>
          <p:cNvSpPr/>
          <p:nvPr/>
        </p:nvSpPr>
        <p:spPr>
          <a:xfrm>
            <a:off x="-1886018" y="-4009350"/>
            <a:ext cx="9321276" cy="3397261"/>
          </a:xfrm>
          <a:prstGeom prst="rect">
            <a:avLst/>
          </a:prstGeom>
          <a:blipFill dpi="0" rotWithShape="1">
            <a:blip r:embed="rId3">
              <a:alphaModFix amt="18000"/>
              <a:lum bright="70000" contrast="-7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幼圆" panose="02010509060101010101" pitchFamily="49" charset="-122"/>
              <a:ea typeface="幼圆" panose="02010509060101010101" pitchFamily="49" charset="-122"/>
            </a:endParaRPr>
          </a:p>
        </p:txBody>
      </p:sp>
      <p:sp>
        <p:nvSpPr>
          <p:cNvPr id="10" name="文本框 9"/>
          <p:cNvSpPr txBox="1"/>
          <p:nvPr/>
        </p:nvSpPr>
        <p:spPr>
          <a:xfrm>
            <a:off x="254174" y="2967990"/>
            <a:ext cx="11299825" cy="922020"/>
          </a:xfrm>
          <a:prstGeom prst="rect">
            <a:avLst/>
          </a:prstGeom>
          <a:noFill/>
        </p:spPr>
        <p:txBody>
          <a:bodyPr wrap="square" rtlCol="0">
            <a:spAutoFit/>
          </a:bodyPr>
          <a:lstStyle/>
          <a:p>
            <a:pPr algn="ctr"/>
            <a:r>
              <a:rPr lang="en-US" altLang="zh-CN" sz="5400" b="1" dirty="0">
                <a:solidFill>
                  <a:schemeClr val="accent1">
                    <a:lumMod val="50000"/>
                  </a:schemeClr>
                </a:solidFill>
                <a:latin typeface="幼圆" panose="02010509060101010101" pitchFamily="49" charset="-122"/>
                <a:ea typeface="幼圆" panose="02010509060101010101" pitchFamily="49" charset="-122"/>
                <a:cs typeface="Franklin Gothic Medium" panose="020B0603020102020204" charset="0"/>
                <a:sym typeface="+mn-ea"/>
              </a:rPr>
              <a:t>Thanks</a:t>
            </a:r>
          </a:p>
        </p:txBody>
      </p:sp>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22978" y="352811"/>
            <a:ext cx="2162218" cy="2054575"/>
          </a:xfrm>
          <a:prstGeom prst="rect">
            <a:avLst/>
          </a:prstGeom>
          <a:effectLst>
            <a:outerShdw blurRad="292100" dist="25400" dir="5400000" algn="t" rotWithShape="0">
              <a:prstClr val="black">
                <a:alpha val="59000"/>
              </a:prstClr>
            </a:outerShdw>
          </a:effectLst>
        </p:spPr>
      </p:pic>
      <p:sp>
        <p:nvSpPr>
          <p:cNvPr id="13" name="文本框 12">
            <a:extLst>
              <a:ext uri="{FF2B5EF4-FFF2-40B4-BE49-F238E27FC236}">
                <a16:creationId xmlns:a16="http://schemas.microsoft.com/office/drawing/2014/main" id="{8E2E2DB6-2DCF-4CAC-B9A2-C4AC84747118}"/>
              </a:ext>
            </a:extLst>
          </p:cNvPr>
          <p:cNvSpPr txBox="1"/>
          <p:nvPr/>
        </p:nvSpPr>
        <p:spPr>
          <a:xfrm>
            <a:off x="3712082" y="4112643"/>
            <a:ext cx="4384008" cy="707886"/>
          </a:xfrm>
          <a:prstGeom prst="rect">
            <a:avLst/>
          </a:prstGeom>
          <a:noFill/>
        </p:spPr>
        <p:txBody>
          <a:bodyPr wrap="square" rtlCol="0">
            <a:spAutoFit/>
          </a:bodyPr>
          <a:lstStyle>
            <a:defPPr>
              <a:defRPr lang="zh-CN"/>
            </a:defPPr>
            <a:lvl1pPr>
              <a:defRPr>
                <a:solidFill>
                  <a:schemeClr val="bg1">
                    <a:lumMod val="50000"/>
                  </a:schemeClr>
                </a:solidFill>
                <a:latin typeface="宋体" panose="02010600030101010101" pitchFamily="2" charset="-122"/>
                <a:ea typeface="宋体" panose="02010600030101010101" pitchFamily="2" charset="-122"/>
              </a:defRPr>
            </a:lvl1pPr>
          </a:lstStyle>
          <a:p>
            <a:r>
              <a:rPr lang="zh-CN" altLang="en-US" sz="2000" dirty="0">
                <a:latin typeface="幼圆" panose="02010509060101010101" pitchFamily="49" charset="-122"/>
                <a:ea typeface="幼圆" panose="02010509060101010101" pitchFamily="49" charset="-122"/>
              </a:rPr>
              <a:t>计算机与软件学院</a:t>
            </a:r>
            <a:r>
              <a:rPr lang="en-US" altLang="zh-CN" sz="2000" dirty="0">
                <a:latin typeface="幼圆" panose="02010509060101010101" pitchFamily="49" charset="-122"/>
                <a:ea typeface="幼圆" panose="02010509060101010101" pitchFamily="49" charset="-122"/>
              </a:rPr>
              <a:t>2021</a:t>
            </a:r>
            <a:r>
              <a:rPr lang="zh-CN" altLang="en-US" sz="2000" dirty="0">
                <a:latin typeface="幼圆" panose="02010509060101010101" pitchFamily="49" charset="-122"/>
                <a:ea typeface="幼圆" panose="02010509060101010101" pitchFamily="49" charset="-122"/>
              </a:rPr>
              <a:t>级计科卓越班</a:t>
            </a:r>
            <a:endParaRPr lang="en-US" altLang="zh-CN" sz="2000" dirty="0">
              <a:latin typeface="幼圆" panose="02010509060101010101" pitchFamily="49" charset="-122"/>
              <a:ea typeface="幼圆" panose="02010509060101010101" pitchFamily="49" charset="-122"/>
            </a:endParaRPr>
          </a:p>
          <a:p>
            <a:pPr algn="ctr"/>
            <a:r>
              <a:rPr lang="zh-CN" altLang="en-US" sz="2000" dirty="0">
                <a:latin typeface="幼圆" panose="02010509060101010101" pitchFamily="49" charset="-122"/>
                <a:ea typeface="幼圆" panose="02010509060101010101" pitchFamily="49" charset="-122"/>
              </a:rPr>
              <a:t>张嘉豪</a:t>
            </a:r>
          </a:p>
        </p:txBody>
      </p:sp>
      <p:sp>
        <p:nvSpPr>
          <p:cNvPr id="14" name="文本框 13">
            <a:extLst>
              <a:ext uri="{FF2B5EF4-FFF2-40B4-BE49-F238E27FC236}">
                <a16:creationId xmlns:a16="http://schemas.microsoft.com/office/drawing/2014/main" id="{732608CD-9B39-4742-9C06-003C02AE0106}"/>
              </a:ext>
            </a:extLst>
          </p:cNvPr>
          <p:cNvSpPr txBox="1"/>
          <p:nvPr/>
        </p:nvSpPr>
        <p:spPr>
          <a:xfrm>
            <a:off x="4511033" y="5043162"/>
            <a:ext cx="2786105" cy="461665"/>
          </a:xfrm>
          <a:prstGeom prst="rect">
            <a:avLst/>
          </a:prstGeom>
          <a:noFill/>
        </p:spPr>
        <p:txBody>
          <a:bodyPr wrap="square" rtlCol="0">
            <a:spAutoFit/>
          </a:bodyPr>
          <a:lstStyle/>
          <a:p>
            <a:r>
              <a:rPr lang="zh-CN" altLang="en-US" sz="2400" b="1" dirty="0">
                <a:solidFill>
                  <a:schemeClr val="bg1">
                    <a:lumMod val="50000"/>
                  </a:schemeClr>
                </a:solidFill>
                <a:latin typeface="幼圆" panose="02010509060101010101" pitchFamily="49" charset="-122"/>
                <a:ea typeface="幼圆" panose="02010509060101010101" pitchFamily="49" charset="-122"/>
              </a:rPr>
              <a:t>指导教师</a:t>
            </a:r>
            <a:r>
              <a:rPr lang="en-US" altLang="zh-CN" sz="2400" b="1" dirty="0">
                <a:solidFill>
                  <a:schemeClr val="bg1">
                    <a:lumMod val="50000"/>
                  </a:schemeClr>
                </a:solidFill>
                <a:latin typeface="幼圆" panose="02010509060101010101" pitchFamily="49" charset="-122"/>
                <a:ea typeface="幼圆" panose="02010509060101010101" pitchFamily="49" charset="-122"/>
              </a:rPr>
              <a:t>: </a:t>
            </a:r>
            <a:r>
              <a:rPr lang="zh-CN" altLang="en-US" sz="2400" b="1" dirty="0">
                <a:solidFill>
                  <a:schemeClr val="bg1">
                    <a:lumMod val="50000"/>
                  </a:schemeClr>
                </a:solidFill>
                <a:latin typeface="幼圆" panose="02010509060101010101" pitchFamily="49" charset="-122"/>
                <a:ea typeface="幼圆" panose="02010509060101010101" pitchFamily="49" charset="-122"/>
              </a:rPr>
              <a:t>卢亚辉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theme/theme1.xml><?xml version="1.0" encoding="utf-8"?>
<a:theme xmlns:a="http://schemas.openxmlformats.org/drawingml/2006/main" name="Office 主题​​">
  <a:themeElements>
    <a:clrScheme name="自定义 10">
      <a:dk1>
        <a:sysClr val="windowText" lastClr="000000"/>
      </a:dk1>
      <a:lt1>
        <a:sysClr val="window" lastClr="FFFFFF"/>
      </a:lt1>
      <a:dk2>
        <a:srgbClr val="44546A"/>
      </a:dk2>
      <a:lt2>
        <a:srgbClr val="E7E6E6"/>
      </a:lt2>
      <a:accent1>
        <a:srgbClr val="950041"/>
      </a:accent1>
      <a:accent2>
        <a:srgbClr val="4A2739"/>
      </a:accent2>
      <a:accent3>
        <a:srgbClr val="81156C"/>
      </a:accent3>
      <a:accent4>
        <a:srgbClr val="500022"/>
      </a:accent4>
      <a:accent5>
        <a:srgbClr val="C490AA"/>
      </a:accent5>
      <a:accent6>
        <a:srgbClr val="70AD47"/>
      </a:accent6>
      <a:hlink>
        <a:srgbClr val="0563C1"/>
      </a:hlink>
      <a:folHlink>
        <a:srgbClr val="954F72"/>
      </a:folHlink>
    </a:clrScheme>
    <a:fontScheme name="常用模板">
      <a:majorFont>
        <a:latin typeface="Arial Black"/>
        <a:ea typeface="微软雅黑"/>
        <a:cs typeface=""/>
      </a:majorFont>
      <a:minorFont>
        <a:latin typeface="Arial"/>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315</TotalTime>
  <Words>2367</Words>
  <Application>Microsoft Office PowerPoint</Application>
  <PresentationFormat>宽屏</PresentationFormat>
  <Paragraphs>151</Paragraphs>
  <Slides>30</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30</vt:i4>
      </vt:variant>
    </vt:vector>
  </HeadingPairs>
  <TitlesOfParts>
    <vt:vector size="36" baseType="lpstr">
      <vt:lpstr>宋体</vt:lpstr>
      <vt:lpstr>幼圆</vt:lpstr>
      <vt:lpstr>Arial</vt:lpstr>
      <vt:lpstr>Arial Black</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suxia</dc:creator>
  <cp:lastModifiedBy>谷 雨</cp:lastModifiedBy>
  <cp:revision>66</cp:revision>
  <dcterms:created xsi:type="dcterms:W3CDTF">2020-06-03T03:11:00Z</dcterms:created>
  <dcterms:modified xsi:type="dcterms:W3CDTF">2023-03-22T03:52:12Z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2052-11.1.0.10938</vt:lpwstr>
  </property>
  <property fmtid="{D5CDD505-2E9C-101B-9397-08002B2CF9AE}" pid="3" name="ICV">
    <vt:lpwstr>B57DD4DADEAF47C58F7ED59EB4D70F20</vt:lpwstr>
  </property>
</Properties>
</file>