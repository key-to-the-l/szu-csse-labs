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4" r:id="rId8"/>
    <p:sldId id="383" r:id="rId9"/>
    <p:sldId id="405" r:id="rId10"/>
    <p:sldId id="285" r:id="rId11"/>
    <p:sldId id="334" r:id="rId12"/>
    <p:sldId id="424" r:id="rId13"/>
    <p:sldId id="425" r:id="rId14"/>
    <p:sldId id="426" r:id="rId15"/>
    <p:sldId id="427" r:id="rId16"/>
    <p:sldId id="428" r:id="rId17"/>
    <p:sldId id="377" r:id="rId18"/>
    <p:sldId id="429" r:id="rId19"/>
    <p:sldId id="435" r:id="rId20"/>
    <p:sldId id="392" r:id="rId21"/>
    <p:sldId id="378" r:id="rId22"/>
    <p:sldId id="436" r:id="rId23"/>
    <p:sldId id="437" r:id="rId24"/>
    <p:sldId id="294" r:id="rId25"/>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7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7" autoAdjust="0"/>
    <p:restoredTop sz="94660"/>
  </p:normalViewPr>
  <p:slideViewPr>
    <p:cSldViewPr showGuides="1">
      <p:cViewPr varScale="1">
        <p:scale>
          <a:sx n="83" d="100"/>
          <a:sy n="83" d="100"/>
        </p:scale>
        <p:origin x="216" y="75"/>
      </p:cViewPr>
      <p:guideLst>
        <p:guide orient="horz" pos="2160"/>
        <p:guide pos="272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5.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78DFCC-589B-4A60-9C12-59D686ADFEC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CCC3E0-7DDF-45E7-A937-AD50A2B51CF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探讨随机样本的生成为主题。在算法研究中，随机样本起着至关重要的作用，它确保了实验结果的可靠性。因此，我们需要关注如何有效地生成随机样本。首先，我们可以通过编程语言提供的相关函数或算法来生成满足特定分布的随机样本数据。这些函数和算法可以帮助我们在需要时生成具有所需特征的随机样本，从而为后续的算法分析和实验做好准备。其次，我们需要读取生成的随机样本数据，并进行必要的预处理。这一步骤对于保证数据质量和准确性至关重要。预处理过程可能包括数据清洗、归一化、缺失值处理等。通过对原始数据进行预处理，我们可以消除噪声和异常值，使得数据更适合进行进一步的算法分析。在这一过程中，我们需要密切关注数据的分布情况，以确保生成的随机样本满足我们的假设和需求。此外，我们还需要考虑样本的数量，以确保我们有足够的数据来进行可靠的统计分析。总之，随机样本的生成是算法研究中的一个关键步骤。通过利用编程语言提供的相关函数和算法，我们可以生成满足特定分布的随机样本数据。然后，我们还需要对生成的随机样本进行读取和处理，以便后续的算法分析和实验。在整个过程中，我们需要关注数据的质量、分布和数量，以确保实验结果的可靠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今天，我们将深入探讨五种主要排序算法：冒泡排序、选择排序、插入排序、合并排序和快速排序。首先，让我们从冒泡排序开始，了解其工作原理，然后分析其在时间复杂度和空间复杂度方面的表现。接下来，我们会学习选择排序的基本原理，以及它在性能评估上的表现。同样，我们也会深入研究插入排序，并分析其效率。然后我们会转向合并排序，理解它如何工作，并研究其时间和空间复杂性。最后，我们将讨论快速排序，包括它的运作方式以及在时间和空间复杂性方面的分析。</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本次的演讲中，我们首先探讨了算法排序的前置工作，深入分析了五大经典排序算法，接着我们研究了TopK问题并寻找有效的解决策略。通过实验验证，我们得出了有价值的结论。感谢大家的参与，让我们共同进步、追求卓越！</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8FD0B7A-F5DD-4F40-B4CB-3B2C354B893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8FD0B7A-F5DD-4F40-B4CB-3B2C354B893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7.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7.xml"/><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7.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7.xml"/><Relationship Id="rId4" Type="http://schemas.openxmlformats.org/officeDocument/2006/relationships/image" Target="../media/image29.emf"/><Relationship Id="rId3" Type="http://schemas.openxmlformats.org/officeDocument/2006/relationships/image" Target="../media/image28.png"/><Relationship Id="rId2" Type="http://schemas.openxmlformats.org/officeDocument/2006/relationships/image" Target="../media/image7.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012267"/>
            <a:ext cx="11038043"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4800" b="1" i="0">
                <a:solidFill>
                  <a:srgbClr val="000000"/>
                </a:solidFill>
                <a:highlight>
                  <a:srgbClr val="FFFFFF">
                    <a:alpha val="0"/>
                  </a:srgbClr>
                </a:highlight>
                <a:latin typeface="微软雅黑" panose="020B0503020204020204" charset="-122"/>
              </a:rPr>
              <a:t>图论之最大流</a:t>
            </a:r>
            <a:r>
              <a:rPr sz="4800" b="1" i="0">
                <a:solidFill>
                  <a:srgbClr val="000000"/>
                </a:solidFill>
                <a:highlight>
                  <a:srgbClr val="FFFFFF">
                    <a:alpha val="0"/>
                  </a:srgbClr>
                </a:highlight>
                <a:latin typeface="微软雅黑" panose="020B0503020204020204" charset="-122"/>
              </a:rPr>
              <a:t>问题探究</a:t>
            </a:r>
            <a:endParaRPr sz="4800" b="1" i="0">
              <a:solidFill>
                <a:srgbClr val="000000"/>
              </a:solidFill>
              <a:highlight>
                <a:srgbClr val="FFFFFF">
                  <a:alpha val="0"/>
                </a:srgbClr>
              </a:highlight>
              <a:latin typeface="微软雅黑" panose="020B0503020204020204" charset="-122"/>
            </a:endParaRPr>
          </a:p>
        </p:txBody>
      </p:sp>
      <p:sp>
        <p:nvSpPr>
          <p:cNvPr id="3" name="New shape"/>
          <p:cNvSpPr/>
          <p:nvPr/>
        </p:nvSpPr>
        <p:spPr>
          <a:xfrm>
            <a:off x="622800" y="3101012"/>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4" name="New shape"/>
          <p:cNvSpPr/>
          <p:nvPr/>
        </p:nvSpPr>
        <p:spPr>
          <a:xfrm>
            <a:off x="611778" y="3098226"/>
            <a:ext cx="11038043"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3000" b="1" i="0">
                <a:solidFill>
                  <a:srgbClr val="002B7F"/>
                </a:solidFill>
                <a:highlight>
                  <a:srgbClr val="FFFFFF">
                    <a:alpha val="0"/>
                  </a:srgbClr>
                </a:highlight>
                <a:latin typeface="微软雅黑" panose="020B0503020204020204" charset="-122"/>
              </a:rPr>
              <a:t>最大流算法</a:t>
            </a:r>
            <a:r>
              <a:rPr lang="zh-CN" sz="3000" b="1" i="0">
                <a:solidFill>
                  <a:srgbClr val="002B7F"/>
                </a:solidFill>
                <a:highlight>
                  <a:srgbClr val="FFFFFF">
                    <a:alpha val="0"/>
                  </a:srgbClr>
                </a:highlight>
                <a:latin typeface="微软雅黑" panose="020B0503020204020204" charset="-122"/>
              </a:rPr>
              <a:t>分析</a:t>
            </a:r>
            <a:endParaRPr lang="zh-CN" sz="30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6"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7"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8" name="New shape"/>
          <p:cNvSpPr/>
          <p:nvPr/>
        </p:nvSpPr>
        <p:spPr>
          <a:xfrm>
            <a:off x="611778" y="4208444"/>
            <a:ext cx="11038043" cy="4552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1575" b="0" i="0">
                <a:solidFill>
                  <a:srgbClr val="000000"/>
                </a:solidFill>
                <a:highlight>
                  <a:srgbClr val="FFFFFF">
                    <a:alpha val="0"/>
                  </a:srgbClr>
                </a:highlight>
                <a:latin typeface="微软雅黑" panose="020B0503020204020204" charset="-122"/>
              </a:rPr>
              <a:t>指导老师：刘刚</a:t>
            </a:r>
            <a:r>
              <a:rPr lang="en-US" altLang="zh-CN" sz="1575" b="0" i="0">
                <a:solidFill>
                  <a:srgbClr val="000000"/>
                </a:solidFill>
                <a:highlight>
                  <a:srgbClr val="FFFFFF">
                    <a:alpha val="0"/>
                  </a:srgbClr>
                </a:highlight>
                <a:latin typeface="微软雅黑" panose="020B0503020204020204" charset="-122"/>
              </a:rPr>
              <a:t>	</a:t>
            </a:r>
            <a:r>
              <a:rPr lang="zh-CN" altLang="en-US" sz="1575" b="0" i="0">
                <a:solidFill>
                  <a:srgbClr val="000000"/>
                </a:solidFill>
                <a:highlight>
                  <a:srgbClr val="FFFFFF">
                    <a:alpha val="0"/>
                  </a:srgbClr>
                </a:highlight>
                <a:latin typeface="微软雅黑" panose="020B0503020204020204" charset="-122"/>
              </a:rPr>
              <a:t>分享人：</a:t>
            </a:r>
            <a:r>
              <a:rPr lang="zh-CN" altLang="en-US" sz="1575" b="0" i="0">
                <a:solidFill>
                  <a:srgbClr val="000000"/>
                </a:solidFill>
                <a:highlight>
                  <a:srgbClr val="FFFFFF">
                    <a:alpha val="0"/>
                  </a:srgbClr>
                </a:highlight>
                <a:latin typeface="微软雅黑" panose="020B0503020204020204" charset="-122"/>
              </a:rPr>
              <a:t>杨皓翔</a:t>
            </a:r>
            <a:endParaRPr lang="zh-CN" altLang="en-US" sz="1575" b="0" i="0">
              <a:solidFill>
                <a:srgbClr val="000000"/>
              </a:solidFill>
              <a:highlight>
                <a:srgbClr val="FFFFFF">
                  <a:alpha val="0"/>
                </a:srgbClr>
              </a:highlight>
              <a:latin typeface="微软雅黑" panose="020B0503020204020204" charset="-122"/>
            </a:endParaRPr>
          </a:p>
        </p:txBody>
      </p:sp>
      <p:sp>
        <p:nvSpPr>
          <p:cNvPr id="10" name="文本框 9"/>
          <p:cNvSpPr txBox="1"/>
          <p:nvPr/>
        </p:nvSpPr>
        <p:spPr>
          <a:xfrm>
            <a:off x="4511675" y="764540"/>
            <a:ext cx="3565525" cy="1198880"/>
          </a:xfrm>
          <a:prstGeom prst="rect">
            <a:avLst/>
          </a:prstGeom>
          <a:noFill/>
        </p:spPr>
        <p:txBody>
          <a:bodyPr wrap="square" rtlCol="0">
            <a:spAutoFit/>
          </a:bodyPr>
          <a:lstStyle/>
          <a:p>
            <a:pPr algn="ctr"/>
            <a:r>
              <a:rPr lang="zh-CN" altLang="en-US" sz="7200">
                <a:ln w="15875"/>
                <a:gradFill>
                  <a:gsLst>
                    <a:gs pos="0">
                      <a:schemeClr val="accent1">
                        <a:hueMod val="80000"/>
                      </a:schemeClr>
                    </a:gs>
                    <a:gs pos="100000">
                      <a:schemeClr val="accent1">
                        <a:alpha val="100000"/>
                      </a:schemeClr>
                    </a:gs>
                  </a:gsLst>
                  <a:lin ang="2700000" scaled="0"/>
                </a:gradFill>
                <a:effectLst/>
              </a:rPr>
              <a:t>实验</a:t>
            </a:r>
            <a:r>
              <a:rPr lang="zh-CN" altLang="en-US" sz="7200">
                <a:ln w="15875"/>
                <a:gradFill>
                  <a:gsLst>
                    <a:gs pos="0">
                      <a:schemeClr val="accent1">
                        <a:hueMod val="80000"/>
                      </a:schemeClr>
                    </a:gs>
                    <a:gs pos="100000">
                      <a:schemeClr val="accent1">
                        <a:alpha val="100000"/>
                      </a:schemeClr>
                    </a:gs>
                  </a:gsLst>
                  <a:lin ang="2700000" scaled="0"/>
                </a:gradFill>
                <a:effectLst/>
              </a:rPr>
              <a:t>六</a:t>
            </a:r>
            <a:endParaRPr lang="zh-CN" altLang="en-US" sz="7200">
              <a:ln w="15875"/>
              <a:gradFill>
                <a:gsLst>
                  <a:gs pos="0">
                    <a:schemeClr val="accent1">
                      <a:hueMod val="80000"/>
                    </a:schemeClr>
                  </a:gs>
                  <a:gs pos="100000">
                    <a:schemeClr val="accent1">
                      <a:alpha val="100000"/>
                    </a:schemeClr>
                  </a:gs>
                </a:gsLst>
                <a:lin ang="2700000" scaled="0"/>
              </a:gradFill>
              <a:effectLs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838800" y="1266220"/>
            <a:ext cx="3672000" cy="511200"/>
          </a:xfrm>
          <a:prstGeom prst="rect">
            <a:avLst/>
          </a:prstGeom>
          <a:ln>
            <a:noFill/>
          </a:ln>
        </p:spPr>
      </p:pic>
      <p:sp>
        <p:nvSpPr>
          <p:cNvPr id="3" name="New shape"/>
          <p:cNvSpPr/>
          <p:nvPr/>
        </p:nvSpPr>
        <p:spPr>
          <a:xfrm>
            <a:off x="1054800" y="1112218"/>
            <a:ext cx="2482880" cy="1614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6600" b="1" i="0">
                <a:solidFill>
                  <a:srgbClr val="0055FF"/>
                </a:solidFill>
                <a:highlight>
                  <a:srgbClr val="FFFFFF">
                    <a:alpha val="0"/>
                  </a:srgbClr>
                </a:highlight>
                <a:latin typeface="微软雅黑" panose="020B0503020204020204" charset="-122"/>
              </a:rPr>
              <a:t>目录</a:t>
            </a:r>
            <a:endParaRPr sz="6600" b="1" i="0">
              <a:solidFill>
                <a:srgbClr val="0055FF"/>
              </a:solidFill>
              <a:highlight>
                <a:srgbClr val="FFFFFF">
                  <a:alpha val="0"/>
                </a:srgbClr>
              </a:highlight>
              <a:latin typeface="微软雅黑" panose="020B0503020204020204" charset="-122"/>
            </a:endParaRPr>
          </a:p>
        </p:txBody>
      </p:sp>
      <p:sp>
        <p:nvSpPr>
          <p:cNvPr id="4" name="New shape"/>
          <p:cNvSpPr/>
          <p:nvPr>
            <p:custDataLst>
              <p:tags r:id="rId3"/>
            </p:custDataLst>
          </p:nvPr>
        </p:nvSpPr>
        <p:spPr>
          <a:xfrm>
            <a:off x="6096025" y="907551"/>
            <a:ext cx="4152432"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01</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问题</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分析</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5" name="New shape"/>
          <p:cNvSpPr/>
          <p:nvPr>
            <p:custDataLst>
              <p:tags r:id="rId4"/>
            </p:custDataLst>
          </p:nvPr>
        </p:nvSpPr>
        <p:spPr>
          <a:xfrm>
            <a:off x="6096156" y="2009593"/>
            <a:ext cx="4152433" cy="460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00000"/>
              </a:lnSpc>
            </a:pPr>
            <a:r>
              <a:rPr sz="2400" b="1">
                <a:solidFill>
                  <a:srgbClr val="002B7F"/>
                </a:solidFill>
                <a:highlight>
                  <a:srgbClr val="C0C0C0"/>
                </a:highlight>
                <a:latin typeface="微软雅黑" panose="020B0503020204020204" charset="-122"/>
              </a:rPr>
              <a:t>02</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流网络</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构建</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6" name="New shape"/>
          <p:cNvSpPr/>
          <p:nvPr>
            <p:custDataLst>
              <p:tags r:id="rId5"/>
            </p:custDataLst>
          </p:nvPr>
        </p:nvSpPr>
        <p:spPr>
          <a:xfrm>
            <a:off x="6097930" y="2923863"/>
            <a:ext cx="4152432" cy="460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00000"/>
              </a:lnSpc>
            </a:pPr>
            <a:r>
              <a:rPr sz="2400" b="1">
                <a:solidFill>
                  <a:srgbClr val="002B7F"/>
                </a:solidFill>
                <a:highlight>
                  <a:srgbClr val="C0C0C0"/>
                </a:highlight>
                <a:latin typeface="微软雅黑" panose="020B0503020204020204" charset="-122"/>
              </a:rPr>
              <a:t>03</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最大流</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算法</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7" name="New shape"/>
          <p:cNvSpPr/>
          <p:nvPr>
            <p:custDataLst>
              <p:tags r:id="rId6"/>
            </p:custDataLst>
          </p:nvPr>
        </p:nvSpPr>
        <p:spPr>
          <a:xfrm>
            <a:off x="6097905" y="3716655"/>
            <a:ext cx="4326890"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lnSpc>
                <a:spcPct val="150000"/>
              </a:lnSpc>
            </a:pPr>
            <a:r>
              <a:rPr sz="2400" b="1">
                <a:solidFill>
                  <a:srgbClr val="002B7F"/>
                </a:solidFill>
                <a:highlight>
                  <a:srgbClr val="C0C0C0"/>
                </a:highlight>
                <a:latin typeface="微软雅黑" panose="020B0503020204020204" charset="-122"/>
              </a:rPr>
              <a:t>04</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预流推进</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算法</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8" name="New shape"/>
          <p:cNvSpPr/>
          <p:nvPr/>
        </p:nvSpPr>
        <p:spPr>
          <a:xfrm>
            <a:off x="6097905" y="4693920"/>
            <a:ext cx="5066665"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algn="l">
              <a:lnSpc>
                <a:spcPct val="150000"/>
              </a:lnSpc>
            </a:pPr>
            <a:r>
              <a:rPr sz="2400" b="1">
                <a:solidFill>
                  <a:srgbClr val="002B7F"/>
                </a:solidFill>
                <a:highlight>
                  <a:srgbClr val="C0C0C0"/>
                </a:highlight>
                <a:latin typeface="微软雅黑" panose="020B0503020204020204" charset="-122"/>
              </a:rPr>
              <a:t>0</a:t>
            </a:r>
            <a:r>
              <a:rPr lang="en-US" sz="2400" b="1">
                <a:solidFill>
                  <a:srgbClr val="002B7F"/>
                </a:solidFill>
                <a:highlight>
                  <a:srgbClr val="C0C0C0"/>
                </a:highlight>
                <a:latin typeface="微软雅黑" panose="020B0503020204020204" charset="-122"/>
              </a:rPr>
              <a:t>5</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测试</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结果</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01</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4800" b="1" i="0">
                <a:solidFill>
                  <a:srgbClr val="0055FF"/>
                </a:solidFill>
                <a:highlight>
                  <a:srgbClr val="FFFFFF">
                    <a:alpha val="0"/>
                  </a:srgbClr>
                </a:highlight>
                <a:latin typeface="微软雅黑" panose="020B0503020204020204" charset="-122"/>
              </a:rPr>
              <a:t>问题</a:t>
            </a:r>
            <a:r>
              <a:rPr lang="zh-CN" altLang="en-US" sz="4800" b="1" i="0">
                <a:solidFill>
                  <a:srgbClr val="0055FF"/>
                </a:solidFill>
                <a:highlight>
                  <a:srgbClr val="FFFFFF">
                    <a:alpha val="0"/>
                  </a:srgbClr>
                </a:highlight>
                <a:latin typeface="微软雅黑" panose="020B0503020204020204" charset="-122"/>
              </a:rPr>
              <a:t>分析</a:t>
            </a:r>
            <a:endParaRPr lang="zh-CN" altLang="en-US"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问题</a:t>
            </a:r>
            <a:r>
              <a:rPr lang="zh-CN" altLang="en-US" sz="3000" b="1" i="0">
                <a:solidFill>
                  <a:schemeClr val="accent1"/>
                </a:solidFill>
                <a:highlight>
                  <a:srgbClr val="FFFFFF">
                    <a:alpha val="0"/>
                  </a:srgbClr>
                </a:highlight>
                <a:latin typeface="微软雅黑" panose="020B0503020204020204" charset="-122"/>
              </a:rPr>
              <a:t>分析</a:t>
            </a:r>
            <a:endParaRPr lang="zh-CN" altLang="en-US" sz="3000" b="1" i="0">
              <a:solidFill>
                <a:schemeClr val="accent1"/>
              </a:solidFill>
              <a:highlight>
                <a:srgbClr val="FFFFFF">
                  <a:alpha val="0"/>
                </a:srgbClr>
              </a:highlight>
              <a:latin typeface="微软雅黑" panose="020B0503020204020204" charset="-122"/>
            </a:endParaRPr>
          </a:p>
        </p:txBody>
      </p:sp>
      <p:sp>
        <p:nvSpPr>
          <p:cNvPr id="14" name="文本框 13"/>
          <p:cNvSpPr txBox="1"/>
          <p:nvPr/>
        </p:nvSpPr>
        <p:spPr>
          <a:xfrm>
            <a:off x="3715385" y="1052830"/>
            <a:ext cx="4864100" cy="368300"/>
          </a:xfrm>
          <a:prstGeom prst="rect">
            <a:avLst/>
          </a:prstGeom>
          <a:noFill/>
        </p:spPr>
        <p:txBody>
          <a:bodyPr wrap="square" rtlCol="0">
            <a:spAutoFit/>
          </a:bodyPr>
          <a:p>
            <a:r>
              <a:rPr lang="zh-CN" altLang="en-US"/>
              <a:t>哪些球队有可能夺冠</a:t>
            </a:r>
            <a:r>
              <a:rPr lang="en-US" altLang="zh-CN"/>
              <a:t>    ==&gt;    </a:t>
            </a:r>
            <a:r>
              <a:rPr lang="zh-CN" altLang="en-US"/>
              <a:t>哪些球队会被淘汰</a:t>
            </a:r>
            <a:endParaRPr lang="zh-CN" altLang="en-US"/>
          </a:p>
        </p:txBody>
      </p:sp>
      <p:sp>
        <p:nvSpPr>
          <p:cNvPr id="15" name="文本框 14"/>
          <p:cNvSpPr txBox="1"/>
          <p:nvPr/>
        </p:nvSpPr>
        <p:spPr>
          <a:xfrm>
            <a:off x="5732145" y="836930"/>
            <a:ext cx="1170940" cy="306705"/>
          </a:xfrm>
          <a:prstGeom prst="rect">
            <a:avLst/>
          </a:prstGeom>
          <a:noFill/>
        </p:spPr>
        <p:txBody>
          <a:bodyPr wrap="square" rtlCol="0">
            <a:spAutoFit/>
          </a:bodyPr>
          <a:p>
            <a:r>
              <a:rPr lang="zh-CN" altLang="en-US" sz="1400">
                <a:solidFill>
                  <a:schemeClr val="accent1"/>
                </a:solidFill>
                <a:effectLst>
                  <a:outerShdw blurRad="38100" dist="25400" dir="5400000" algn="ctr" rotWithShape="0">
                    <a:srgbClr val="6E747A">
                      <a:alpha val="43000"/>
                    </a:srgbClr>
                  </a:outerShdw>
                </a:effectLst>
              </a:rPr>
              <a:t>正难则反</a:t>
            </a:r>
            <a:endParaRPr lang="zh-CN" altLang="en-US" sz="1400">
              <a:solidFill>
                <a:schemeClr val="accent1"/>
              </a:solidFill>
              <a:effectLst>
                <a:outerShdw blurRad="38100" dist="25400" dir="5400000" algn="ctr" rotWithShape="0">
                  <a:srgbClr val="6E747A">
                    <a:alpha val="43000"/>
                  </a:srgbClr>
                </a:outerShdw>
              </a:effectLst>
            </a:endParaRPr>
          </a:p>
        </p:txBody>
      </p:sp>
      <p:sp>
        <p:nvSpPr>
          <p:cNvPr id="16" name="文本框 15"/>
          <p:cNvSpPr txBox="1"/>
          <p:nvPr/>
        </p:nvSpPr>
        <p:spPr>
          <a:xfrm>
            <a:off x="2495550" y="1882775"/>
            <a:ext cx="7788275" cy="922020"/>
          </a:xfrm>
          <a:prstGeom prst="rect">
            <a:avLst/>
          </a:prstGeom>
          <a:noFill/>
        </p:spPr>
        <p:txBody>
          <a:bodyPr wrap="square" rtlCol="0">
            <a:spAutoFit/>
          </a:bodyPr>
          <a:p>
            <a:pPr>
              <a:lnSpc>
                <a:spcPct val="150000"/>
              </a:lnSpc>
            </a:pPr>
            <a:r>
              <a:rPr lang="zh-CN" altLang="en-US"/>
              <a:t>①平凡淘汰</a:t>
            </a:r>
            <a:r>
              <a:rPr lang="en-US" altLang="zh-CN"/>
              <a:t>	——	w[x]+r[x] &lt; w[i]		==&gt; </a:t>
            </a:r>
            <a:r>
              <a:rPr lang="zh-CN" altLang="en-US"/>
              <a:t>不使用最大流</a:t>
            </a:r>
            <a:endParaRPr lang="en-US" altLang="zh-CN"/>
          </a:p>
          <a:p>
            <a:pPr>
              <a:lnSpc>
                <a:spcPct val="150000"/>
              </a:lnSpc>
            </a:pPr>
            <a:r>
              <a:rPr lang="en-US" altLang="zh-CN"/>
              <a:t>②非平凡淘汰	——	MaxFlow &lt; </a:t>
            </a:r>
            <a:r>
              <a:rPr lang="en-US" altLang="zh-CN">
                <a:sym typeface="+mn-ea"/>
              </a:rPr>
              <a:t>FlowFromS </a:t>
            </a:r>
            <a:r>
              <a:rPr lang="en-US" altLang="zh-CN"/>
              <a:t>	==&gt; </a:t>
            </a:r>
            <a:r>
              <a:rPr lang="zh-CN" altLang="en-US"/>
              <a:t>使用最大流</a:t>
            </a:r>
            <a:endParaRPr lang="zh-CN" altLang="en-US"/>
          </a:p>
        </p:txBody>
      </p:sp>
      <p:pic>
        <p:nvPicPr>
          <p:cNvPr id="4" name="图片 -2147482619"/>
          <p:cNvPicPr>
            <a:picLocks noChangeAspect="1"/>
          </p:cNvPicPr>
          <p:nvPr/>
        </p:nvPicPr>
        <p:blipFill>
          <a:blip r:embed="rId3"/>
          <a:stretch>
            <a:fillRect/>
          </a:stretch>
        </p:blipFill>
        <p:spPr>
          <a:xfrm>
            <a:off x="7608570" y="3429000"/>
            <a:ext cx="3147060" cy="2374265"/>
          </a:xfrm>
          <a:prstGeom prst="rect">
            <a:avLst/>
          </a:prstGeom>
          <a:noFill/>
          <a:ln w="9525">
            <a:noFill/>
          </a:ln>
        </p:spPr>
      </p:pic>
      <p:pic>
        <p:nvPicPr>
          <p:cNvPr id="17" name="图片 16"/>
          <p:cNvPicPr>
            <a:picLocks noChangeAspect="1"/>
          </p:cNvPicPr>
          <p:nvPr/>
        </p:nvPicPr>
        <p:blipFill>
          <a:blip r:embed="rId4"/>
          <a:stretch>
            <a:fillRect/>
          </a:stretch>
        </p:blipFill>
        <p:spPr>
          <a:xfrm>
            <a:off x="1559560" y="3799840"/>
            <a:ext cx="5195570" cy="1929765"/>
          </a:xfrm>
          <a:prstGeom prst="rect">
            <a:avLst/>
          </a:prstGeom>
        </p:spPr>
      </p:pic>
      <p:sp>
        <p:nvSpPr>
          <p:cNvPr id="18" name="下箭头 17"/>
          <p:cNvSpPr/>
          <p:nvPr/>
        </p:nvSpPr>
        <p:spPr>
          <a:xfrm>
            <a:off x="6024245" y="1442720"/>
            <a:ext cx="360045" cy="54610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0" name="直接箭头连接符 19"/>
          <p:cNvCxnSpPr/>
          <p:nvPr/>
        </p:nvCxnSpPr>
        <p:spPr>
          <a:xfrm flipH="1">
            <a:off x="2712085" y="2317750"/>
            <a:ext cx="195580" cy="13989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a:off x="3882390" y="2716530"/>
            <a:ext cx="3653790" cy="71247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02</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流网络的</a:t>
            </a:r>
            <a:r>
              <a:rPr lang="zh-CN" sz="4800" b="1" i="0">
                <a:solidFill>
                  <a:srgbClr val="0055FF"/>
                </a:solidFill>
                <a:highlight>
                  <a:srgbClr val="FFFFFF">
                    <a:alpha val="0"/>
                  </a:srgbClr>
                </a:highlight>
                <a:latin typeface="微软雅黑" panose="020B0503020204020204" charset="-122"/>
              </a:rPr>
              <a:t>构建</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流网络构造</a:t>
            </a:r>
            <a:r>
              <a:rPr lang="zh-CN" altLang="en-US" sz="3000" b="1" i="0">
                <a:solidFill>
                  <a:schemeClr val="accent1"/>
                </a:solidFill>
                <a:highlight>
                  <a:srgbClr val="FFFFFF">
                    <a:alpha val="0"/>
                  </a:srgbClr>
                </a:highlight>
                <a:latin typeface="微软雅黑" panose="020B0503020204020204" charset="-122"/>
              </a:rPr>
              <a:t>原理</a:t>
            </a:r>
            <a:endParaRPr lang="zh-CN" altLang="en-US"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415415" y="1497965"/>
            <a:ext cx="3705225" cy="1198880"/>
          </a:xfrm>
          <a:prstGeom prst="rect">
            <a:avLst/>
          </a:prstGeom>
          <a:noFill/>
        </p:spPr>
        <p:txBody>
          <a:bodyPr wrap="square" rtlCol="0">
            <a:spAutoFit/>
          </a:bodyPr>
          <a:p>
            <a:r>
              <a:rPr lang="zh-CN" altLang="en-US"/>
              <a:t>① 源点S：一个虚拟点。</a:t>
            </a:r>
            <a:endParaRPr lang="zh-CN" altLang="en-US"/>
          </a:p>
          <a:p>
            <a:r>
              <a:rPr lang="zh-CN" altLang="en-US"/>
              <a:t>② 比赛点：代表两支球队间的比赛。</a:t>
            </a:r>
            <a:endParaRPr lang="zh-CN" altLang="en-US"/>
          </a:p>
          <a:p>
            <a:r>
              <a:rPr lang="zh-CN" altLang="en-US"/>
              <a:t>③ 队伍点：每个点代表一支球队。</a:t>
            </a:r>
            <a:endParaRPr lang="zh-CN" altLang="en-US"/>
          </a:p>
          <a:p>
            <a:r>
              <a:rPr lang="zh-CN" altLang="en-US"/>
              <a:t>④ 汇点T：一个虚拟点。</a:t>
            </a:r>
            <a:endParaRPr lang="zh-CN" altLang="en-US"/>
          </a:p>
        </p:txBody>
      </p:sp>
      <p:sp>
        <p:nvSpPr>
          <p:cNvPr id="7" name="文本框 6"/>
          <p:cNvSpPr txBox="1"/>
          <p:nvPr/>
        </p:nvSpPr>
        <p:spPr>
          <a:xfrm>
            <a:off x="6527165" y="2287270"/>
            <a:ext cx="4859020" cy="1337945"/>
          </a:xfrm>
          <a:prstGeom prst="rect">
            <a:avLst/>
          </a:prstGeom>
          <a:noFill/>
        </p:spPr>
        <p:txBody>
          <a:bodyPr wrap="square" rtlCol="0">
            <a:spAutoFit/>
          </a:bodyPr>
          <a:p>
            <a:pPr>
              <a:lnSpc>
                <a:spcPct val="150000"/>
              </a:lnSpc>
            </a:pPr>
            <a:r>
              <a:rPr lang="zh-CN" altLang="en-US"/>
              <a:t>①源点S 到 比赛点i-j 的权值：g[i][j]。</a:t>
            </a:r>
            <a:endParaRPr lang="zh-CN" altLang="en-US"/>
          </a:p>
          <a:p>
            <a:pPr>
              <a:lnSpc>
                <a:spcPct val="150000"/>
              </a:lnSpc>
            </a:pPr>
            <a:r>
              <a:rPr lang="zh-CN" altLang="en-US"/>
              <a:t>②比赛点i-j 到 队伍点i 的权值：无穷大。</a:t>
            </a:r>
            <a:endParaRPr lang="zh-CN" altLang="en-US"/>
          </a:p>
          <a:p>
            <a:pPr>
              <a:lnSpc>
                <a:spcPct val="150000"/>
              </a:lnSpc>
            </a:pPr>
            <a:r>
              <a:rPr lang="zh-CN" altLang="en-US"/>
              <a:t>③队伍点i 到 汇点T 的权值：</a:t>
            </a:r>
            <a:r>
              <a:rPr lang="zh-CN" altLang="en-US">
                <a:ln w="22225">
                  <a:solidFill>
                    <a:schemeClr val="accent2"/>
                  </a:solidFill>
                  <a:prstDash val="solid"/>
                </a:ln>
                <a:solidFill>
                  <a:schemeClr val="accent2">
                    <a:lumMod val="40000"/>
                    <a:lumOff val="60000"/>
                  </a:schemeClr>
                </a:solidFill>
                <a:effectLst/>
              </a:rPr>
              <a:t>w[x] + r[x] - w[i]</a:t>
            </a:r>
            <a:r>
              <a:rPr lang="zh-CN" altLang="en-US"/>
              <a:t>。</a:t>
            </a:r>
            <a:endParaRPr lang="zh-CN" altLang="en-US"/>
          </a:p>
        </p:txBody>
      </p:sp>
      <p:sp>
        <p:nvSpPr>
          <p:cNvPr id="8" name="文本框 7"/>
          <p:cNvSpPr txBox="1"/>
          <p:nvPr/>
        </p:nvSpPr>
        <p:spPr>
          <a:xfrm>
            <a:off x="1343660" y="1052830"/>
            <a:ext cx="406400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网络节点</a:t>
            </a:r>
            <a:endParaRPr lang="zh-CN" altLang="en-US">
              <a:solidFill>
                <a:schemeClr val="accent1"/>
              </a:solidFill>
              <a:effectLst>
                <a:outerShdw blurRad="38100" dist="25400" dir="5400000" algn="ctr" rotWithShape="0">
                  <a:srgbClr val="6E747A">
                    <a:alpha val="43000"/>
                  </a:srgbClr>
                </a:outerShdw>
              </a:effectLst>
            </a:endParaRPr>
          </a:p>
        </p:txBody>
      </p:sp>
      <p:sp>
        <p:nvSpPr>
          <p:cNvPr id="9" name="文本框 8"/>
          <p:cNvSpPr txBox="1"/>
          <p:nvPr/>
        </p:nvSpPr>
        <p:spPr>
          <a:xfrm>
            <a:off x="6431915" y="1985645"/>
            <a:ext cx="406400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边权值</a:t>
            </a:r>
            <a:endParaRPr lang="zh-CN" altLang="en-US">
              <a:solidFill>
                <a:schemeClr val="accent1"/>
              </a:solidFill>
              <a:effectLst>
                <a:outerShdw blurRad="38100" dist="25400" dir="5400000" algn="ctr" rotWithShape="0">
                  <a:srgbClr val="6E747A">
                    <a:alpha val="43000"/>
                  </a:srgbClr>
                </a:outerShdw>
              </a:effectLst>
            </a:endParaRPr>
          </a:p>
        </p:txBody>
      </p:sp>
      <p:sp>
        <p:nvSpPr>
          <p:cNvPr id="16" name="文本框 15"/>
          <p:cNvSpPr txBox="1"/>
          <p:nvPr/>
        </p:nvSpPr>
        <p:spPr>
          <a:xfrm>
            <a:off x="9771380" y="835025"/>
            <a:ext cx="1529080" cy="306705"/>
          </a:xfrm>
          <a:prstGeom prst="rect">
            <a:avLst/>
          </a:prstGeom>
          <a:noFill/>
        </p:spPr>
        <p:txBody>
          <a:bodyPr wrap="square" rtlCol="0">
            <a:spAutoFit/>
          </a:bodyPr>
          <a:p>
            <a:r>
              <a:rPr lang="zh-CN" altLang="en-US" sz="1400"/>
              <a:t>球队</a:t>
            </a:r>
            <a:r>
              <a:rPr lang="en-US" altLang="zh-CN" sz="1400"/>
              <a:t>x</a:t>
            </a:r>
            <a:r>
              <a:rPr lang="zh-CN" altLang="en-US" sz="1400"/>
              <a:t>最多的胜场</a:t>
            </a:r>
            <a:endParaRPr lang="zh-CN" altLang="en-US" sz="1400"/>
          </a:p>
        </p:txBody>
      </p:sp>
      <p:cxnSp>
        <p:nvCxnSpPr>
          <p:cNvPr id="24" name="直接箭头连接符 23"/>
          <p:cNvCxnSpPr/>
          <p:nvPr/>
        </p:nvCxnSpPr>
        <p:spPr>
          <a:xfrm>
            <a:off x="8688070" y="3644900"/>
            <a:ext cx="635" cy="7918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a:off x="7391400" y="4432935"/>
            <a:ext cx="3441065"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要阻止</a:t>
            </a:r>
            <a:r>
              <a:rPr lang="en-US" altLang="zh-CN">
                <a:solidFill>
                  <a:schemeClr val="accent1"/>
                </a:solidFill>
                <a:effectLst>
                  <a:outerShdw blurRad="38100" dist="25400" dir="5400000" algn="ctr" rotWithShape="0">
                    <a:srgbClr val="6E747A">
                      <a:alpha val="43000"/>
                    </a:srgbClr>
                  </a:outerShdw>
                </a:effectLst>
              </a:rPr>
              <a:t>addWin[i]  &gt;  w[x] + r[x]-w[i]</a:t>
            </a:r>
            <a:endParaRPr lang="zh-CN" altLang="en-US">
              <a:solidFill>
                <a:schemeClr val="accent1"/>
              </a:solidFill>
              <a:effectLst>
                <a:outerShdw blurRad="38100" dist="25400" dir="5400000" algn="ctr" rotWithShape="0">
                  <a:srgbClr val="6E747A">
                    <a:alpha val="43000"/>
                  </a:srgbClr>
                </a:outerShdw>
              </a:effectLst>
            </a:endParaRPr>
          </a:p>
        </p:txBody>
      </p:sp>
      <p:sp>
        <p:nvSpPr>
          <p:cNvPr id="26" name="文本框 25"/>
          <p:cNvSpPr txBox="1"/>
          <p:nvPr/>
        </p:nvSpPr>
        <p:spPr>
          <a:xfrm>
            <a:off x="7287895" y="4864735"/>
            <a:ext cx="4064000" cy="645160"/>
          </a:xfrm>
          <a:prstGeom prst="rect">
            <a:avLst/>
          </a:prstGeom>
          <a:noFill/>
        </p:spPr>
        <p:txBody>
          <a:bodyPr wrap="square" rtlCol="0">
            <a:spAutoFit/>
          </a:bodyPr>
          <a:p>
            <a:r>
              <a:rPr lang="en-US" altLang="zh-CN">
                <a:sym typeface="+mn-ea"/>
              </a:rPr>
              <a:t>MaxFlow = FlowFromS   ==&gt;  </a:t>
            </a:r>
            <a:r>
              <a:rPr lang="zh-CN" altLang="en-US">
                <a:sym typeface="+mn-ea"/>
              </a:rPr>
              <a:t>阻止成功</a:t>
            </a:r>
            <a:endParaRPr lang="zh-CN" altLang="en-US"/>
          </a:p>
          <a:p>
            <a:r>
              <a:rPr lang="en-US" altLang="zh-CN">
                <a:sym typeface="+mn-ea"/>
              </a:rPr>
              <a:t>MaxFlow &lt; FlowFromS   ==&gt;  </a:t>
            </a:r>
            <a:r>
              <a:rPr lang="zh-CN" altLang="en-US">
                <a:sym typeface="+mn-ea"/>
              </a:rPr>
              <a:t>阻止失败</a:t>
            </a:r>
            <a:endParaRPr lang="zh-CN" altLang="en-US">
              <a:sym typeface="+mn-ea"/>
            </a:endParaRPr>
          </a:p>
        </p:txBody>
      </p:sp>
      <p:pic>
        <p:nvPicPr>
          <p:cNvPr id="30" name="图片 29" descr="流网络图示"/>
          <p:cNvPicPr>
            <a:picLocks noChangeAspect="1"/>
          </p:cNvPicPr>
          <p:nvPr/>
        </p:nvPicPr>
        <p:blipFill>
          <a:blip r:embed="rId3"/>
          <a:stretch>
            <a:fillRect/>
          </a:stretch>
        </p:blipFill>
        <p:spPr>
          <a:xfrm>
            <a:off x="1817370" y="2943860"/>
            <a:ext cx="4313555" cy="3418205"/>
          </a:xfrm>
          <a:prstGeom prst="rect">
            <a:avLst/>
          </a:prstGeom>
        </p:spPr>
      </p:pic>
      <p:sp>
        <p:nvSpPr>
          <p:cNvPr id="4" name="文本框 3"/>
          <p:cNvSpPr txBox="1"/>
          <p:nvPr/>
        </p:nvSpPr>
        <p:spPr>
          <a:xfrm>
            <a:off x="8187055" y="1078865"/>
            <a:ext cx="2971165" cy="922020"/>
          </a:xfrm>
          <a:prstGeom prst="rect">
            <a:avLst/>
          </a:prstGeom>
          <a:noFill/>
        </p:spPr>
        <p:txBody>
          <a:bodyPr wrap="square" rtlCol="0">
            <a:spAutoFit/>
          </a:bodyPr>
          <a:p>
            <a:r>
              <a:rPr lang="en-US" altLang="zh-CN"/>
              <a:t>w[i]+addWin[i] &lt;= w[x]+r[x]</a:t>
            </a:r>
            <a:endParaRPr lang="en-US" altLang="zh-CN"/>
          </a:p>
          <a:p>
            <a:endParaRPr lang="en-US" altLang="zh-CN"/>
          </a:p>
          <a:p>
            <a:r>
              <a:rPr lang="en-US" altLang="zh-CN"/>
              <a:t>addWin[i]  &lt;= </a:t>
            </a:r>
            <a:r>
              <a:rPr lang="en-US" altLang="zh-CN">
                <a:solidFill>
                  <a:schemeClr val="accent1"/>
                </a:solidFill>
                <a:effectLst>
                  <a:outerShdw blurRad="38100" dist="25400" dir="5400000" algn="ctr" rotWithShape="0">
                    <a:srgbClr val="6E747A">
                      <a:alpha val="43000"/>
                    </a:srgbClr>
                  </a:outerShdw>
                </a:effectLst>
              </a:rPr>
              <a:t>w[x]+r[x]-w[i]</a:t>
            </a:r>
            <a:endParaRPr lang="en-US" altLang="zh-CN">
              <a:solidFill>
                <a:schemeClr val="accent1"/>
              </a:solidFill>
              <a:effectLst>
                <a:outerShdw blurRad="38100" dist="25400" dir="5400000" algn="ctr" rotWithShape="0">
                  <a:srgbClr val="6E747A">
                    <a:alpha val="43000"/>
                  </a:srgbClr>
                </a:outerShdw>
              </a:effectLst>
            </a:endParaRPr>
          </a:p>
        </p:txBody>
      </p:sp>
      <p:cxnSp>
        <p:nvCxnSpPr>
          <p:cNvPr id="10" name="直接箭头连接符 9"/>
          <p:cNvCxnSpPr/>
          <p:nvPr/>
        </p:nvCxnSpPr>
        <p:spPr>
          <a:xfrm>
            <a:off x="10272395" y="1988820"/>
            <a:ext cx="0" cy="12954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圆角矩形 10"/>
          <p:cNvSpPr/>
          <p:nvPr/>
        </p:nvSpPr>
        <p:spPr>
          <a:xfrm>
            <a:off x="10001250" y="1096010"/>
            <a:ext cx="889635" cy="360045"/>
          </a:xfrm>
          <a:prstGeom prst="round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8139430" y="843915"/>
            <a:ext cx="1631950" cy="306705"/>
          </a:xfrm>
          <a:prstGeom prst="rect">
            <a:avLst/>
          </a:prstGeom>
          <a:noFill/>
        </p:spPr>
        <p:txBody>
          <a:bodyPr wrap="square" rtlCol="0">
            <a:spAutoFit/>
          </a:bodyPr>
          <a:p>
            <a:r>
              <a:rPr lang="zh-CN" altLang="en-US" sz="1400"/>
              <a:t>其他球队的</a:t>
            </a:r>
            <a:r>
              <a:rPr lang="zh-CN" altLang="en-US" sz="1400"/>
              <a:t>总胜场</a:t>
            </a:r>
            <a:endParaRPr lang="zh-CN" altLang="en-US" sz="1400"/>
          </a:p>
        </p:txBody>
      </p:sp>
      <p:sp>
        <p:nvSpPr>
          <p:cNvPr id="14" name="下箭头 13"/>
          <p:cNvSpPr/>
          <p:nvPr/>
        </p:nvSpPr>
        <p:spPr>
          <a:xfrm>
            <a:off x="9338945" y="1419860"/>
            <a:ext cx="144145" cy="28829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timing>
    <p:tnLst>
      <p:par>
        <p:cTn id="1" dur="indefinite" restart="never" fill="hold"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构建流</a:t>
            </a:r>
            <a:r>
              <a:rPr lang="zh-CN" altLang="en-US" sz="3000" b="1" i="0">
                <a:solidFill>
                  <a:schemeClr val="accent1"/>
                </a:solidFill>
                <a:highlight>
                  <a:srgbClr val="FFFFFF">
                    <a:alpha val="0"/>
                  </a:srgbClr>
                </a:highlight>
                <a:latin typeface="微软雅黑" panose="020B0503020204020204" charset="-122"/>
              </a:rPr>
              <a:t>网络</a:t>
            </a:r>
            <a:endParaRPr lang="zh-CN" altLang="en-US" sz="3000" b="1" i="0">
              <a:solidFill>
                <a:schemeClr val="accent1"/>
              </a:solidFill>
              <a:highlight>
                <a:srgbClr val="FFFFFF">
                  <a:alpha val="0"/>
                </a:srgbClr>
              </a:highlight>
              <a:latin typeface="微软雅黑" panose="020B0503020204020204" charset="-122"/>
            </a:endParaRPr>
          </a:p>
        </p:txBody>
      </p:sp>
      <p:pic>
        <p:nvPicPr>
          <p:cNvPr id="6" name="图片 5"/>
          <p:cNvPicPr>
            <a:picLocks noChangeAspect="1"/>
          </p:cNvPicPr>
          <p:nvPr/>
        </p:nvPicPr>
        <p:blipFill>
          <a:blip r:embed="rId3"/>
          <a:srcRect l="593" t="33"/>
          <a:stretch>
            <a:fillRect/>
          </a:stretch>
        </p:blipFill>
        <p:spPr>
          <a:xfrm>
            <a:off x="5150485" y="1268730"/>
            <a:ext cx="4372610" cy="4695825"/>
          </a:xfrm>
          <a:prstGeom prst="rect">
            <a:avLst/>
          </a:prstGeom>
        </p:spPr>
      </p:pic>
      <p:cxnSp>
        <p:nvCxnSpPr>
          <p:cNvPr id="7" name="直接箭头连接符 6"/>
          <p:cNvCxnSpPr/>
          <p:nvPr/>
        </p:nvCxnSpPr>
        <p:spPr>
          <a:xfrm flipV="1">
            <a:off x="8272145" y="4221480"/>
            <a:ext cx="912495" cy="4565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9257030" y="4046220"/>
            <a:ext cx="233299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连接源点</a:t>
            </a:r>
            <a:r>
              <a:rPr lang="en-US" altLang="zh-CN">
                <a:solidFill>
                  <a:schemeClr val="accent1"/>
                </a:solidFill>
                <a:effectLst>
                  <a:outerShdw blurRad="38100" dist="25400" dir="5400000" algn="ctr" rotWithShape="0">
                    <a:srgbClr val="6E747A">
                      <a:alpha val="43000"/>
                    </a:srgbClr>
                  </a:outerShdw>
                </a:effectLst>
              </a:rPr>
              <a:t> S </a:t>
            </a:r>
            <a:r>
              <a:rPr lang="zh-CN" altLang="en-US">
                <a:solidFill>
                  <a:schemeClr val="accent1"/>
                </a:solidFill>
                <a:effectLst>
                  <a:outerShdw blurRad="38100" dist="25400" dir="5400000" algn="ctr" rotWithShape="0">
                    <a:srgbClr val="6E747A">
                      <a:alpha val="43000"/>
                    </a:srgbClr>
                  </a:outerShdw>
                </a:effectLst>
              </a:rPr>
              <a:t>与</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比赛点</a:t>
            </a:r>
            <a:endParaRPr lang="zh-CN" altLang="en-US">
              <a:solidFill>
                <a:schemeClr val="accent1"/>
              </a:solidFill>
              <a:effectLst>
                <a:outerShdw blurRad="38100" dist="25400" dir="5400000" algn="ctr" rotWithShape="0">
                  <a:srgbClr val="6E747A">
                    <a:alpha val="43000"/>
                  </a:srgbClr>
                </a:outerShdw>
              </a:effectLst>
            </a:endParaRPr>
          </a:p>
        </p:txBody>
      </p:sp>
      <p:sp>
        <p:nvSpPr>
          <p:cNvPr id="13" name="右大括号 12"/>
          <p:cNvSpPr/>
          <p:nvPr/>
        </p:nvSpPr>
        <p:spPr>
          <a:xfrm>
            <a:off x="9112250" y="4797425"/>
            <a:ext cx="75565" cy="360045"/>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文本框 13"/>
          <p:cNvSpPr txBox="1"/>
          <p:nvPr/>
        </p:nvSpPr>
        <p:spPr>
          <a:xfrm>
            <a:off x="9256395" y="4797425"/>
            <a:ext cx="253873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连接比赛点</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与</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队伍点</a:t>
            </a:r>
            <a:endParaRPr lang="zh-CN" altLang="en-US">
              <a:solidFill>
                <a:schemeClr val="accent1"/>
              </a:solidFill>
              <a:effectLst>
                <a:outerShdw blurRad="38100" dist="25400" dir="5400000" algn="ctr" rotWithShape="0">
                  <a:srgbClr val="6E747A">
                    <a:alpha val="43000"/>
                  </a:srgbClr>
                </a:outerShdw>
              </a:effectLst>
            </a:endParaRPr>
          </a:p>
        </p:txBody>
      </p:sp>
      <p:cxnSp>
        <p:nvCxnSpPr>
          <p:cNvPr id="15" name="直接箭头连接符 14"/>
          <p:cNvCxnSpPr/>
          <p:nvPr/>
        </p:nvCxnSpPr>
        <p:spPr>
          <a:xfrm>
            <a:off x="7602220" y="5558790"/>
            <a:ext cx="1582420" cy="1746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9257030" y="5561965"/>
            <a:ext cx="2611755"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连接队伍点</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与</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汇点</a:t>
            </a:r>
            <a:r>
              <a:rPr lang="en-US" altLang="zh-CN">
                <a:solidFill>
                  <a:schemeClr val="accent1"/>
                </a:solidFill>
                <a:effectLst>
                  <a:outerShdw blurRad="38100" dist="25400" dir="5400000" algn="ctr" rotWithShape="0">
                    <a:srgbClr val="6E747A">
                      <a:alpha val="43000"/>
                    </a:srgbClr>
                  </a:outerShdw>
                </a:effectLst>
              </a:rPr>
              <a:t> T</a:t>
            </a:r>
            <a:endParaRPr lang="en-US" altLang="zh-CN">
              <a:solidFill>
                <a:schemeClr val="accent1"/>
              </a:solidFill>
              <a:effectLst>
                <a:outerShdw blurRad="38100" dist="25400" dir="5400000" algn="ctr" rotWithShape="0">
                  <a:srgbClr val="6E747A">
                    <a:alpha val="43000"/>
                  </a:srgbClr>
                </a:outerShdw>
              </a:effectLst>
            </a:endParaRPr>
          </a:p>
        </p:txBody>
      </p:sp>
      <p:pic>
        <p:nvPicPr>
          <p:cNvPr id="17" name="图片 16"/>
          <p:cNvPicPr>
            <a:picLocks noChangeAspect="1"/>
          </p:cNvPicPr>
          <p:nvPr/>
        </p:nvPicPr>
        <p:blipFill>
          <a:blip r:embed="rId4"/>
          <a:stretch>
            <a:fillRect/>
          </a:stretch>
        </p:blipFill>
        <p:spPr>
          <a:xfrm>
            <a:off x="1053783" y="1699578"/>
            <a:ext cx="3600000" cy="1081717"/>
          </a:xfrm>
          <a:prstGeom prst="rect">
            <a:avLst/>
          </a:prstGeom>
          <a:noFill/>
          <a:ln w="9525">
            <a:noFill/>
          </a:ln>
        </p:spPr>
      </p:pic>
      <p:pic>
        <p:nvPicPr>
          <p:cNvPr id="18" name="图片 17"/>
          <p:cNvPicPr>
            <a:picLocks noChangeAspect="1"/>
          </p:cNvPicPr>
          <p:nvPr/>
        </p:nvPicPr>
        <p:blipFill>
          <a:blip r:embed="rId5"/>
          <a:stretch>
            <a:fillRect/>
          </a:stretch>
        </p:blipFill>
        <p:spPr>
          <a:xfrm>
            <a:off x="1054100" y="3902075"/>
            <a:ext cx="3600000" cy="1642158"/>
          </a:xfrm>
          <a:prstGeom prst="rect">
            <a:avLst/>
          </a:prstGeom>
        </p:spPr>
      </p:pic>
      <p:sp>
        <p:nvSpPr>
          <p:cNvPr id="19" name="文本框 18"/>
          <p:cNvSpPr txBox="1"/>
          <p:nvPr/>
        </p:nvSpPr>
        <p:spPr>
          <a:xfrm>
            <a:off x="838835" y="1239520"/>
            <a:ext cx="185039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图的存储结构</a:t>
            </a:r>
            <a:endParaRPr lang="zh-CN" altLang="en-US">
              <a:solidFill>
                <a:schemeClr val="accent1"/>
              </a:solidFill>
              <a:effectLst>
                <a:outerShdw blurRad="38100" dist="25400" dir="5400000" algn="ctr" rotWithShape="0">
                  <a:srgbClr val="6E747A">
                    <a:alpha val="43000"/>
                  </a:srgbClr>
                </a:outerShdw>
              </a:effectLst>
            </a:endParaRPr>
          </a:p>
        </p:txBody>
      </p:sp>
      <p:sp>
        <p:nvSpPr>
          <p:cNvPr id="20" name="文本框 19"/>
          <p:cNvSpPr txBox="1"/>
          <p:nvPr/>
        </p:nvSpPr>
        <p:spPr>
          <a:xfrm>
            <a:off x="853440" y="3533775"/>
            <a:ext cx="1612265"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添加边的函数</a:t>
            </a:r>
            <a:endParaRPr lang="zh-CN" altLang="en-US">
              <a:solidFill>
                <a:schemeClr val="accent1"/>
              </a:solidFill>
              <a:effectLst>
                <a:outerShdw blurRad="38100" dist="25400" dir="5400000" algn="ctr" rotWithShape="0">
                  <a:srgbClr val="6E747A">
                    <a:alpha val="43000"/>
                  </a:srgbClr>
                </a:outerShdw>
              </a:effectLst>
            </a:endParaRPr>
          </a:p>
        </p:txBody>
      </p:sp>
    </p:spTree>
  </p:cSld>
  <p:clrMapOvr>
    <a:masterClrMapping/>
  </p:clrMapOvr>
  <p:transition/>
  <p:timing>
    <p:tnLst>
      <p:par>
        <p:cTn id="1" dur="indefinite" restart="never" fill="hold"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03</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最大</a:t>
            </a:r>
            <a:r>
              <a:rPr lang="zh-CN" sz="4800" b="1" i="0">
                <a:solidFill>
                  <a:srgbClr val="0055FF"/>
                </a:solidFill>
                <a:highlight>
                  <a:srgbClr val="FFFFFF">
                    <a:alpha val="0"/>
                  </a:srgbClr>
                </a:highlight>
                <a:latin typeface="微软雅黑" panose="020B0503020204020204" charset="-122"/>
              </a:rPr>
              <a:t>流算法</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Ford-Fulkerson（FF算法）</a:t>
            </a:r>
            <a:endParaRPr lang="zh-CN"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775460" y="1339850"/>
            <a:ext cx="8905240" cy="1050290"/>
          </a:xfrm>
          <a:prstGeom prst="rect">
            <a:avLst/>
          </a:prstGeom>
          <a:noFill/>
        </p:spPr>
        <p:txBody>
          <a:bodyPr wrap="square" rtlCol="0">
            <a:spAutoFit/>
          </a:bodyPr>
          <a:p>
            <a:pPr>
              <a:lnSpc>
                <a:spcPct val="100000"/>
              </a:lnSpc>
              <a:spcBef>
                <a:spcPts val="0"/>
              </a:spcBef>
              <a:spcAft>
                <a:spcPts val="1000"/>
              </a:spcAft>
            </a:pPr>
            <a:r>
              <a:rPr lang="zh-CN" altLang="en-US">
                <a:solidFill>
                  <a:schemeClr val="accent1"/>
                </a:solidFill>
                <a:effectLst>
                  <a:outerShdw blurRad="38100" dist="25400" dir="5400000" algn="ctr" rotWithShape="0">
                    <a:srgbClr val="6E747A">
                      <a:alpha val="43000"/>
                    </a:srgbClr>
                  </a:outerShdw>
                </a:effectLst>
              </a:rPr>
              <a:t>算法思想：</a:t>
            </a:r>
            <a:endParaRPr lang="zh-CN" altLang="en-US">
              <a:solidFill>
                <a:schemeClr val="accent1"/>
              </a:solidFill>
              <a:effectLst>
                <a:outerShdw blurRad="38100" dist="25400" dir="5400000" algn="ctr" rotWithShape="0">
                  <a:srgbClr val="6E747A">
                    <a:alpha val="43000"/>
                  </a:srgbClr>
                </a:outerShdw>
              </a:effectLst>
            </a:endParaRPr>
          </a:p>
          <a:p>
            <a:pPr indent="457200"/>
            <a:r>
              <a:t>不断寻找增广路径，并通过增加路径上的流量来增加总体的流量，直到无法找到增广路径为止，就可以得到最大流。</a:t>
            </a:r>
          </a:p>
        </p:txBody>
      </p:sp>
      <p:sp>
        <p:nvSpPr>
          <p:cNvPr id="13" name="文本框 12"/>
          <p:cNvSpPr txBox="1"/>
          <p:nvPr/>
        </p:nvSpPr>
        <p:spPr>
          <a:xfrm>
            <a:off x="1775460" y="3140075"/>
            <a:ext cx="8937625" cy="2989580"/>
          </a:xfrm>
          <a:prstGeom prst="rect">
            <a:avLst/>
          </a:prstGeom>
          <a:noFill/>
        </p:spPr>
        <p:txBody>
          <a:bodyPr wrap="square" rtlCol="0">
            <a:spAutoFit/>
          </a:bodyPr>
          <a:p>
            <a:pPr>
              <a:lnSpc>
                <a:spcPct val="100000"/>
              </a:lnSpc>
              <a:spcBef>
                <a:spcPts val="0"/>
              </a:spcBef>
              <a:spcAft>
                <a:spcPts val="1000"/>
              </a:spcAft>
            </a:pPr>
            <a:r>
              <a:rPr lang="zh-CN" altLang="en-US">
                <a:solidFill>
                  <a:schemeClr val="accent1"/>
                </a:solidFill>
                <a:effectLst>
                  <a:outerShdw blurRad="38100" dist="25400" dir="5400000" algn="ctr" rotWithShape="0">
                    <a:srgbClr val="6E747A">
                      <a:alpha val="43000"/>
                    </a:srgbClr>
                  </a:outerShdw>
                </a:effectLst>
              </a:rPr>
              <a:t>实现思路：</a:t>
            </a:r>
            <a:endParaRPr lang="zh-CN" altLang="en-US">
              <a:solidFill>
                <a:schemeClr val="accent1"/>
              </a:solidFill>
              <a:effectLst>
                <a:outerShdw blurRad="38100" dist="25400" dir="5400000" algn="ctr" rotWithShape="0">
                  <a:srgbClr val="6E747A">
                    <a:alpha val="43000"/>
                  </a:srgbClr>
                </a:outerShdw>
              </a:effectLst>
            </a:endParaRPr>
          </a:p>
          <a:p>
            <a:pPr>
              <a:lnSpc>
                <a:spcPct val="150000"/>
              </a:lnSpc>
            </a:pPr>
            <a:r>
              <a:rPr lang="zh-CN" altLang="en-US"/>
              <a:t>（1）初始化流量为0。</a:t>
            </a:r>
            <a:endParaRPr lang="zh-CN" altLang="en-US"/>
          </a:p>
          <a:p>
            <a:pPr>
              <a:lnSpc>
                <a:spcPct val="150000"/>
              </a:lnSpc>
            </a:pPr>
            <a:r>
              <a:rPr lang="zh-CN" altLang="en-US"/>
              <a:t>（2）使用深度优先搜索（DFS）在图中找到一条增广路径。</a:t>
            </a:r>
            <a:endParaRPr lang="zh-CN" altLang="en-US"/>
          </a:p>
          <a:p>
            <a:pPr>
              <a:lnSpc>
                <a:spcPct val="150000"/>
              </a:lnSpc>
            </a:pPr>
            <a:r>
              <a:rPr lang="zh-CN" altLang="en-US"/>
              <a:t>（3）如果存在增广路径，则确定路径上的最小剩余容量，这将成为增加的流量。</a:t>
            </a:r>
            <a:endParaRPr lang="zh-CN" altLang="en-US"/>
          </a:p>
          <a:p>
            <a:pPr>
              <a:lnSpc>
                <a:spcPct val="150000"/>
              </a:lnSpc>
            </a:pPr>
            <a:r>
              <a:rPr lang="zh-CN" altLang="en-US"/>
              <a:t>（4）在增广路径上更新每条边的流量，将流量增加到正向边上，减少流量到反向边上。</a:t>
            </a:r>
            <a:endParaRPr lang="zh-CN" altLang="en-US"/>
          </a:p>
          <a:p>
            <a:pPr>
              <a:lnSpc>
                <a:spcPct val="150000"/>
              </a:lnSpc>
            </a:pPr>
            <a:r>
              <a:rPr lang="zh-CN" altLang="en-US"/>
              <a:t>（5）重复步骤2-4，直到没有增广路径可以找到。</a:t>
            </a:r>
            <a:endParaRPr lang="zh-CN" altLang="en-US"/>
          </a:p>
          <a:p>
            <a:pPr>
              <a:lnSpc>
                <a:spcPct val="150000"/>
              </a:lnSpc>
            </a:pPr>
            <a:r>
              <a:rPr lang="zh-CN" altLang="en-US"/>
              <a:t>（6）最终，流量的总和就是最大流。</a:t>
            </a:r>
            <a:endParaRPr lang="zh-CN" altLang="en-US"/>
          </a:p>
        </p:txBody>
      </p:sp>
      <p:sp>
        <p:nvSpPr>
          <p:cNvPr id="4" name="文本框 3"/>
          <p:cNvSpPr txBox="1"/>
          <p:nvPr/>
        </p:nvSpPr>
        <p:spPr>
          <a:xfrm>
            <a:off x="2613660" y="2420620"/>
            <a:ext cx="8067040" cy="368300"/>
          </a:xfrm>
          <a:prstGeom prst="rect">
            <a:avLst/>
          </a:prstGeom>
          <a:noFill/>
        </p:spPr>
        <p:txBody>
          <a:bodyPr wrap="square" rtlCol="0">
            <a:spAutoFit/>
          </a:bodyPr>
          <a:p>
            <a:r>
              <a:rPr>
                <a:solidFill>
                  <a:schemeClr val="accent1"/>
                </a:solidFill>
                <a:effectLst>
                  <a:outerShdw blurRad="38100" dist="25400" dir="5400000" algn="ctr" rotWithShape="0">
                    <a:srgbClr val="6E747A">
                      <a:alpha val="43000"/>
                    </a:srgbClr>
                  </a:outerShdw>
                </a:effectLst>
                <a:sym typeface="+mn-ea"/>
              </a:rPr>
              <a:t>增广路径</a:t>
            </a:r>
            <a:r>
              <a:rPr lang="en-US">
                <a:sym typeface="+mn-ea"/>
              </a:rPr>
              <a:t>   ==&gt;   </a:t>
            </a:r>
            <a:r>
              <a:rPr>
                <a:sym typeface="+mn-ea"/>
              </a:rPr>
              <a:t>从源点到汇点的路径，</a:t>
            </a:r>
            <a:r>
              <a:rPr lang="zh-CN">
                <a:sym typeface="+mn-ea"/>
              </a:rPr>
              <a:t>路径上</a:t>
            </a:r>
            <a:r>
              <a:rPr>
                <a:sym typeface="+mn-ea"/>
              </a:rPr>
              <a:t>的边的</a:t>
            </a:r>
            <a:r>
              <a:rPr b="1">
                <a:sym typeface="+mn-ea"/>
              </a:rPr>
              <a:t>剩余容量</a:t>
            </a:r>
            <a:r>
              <a:rPr lang="zh-CN" b="1">
                <a:sym typeface="+mn-ea"/>
              </a:rPr>
              <a:t>都</a:t>
            </a:r>
            <a:r>
              <a:rPr b="1">
                <a:sym typeface="+mn-ea"/>
              </a:rPr>
              <a:t>大于零</a:t>
            </a:r>
            <a:endParaRPr lang="zh-CN" altLang="en-US" b="1">
              <a:sym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a:solidFill>
                  <a:schemeClr val="accent1"/>
                </a:solidFill>
                <a:highlight>
                  <a:srgbClr val="FFFFFF">
                    <a:alpha val="0"/>
                  </a:srgbClr>
                </a:highlight>
                <a:latin typeface="微软雅黑" panose="020B0503020204020204" charset="-122"/>
                <a:sym typeface="+mn-ea"/>
              </a:rPr>
              <a:t>Ford-Fulkerson（FF算法）</a:t>
            </a:r>
            <a:endParaRPr lang="zh-CN" sz="3000" b="1" i="0">
              <a:solidFill>
                <a:schemeClr val="accent1"/>
              </a:solidFill>
              <a:highlight>
                <a:srgbClr val="FFFFFF">
                  <a:alpha val="0"/>
                </a:srgbClr>
              </a:highlight>
              <a:latin typeface="微软雅黑" panose="020B0503020204020204" charset="-122"/>
            </a:endParaRPr>
          </a:p>
        </p:txBody>
      </p:sp>
      <p:pic>
        <p:nvPicPr>
          <p:cNvPr id="4" name="图片 -2147482614" descr="增广路径寻找过程"/>
          <p:cNvPicPr>
            <a:picLocks noChangeAspect="1"/>
          </p:cNvPicPr>
          <p:nvPr/>
        </p:nvPicPr>
        <p:blipFill>
          <a:blip r:embed="rId3"/>
          <a:srcRect t="992" r="2884" b="703"/>
          <a:stretch>
            <a:fillRect/>
          </a:stretch>
        </p:blipFill>
        <p:spPr>
          <a:xfrm>
            <a:off x="1989455" y="970915"/>
            <a:ext cx="2905125" cy="5158740"/>
          </a:xfrm>
          <a:prstGeom prst="rect">
            <a:avLst/>
          </a:prstGeom>
          <a:noFill/>
          <a:ln w="9525">
            <a:noFill/>
          </a:ln>
        </p:spPr>
      </p:pic>
      <p:pic>
        <p:nvPicPr>
          <p:cNvPr id="7" name="图片 6"/>
          <p:cNvPicPr>
            <a:picLocks noChangeAspect="1"/>
          </p:cNvPicPr>
          <p:nvPr/>
        </p:nvPicPr>
        <p:blipFill>
          <a:blip r:embed="rId4"/>
          <a:stretch>
            <a:fillRect/>
          </a:stretch>
        </p:blipFill>
        <p:spPr>
          <a:xfrm>
            <a:off x="6018530" y="980440"/>
            <a:ext cx="4869815" cy="3107690"/>
          </a:xfrm>
          <a:prstGeom prst="rect">
            <a:avLst/>
          </a:prstGeom>
        </p:spPr>
      </p:pic>
      <p:sp>
        <p:nvSpPr>
          <p:cNvPr id="13" name="文本框 12"/>
          <p:cNvSpPr txBox="1"/>
          <p:nvPr/>
        </p:nvSpPr>
        <p:spPr>
          <a:xfrm>
            <a:off x="6167755" y="4625340"/>
            <a:ext cx="5119370" cy="1024890"/>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时间复杂度：</a:t>
            </a:r>
            <a:r>
              <a:rPr lang="zh-CN" altLang="en-US">
                <a:solidFill>
                  <a:schemeClr val="tx1"/>
                </a:solidFill>
                <a:effectLst/>
              </a:rPr>
              <a:t>（</a:t>
            </a:r>
            <a:r>
              <a:rPr lang="en-US" altLang="zh-CN">
                <a:solidFill>
                  <a:schemeClr val="tx1"/>
                </a:solidFill>
                <a:effectLst/>
              </a:rPr>
              <a:t>f</a:t>
            </a:r>
            <a:r>
              <a:rPr lang="zh-CN" altLang="en-US">
                <a:solidFill>
                  <a:schemeClr val="tx1"/>
                </a:solidFill>
                <a:effectLst/>
              </a:rPr>
              <a:t>为最大流）</a:t>
            </a:r>
            <a:endParaRPr lang="zh-CN" altLang="en-US">
              <a:solidFill>
                <a:schemeClr val="accent1"/>
              </a:solidFill>
              <a:effectLst>
                <a:outerShdw blurRad="38100" dist="25400" dir="5400000" algn="ctr" rotWithShape="0">
                  <a:srgbClr val="6E747A">
                    <a:alpha val="43000"/>
                  </a:srgbClr>
                </a:outerShdw>
              </a:effectLst>
            </a:endParaRPr>
          </a:p>
          <a:p>
            <a:r>
              <a:rPr lang="zh-CN" altLang="en-US"/>
              <a:t>执行</a:t>
            </a:r>
            <a:r>
              <a:rPr lang="en-US" altLang="zh-CN"/>
              <a:t> f </a:t>
            </a:r>
            <a:r>
              <a:rPr lang="zh-CN" altLang="en-US"/>
              <a:t>次</a:t>
            </a:r>
            <a:r>
              <a:rPr lang="en-US" altLang="zh-CN"/>
              <a:t>DFS    ——   O</a:t>
            </a:r>
            <a:r>
              <a:rPr lang="zh-CN" altLang="en-US"/>
              <a:t>（</a:t>
            </a:r>
            <a:r>
              <a:rPr lang="en-US" altLang="zh-CN"/>
              <a:t>f</a:t>
            </a:r>
            <a:r>
              <a:rPr lang="zh-CN" altLang="en-US"/>
              <a:t>）</a:t>
            </a:r>
            <a:endParaRPr lang="en-US" altLang="zh-CN"/>
          </a:p>
          <a:p>
            <a:r>
              <a:rPr lang="zh-CN" altLang="en-US"/>
              <a:t>每次</a:t>
            </a:r>
            <a:r>
              <a:rPr lang="en-US" altLang="zh-CN"/>
              <a:t>DFS</a:t>
            </a:r>
            <a:r>
              <a:rPr lang="zh-CN" altLang="en-US"/>
              <a:t>耗时</a:t>
            </a:r>
            <a:r>
              <a:rPr lang="en-US" altLang="zh-CN"/>
              <a:t>   ——   O</a:t>
            </a:r>
            <a:r>
              <a:rPr lang="zh-CN" altLang="en-US"/>
              <a:t>（</a:t>
            </a:r>
            <a:r>
              <a:rPr lang="en-US" altLang="zh-CN"/>
              <a:t>e</a:t>
            </a:r>
            <a:r>
              <a:rPr lang="zh-CN" altLang="en-US"/>
              <a:t>）</a:t>
            </a:r>
            <a:endParaRPr lang="zh-CN" altLang="en-US"/>
          </a:p>
        </p:txBody>
      </p:sp>
      <p:sp>
        <p:nvSpPr>
          <p:cNvPr id="14" name="右大括号 13"/>
          <p:cNvSpPr/>
          <p:nvPr/>
        </p:nvSpPr>
        <p:spPr>
          <a:xfrm>
            <a:off x="8903970" y="5085080"/>
            <a:ext cx="287655" cy="504190"/>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文本框 17"/>
          <p:cNvSpPr txBox="1"/>
          <p:nvPr/>
        </p:nvSpPr>
        <p:spPr>
          <a:xfrm>
            <a:off x="9335770" y="5156835"/>
            <a:ext cx="1182370" cy="368300"/>
          </a:xfrm>
          <a:prstGeom prst="rect">
            <a:avLst/>
          </a:prstGeom>
          <a:noFill/>
        </p:spPr>
        <p:txBody>
          <a:bodyPr wrap="square" rtlCol="0">
            <a:spAutoFit/>
          </a:bodyPr>
          <a:p>
            <a:r>
              <a:rPr lang="en-US" altLang="zh-CN">
                <a:solidFill>
                  <a:schemeClr val="accent1"/>
                </a:solidFill>
                <a:effectLst>
                  <a:outerShdw blurRad="38100" dist="25400" dir="5400000" algn="ctr" rotWithShape="0">
                    <a:srgbClr val="6E747A">
                      <a:alpha val="43000"/>
                    </a:srgbClr>
                  </a:outerShdw>
                </a:effectLst>
              </a:rPr>
              <a:t>O</a:t>
            </a:r>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f</a:t>
            </a:r>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e</a:t>
            </a:r>
            <a:r>
              <a:rPr lang="zh-CN" altLang="en-US">
                <a:solidFill>
                  <a:schemeClr val="accent1"/>
                </a:solidFill>
                <a:effectLst>
                  <a:outerShdw blurRad="38100" dist="25400" dir="5400000" algn="ctr" rotWithShape="0">
                    <a:srgbClr val="6E747A">
                      <a:alpha val="43000"/>
                    </a:srgbClr>
                  </a:outerShdw>
                </a:effectLst>
              </a:rPr>
              <a:t>）</a:t>
            </a:r>
            <a:endParaRPr lang="zh-CN" altLang="en-US">
              <a:solidFill>
                <a:schemeClr val="accent1"/>
              </a:solidFill>
              <a:effectLst>
                <a:outerShdw blurRad="38100" dist="25400" dir="5400000" algn="ctr" rotWithShape="0">
                  <a:srgbClr val="6E747A">
                    <a:alpha val="43000"/>
                  </a:srgbClr>
                </a:outerShdw>
              </a:effectLst>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Edmond-Karp（EK算法）</a:t>
            </a:r>
            <a:endParaRPr lang="zh-CN"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775460" y="1339850"/>
            <a:ext cx="8905240" cy="1050290"/>
          </a:xfrm>
          <a:prstGeom prst="rect">
            <a:avLst/>
          </a:prstGeom>
          <a:noFill/>
        </p:spPr>
        <p:txBody>
          <a:bodyPr wrap="square" rtlCol="0">
            <a:spAutoFit/>
          </a:bodyPr>
          <a:p>
            <a:pPr>
              <a:lnSpc>
                <a:spcPct val="100000"/>
              </a:lnSpc>
              <a:spcBef>
                <a:spcPts val="0"/>
              </a:spcBef>
              <a:spcAft>
                <a:spcPts val="1000"/>
              </a:spcAft>
            </a:pPr>
            <a:r>
              <a:rPr lang="zh-CN" altLang="en-US">
                <a:solidFill>
                  <a:schemeClr val="accent1"/>
                </a:solidFill>
                <a:effectLst>
                  <a:outerShdw blurRad="38100" dist="25400" dir="5400000" algn="ctr" rotWithShape="0">
                    <a:srgbClr val="6E747A">
                      <a:alpha val="43000"/>
                    </a:srgbClr>
                  </a:outerShdw>
                </a:effectLst>
              </a:rPr>
              <a:t>算法思想：</a:t>
            </a:r>
            <a:endParaRPr lang="zh-CN" altLang="en-US">
              <a:solidFill>
                <a:schemeClr val="accent1"/>
              </a:solidFill>
              <a:effectLst>
                <a:outerShdw blurRad="38100" dist="25400" dir="5400000" algn="ctr" rotWithShape="0">
                  <a:srgbClr val="6E747A">
                    <a:alpha val="43000"/>
                  </a:srgbClr>
                </a:outerShdw>
              </a:effectLst>
            </a:endParaRPr>
          </a:p>
          <a:p>
            <a:pPr indent="457200"/>
            <a:r>
              <a:t>使用广度优先搜索（BFS）来选择增广路径，从而保证每次找到的增广路径是最短路径，这样可以更快地收敛到最大流。</a:t>
            </a:r>
          </a:p>
        </p:txBody>
      </p:sp>
      <p:sp>
        <p:nvSpPr>
          <p:cNvPr id="17" name="文本框 16"/>
          <p:cNvSpPr txBox="1"/>
          <p:nvPr/>
        </p:nvSpPr>
        <p:spPr>
          <a:xfrm>
            <a:off x="4033520" y="2637155"/>
            <a:ext cx="4388485" cy="368300"/>
          </a:xfrm>
          <a:prstGeom prst="rect">
            <a:avLst/>
          </a:prstGeom>
          <a:noFill/>
        </p:spPr>
        <p:txBody>
          <a:bodyPr wrap="square" rtlCol="0">
            <a:spAutoFit/>
          </a:bodyPr>
          <a:p>
            <a:r>
              <a:rPr lang="zh-CN" b="1">
                <a:solidFill>
                  <a:schemeClr val="accent1"/>
                </a:solidFill>
                <a:highlight>
                  <a:srgbClr val="FFFFFF">
                    <a:alpha val="0"/>
                  </a:srgbClr>
                </a:highlight>
                <a:latin typeface="微软雅黑" panose="020B0503020204020204" charset="-122"/>
                <a:sym typeface="+mn-ea"/>
              </a:rPr>
              <a:t>Ford-Fulkerson</a:t>
            </a:r>
            <a:r>
              <a:rPr lang="en-US" altLang="zh-CN" b="1">
                <a:solidFill>
                  <a:schemeClr val="accent1"/>
                </a:solidFill>
                <a:highlight>
                  <a:srgbClr val="FFFFFF">
                    <a:alpha val="0"/>
                  </a:srgbClr>
                </a:highlight>
                <a:latin typeface="微软雅黑" panose="020B0503020204020204" charset="-122"/>
                <a:sym typeface="+mn-ea"/>
              </a:rPr>
              <a:t>  VS  </a:t>
            </a:r>
            <a:r>
              <a:rPr lang="zh-CN" b="1">
                <a:solidFill>
                  <a:schemeClr val="accent1"/>
                </a:solidFill>
                <a:highlight>
                  <a:srgbClr val="FFFFFF">
                    <a:alpha val="0"/>
                  </a:srgbClr>
                </a:highlight>
                <a:latin typeface="微软雅黑" panose="020B0503020204020204" charset="-122"/>
                <a:sym typeface="+mn-ea"/>
              </a:rPr>
              <a:t>Edmond-Karp</a:t>
            </a:r>
            <a:endParaRPr lang="en-US" altLang="zh-CN" b="1">
              <a:solidFill>
                <a:schemeClr val="accent1"/>
              </a:solidFill>
              <a:highlight>
                <a:srgbClr val="FFFFFF">
                  <a:alpha val="0"/>
                </a:srgbClr>
              </a:highlight>
              <a:latin typeface="微软雅黑" panose="020B0503020204020204" charset="-122"/>
              <a:sym typeface="+mn-ea"/>
            </a:endParaRPr>
          </a:p>
        </p:txBody>
      </p:sp>
      <p:pic>
        <p:nvPicPr>
          <p:cNvPr id="4" name="图片 -2147482610"/>
          <p:cNvPicPr>
            <a:picLocks noChangeAspect="1"/>
          </p:cNvPicPr>
          <p:nvPr/>
        </p:nvPicPr>
        <p:blipFill>
          <a:blip r:embed="rId3"/>
          <a:stretch>
            <a:fillRect/>
          </a:stretch>
        </p:blipFill>
        <p:spPr>
          <a:xfrm>
            <a:off x="1847850" y="3539490"/>
            <a:ext cx="3544570" cy="2160270"/>
          </a:xfrm>
          <a:prstGeom prst="rect">
            <a:avLst/>
          </a:prstGeom>
          <a:noFill/>
          <a:ln w="9525">
            <a:noFill/>
          </a:ln>
        </p:spPr>
      </p:pic>
      <p:pic>
        <p:nvPicPr>
          <p:cNvPr id="6" name="图片 -2147482609"/>
          <p:cNvPicPr>
            <a:picLocks noChangeAspect="1"/>
          </p:cNvPicPr>
          <p:nvPr/>
        </p:nvPicPr>
        <p:blipFill>
          <a:blip r:embed="rId4"/>
          <a:stretch>
            <a:fillRect/>
          </a:stretch>
        </p:blipFill>
        <p:spPr>
          <a:xfrm>
            <a:off x="6095683" y="4079558"/>
            <a:ext cx="4266565" cy="1080135"/>
          </a:xfrm>
          <a:prstGeom prst="rect">
            <a:avLst/>
          </a:prstGeom>
          <a:noFill/>
          <a:ln w="9525">
            <a:noFill/>
          </a:ln>
        </p:spPr>
      </p:pic>
      <p:sp>
        <p:nvSpPr>
          <p:cNvPr id="20" name="文本框 19"/>
          <p:cNvSpPr txBox="1"/>
          <p:nvPr/>
        </p:nvSpPr>
        <p:spPr>
          <a:xfrm>
            <a:off x="2639695" y="5805170"/>
            <a:ext cx="1603375" cy="368300"/>
          </a:xfrm>
          <a:prstGeom prst="rect">
            <a:avLst/>
          </a:prstGeom>
          <a:noFill/>
        </p:spPr>
        <p:txBody>
          <a:bodyPr wrap="square" rtlCol="0">
            <a:spAutoFit/>
          </a:bodyPr>
          <a:p>
            <a:r>
              <a:rPr lang="zh-CN" altLang="en-US"/>
              <a:t>增广两百万次</a:t>
            </a:r>
            <a:endParaRPr lang="zh-CN" altLang="en-US"/>
          </a:p>
        </p:txBody>
      </p:sp>
      <p:sp>
        <p:nvSpPr>
          <p:cNvPr id="21" name="文本框 20"/>
          <p:cNvSpPr txBox="1"/>
          <p:nvPr/>
        </p:nvSpPr>
        <p:spPr>
          <a:xfrm>
            <a:off x="7608570" y="5229225"/>
            <a:ext cx="1236980" cy="368300"/>
          </a:xfrm>
          <a:prstGeom prst="rect">
            <a:avLst/>
          </a:prstGeom>
          <a:noFill/>
        </p:spPr>
        <p:txBody>
          <a:bodyPr wrap="square" rtlCol="0">
            <a:spAutoFit/>
          </a:bodyPr>
          <a:p>
            <a:r>
              <a:rPr lang="zh-CN" altLang="en-US"/>
              <a:t>增广</a:t>
            </a:r>
            <a:r>
              <a:rPr lang="zh-CN" altLang="en-US"/>
              <a:t>两次</a:t>
            </a:r>
            <a:endParaRPr lang="zh-CN" altLang="en-US"/>
          </a:p>
        </p:txBody>
      </p:sp>
      <p:cxnSp>
        <p:nvCxnSpPr>
          <p:cNvPr id="22" name="直接箭头连接符 21"/>
          <p:cNvCxnSpPr/>
          <p:nvPr/>
        </p:nvCxnSpPr>
        <p:spPr>
          <a:xfrm flipH="1">
            <a:off x="3935730" y="2960370"/>
            <a:ext cx="766445" cy="4686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3" name="直接箭头连接符 22"/>
          <p:cNvCxnSpPr/>
          <p:nvPr/>
        </p:nvCxnSpPr>
        <p:spPr>
          <a:xfrm>
            <a:off x="7122795" y="2960370"/>
            <a:ext cx="701675" cy="9728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a:solidFill>
                  <a:schemeClr val="accent1"/>
                </a:solidFill>
                <a:highlight>
                  <a:srgbClr val="FFFFFF">
                    <a:alpha val="0"/>
                  </a:srgbClr>
                </a:highlight>
                <a:latin typeface="微软雅黑" panose="020B0503020204020204" charset="-122"/>
                <a:sym typeface="+mn-ea"/>
              </a:rPr>
              <a:t>Edmond-Karp（EK算法）</a:t>
            </a:r>
            <a:endParaRPr lang="en-US" altLang="zh-CN" sz="3000" b="1" i="0">
              <a:solidFill>
                <a:schemeClr val="accent1"/>
              </a:solidFill>
              <a:highlight>
                <a:srgbClr val="FFFFFF">
                  <a:alpha val="0"/>
                </a:srgbClr>
              </a:highlight>
              <a:latin typeface="微软雅黑" panose="020B0503020204020204" charset="-122"/>
            </a:endParaRPr>
          </a:p>
        </p:txBody>
      </p:sp>
      <p:pic>
        <p:nvPicPr>
          <p:cNvPr id="9" name="图片 8"/>
          <p:cNvPicPr>
            <a:picLocks noChangeAspect="1"/>
          </p:cNvPicPr>
          <p:nvPr/>
        </p:nvPicPr>
        <p:blipFill>
          <a:blip r:embed="rId3"/>
          <a:stretch>
            <a:fillRect/>
          </a:stretch>
        </p:blipFill>
        <p:spPr>
          <a:xfrm>
            <a:off x="1055370" y="1576070"/>
            <a:ext cx="5516880" cy="3994150"/>
          </a:xfrm>
          <a:prstGeom prst="rect">
            <a:avLst/>
          </a:prstGeom>
        </p:spPr>
      </p:pic>
      <p:pic>
        <p:nvPicPr>
          <p:cNvPr id="10" name="图片 -2147482608"/>
          <p:cNvPicPr>
            <a:picLocks noChangeAspect="1"/>
          </p:cNvPicPr>
          <p:nvPr/>
        </p:nvPicPr>
        <p:blipFill>
          <a:blip r:embed="rId4"/>
          <a:stretch>
            <a:fillRect/>
          </a:stretch>
        </p:blipFill>
        <p:spPr>
          <a:xfrm>
            <a:off x="7248208" y="3429000"/>
            <a:ext cx="4158615" cy="288290"/>
          </a:xfrm>
          <a:prstGeom prst="rect">
            <a:avLst/>
          </a:prstGeom>
          <a:noFill/>
          <a:ln w="9525">
            <a:noFill/>
          </a:ln>
        </p:spPr>
      </p:pic>
      <p:sp>
        <p:nvSpPr>
          <p:cNvPr id="11" name="文本框 10"/>
          <p:cNvSpPr txBox="1"/>
          <p:nvPr/>
        </p:nvSpPr>
        <p:spPr>
          <a:xfrm>
            <a:off x="6960870" y="1557020"/>
            <a:ext cx="192151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变动的数据结构</a:t>
            </a:r>
            <a:endParaRPr lang="zh-CN" altLang="en-US">
              <a:solidFill>
                <a:schemeClr val="accent1"/>
              </a:solidFill>
              <a:effectLst>
                <a:outerShdw blurRad="38100" dist="25400" dir="5400000" algn="ctr" rotWithShape="0">
                  <a:srgbClr val="6E747A">
                    <a:alpha val="43000"/>
                  </a:srgbClr>
                </a:outerShdw>
              </a:effectLst>
            </a:endParaRPr>
          </a:p>
        </p:txBody>
      </p:sp>
      <p:sp>
        <p:nvSpPr>
          <p:cNvPr id="12" name="文本框 11"/>
          <p:cNvSpPr txBox="1"/>
          <p:nvPr/>
        </p:nvSpPr>
        <p:spPr>
          <a:xfrm>
            <a:off x="7165975" y="1988820"/>
            <a:ext cx="2978150" cy="922020"/>
          </a:xfrm>
          <a:prstGeom prst="rect">
            <a:avLst/>
          </a:prstGeom>
          <a:noFill/>
        </p:spPr>
        <p:txBody>
          <a:bodyPr wrap="square" rtlCol="0">
            <a:spAutoFit/>
          </a:bodyPr>
          <a:p>
            <a:pPr>
              <a:lnSpc>
                <a:spcPct val="150000"/>
              </a:lnSpc>
            </a:pPr>
            <a:r>
              <a:rPr lang="zh-CN" altLang="en-US"/>
              <a:t>（</a:t>
            </a:r>
            <a:r>
              <a:rPr lang="en-US" altLang="zh-CN"/>
              <a:t>1</a:t>
            </a:r>
            <a:r>
              <a:rPr lang="zh-CN" altLang="en-US"/>
              <a:t>）栈</a:t>
            </a:r>
            <a:r>
              <a:rPr lang="en-US" altLang="zh-CN"/>
              <a:t>	     ==&gt;	</a:t>
            </a:r>
            <a:r>
              <a:rPr lang="zh-CN" altLang="en-US"/>
              <a:t>队列</a:t>
            </a:r>
            <a:endParaRPr lang="zh-CN" altLang="en-US"/>
          </a:p>
          <a:p>
            <a:pPr>
              <a:lnSpc>
                <a:spcPct val="150000"/>
              </a:lnSpc>
            </a:pPr>
            <a:r>
              <a:rPr lang="zh-CN" altLang="en-US"/>
              <a:t>（</a:t>
            </a:r>
            <a:r>
              <a:rPr lang="en-US" altLang="zh-CN"/>
              <a:t>2</a:t>
            </a:r>
            <a:r>
              <a:rPr lang="zh-CN" altLang="en-US"/>
              <a:t>）</a:t>
            </a:r>
            <a:endParaRPr lang="zh-CN" altLang="en-US"/>
          </a:p>
        </p:txBody>
      </p:sp>
      <p:pic>
        <p:nvPicPr>
          <p:cNvPr id="14" name="图片 13"/>
          <p:cNvPicPr>
            <a:picLocks noChangeAspect="1"/>
          </p:cNvPicPr>
          <p:nvPr/>
        </p:nvPicPr>
        <p:blipFill>
          <a:blip r:embed="rId5"/>
          <a:stretch>
            <a:fillRect/>
          </a:stretch>
        </p:blipFill>
        <p:spPr>
          <a:xfrm>
            <a:off x="7832725" y="2565400"/>
            <a:ext cx="2990850" cy="266700"/>
          </a:xfrm>
          <a:prstGeom prst="rect">
            <a:avLst/>
          </a:prstGeom>
        </p:spPr>
      </p:pic>
      <p:sp>
        <p:nvSpPr>
          <p:cNvPr id="15" name="下箭头 14"/>
          <p:cNvSpPr/>
          <p:nvPr/>
        </p:nvSpPr>
        <p:spPr>
          <a:xfrm>
            <a:off x="9048750" y="2925445"/>
            <a:ext cx="215900" cy="43180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6960870" y="4291965"/>
            <a:ext cx="3929380" cy="1024890"/>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时间复杂度：</a:t>
            </a:r>
            <a:endParaRPr lang="zh-CN" altLang="en-US">
              <a:solidFill>
                <a:schemeClr val="accent1"/>
              </a:solidFill>
              <a:effectLst>
                <a:outerShdw blurRad="38100" dist="25400" dir="5400000" algn="ctr" rotWithShape="0">
                  <a:srgbClr val="6E747A">
                    <a:alpha val="43000"/>
                  </a:srgbClr>
                </a:outerShdw>
              </a:effectLst>
            </a:endParaRPr>
          </a:p>
          <a:p>
            <a:r>
              <a:rPr lang="zh-CN" altLang="en-US"/>
              <a:t>执行</a:t>
            </a:r>
            <a:r>
              <a:rPr lang="en-US" altLang="zh-CN"/>
              <a:t> v</a:t>
            </a:r>
            <a:r>
              <a:rPr lang="zh-CN" altLang="en-US"/>
              <a:t>×</a:t>
            </a:r>
            <a:r>
              <a:rPr lang="en-US" altLang="zh-CN"/>
              <a:t>e</a:t>
            </a:r>
            <a:r>
              <a:rPr lang="zh-CN" altLang="en-US"/>
              <a:t>次</a:t>
            </a:r>
            <a:r>
              <a:rPr lang="en-US" altLang="zh-CN"/>
              <a:t>BFS    ——   O</a:t>
            </a:r>
            <a:r>
              <a:rPr lang="zh-CN" altLang="en-US"/>
              <a:t>（</a:t>
            </a:r>
            <a:r>
              <a:rPr lang="en-US" altLang="zh-CN"/>
              <a:t>v e</a:t>
            </a:r>
            <a:r>
              <a:rPr lang="zh-CN" altLang="en-US"/>
              <a:t>）</a:t>
            </a:r>
            <a:endParaRPr lang="en-US" altLang="zh-CN"/>
          </a:p>
          <a:p>
            <a:r>
              <a:rPr lang="zh-CN" altLang="en-US"/>
              <a:t>每次</a:t>
            </a:r>
            <a:r>
              <a:rPr lang="en-US" altLang="zh-CN"/>
              <a:t>BFS</a:t>
            </a:r>
            <a:r>
              <a:rPr lang="zh-CN" altLang="en-US"/>
              <a:t>耗时</a:t>
            </a:r>
            <a:r>
              <a:rPr lang="en-US" altLang="zh-CN"/>
              <a:t>   ——   O</a:t>
            </a:r>
            <a:r>
              <a:rPr lang="zh-CN" altLang="en-US"/>
              <a:t>（</a:t>
            </a:r>
            <a:r>
              <a:rPr lang="en-US" altLang="zh-CN"/>
              <a:t>e</a:t>
            </a:r>
            <a:r>
              <a:rPr lang="zh-CN" altLang="en-US"/>
              <a:t>）</a:t>
            </a:r>
            <a:endParaRPr lang="zh-CN" altLang="en-US"/>
          </a:p>
        </p:txBody>
      </p:sp>
      <p:sp>
        <p:nvSpPr>
          <p:cNvPr id="17" name="右大括号 16"/>
          <p:cNvSpPr/>
          <p:nvPr/>
        </p:nvSpPr>
        <p:spPr>
          <a:xfrm>
            <a:off x="10056495" y="4652010"/>
            <a:ext cx="215900" cy="576580"/>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文本框 17"/>
          <p:cNvSpPr txBox="1"/>
          <p:nvPr/>
        </p:nvSpPr>
        <p:spPr>
          <a:xfrm>
            <a:off x="10352405" y="4725670"/>
            <a:ext cx="1273175" cy="368300"/>
          </a:xfrm>
          <a:prstGeom prst="rect">
            <a:avLst/>
          </a:prstGeom>
          <a:noFill/>
        </p:spPr>
        <p:txBody>
          <a:bodyPr wrap="square" rtlCol="0">
            <a:spAutoFit/>
            <a:scene3d>
              <a:camera prst="orthographicFront"/>
              <a:lightRig rig="threePt" dir="t"/>
            </a:scene3d>
          </a:bodyPr>
          <a:p>
            <a:r>
              <a:rPr lang="en-US" altLang="zh-CN">
                <a:solidFill>
                  <a:schemeClr val="accent1"/>
                </a:solidFill>
                <a:effectLst>
                  <a:outerShdw blurRad="38100" dist="25400" dir="5400000" algn="ctr" rotWithShape="0">
                    <a:srgbClr val="6E747A">
                      <a:alpha val="43000"/>
                    </a:srgbClr>
                  </a:outerShdw>
                </a:effectLst>
              </a:rPr>
              <a:t>O</a:t>
            </a:r>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v e</a:t>
            </a:r>
            <a:r>
              <a:rPr lang="en-US" altLang="zh-CN" baseline="30000">
                <a:solidFill>
                  <a:schemeClr val="accent1"/>
                </a:solidFill>
                <a:effectLst>
                  <a:outerShdw blurRad="38100" dist="25400" dir="5400000" algn="ctr" rotWithShape="0">
                    <a:srgbClr val="6E747A">
                      <a:alpha val="43000"/>
                    </a:srgbClr>
                  </a:outerShdw>
                </a:effectLst>
              </a:rPr>
              <a:t>2</a:t>
            </a:r>
            <a:r>
              <a:rPr lang="zh-CN" altLang="en-US">
                <a:solidFill>
                  <a:schemeClr val="accent1"/>
                </a:solidFill>
                <a:effectLst>
                  <a:outerShdw blurRad="38100" dist="25400" dir="5400000" algn="ctr" rotWithShape="0">
                    <a:srgbClr val="6E747A">
                      <a:alpha val="43000"/>
                    </a:srgbClr>
                  </a:outerShdw>
                </a:effectLst>
              </a:rPr>
              <a:t>）</a:t>
            </a:r>
            <a:endParaRPr lang="zh-CN" altLang="en-US">
              <a:solidFill>
                <a:schemeClr val="accent1"/>
              </a:solidFill>
              <a:effectLst>
                <a:outerShdw blurRad="38100" dist="25400" dir="5400000" algn="ctr" rotWithShape="0">
                  <a:srgbClr val="6E747A">
                    <a:alpha val="43000"/>
                  </a:srgbClr>
                </a:outerShdw>
              </a:effectLst>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Dinic算法</a:t>
            </a:r>
            <a:endParaRPr sz="3000" b="1" i="0">
              <a:solidFill>
                <a:schemeClr val="accent1"/>
              </a:solidFill>
              <a:highlight>
                <a:srgbClr val="FFFFFF">
                  <a:alpha val="0"/>
                </a:srgbClr>
              </a:highlight>
              <a:latin typeface="微软雅黑" panose="020B0503020204020204" charset="-122"/>
            </a:endParaRPr>
          </a:p>
        </p:txBody>
      </p:sp>
      <p:sp>
        <p:nvSpPr>
          <p:cNvPr id="9" name="文本框 8"/>
          <p:cNvSpPr txBox="1"/>
          <p:nvPr/>
        </p:nvSpPr>
        <p:spPr>
          <a:xfrm>
            <a:off x="1775460" y="1124585"/>
            <a:ext cx="8905240" cy="1327150"/>
          </a:xfrm>
          <a:prstGeom prst="rect">
            <a:avLst/>
          </a:prstGeom>
          <a:noFill/>
        </p:spPr>
        <p:txBody>
          <a:bodyPr wrap="square" rtlCol="0">
            <a:spAutoFit/>
          </a:bodyPr>
          <a:p>
            <a:pPr>
              <a:lnSpc>
                <a:spcPct val="100000"/>
              </a:lnSpc>
              <a:spcBef>
                <a:spcPts val="0"/>
              </a:spcBef>
              <a:spcAft>
                <a:spcPts val="1000"/>
              </a:spcAft>
            </a:pPr>
            <a:r>
              <a:rPr lang="zh-CN" altLang="en-US">
                <a:solidFill>
                  <a:schemeClr val="accent1"/>
                </a:solidFill>
                <a:effectLst>
                  <a:outerShdw blurRad="38100" dist="25400" dir="5400000" algn="ctr" rotWithShape="0">
                    <a:srgbClr val="6E747A">
                      <a:alpha val="43000"/>
                    </a:srgbClr>
                  </a:outerShdw>
                </a:effectLst>
              </a:rPr>
              <a:t>算法思想：</a:t>
            </a:r>
            <a:endParaRPr lang="zh-CN" altLang="en-US">
              <a:solidFill>
                <a:schemeClr val="accent1"/>
              </a:solidFill>
              <a:effectLst>
                <a:outerShdw blurRad="38100" dist="25400" dir="5400000" algn="ctr" rotWithShape="0">
                  <a:srgbClr val="6E747A">
                    <a:alpha val="43000"/>
                  </a:srgbClr>
                </a:outerShdw>
              </a:effectLst>
            </a:endParaRPr>
          </a:p>
          <a:p>
            <a:pPr indent="457200"/>
            <a:r>
              <a:t>基于增广路径的概念，并使用了一种称为</a:t>
            </a:r>
            <a:r>
              <a:rPr>
                <a:solidFill>
                  <a:schemeClr val="accent1"/>
                </a:solidFill>
                <a:effectLst>
                  <a:outerShdw blurRad="38100" dist="25400" dir="5400000" algn="ctr" rotWithShape="0">
                    <a:srgbClr val="6E747A">
                      <a:alpha val="43000"/>
                    </a:srgbClr>
                  </a:outerShdw>
                </a:effectLst>
              </a:rPr>
              <a:t>层次图</a:t>
            </a:r>
            <a:r>
              <a:t>的数据结构来加速查找增广路径的过程。</a:t>
            </a:r>
          </a:p>
          <a:p>
            <a:pPr indent="457200"/>
            <a:r>
              <a:t>每次增广前，先用 BFS 将图分层，再用DFS进行增广。</a:t>
            </a:r>
          </a:p>
        </p:txBody>
      </p:sp>
      <p:cxnSp>
        <p:nvCxnSpPr>
          <p:cNvPr id="11" name="直接箭头连接符 10"/>
          <p:cNvCxnSpPr/>
          <p:nvPr/>
        </p:nvCxnSpPr>
        <p:spPr>
          <a:xfrm>
            <a:off x="4956810" y="2357755"/>
            <a:ext cx="347345" cy="2076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4152265" y="2591435"/>
            <a:ext cx="2808605" cy="306705"/>
          </a:xfrm>
          <a:prstGeom prst="rect">
            <a:avLst/>
          </a:prstGeom>
          <a:noFill/>
        </p:spPr>
        <p:txBody>
          <a:bodyPr wrap="square" rtlCol="0">
            <a:spAutoFit/>
          </a:bodyPr>
          <a:p>
            <a:r>
              <a:rPr lang="zh-CN" altLang="en-US" sz="1400">
                <a:solidFill>
                  <a:schemeClr val="accent1"/>
                </a:solidFill>
                <a:effectLst>
                  <a:outerShdw blurRad="38100" dist="25400" dir="5400000" algn="ctr" rotWithShape="0">
                    <a:srgbClr val="6E747A">
                      <a:alpha val="43000"/>
                    </a:srgbClr>
                  </a:outerShdw>
                </a:effectLst>
              </a:rPr>
              <a:t>确保找到是增广路径是最短路径</a:t>
            </a:r>
            <a:endParaRPr lang="zh-CN" altLang="en-US" sz="1400">
              <a:solidFill>
                <a:schemeClr val="accent1"/>
              </a:solidFill>
              <a:effectLst>
                <a:outerShdw blurRad="38100" dist="25400" dir="5400000" algn="ctr" rotWithShape="0">
                  <a:srgbClr val="6E747A">
                    <a:alpha val="43000"/>
                  </a:srgbClr>
                </a:outerShdw>
              </a:effectLst>
            </a:endParaRPr>
          </a:p>
        </p:txBody>
      </p:sp>
      <p:pic>
        <p:nvPicPr>
          <p:cNvPr id="4" name="图片 -2147482602"/>
          <p:cNvPicPr>
            <a:picLocks noChangeAspect="1"/>
          </p:cNvPicPr>
          <p:nvPr/>
        </p:nvPicPr>
        <p:blipFill>
          <a:blip r:embed="rId3"/>
          <a:stretch>
            <a:fillRect/>
          </a:stretch>
        </p:blipFill>
        <p:spPr>
          <a:xfrm>
            <a:off x="1703705" y="3324860"/>
            <a:ext cx="3035300" cy="2819400"/>
          </a:xfrm>
          <a:prstGeom prst="rect">
            <a:avLst/>
          </a:prstGeom>
          <a:noFill/>
          <a:ln w="9525">
            <a:noFill/>
          </a:ln>
        </p:spPr>
      </p:pic>
      <p:sp>
        <p:nvSpPr>
          <p:cNvPr id="14" name="文本框 13"/>
          <p:cNvSpPr txBox="1"/>
          <p:nvPr/>
        </p:nvSpPr>
        <p:spPr>
          <a:xfrm>
            <a:off x="5520055" y="3324860"/>
            <a:ext cx="5760085" cy="2686685"/>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实现步骤：</a:t>
            </a:r>
            <a:endParaRPr lang="zh-CN" altLang="en-US">
              <a:solidFill>
                <a:schemeClr val="accent1"/>
              </a:solidFill>
              <a:effectLst>
                <a:outerShdw blurRad="38100" dist="25400" dir="5400000" algn="ctr" rotWithShape="0">
                  <a:srgbClr val="6E747A">
                    <a:alpha val="43000"/>
                  </a:srgbClr>
                </a:outerShdw>
              </a:effectLst>
            </a:endParaRPr>
          </a:p>
          <a:p>
            <a:r>
              <a:rPr lang="zh-CN" altLang="en-US"/>
              <a:t>（1） 初始</a:t>
            </a:r>
            <a:r>
              <a:rPr lang="zh-CN" altLang="en-US"/>
              <a:t>化流量为0。</a:t>
            </a:r>
            <a:endParaRPr lang="zh-CN" altLang="en-US"/>
          </a:p>
          <a:p>
            <a:r>
              <a:rPr lang="zh-CN" altLang="en-US"/>
              <a:t>（2） 构建层次图，通过BFS确定每个节点的层级</a:t>
            </a:r>
            <a:endParaRPr lang="zh-CN" altLang="en-US"/>
          </a:p>
          <a:p>
            <a:r>
              <a:rPr lang="zh-CN" altLang="en-US"/>
              <a:t>（3） 当存在层次图中的增广路径时，执行以下步骤：</a:t>
            </a:r>
            <a:endParaRPr lang="zh-CN" altLang="en-US"/>
          </a:p>
          <a:p>
            <a:r>
              <a:rPr lang="zh-CN" altLang="en-US"/>
              <a:t>   </a:t>
            </a:r>
            <a:r>
              <a:rPr lang="en-US" altLang="zh-CN"/>
              <a:t> </a:t>
            </a:r>
            <a:r>
              <a:rPr lang="zh-CN" altLang="en-US"/>
              <a:t>a. 在层次图中使用DFS查找增广路径</a:t>
            </a:r>
            <a:endParaRPr lang="zh-CN" altLang="en-US"/>
          </a:p>
          <a:p>
            <a:r>
              <a:rPr lang="zh-CN" altLang="en-US"/>
              <a:t>   </a:t>
            </a:r>
            <a:r>
              <a:rPr lang="en-US" altLang="zh-CN"/>
              <a:t> </a:t>
            </a:r>
            <a:r>
              <a:rPr lang="zh-CN" altLang="en-US"/>
              <a:t>b. 如果找到增广路径，则确定路径上的最小残余容量</a:t>
            </a:r>
            <a:endParaRPr lang="zh-CN" altLang="en-US"/>
          </a:p>
          <a:p>
            <a:r>
              <a:rPr lang="zh-CN" altLang="en-US"/>
              <a:t>   </a:t>
            </a:r>
            <a:r>
              <a:rPr lang="en-US" altLang="zh-CN"/>
              <a:t> c</a:t>
            </a:r>
            <a:r>
              <a:rPr lang="zh-CN" altLang="en-US"/>
              <a:t>. 在增广路径上更新每条边的流量</a:t>
            </a:r>
            <a:endParaRPr lang="zh-CN" altLang="en-US"/>
          </a:p>
          <a:p>
            <a:r>
              <a:rPr lang="zh-CN" altLang="en-US"/>
              <a:t>   </a:t>
            </a:r>
            <a:r>
              <a:rPr lang="en-US" altLang="zh-CN"/>
              <a:t> d. </a:t>
            </a:r>
            <a:r>
              <a:rPr lang="zh-CN" altLang="en-US"/>
              <a:t>重复步骤</a:t>
            </a:r>
            <a:r>
              <a:rPr lang="en-US" altLang="zh-CN"/>
              <a:t>(</a:t>
            </a:r>
            <a:r>
              <a:rPr lang="zh-CN" altLang="en-US"/>
              <a:t>3</a:t>
            </a:r>
            <a:r>
              <a:rPr lang="en-US" altLang="zh-CN"/>
              <a:t>)</a:t>
            </a:r>
            <a:r>
              <a:rPr lang="zh-CN" altLang="en-US"/>
              <a:t>直到没有增广路径可以找到。</a:t>
            </a:r>
            <a:endParaRPr lang="zh-CN" altLang="en-US"/>
          </a:p>
          <a:p>
            <a:r>
              <a:rPr lang="zh-CN" altLang="en-US"/>
              <a:t>（4） 最终，流量的总和就是最大流。</a:t>
            </a:r>
            <a:endParaRPr lang="zh-CN"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a:solidFill>
                  <a:schemeClr val="accent1"/>
                </a:solidFill>
                <a:highlight>
                  <a:srgbClr val="FFFFFF">
                    <a:alpha val="0"/>
                  </a:srgbClr>
                </a:highlight>
                <a:latin typeface="微软雅黑" panose="020B0503020204020204" charset="-122"/>
                <a:sym typeface="+mn-ea"/>
              </a:rPr>
              <a:t>Dinic算法</a:t>
            </a:r>
            <a:endParaRPr lang="en-US" altLang="zh-CN" sz="3000" b="1" i="0">
              <a:solidFill>
                <a:schemeClr val="accent1"/>
              </a:solidFill>
              <a:highlight>
                <a:srgbClr val="FFFFFF">
                  <a:alpha val="0"/>
                </a:srgbClr>
              </a:highlight>
              <a:latin typeface="微软雅黑" panose="020B0503020204020204" charset="-122"/>
            </a:endParaRPr>
          </a:p>
        </p:txBody>
      </p:sp>
      <p:pic>
        <p:nvPicPr>
          <p:cNvPr id="4" name="图片 -2147482600"/>
          <p:cNvPicPr>
            <a:picLocks noChangeAspect="1"/>
          </p:cNvPicPr>
          <p:nvPr/>
        </p:nvPicPr>
        <p:blipFill>
          <a:blip r:embed="rId3"/>
          <a:stretch>
            <a:fillRect/>
          </a:stretch>
        </p:blipFill>
        <p:spPr>
          <a:xfrm>
            <a:off x="7464425" y="1700530"/>
            <a:ext cx="3754120" cy="396240"/>
          </a:xfrm>
          <a:prstGeom prst="rect">
            <a:avLst/>
          </a:prstGeom>
          <a:noFill/>
          <a:ln w="9525">
            <a:noFill/>
          </a:ln>
        </p:spPr>
      </p:pic>
      <p:pic>
        <p:nvPicPr>
          <p:cNvPr id="13" name="图片 12"/>
          <p:cNvPicPr>
            <a:picLocks noChangeAspect="1"/>
          </p:cNvPicPr>
          <p:nvPr/>
        </p:nvPicPr>
        <p:blipFill>
          <a:blip r:embed="rId4"/>
          <a:stretch>
            <a:fillRect/>
          </a:stretch>
        </p:blipFill>
        <p:spPr>
          <a:xfrm>
            <a:off x="1043940" y="1700530"/>
            <a:ext cx="5772785" cy="3676650"/>
          </a:xfrm>
          <a:prstGeom prst="rect">
            <a:avLst/>
          </a:prstGeom>
        </p:spPr>
      </p:pic>
      <p:sp>
        <p:nvSpPr>
          <p:cNvPr id="19" name="文本框 18"/>
          <p:cNvSpPr txBox="1"/>
          <p:nvPr/>
        </p:nvSpPr>
        <p:spPr>
          <a:xfrm>
            <a:off x="911860" y="1268730"/>
            <a:ext cx="4064000" cy="368300"/>
          </a:xfrm>
          <a:prstGeom prst="rect">
            <a:avLst/>
          </a:prstGeom>
          <a:noFill/>
        </p:spPr>
        <p:txBody>
          <a:bodyPr wrap="square" rtlCol="0">
            <a:spAutoFit/>
            <a:scene3d>
              <a:camera prst="orthographicFront"/>
              <a:lightRig rig="threePt" dir="t"/>
            </a:scene3d>
          </a:bodyPr>
          <a:p>
            <a:r>
              <a:rPr lang="zh-CN" altLang="en-US">
                <a:solidFill>
                  <a:schemeClr val="accent1"/>
                </a:solidFill>
                <a:effectLst>
                  <a:outerShdw blurRad="38100" dist="25400" dir="5400000" algn="ctr" rotWithShape="0">
                    <a:srgbClr val="6E747A">
                      <a:alpha val="43000"/>
                    </a:srgbClr>
                  </a:outerShdw>
                </a:effectLst>
              </a:rPr>
              <a:t>算法实现：</a:t>
            </a:r>
            <a:endParaRPr lang="zh-CN" altLang="en-US">
              <a:solidFill>
                <a:schemeClr val="accent1"/>
              </a:solidFill>
              <a:effectLst>
                <a:outerShdw blurRad="38100" dist="25400" dir="5400000" algn="ctr" rotWithShape="0">
                  <a:srgbClr val="6E747A">
                    <a:alpha val="43000"/>
                  </a:srgbClr>
                </a:outerShdw>
              </a:effectLst>
            </a:endParaRPr>
          </a:p>
        </p:txBody>
      </p:sp>
      <p:sp>
        <p:nvSpPr>
          <p:cNvPr id="20" name="文本框 19"/>
          <p:cNvSpPr txBox="1"/>
          <p:nvPr/>
        </p:nvSpPr>
        <p:spPr>
          <a:xfrm>
            <a:off x="7320280" y="1260475"/>
            <a:ext cx="406400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额外的数据结构：</a:t>
            </a:r>
            <a:endParaRPr lang="zh-CN" altLang="en-US">
              <a:solidFill>
                <a:schemeClr val="accent1"/>
              </a:solidFill>
              <a:effectLst>
                <a:outerShdw blurRad="38100" dist="25400" dir="5400000" algn="ctr" rotWithShape="0">
                  <a:srgbClr val="6E747A">
                    <a:alpha val="43000"/>
                  </a:srgbClr>
                </a:outerShdw>
              </a:effectLst>
            </a:endParaRPr>
          </a:p>
        </p:txBody>
      </p:sp>
      <p:sp>
        <p:nvSpPr>
          <p:cNvPr id="24" name="文本框 23"/>
          <p:cNvSpPr txBox="1"/>
          <p:nvPr/>
        </p:nvSpPr>
        <p:spPr>
          <a:xfrm>
            <a:off x="7392035" y="3067685"/>
            <a:ext cx="4064000" cy="2409825"/>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时间复杂度分析：</a:t>
            </a:r>
            <a:r>
              <a:rPr lang="zh-CN" altLang="en-US"/>
              <a:t> </a:t>
            </a:r>
            <a:endParaRPr lang="zh-CN" altLang="en-US"/>
          </a:p>
          <a:p>
            <a:r>
              <a:rPr lang="zh-CN" altLang="en-US"/>
              <a:t>①</a:t>
            </a:r>
            <a:r>
              <a:rPr lang="en-US" altLang="zh-CN"/>
              <a:t> </a:t>
            </a:r>
            <a:r>
              <a:rPr lang="zh-CN" altLang="en-US"/>
              <a:t>BFS 建立层网络</a:t>
            </a:r>
            <a:r>
              <a:rPr lang="en-US" altLang="zh-CN"/>
              <a:t>    ——   </a:t>
            </a:r>
            <a:r>
              <a:rPr lang="zh-CN" altLang="en-US"/>
              <a:t>O ( e )</a:t>
            </a:r>
            <a:endParaRPr lang="zh-CN" altLang="en-US"/>
          </a:p>
          <a:p>
            <a:r>
              <a:rPr lang="zh-CN" altLang="en-US"/>
              <a:t>②</a:t>
            </a:r>
            <a:r>
              <a:rPr lang="en-US" altLang="zh-CN"/>
              <a:t> </a:t>
            </a:r>
            <a:r>
              <a:rPr lang="zh-CN" altLang="en-US"/>
              <a:t>一轮 DFS 耗时</a:t>
            </a:r>
            <a:r>
              <a:rPr lang="en-US" altLang="zh-CN"/>
              <a:t>       ——   </a:t>
            </a:r>
            <a:r>
              <a:rPr lang="zh-CN" altLang="en-US"/>
              <a:t>O ( v e )</a:t>
            </a:r>
            <a:endParaRPr lang="zh-CN" altLang="en-US"/>
          </a:p>
          <a:p>
            <a:r>
              <a:rPr lang="zh-CN" altLang="en-US"/>
              <a:t>③</a:t>
            </a:r>
            <a:r>
              <a:rPr lang="en-US" altLang="zh-CN"/>
              <a:t> </a:t>
            </a:r>
            <a:r>
              <a:rPr lang="zh-CN" altLang="en-US"/>
              <a:t>BFS最多执行次数</a:t>
            </a:r>
            <a:r>
              <a:rPr lang="en-US" altLang="zh-CN"/>
              <a:t> ——   </a:t>
            </a:r>
            <a:r>
              <a:rPr lang="zh-CN" altLang="en-US"/>
              <a:t>O</a:t>
            </a:r>
            <a:r>
              <a:rPr lang="en-US" altLang="zh-CN"/>
              <a:t>( </a:t>
            </a:r>
            <a:r>
              <a:rPr lang="zh-CN" altLang="en-US"/>
              <a:t>v</a:t>
            </a:r>
            <a:r>
              <a:rPr lang="en-US" altLang="zh-CN"/>
              <a:t> )</a:t>
            </a:r>
            <a:endParaRPr lang="zh-CN" altLang="en-US"/>
          </a:p>
          <a:p>
            <a:endParaRPr lang="zh-CN" altLang="en-US"/>
          </a:p>
          <a:p>
            <a:endParaRPr lang="zh-CN" altLang="en-US"/>
          </a:p>
          <a:p>
            <a:endParaRPr lang="zh-CN" altLang="en-US"/>
          </a:p>
          <a:p>
            <a:r>
              <a:rPr lang="zh-CN" altLang="en-US"/>
              <a:t>O（v）×（ O( e ) + O ( v e ) ）= </a:t>
            </a:r>
            <a:r>
              <a:rPr lang="zh-CN" altLang="en-US">
                <a:solidFill>
                  <a:schemeClr val="accent1"/>
                </a:solidFill>
                <a:effectLst>
                  <a:outerShdw blurRad="38100" dist="25400" dir="5400000" algn="ctr" rotWithShape="0">
                    <a:srgbClr val="6E747A">
                      <a:alpha val="43000"/>
                    </a:srgbClr>
                  </a:outerShdw>
                </a:effectLst>
              </a:rPr>
              <a:t>O（v</a:t>
            </a:r>
            <a:r>
              <a:rPr lang="zh-CN" altLang="en-US" baseline="30000">
                <a:solidFill>
                  <a:schemeClr val="accent1"/>
                </a:solidFill>
                <a:effectLst>
                  <a:outerShdw blurRad="38100" dist="25400" dir="5400000" algn="ctr" rotWithShape="0">
                    <a:srgbClr val="6E747A">
                      <a:alpha val="43000"/>
                    </a:srgbClr>
                  </a:outerShdw>
                </a:effectLst>
              </a:rPr>
              <a:t>2</a:t>
            </a:r>
            <a:r>
              <a:rPr lang="zh-CN" altLang="en-US">
                <a:solidFill>
                  <a:schemeClr val="accent1"/>
                </a:solidFill>
                <a:effectLst>
                  <a:outerShdw blurRad="38100" dist="25400" dir="5400000" algn="ctr" rotWithShape="0">
                    <a:srgbClr val="6E747A">
                      <a:alpha val="43000"/>
                    </a:srgbClr>
                  </a:outerShdw>
                </a:effectLst>
              </a:rPr>
              <a:t> e）</a:t>
            </a:r>
            <a:endParaRPr lang="zh-CN" altLang="en-US">
              <a:solidFill>
                <a:schemeClr val="accent1"/>
              </a:solidFill>
              <a:effectLst>
                <a:outerShdw blurRad="38100" dist="25400" dir="5400000" algn="ctr" rotWithShape="0">
                  <a:srgbClr val="6E747A">
                    <a:alpha val="43000"/>
                  </a:srgbClr>
                </a:outerShdw>
              </a:effectLst>
            </a:endParaRPr>
          </a:p>
        </p:txBody>
      </p:sp>
      <p:sp>
        <p:nvSpPr>
          <p:cNvPr id="25" name="下箭头 24"/>
          <p:cNvSpPr/>
          <p:nvPr/>
        </p:nvSpPr>
        <p:spPr>
          <a:xfrm>
            <a:off x="8976360" y="4436745"/>
            <a:ext cx="360045" cy="71056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26960"/>
            <a:ext cx="577657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a:t>
            </a:r>
            <a:r>
              <a:rPr lang="en-US" sz="4800" b="1" i="0">
                <a:solidFill>
                  <a:srgbClr val="002B7F"/>
                </a:solidFill>
                <a:highlight>
                  <a:srgbClr val="FFFFFF">
                    <a:alpha val="0"/>
                  </a:srgbClr>
                </a:highlight>
                <a:latin typeface="微软雅黑" panose="020B0503020204020204" charset="-122"/>
              </a:rPr>
              <a:t>4</a:t>
            </a:r>
            <a:endParaRPr lang="en-US"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1119505" y="2487930"/>
            <a:ext cx="7853045"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预流推进</a:t>
            </a:r>
            <a:r>
              <a:rPr lang="zh-CN" sz="4800" b="1" i="0">
                <a:solidFill>
                  <a:srgbClr val="0055FF"/>
                </a:solidFill>
                <a:highlight>
                  <a:srgbClr val="FFFFFF">
                    <a:alpha val="0"/>
                  </a:srgbClr>
                </a:highlight>
                <a:latin typeface="微软雅黑" panose="020B0503020204020204" charset="-122"/>
              </a:rPr>
              <a:t>算法</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HLPP算法</a:t>
            </a:r>
            <a:endParaRPr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775460" y="981075"/>
            <a:ext cx="8905240" cy="773430"/>
          </a:xfrm>
          <a:prstGeom prst="rect">
            <a:avLst/>
          </a:prstGeom>
          <a:noFill/>
        </p:spPr>
        <p:txBody>
          <a:bodyPr wrap="square" rtlCol="0">
            <a:spAutoFit/>
          </a:bodyPr>
          <a:p>
            <a:pPr>
              <a:lnSpc>
                <a:spcPct val="100000"/>
              </a:lnSpc>
              <a:spcBef>
                <a:spcPts val="0"/>
              </a:spcBef>
              <a:spcAft>
                <a:spcPts val="1000"/>
              </a:spcAft>
            </a:pPr>
            <a:r>
              <a:rPr lang="zh-CN" altLang="en-US">
                <a:solidFill>
                  <a:schemeClr val="accent1"/>
                </a:solidFill>
                <a:effectLst>
                  <a:outerShdw blurRad="38100" dist="25400" dir="5400000" algn="ctr" rotWithShape="0">
                    <a:srgbClr val="6E747A">
                      <a:alpha val="43000"/>
                    </a:srgbClr>
                  </a:outerShdw>
                </a:effectLst>
              </a:rPr>
              <a:t>算法思想：</a:t>
            </a:r>
            <a:endParaRPr lang="zh-CN" altLang="en-US">
              <a:solidFill>
                <a:schemeClr val="accent1"/>
              </a:solidFill>
              <a:effectLst>
                <a:outerShdw blurRad="38100" dist="25400" dir="5400000" algn="ctr" rotWithShape="0">
                  <a:srgbClr val="6E747A">
                    <a:alpha val="43000"/>
                  </a:srgbClr>
                </a:outerShdw>
              </a:effectLst>
            </a:endParaRPr>
          </a:p>
          <a:p>
            <a:pPr indent="457200"/>
            <a:r>
              <a:rPr lang="en-US" altLang="zh-CN"/>
              <a:t>                                              </a:t>
            </a:r>
            <a:r>
              <a:rPr lang="zh-CN" altLang="en-US"/>
              <a:t>增广路算法</a:t>
            </a:r>
            <a:r>
              <a:rPr lang="en-US" altLang="zh-CN"/>
              <a:t>             ===&gt;            </a:t>
            </a:r>
            <a:r>
              <a:rPr lang="zh-CN" altLang="en-US"/>
              <a:t>预流推进</a:t>
            </a:r>
            <a:r>
              <a:rPr lang="zh-CN" altLang="en-US"/>
              <a:t>算法</a:t>
            </a:r>
            <a:endParaRPr lang="zh-CN" altLang="en-US"/>
          </a:p>
        </p:txBody>
      </p:sp>
      <p:sp>
        <p:nvSpPr>
          <p:cNvPr id="13" name="文本框 12"/>
          <p:cNvSpPr txBox="1"/>
          <p:nvPr/>
        </p:nvSpPr>
        <p:spPr>
          <a:xfrm>
            <a:off x="1775460" y="2781300"/>
            <a:ext cx="7629525" cy="1743075"/>
          </a:xfrm>
          <a:prstGeom prst="rect">
            <a:avLst/>
          </a:prstGeom>
          <a:noFill/>
        </p:spPr>
        <p:txBody>
          <a:bodyPr wrap="square" rtlCol="0">
            <a:spAutoFit/>
          </a:bodyPr>
          <a:p>
            <a:pPr>
              <a:lnSpc>
                <a:spcPct val="100000"/>
              </a:lnSpc>
              <a:spcBef>
                <a:spcPts val="0"/>
              </a:spcBef>
              <a:spcAft>
                <a:spcPts val="1000"/>
              </a:spcAft>
            </a:pPr>
            <a:r>
              <a:rPr lang="zh-CN" altLang="en-US">
                <a:solidFill>
                  <a:schemeClr val="accent1"/>
                </a:solidFill>
                <a:effectLst>
                  <a:outerShdw blurRad="38100" dist="25400" dir="5400000" algn="ctr" rotWithShape="0">
                    <a:srgbClr val="6E747A">
                      <a:alpha val="43000"/>
                    </a:srgbClr>
                  </a:outerShdw>
                </a:effectLst>
              </a:rPr>
              <a:t>实现</a:t>
            </a:r>
            <a:r>
              <a:rPr lang="zh-CN" altLang="en-US">
                <a:solidFill>
                  <a:schemeClr val="accent1"/>
                </a:solidFill>
                <a:effectLst>
                  <a:outerShdw blurRad="38100" dist="25400" dir="5400000" algn="ctr" rotWithShape="0">
                    <a:srgbClr val="6E747A">
                      <a:alpha val="43000"/>
                    </a:srgbClr>
                  </a:outerShdw>
                </a:effectLst>
              </a:rPr>
              <a:t>步骤：</a:t>
            </a:r>
            <a:endParaRPr lang="zh-CN" altLang="en-US">
              <a:solidFill>
                <a:schemeClr val="accent1"/>
              </a:solidFill>
              <a:effectLst>
                <a:outerShdw blurRad="38100" dist="25400" dir="5400000" algn="ctr" rotWithShape="0">
                  <a:srgbClr val="6E747A">
                    <a:alpha val="43000"/>
                  </a:srgbClr>
                </a:outerShdw>
              </a:effectLst>
            </a:endParaRPr>
          </a:p>
          <a:p>
            <a:pPr>
              <a:lnSpc>
                <a:spcPct val="150000"/>
              </a:lnSpc>
            </a:pPr>
            <a:r>
              <a:rPr lang="zh-CN" altLang="en-US"/>
              <a:t>（1）先假设</a:t>
            </a:r>
            <a:r>
              <a:rPr lang="en-US" altLang="zh-CN"/>
              <a:t> S </a:t>
            </a:r>
            <a:r>
              <a:rPr lang="zh-CN" altLang="en-US"/>
              <a:t>有无限多的水(余流)，从</a:t>
            </a:r>
            <a:r>
              <a:rPr lang="en-US" altLang="zh-CN"/>
              <a:t> S </a:t>
            </a:r>
            <a:r>
              <a:rPr lang="zh-CN" altLang="en-US"/>
              <a:t>向周围点推流，并让周围点入队</a:t>
            </a:r>
            <a:endParaRPr lang="zh-CN" altLang="en-US"/>
          </a:p>
          <a:p>
            <a:pPr>
              <a:lnSpc>
                <a:spcPct val="150000"/>
              </a:lnSpc>
            </a:pPr>
            <a:r>
              <a:rPr lang="zh-CN" altLang="en-US"/>
              <a:t>（2）不断地取队首元素，对队首元素推流</a:t>
            </a:r>
            <a:endParaRPr lang="zh-CN" altLang="en-US"/>
          </a:p>
          <a:p>
            <a:pPr>
              <a:lnSpc>
                <a:spcPct val="150000"/>
              </a:lnSpc>
            </a:pPr>
            <a:r>
              <a:rPr lang="zh-CN" altLang="en-US"/>
              <a:t>（3）队列为空时结束算法，</a:t>
            </a:r>
            <a:r>
              <a:rPr lang="en-US" altLang="zh-CN"/>
              <a:t>T </a:t>
            </a:r>
            <a:r>
              <a:rPr lang="zh-CN" altLang="en-US"/>
              <a:t>点的余流即为最大流。</a:t>
            </a:r>
            <a:endParaRPr lang="zh-CN" altLang="en-US"/>
          </a:p>
        </p:txBody>
      </p:sp>
      <p:sp>
        <p:nvSpPr>
          <p:cNvPr id="8" name="文本框 7"/>
          <p:cNvSpPr txBox="1"/>
          <p:nvPr/>
        </p:nvSpPr>
        <p:spPr>
          <a:xfrm>
            <a:off x="4008120" y="2114550"/>
            <a:ext cx="2398395" cy="306705"/>
          </a:xfrm>
          <a:prstGeom prst="rect">
            <a:avLst/>
          </a:prstGeom>
          <a:noFill/>
        </p:spPr>
        <p:txBody>
          <a:bodyPr wrap="square" rtlCol="0">
            <a:spAutoFit/>
          </a:bodyPr>
          <a:p>
            <a:r>
              <a:rPr lang="zh-CN" altLang="en-US" sz="1400">
                <a:solidFill>
                  <a:schemeClr val="accent1"/>
                </a:solidFill>
                <a:effectLst>
                  <a:outerShdw blurRad="38100" dist="25400" dir="5400000" algn="ctr" rotWithShape="0">
                    <a:srgbClr val="6E747A">
                      <a:alpha val="43000"/>
                    </a:srgbClr>
                  </a:outerShdw>
                </a:effectLst>
              </a:rPr>
              <a:t>不断压入少量流量直至满流</a:t>
            </a:r>
            <a:endParaRPr lang="zh-CN" altLang="en-US" sz="1400">
              <a:solidFill>
                <a:schemeClr val="accent1"/>
              </a:solidFill>
              <a:effectLst>
                <a:outerShdw blurRad="38100" dist="25400" dir="5400000" algn="ctr" rotWithShape="0">
                  <a:srgbClr val="6E747A">
                    <a:alpha val="43000"/>
                  </a:srgbClr>
                </a:outerShdw>
              </a:effectLst>
            </a:endParaRPr>
          </a:p>
        </p:txBody>
      </p:sp>
      <p:sp>
        <p:nvSpPr>
          <p:cNvPr id="9" name="文本框 8"/>
          <p:cNvSpPr txBox="1"/>
          <p:nvPr/>
        </p:nvSpPr>
        <p:spPr>
          <a:xfrm>
            <a:off x="7032625" y="2114550"/>
            <a:ext cx="2915285" cy="306705"/>
          </a:xfrm>
          <a:prstGeom prst="rect">
            <a:avLst/>
          </a:prstGeom>
          <a:noFill/>
        </p:spPr>
        <p:txBody>
          <a:bodyPr wrap="square" rtlCol="0">
            <a:spAutoFit/>
          </a:bodyPr>
          <a:p>
            <a:r>
              <a:rPr lang="zh-CN" altLang="en-US" sz="1400">
                <a:solidFill>
                  <a:schemeClr val="accent1"/>
                </a:solidFill>
                <a:effectLst>
                  <a:outerShdw blurRad="38100" dist="25400" dir="5400000" algn="ctr" rotWithShape="0">
                    <a:srgbClr val="6E747A">
                      <a:alpha val="43000"/>
                    </a:srgbClr>
                  </a:outerShdw>
                </a:effectLst>
              </a:rPr>
              <a:t>一次性压入巨额流量，把余流</a:t>
            </a:r>
            <a:r>
              <a:rPr lang="zh-CN" altLang="en-US" sz="1400">
                <a:solidFill>
                  <a:schemeClr val="accent1"/>
                </a:solidFill>
                <a:effectLst>
                  <a:outerShdw blurRad="38100" dist="25400" dir="5400000" algn="ctr" rotWithShape="0">
                    <a:srgbClr val="6E747A">
                      <a:alpha val="43000"/>
                    </a:srgbClr>
                  </a:outerShdw>
                </a:effectLst>
              </a:rPr>
              <a:t>推出</a:t>
            </a:r>
            <a:endParaRPr lang="zh-CN" altLang="en-US" sz="1400">
              <a:solidFill>
                <a:schemeClr val="accent1"/>
              </a:solidFill>
              <a:effectLst>
                <a:outerShdw blurRad="38100" dist="25400" dir="5400000" algn="ctr" rotWithShape="0">
                  <a:srgbClr val="6E747A">
                    <a:alpha val="43000"/>
                  </a:srgbClr>
                </a:outerShdw>
              </a:effectLst>
            </a:endParaRPr>
          </a:p>
        </p:txBody>
      </p:sp>
      <p:sp>
        <p:nvSpPr>
          <p:cNvPr id="14" name="上下箭头 13"/>
          <p:cNvSpPr/>
          <p:nvPr/>
        </p:nvSpPr>
        <p:spPr>
          <a:xfrm>
            <a:off x="5160010" y="1774190"/>
            <a:ext cx="144145" cy="360045"/>
          </a:xfrm>
          <a:prstGeom prst="up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上下箭头 14"/>
          <p:cNvSpPr/>
          <p:nvPr/>
        </p:nvSpPr>
        <p:spPr>
          <a:xfrm>
            <a:off x="8184515" y="1754505"/>
            <a:ext cx="144145" cy="360045"/>
          </a:xfrm>
          <a:prstGeom prst="up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775460" y="4725035"/>
            <a:ext cx="7366000" cy="1578610"/>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概念介绍：</a:t>
            </a:r>
            <a:endParaRPr lang="zh-CN" altLang="en-US">
              <a:solidFill>
                <a:schemeClr val="accent1"/>
              </a:solidFill>
              <a:effectLst>
                <a:outerShdw blurRad="38100" dist="25400" dir="5400000" algn="ctr" rotWithShape="0">
                  <a:srgbClr val="6E747A">
                    <a:alpha val="43000"/>
                  </a:srgbClr>
                </a:outerShdw>
              </a:effectLst>
            </a:endParaRPr>
          </a:p>
          <a:p>
            <a:r>
              <a:rPr lang="zh-CN" altLang="en-US">
                <a:solidFill>
                  <a:schemeClr val="tx1"/>
                </a:solidFill>
                <a:effectLst/>
              </a:rPr>
              <a:t>余流：每个点当前有多少水</a:t>
            </a:r>
            <a:endParaRPr lang="zh-CN" altLang="en-US">
              <a:solidFill>
                <a:schemeClr val="tx1"/>
              </a:solidFill>
              <a:effectLst/>
            </a:endParaRPr>
          </a:p>
          <a:p>
            <a:r>
              <a:rPr lang="zh-CN" altLang="en-US">
                <a:solidFill>
                  <a:schemeClr val="tx1"/>
                </a:solidFill>
                <a:effectLst/>
              </a:rPr>
              <a:t>推流：把该点的余流推给周围点</a:t>
            </a:r>
            <a:endParaRPr lang="zh-CN" altLang="en-US">
              <a:solidFill>
                <a:schemeClr val="tx1"/>
              </a:solidFill>
              <a:effectLst/>
            </a:endParaRPr>
          </a:p>
          <a:p>
            <a:r>
              <a:rPr lang="zh-CN" altLang="en-US">
                <a:solidFill>
                  <a:schemeClr val="tx1"/>
                </a:solidFill>
                <a:effectLst/>
              </a:rPr>
              <a:t>高度：流网络中的每个点都有一个高度，水只会从高处往低处流</a:t>
            </a:r>
            <a:endParaRPr lang="zh-CN" altLang="en-US">
              <a:solidFill>
                <a:schemeClr val="tx1"/>
              </a:solidFill>
              <a:effectLst/>
            </a:endParaRPr>
          </a:p>
          <a:p>
            <a:r>
              <a:rPr lang="zh-CN" altLang="en-US">
                <a:solidFill>
                  <a:schemeClr val="tx1"/>
                </a:solidFill>
                <a:effectLst/>
              </a:rPr>
              <a:t>溢出：若超额流e ( u ) &gt; 0 ，称节点u溢出</a:t>
            </a:r>
            <a:endParaRPr lang="zh-CN" altLang="en-US">
              <a:solidFill>
                <a:schemeClr val="tx1"/>
              </a:solidFill>
              <a:effectLst/>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chemeClr val="accent1"/>
                </a:solidFill>
                <a:highlight>
                  <a:srgbClr val="FFFFFF">
                    <a:alpha val="0"/>
                  </a:srgbClr>
                </a:highlight>
                <a:latin typeface="微软雅黑" panose="020B0503020204020204" charset="-122"/>
              </a:rPr>
              <a:t>HLPP算法</a:t>
            </a:r>
            <a:r>
              <a:rPr lang="zh-CN" sz="3000" b="1" i="0">
                <a:solidFill>
                  <a:schemeClr val="accent1"/>
                </a:solidFill>
                <a:highlight>
                  <a:srgbClr val="FFFFFF">
                    <a:alpha val="0"/>
                  </a:srgbClr>
                </a:highlight>
                <a:latin typeface="微软雅黑" panose="020B0503020204020204" charset="-122"/>
              </a:rPr>
              <a:t>优化</a:t>
            </a:r>
            <a:endParaRPr 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564640" y="1215390"/>
            <a:ext cx="8759190" cy="286131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1</a:t>
            </a:r>
            <a:r>
              <a:rPr lang="zh-CN" altLang="en-US">
                <a:solidFill>
                  <a:schemeClr val="accent1"/>
                </a:solidFill>
                <a:effectLst>
                  <a:outerShdw blurRad="38100" dist="25400" dir="5400000" algn="ctr" rotWithShape="0">
                    <a:srgbClr val="6E747A">
                      <a:alpha val="43000"/>
                    </a:srgbClr>
                  </a:outerShdw>
                </a:effectLst>
              </a:rPr>
              <a:t>）优先队列（堆）优化</a:t>
            </a:r>
            <a:endParaRPr lang="zh-CN" altLang="en-US">
              <a:solidFill>
                <a:schemeClr val="accent1"/>
              </a:solidFill>
              <a:effectLst>
                <a:outerShdw blurRad="38100" dist="25400" dir="5400000" algn="ctr" rotWithShape="0">
                  <a:srgbClr val="6E747A">
                    <a:alpha val="43000"/>
                  </a:srgbClr>
                </a:outerShdw>
              </a:effectLst>
            </a:endParaRPr>
          </a:p>
          <a:p>
            <a:pPr indent="457200"/>
            <a:r>
              <a:rPr lang="en-US" altLang="zh-CN"/>
              <a:t>优先推送高度高的溢出的结点</a:t>
            </a:r>
            <a:r>
              <a:rPr lang="zh-CN" altLang="en-US"/>
              <a:t>。</a:t>
            </a:r>
            <a:endParaRPr lang="zh-CN" altLang="en-US"/>
          </a:p>
          <a:p>
            <a:pPr indent="457200"/>
            <a:endParaRPr lang="en-US" altLang="zh-CN"/>
          </a:p>
          <a:p>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2</a:t>
            </a:r>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BFS</a:t>
            </a:r>
            <a:r>
              <a:rPr lang="zh-CN" altLang="en-US">
                <a:solidFill>
                  <a:schemeClr val="accent1"/>
                </a:solidFill>
                <a:effectLst>
                  <a:outerShdw blurRad="38100" dist="25400" dir="5400000" algn="ctr" rotWithShape="0">
                    <a:srgbClr val="6E747A">
                      <a:alpha val="43000"/>
                    </a:srgbClr>
                  </a:outerShdw>
                </a:effectLst>
              </a:rPr>
              <a:t>优化</a:t>
            </a:r>
            <a:r>
              <a:rPr lang="en-US" altLang="zh-CN"/>
              <a:t>		</a:t>
            </a:r>
            <a:endParaRPr lang="en-US" altLang="zh-CN"/>
          </a:p>
          <a:p>
            <a:pPr indent="457200"/>
            <a:r>
              <a:rPr lang="en-US" altLang="zh-CN"/>
              <a:t>在初始化高度的时候进行</a:t>
            </a:r>
            <a:r>
              <a:rPr lang="en-US" altLang="zh-CN"/>
              <a:t>BFS优化</a:t>
            </a:r>
            <a:r>
              <a:rPr lang="zh-CN" altLang="en-US"/>
              <a:t>。初始化 h (u) 为</a:t>
            </a:r>
            <a:r>
              <a:rPr lang="en-US" altLang="zh-CN"/>
              <a:t> </a:t>
            </a:r>
            <a:r>
              <a:rPr lang="zh-CN" altLang="en-US"/>
              <a:t>u</a:t>
            </a:r>
            <a:r>
              <a:rPr lang="en-US" altLang="zh-CN"/>
              <a:t> </a:t>
            </a:r>
            <a:r>
              <a:rPr lang="zh-CN" altLang="en-US"/>
              <a:t>到</a:t>
            </a:r>
            <a:r>
              <a:rPr lang="en-US" altLang="zh-CN"/>
              <a:t> </a:t>
            </a:r>
            <a:r>
              <a:rPr lang="zh-CN" altLang="en-US"/>
              <a:t>t</a:t>
            </a:r>
            <a:r>
              <a:rPr lang="en-US" altLang="zh-CN"/>
              <a:t> </a:t>
            </a:r>
            <a:r>
              <a:rPr lang="zh-CN" altLang="en-US"/>
              <a:t>的最短距离；特别的，h（s） = </a:t>
            </a:r>
            <a:r>
              <a:rPr lang="en-US" altLang="zh-CN"/>
              <a:t>v</a:t>
            </a:r>
            <a:r>
              <a:rPr lang="zh-CN" altLang="en-US"/>
              <a:t>（</a:t>
            </a:r>
            <a:r>
              <a:rPr lang="en-US" altLang="zh-CN"/>
              <a:t>v</a:t>
            </a:r>
            <a:r>
              <a:rPr lang="zh-CN" altLang="en-US"/>
              <a:t>为顶点数）</a:t>
            </a:r>
            <a:endParaRPr lang="zh-CN" altLang="en-US"/>
          </a:p>
          <a:p>
            <a:pPr indent="457200"/>
            <a:endParaRPr lang="en-US" altLang="zh-CN"/>
          </a:p>
          <a:p>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3</a:t>
            </a:r>
            <a:r>
              <a:rPr lang="zh-CN" altLang="en-US">
                <a:solidFill>
                  <a:schemeClr val="accent1"/>
                </a:solidFill>
                <a:effectLst>
                  <a:outerShdw blurRad="38100" dist="25400" dir="5400000" algn="ctr" rotWithShape="0">
                    <a:srgbClr val="6E747A">
                      <a:alpha val="43000"/>
                    </a:srgbClr>
                  </a:outerShdw>
                </a:effectLst>
              </a:rPr>
              <a:t>）GAP优化</a:t>
            </a:r>
            <a:endParaRPr lang="zh-CN" altLang="en-US">
              <a:solidFill>
                <a:schemeClr val="accent1"/>
              </a:solidFill>
              <a:effectLst>
                <a:outerShdw blurRad="38100" dist="25400" dir="5400000" algn="ctr" rotWithShape="0">
                  <a:srgbClr val="6E747A">
                    <a:alpha val="43000"/>
                  </a:srgbClr>
                </a:outerShdw>
              </a:effectLst>
            </a:endParaRPr>
          </a:p>
          <a:p>
            <a:pPr indent="457200"/>
            <a:r>
              <a:rPr lang="en-US" altLang="zh-CN"/>
              <a:t>如果某时刻，h(u) = k的结点个数为0，那么对于h(u) &gt; k的结点就永远无法推送超额流到汇点T，因此只能送回源点S，那么我们就直接让他们的高度变成n + 1</a:t>
            </a:r>
            <a:r>
              <a:rPr lang="zh-CN" altLang="en-US"/>
              <a:t>。</a:t>
            </a:r>
            <a:endParaRPr lang="zh-CN" altLang="en-US"/>
          </a:p>
        </p:txBody>
      </p:sp>
      <p:sp>
        <p:nvSpPr>
          <p:cNvPr id="7" name="文本框 6"/>
          <p:cNvSpPr txBox="1"/>
          <p:nvPr/>
        </p:nvSpPr>
        <p:spPr>
          <a:xfrm>
            <a:off x="3575685" y="5084445"/>
            <a:ext cx="504063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sym typeface="+mn-ea"/>
              </a:rPr>
              <a:t>O（v</a:t>
            </a:r>
            <a:r>
              <a:rPr lang="zh-CN" altLang="en-US" baseline="30000">
                <a:solidFill>
                  <a:schemeClr val="accent1"/>
                </a:solidFill>
                <a:effectLst>
                  <a:outerShdw blurRad="38100" dist="25400" dir="5400000" algn="ctr" rotWithShape="0">
                    <a:srgbClr val="6E747A">
                      <a:alpha val="43000"/>
                    </a:srgbClr>
                  </a:outerShdw>
                </a:effectLst>
                <a:sym typeface="+mn-ea"/>
              </a:rPr>
              <a:t>2</a:t>
            </a:r>
            <a:r>
              <a:rPr lang="zh-CN" altLang="en-US">
                <a:solidFill>
                  <a:schemeClr val="accent1"/>
                </a:solidFill>
                <a:effectLst>
                  <a:outerShdw blurRad="38100" dist="25400" dir="5400000" algn="ctr" rotWithShape="0">
                    <a:srgbClr val="6E747A">
                      <a:alpha val="43000"/>
                    </a:srgbClr>
                  </a:outerShdw>
                </a:effectLst>
                <a:sym typeface="+mn-ea"/>
              </a:rPr>
              <a:t> e）</a:t>
            </a:r>
            <a:r>
              <a:rPr lang="en-US" altLang="zh-CN">
                <a:solidFill>
                  <a:schemeClr val="accent1"/>
                </a:solidFill>
                <a:effectLst>
                  <a:outerShdw blurRad="38100" dist="25400" dir="5400000" algn="ctr" rotWithShape="0">
                    <a:srgbClr val="6E747A">
                      <a:alpha val="43000"/>
                    </a:srgbClr>
                  </a:outerShdw>
                </a:effectLst>
                <a:sym typeface="+mn-ea"/>
              </a:rPr>
              <a:t>             			</a:t>
            </a:r>
            <a:r>
              <a:rPr lang="zh-CN" altLang="en-US">
                <a:solidFill>
                  <a:schemeClr val="accent1"/>
                </a:solidFill>
                <a:effectLst>
                  <a:outerShdw blurRad="38100" dist="25400" dir="5400000" algn="ctr" rotWithShape="0">
                    <a:srgbClr val="6E747A">
                      <a:alpha val="43000"/>
                    </a:srgbClr>
                  </a:outerShdw>
                </a:effectLst>
                <a:sym typeface="+mn-ea"/>
              </a:rPr>
              <a:t>O（v</a:t>
            </a:r>
            <a:r>
              <a:rPr lang="zh-CN" altLang="en-US" baseline="30000">
                <a:solidFill>
                  <a:schemeClr val="accent1"/>
                </a:solidFill>
                <a:effectLst>
                  <a:outerShdw blurRad="38100" dist="25400" dir="5400000" algn="ctr" rotWithShape="0">
                    <a:srgbClr val="6E747A">
                      <a:alpha val="43000"/>
                    </a:srgbClr>
                  </a:outerShdw>
                </a:effectLst>
                <a:sym typeface="+mn-ea"/>
              </a:rPr>
              <a:t>2</a:t>
            </a:r>
            <a:r>
              <a:rPr lang="zh-CN" altLang="en-US">
                <a:solidFill>
                  <a:schemeClr val="accent1"/>
                </a:solidFill>
                <a:effectLst>
                  <a:outerShdw blurRad="38100" dist="25400" dir="5400000" algn="ctr" rotWithShape="0">
                    <a:srgbClr val="6E747A">
                      <a:alpha val="43000"/>
                    </a:srgbClr>
                  </a:outerShdw>
                </a:effectLst>
                <a:sym typeface="+mn-ea"/>
              </a:rPr>
              <a:t> e</a:t>
            </a:r>
            <a:r>
              <a:rPr lang="en-US" altLang="zh-CN" baseline="30000">
                <a:solidFill>
                  <a:schemeClr val="accent1"/>
                </a:solidFill>
                <a:effectLst>
                  <a:outerShdw blurRad="38100" dist="25400" dir="5400000" algn="ctr" rotWithShape="0">
                    <a:srgbClr val="6E747A">
                      <a:alpha val="43000"/>
                    </a:srgbClr>
                  </a:outerShdw>
                </a:effectLst>
                <a:sym typeface="+mn-ea"/>
              </a:rPr>
              <a:t>1/2</a:t>
            </a:r>
            <a:r>
              <a:rPr lang="zh-CN" altLang="en-US">
                <a:solidFill>
                  <a:schemeClr val="accent1"/>
                </a:solidFill>
                <a:effectLst>
                  <a:outerShdw blurRad="38100" dist="25400" dir="5400000" algn="ctr" rotWithShape="0">
                    <a:srgbClr val="6E747A">
                      <a:alpha val="43000"/>
                    </a:srgbClr>
                  </a:outerShdw>
                </a:effectLst>
                <a:sym typeface="+mn-ea"/>
              </a:rPr>
              <a:t>）</a:t>
            </a:r>
            <a:endParaRPr lang="en-US" altLang="zh-CN">
              <a:solidFill>
                <a:schemeClr val="accent1"/>
              </a:solidFill>
              <a:effectLst>
                <a:outerShdw blurRad="38100" dist="25400" dir="5400000" algn="ctr" rotWithShape="0">
                  <a:srgbClr val="6E747A">
                    <a:alpha val="43000"/>
                  </a:srgbClr>
                </a:outerShdw>
              </a:effectLst>
              <a:sym typeface="+mn-ea"/>
            </a:endParaRPr>
          </a:p>
        </p:txBody>
      </p:sp>
      <p:sp>
        <p:nvSpPr>
          <p:cNvPr id="11" name="右箭头 10"/>
          <p:cNvSpPr/>
          <p:nvPr/>
        </p:nvSpPr>
        <p:spPr>
          <a:xfrm>
            <a:off x="4872355" y="5196523"/>
            <a:ext cx="2160270" cy="1441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26960"/>
            <a:ext cx="577657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a:t>
            </a:r>
            <a:r>
              <a:rPr lang="en-US" sz="4800" b="1" i="0">
                <a:solidFill>
                  <a:srgbClr val="002B7F"/>
                </a:solidFill>
                <a:highlight>
                  <a:srgbClr val="FFFFFF">
                    <a:alpha val="0"/>
                  </a:srgbClr>
                </a:highlight>
                <a:latin typeface="微软雅黑" panose="020B0503020204020204" charset="-122"/>
              </a:rPr>
              <a:t>5</a:t>
            </a:r>
            <a:endParaRPr lang="en-US"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测试</a:t>
            </a:r>
            <a:r>
              <a:rPr lang="zh-CN" sz="4800" b="1" i="0">
                <a:solidFill>
                  <a:srgbClr val="0055FF"/>
                </a:solidFill>
                <a:highlight>
                  <a:srgbClr val="FFFFFF">
                    <a:alpha val="0"/>
                  </a:srgbClr>
                </a:highlight>
                <a:latin typeface="微软雅黑" panose="020B0503020204020204" charset="-122"/>
              </a:rPr>
              <a:t>结果</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样例</a:t>
            </a:r>
            <a:r>
              <a:rPr lang="zh-CN" sz="3000" b="1" i="0">
                <a:solidFill>
                  <a:schemeClr val="accent1"/>
                </a:solidFill>
                <a:highlight>
                  <a:srgbClr val="FFFFFF">
                    <a:alpha val="0"/>
                  </a:srgbClr>
                </a:highlight>
                <a:latin typeface="微软雅黑" panose="020B0503020204020204" charset="-122"/>
              </a:rPr>
              <a:t>问题</a:t>
            </a:r>
            <a:endParaRPr lang="zh-CN" sz="3000" b="1" i="0">
              <a:solidFill>
                <a:schemeClr val="accent1"/>
              </a:solidFill>
              <a:highlight>
                <a:srgbClr val="FFFFFF">
                  <a:alpha val="0"/>
                </a:srgbClr>
              </a:highlight>
              <a:latin typeface="微软雅黑" panose="020B0503020204020204" charset="-122"/>
            </a:endParaRPr>
          </a:p>
        </p:txBody>
      </p:sp>
      <p:pic>
        <p:nvPicPr>
          <p:cNvPr id="4" name="图片 -2147482599"/>
          <p:cNvPicPr>
            <a:picLocks noChangeAspect="1"/>
          </p:cNvPicPr>
          <p:nvPr/>
        </p:nvPicPr>
        <p:blipFill>
          <a:blip r:embed="rId3"/>
          <a:stretch>
            <a:fillRect/>
          </a:stretch>
        </p:blipFill>
        <p:spPr>
          <a:xfrm>
            <a:off x="2562225" y="1555750"/>
            <a:ext cx="7425055" cy="922655"/>
          </a:xfrm>
          <a:prstGeom prst="rect">
            <a:avLst/>
          </a:prstGeom>
          <a:noFill/>
          <a:ln w="9525">
            <a:noFill/>
          </a:ln>
        </p:spPr>
      </p:pic>
      <p:sp>
        <p:nvSpPr>
          <p:cNvPr id="5" name="文本框 4"/>
          <p:cNvSpPr txBox="1"/>
          <p:nvPr/>
        </p:nvSpPr>
        <p:spPr>
          <a:xfrm>
            <a:off x="3792855" y="3499485"/>
            <a:ext cx="496443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“Atlanta”和“New York”是有机会夺冠的球队</a:t>
            </a:r>
            <a:endParaRPr lang="zh-CN" altLang="en-US">
              <a:solidFill>
                <a:schemeClr val="accent1"/>
              </a:solidFill>
              <a:effectLst>
                <a:outerShdw blurRad="38100" dist="25400" dir="5400000" algn="ctr" rotWithShape="0">
                  <a:srgbClr val="6E747A">
                    <a:alpha val="43000"/>
                  </a:srgbClr>
                </a:outerShdw>
              </a:effectLst>
            </a:endParaRPr>
          </a:p>
        </p:txBody>
      </p:sp>
      <p:sp>
        <p:nvSpPr>
          <p:cNvPr id="6" name="下箭头 5"/>
          <p:cNvSpPr/>
          <p:nvPr/>
        </p:nvSpPr>
        <p:spPr>
          <a:xfrm>
            <a:off x="6024245" y="2635250"/>
            <a:ext cx="431800" cy="79248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2446655" y="4653280"/>
            <a:ext cx="7618730" cy="368300"/>
          </a:xfrm>
          <a:prstGeom prst="rect">
            <a:avLst/>
          </a:prstGeom>
          <a:noFill/>
        </p:spPr>
        <p:txBody>
          <a:bodyPr wrap="square" rtlCol="0">
            <a:spAutoFit/>
          </a:bodyPr>
          <a:p>
            <a:r>
              <a:rPr lang="zh-CN" altLang="en-US"/>
              <a:t>数据规模太小，各算法耗时均趋近于</a:t>
            </a:r>
            <a:r>
              <a:rPr lang="en-US" altLang="zh-CN"/>
              <a:t> 0 ms </a:t>
            </a:r>
            <a:r>
              <a:rPr lang="zh-CN" altLang="en-US"/>
              <a:t>，需要构造较大规模的</a:t>
            </a:r>
            <a:r>
              <a:rPr lang="zh-CN" altLang="en-US"/>
              <a:t>样本！！！</a:t>
            </a:r>
            <a:endParaRPr lang="zh-CN"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随机</a:t>
            </a:r>
            <a:r>
              <a:rPr lang="zh-CN" sz="3000" b="1" i="0">
                <a:solidFill>
                  <a:schemeClr val="accent1"/>
                </a:solidFill>
                <a:highlight>
                  <a:srgbClr val="FFFFFF">
                    <a:alpha val="0"/>
                  </a:srgbClr>
                </a:highlight>
                <a:latin typeface="微软雅黑" panose="020B0503020204020204" charset="-122"/>
              </a:rPr>
              <a:t>样本</a:t>
            </a:r>
            <a:endParaRPr lang="zh-CN" sz="3000" b="1" i="0">
              <a:solidFill>
                <a:schemeClr val="accent1"/>
              </a:solidFill>
              <a:highlight>
                <a:srgbClr val="FFFFFF">
                  <a:alpha val="0"/>
                </a:srgbClr>
              </a:highlight>
              <a:latin typeface="微软雅黑" panose="020B0503020204020204" charset="-122"/>
            </a:endParaRPr>
          </a:p>
        </p:txBody>
      </p:sp>
      <p:pic>
        <p:nvPicPr>
          <p:cNvPr id="8" name="图片 7"/>
          <p:cNvPicPr>
            <a:picLocks noChangeAspect="1"/>
          </p:cNvPicPr>
          <p:nvPr/>
        </p:nvPicPr>
        <p:blipFill>
          <a:blip r:embed="rId3"/>
          <a:stretch>
            <a:fillRect/>
          </a:stretch>
        </p:blipFill>
        <p:spPr>
          <a:xfrm>
            <a:off x="1199515" y="1165225"/>
            <a:ext cx="6915150" cy="304800"/>
          </a:xfrm>
          <a:prstGeom prst="rect">
            <a:avLst/>
          </a:prstGeom>
        </p:spPr>
      </p:pic>
      <p:sp>
        <p:nvSpPr>
          <p:cNvPr id="9" name="文本框 8"/>
          <p:cNvSpPr txBox="1"/>
          <p:nvPr/>
        </p:nvSpPr>
        <p:spPr>
          <a:xfrm>
            <a:off x="8401050" y="1133475"/>
            <a:ext cx="301498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严格控制剩余比赛的场次</a:t>
            </a:r>
            <a:endParaRPr lang="zh-CN" altLang="en-US">
              <a:solidFill>
                <a:schemeClr val="accent1"/>
              </a:solidFill>
              <a:effectLst>
                <a:outerShdw blurRad="38100" dist="25400" dir="5400000" algn="ctr" rotWithShape="0">
                  <a:srgbClr val="6E747A">
                    <a:alpha val="43000"/>
                  </a:srgbClr>
                </a:outerShdw>
              </a:effectLst>
            </a:endParaRPr>
          </a:p>
        </p:txBody>
      </p:sp>
      <p:pic>
        <p:nvPicPr>
          <p:cNvPr id="4" name="图片 -2147482597"/>
          <p:cNvPicPr>
            <a:picLocks noChangeAspect="1"/>
          </p:cNvPicPr>
          <p:nvPr/>
        </p:nvPicPr>
        <p:blipFill>
          <a:blip r:embed="rId4"/>
          <a:stretch>
            <a:fillRect/>
          </a:stretch>
        </p:blipFill>
        <p:spPr>
          <a:xfrm>
            <a:off x="6671628" y="3212783"/>
            <a:ext cx="3982085" cy="2555875"/>
          </a:xfrm>
          <a:prstGeom prst="rect">
            <a:avLst/>
          </a:prstGeom>
          <a:noFill/>
          <a:ln w="9525">
            <a:noFill/>
          </a:ln>
        </p:spPr>
      </p:pic>
      <p:pic>
        <p:nvPicPr>
          <p:cNvPr id="5" name="图片 -2147482592"/>
          <p:cNvPicPr>
            <a:picLocks noChangeAspect="1"/>
          </p:cNvPicPr>
          <p:nvPr/>
        </p:nvPicPr>
        <p:blipFill>
          <a:blip r:embed="rId5"/>
          <a:stretch>
            <a:fillRect/>
          </a:stretch>
        </p:blipFill>
        <p:spPr>
          <a:xfrm>
            <a:off x="1417955" y="3496945"/>
            <a:ext cx="4646930" cy="1987550"/>
          </a:xfrm>
          <a:prstGeom prst="rect">
            <a:avLst/>
          </a:prstGeom>
          <a:noFill/>
          <a:ln w="9525">
            <a:noFill/>
          </a:ln>
        </p:spPr>
      </p:pic>
      <p:sp>
        <p:nvSpPr>
          <p:cNvPr id="10" name="下箭头 9"/>
          <p:cNvSpPr/>
          <p:nvPr/>
        </p:nvSpPr>
        <p:spPr>
          <a:xfrm>
            <a:off x="5592445" y="1700530"/>
            <a:ext cx="360045" cy="115252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6096000" y="2030095"/>
            <a:ext cx="2920365" cy="368300"/>
          </a:xfrm>
          <a:prstGeom prst="rect">
            <a:avLst/>
          </a:prstGeom>
          <a:noFill/>
        </p:spPr>
        <p:txBody>
          <a:bodyPr wrap="square" rtlCol="0">
            <a:spAutoFit/>
          </a:bodyPr>
          <a:p>
            <a:r>
              <a:rPr lang="zh-CN" altLang="en-US"/>
              <a:t>随机生成</a:t>
            </a:r>
            <a:r>
              <a:rPr lang="en-US" altLang="zh-CN"/>
              <a:t>w[i]</a:t>
            </a:r>
            <a:r>
              <a:rPr lang="zh-CN" altLang="en-US"/>
              <a:t>、</a:t>
            </a:r>
            <a:r>
              <a:rPr lang="en-US" altLang="zh-CN"/>
              <a:t>r[i]</a:t>
            </a:r>
            <a:r>
              <a:rPr lang="zh-CN" altLang="en-US"/>
              <a:t>、</a:t>
            </a:r>
            <a:r>
              <a:rPr lang="en-US" altLang="zh-CN"/>
              <a:t>g[i][j]</a:t>
            </a:r>
            <a:endParaRPr lang="en-US" altLang="zh-CN"/>
          </a:p>
        </p:txBody>
      </p:sp>
      <p:sp>
        <p:nvSpPr>
          <p:cNvPr id="6" name="文本框 5"/>
          <p:cNvSpPr txBox="1"/>
          <p:nvPr/>
        </p:nvSpPr>
        <p:spPr>
          <a:xfrm>
            <a:off x="8218805" y="2780665"/>
            <a:ext cx="1123315" cy="368300"/>
          </a:xfrm>
          <a:prstGeom prst="rect">
            <a:avLst/>
          </a:prstGeom>
          <a:noFill/>
        </p:spPr>
        <p:txBody>
          <a:bodyPr wrap="square" rtlCol="0">
            <a:spAutoFit/>
          </a:bodyPr>
          <a:p>
            <a:r>
              <a:rPr lang="en-US" altLang="zh-CN"/>
              <a:t>20 </a:t>
            </a:r>
            <a:r>
              <a:rPr lang="zh-CN" altLang="en-US"/>
              <a:t>×</a:t>
            </a:r>
            <a:r>
              <a:rPr lang="en-US" altLang="zh-CN"/>
              <a:t>20</a:t>
            </a:r>
            <a:endParaRPr lang="en-US" altLang="zh-CN"/>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随机样本上的算法</a:t>
            </a:r>
            <a:r>
              <a:rPr lang="zh-CN" sz="3000" b="1" i="0">
                <a:solidFill>
                  <a:schemeClr val="accent1"/>
                </a:solidFill>
                <a:highlight>
                  <a:srgbClr val="FFFFFF">
                    <a:alpha val="0"/>
                  </a:srgbClr>
                </a:highlight>
                <a:latin typeface="微软雅黑" panose="020B0503020204020204" charset="-122"/>
              </a:rPr>
              <a:t>耗时</a:t>
            </a:r>
            <a:endParaRPr lang="zh-CN" sz="3000" b="1" i="0">
              <a:solidFill>
                <a:schemeClr val="accent1"/>
              </a:solidFill>
              <a:highlight>
                <a:srgbClr val="FFFFFF">
                  <a:alpha val="0"/>
                </a:srgbClr>
              </a:highlight>
              <a:latin typeface="微软雅黑" panose="020B0503020204020204" charset="-122"/>
            </a:endParaRPr>
          </a:p>
        </p:txBody>
      </p:sp>
      <p:pic>
        <p:nvPicPr>
          <p:cNvPr id="4" name="图片 -2147482593"/>
          <p:cNvPicPr>
            <a:picLocks noChangeAspect="1"/>
          </p:cNvPicPr>
          <p:nvPr/>
        </p:nvPicPr>
        <p:blipFill>
          <a:blip r:embed="rId3"/>
          <a:stretch>
            <a:fillRect/>
          </a:stretch>
        </p:blipFill>
        <p:spPr>
          <a:xfrm>
            <a:off x="3705543" y="3572193"/>
            <a:ext cx="4584065" cy="2755265"/>
          </a:xfrm>
          <a:prstGeom prst="rect">
            <a:avLst/>
          </a:prstGeom>
          <a:noFill/>
          <a:ln w="9525">
            <a:noFill/>
          </a:ln>
        </p:spPr>
      </p:pic>
      <p:pic>
        <p:nvPicPr>
          <p:cNvPr id="12" name="图片 11"/>
          <p:cNvPicPr>
            <a:picLocks noChangeAspect="1"/>
          </p:cNvPicPr>
          <p:nvPr/>
        </p:nvPicPr>
        <p:blipFill>
          <a:blip r:embed="rId4"/>
          <a:stretch>
            <a:fillRect/>
          </a:stretch>
        </p:blipFill>
        <p:spPr>
          <a:xfrm>
            <a:off x="2641600" y="1053465"/>
            <a:ext cx="6315599" cy="2052000"/>
          </a:xfrm>
          <a:prstGeom prst="rect">
            <a:avLst/>
          </a:prstGeom>
        </p:spPr>
      </p:pic>
      <p:sp>
        <p:nvSpPr>
          <p:cNvPr id="26" name="文本框 25"/>
          <p:cNvSpPr txBox="1"/>
          <p:nvPr/>
        </p:nvSpPr>
        <p:spPr>
          <a:xfrm>
            <a:off x="8648700" y="1557020"/>
            <a:ext cx="1320800" cy="1309370"/>
          </a:xfrm>
          <a:prstGeom prst="rect">
            <a:avLst/>
          </a:prstGeom>
          <a:noFill/>
        </p:spPr>
        <p:txBody>
          <a:bodyPr wrap="square" rtlCol="0">
            <a:spAutoFit/>
          </a:bodyPr>
          <a:p>
            <a:pPr>
              <a:lnSpc>
                <a:spcPct val="110000"/>
              </a:lnSpc>
              <a:spcBef>
                <a:spcPts val="0"/>
              </a:spcBef>
              <a:spcAft>
                <a:spcPts val="0"/>
              </a:spcAft>
            </a:pPr>
            <a:r>
              <a:rPr lang="en-US" altLang="zh-CN">
                <a:solidFill>
                  <a:schemeClr val="accent1"/>
                </a:solidFill>
                <a:effectLst>
                  <a:outerShdw blurRad="38100" dist="25400" dir="5400000" algn="ctr" rotWithShape="0">
                    <a:srgbClr val="6E747A">
                      <a:alpha val="43000"/>
                    </a:srgbClr>
                  </a:outerShdw>
                </a:effectLst>
                <a:sym typeface="+mn-ea"/>
              </a:rPr>
              <a:t>O</a:t>
            </a:r>
            <a:r>
              <a:rPr lang="zh-CN" altLang="en-US">
                <a:solidFill>
                  <a:schemeClr val="accent1"/>
                </a:solidFill>
                <a:effectLst>
                  <a:outerShdw blurRad="38100" dist="25400" dir="5400000" algn="ctr" rotWithShape="0">
                    <a:srgbClr val="6E747A">
                      <a:alpha val="43000"/>
                    </a:srgbClr>
                  </a:outerShdw>
                </a:effectLst>
                <a:sym typeface="+mn-ea"/>
              </a:rPr>
              <a:t>（</a:t>
            </a:r>
            <a:r>
              <a:rPr lang="en-US" altLang="zh-CN">
                <a:solidFill>
                  <a:schemeClr val="accent1"/>
                </a:solidFill>
                <a:effectLst>
                  <a:outerShdw blurRad="38100" dist="25400" dir="5400000" algn="ctr" rotWithShape="0">
                    <a:srgbClr val="6E747A">
                      <a:alpha val="43000"/>
                    </a:srgbClr>
                  </a:outerShdw>
                </a:effectLst>
                <a:sym typeface="+mn-ea"/>
              </a:rPr>
              <a:t>f</a:t>
            </a:r>
            <a:r>
              <a:rPr lang="zh-CN" altLang="en-US">
                <a:solidFill>
                  <a:schemeClr val="accent1"/>
                </a:solidFill>
                <a:effectLst>
                  <a:outerShdw blurRad="38100" dist="25400" dir="5400000" algn="ctr" rotWithShape="0">
                    <a:srgbClr val="6E747A">
                      <a:alpha val="43000"/>
                    </a:srgbClr>
                  </a:outerShdw>
                </a:effectLst>
                <a:sym typeface="+mn-ea"/>
              </a:rPr>
              <a:t>×</a:t>
            </a:r>
            <a:r>
              <a:rPr lang="en-US" altLang="zh-CN">
                <a:solidFill>
                  <a:schemeClr val="accent1"/>
                </a:solidFill>
                <a:effectLst>
                  <a:outerShdw blurRad="38100" dist="25400" dir="5400000" algn="ctr" rotWithShape="0">
                    <a:srgbClr val="6E747A">
                      <a:alpha val="43000"/>
                    </a:srgbClr>
                  </a:outerShdw>
                </a:effectLst>
                <a:sym typeface="+mn-ea"/>
              </a:rPr>
              <a:t>e</a:t>
            </a:r>
            <a:r>
              <a:rPr lang="zh-CN" altLang="en-US">
                <a:solidFill>
                  <a:schemeClr val="accent1"/>
                </a:solidFill>
                <a:effectLst>
                  <a:outerShdw blurRad="38100" dist="25400" dir="5400000" algn="ctr" rotWithShape="0">
                    <a:srgbClr val="6E747A">
                      <a:alpha val="43000"/>
                    </a:srgbClr>
                  </a:outerShdw>
                </a:effectLst>
                <a:sym typeface="+mn-ea"/>
              </a:rPr>
              <a:t>）</a:t>
            </a:r>
            <a:br>
              <a:rPr lang="zh-CN" altLang="en-US">
                <a:solidFill>
                  <a:schemeClr val="accent1"/>
                </a:solidFill>
                <a:effectLst>
                  <a:outerShdw blurRad="38100" dist="25400" dir="5400000" algn="ctr" rotWithShape="0">
                    <a:srgbClr val="6E747A">
                      <a:alpha val="43000"/>
                    </a:srgbClr>
                  </a:outerShdw>
                </a:effectLst>
                <a:sym typeface="+mn-ea"/>
              </a:rPr>
            </a:br>
            <a:r>
              <a:rPr lang="en-US" altLang="zh-CN">
                <a:solidFill>
                  <a:schemeClr val="accent1"/>
                </a:solidFill>
                <a:effectLst>
                  <a:outerShdw blurRad="38100" dist="25400" dir="5400000" algn="ctr" rotWithShape="0">
                    <a:srgbClr val="6E747A">
                      <a:alpha val="43000"/>
                    </a:srgbClr>
                  </a:outerShdw>
                </a:effectLst>
                <a:sym typeface="+mn-ea"/>
              </a:rPr>
              <a:t>O</a:t>
            </a:r>
            <a:r>
              <a:rPr lang="zh-CN" altLang="en-US">
                <a:solidFill>
                  <a:schemeClr val="accent1"/>
                </a:solidFill>
                <a:effectLst>
                  <a:outerShdw blurRad="38100" dist="25400" dir="5400000" algn="ctr" rotWithShape="0">
                    <a:srgbClr val="6E747A">
                      <a:alpha val="43000"/>
                    </a:srgbClr>
                  </a:outerShdw>
                </a:effectLst>
                <a:sym typeface="+mn-ea"/>
              </a:rPr>
              <a:t>（</a:t>
            </a:r>
            <a:r>
              <a:rPr lang="en-US" altLang="zh-CN">
                <a:solidFill>
                  <a:schemeClr val="accent1"/>
                </a:solidFill>
                <a:effectLst>
                  <a:outerShdw blurRad="38100" dist="25400" dir="5400000" algn="ctr" rotWithShape="0">
                    <a:srgbClr val="6E747A">
                      <a:alpha val="43000"/>
                    </a:srgbClr>
                  </a:outerShdw>
                </a:effectLst>
                <a:sym typeface="+mn-ea"/>
              </a:rPr>
              <a:t>v e</a:t>
            </a:r>
            <a:r>
              <a:rPr lang="en-US" altLang="zh-CN" baseline="30000">
                <a:solidFill>
                  <a:schemeClr val="accent1"/>
                </a:solidFill>
                <a:effectLst>
                  <a:outerShdw blurRad="38100" dist="25400" dir="5400000" algn="ctr" rotWithShape="0">
                    <a:srgbClr val="6E747A">
                      <a:alpha val="43000"/>
                    </a:srgbClr>
                  </a:outerShdw>
                </a:effectLst>
                <a:sym typeface="+mn-ea"/>
              </a:rPr>
              <a:t>2</a:t>
            </a:r>
            <a:r>
              <a:rPr lang="zh-CN" altLang="en-US">
                <a:solidFill>
                  <a:schemeClr val="accent1"/>
                </a:solidFill>
                <a:effectLst>
                  <a:outerShdw blurRad="38100" dist="25400" dir="5400000" algn="ctr" rotWithShape="0">
                    <a:srgbClr val="6E747A">
                      <a:alpha val="43000"/>
                    </a:srgbClr>
                  </a:outerShdw>
                </a:effectLst>
                <a:sym typeface="+mn-ea"/>
              </a:rPr>
              <a:t>）</a:t>
            </a:r>
            <a:br>
              <a:rPr lang="zh-CN" altLang="en-US">
                <a:solidFill>
                  <a:schemeClr val="accent1"/>
                </a:solidFill>
                <a:effectLst>
                  <a:outerShdw blurRad="38100" dist="25400" dir="5400000" algn="ctr" rotWithShape="0">
                    <a:srgbClr val="6E747A">
                      <a:alpha val="43000"/>
                    </a:srgbClr>
                  </a:outerShdw>
                </a:effectLst>
                <a:sym typeface="+mn-ea"/>
              </a:rPr>
            </a:br>
            <a:r>
              <a:rPr lang="zh-CN" altLang="en-US">
                <a:solidFill>
                  <a:schemeClr val="accent1"/>
                </a:solidFill>
                <a:effectLst>
                  <a:outerShdw blurRad="38100" dist="25400" dir="5400000" algn="ctr" rotWithShape="0">
                    <a:srgbClr val="6E747A">
                      <a:alpha val="43000"/>
                    </a:srgbClr>
                  </a:outerShdw>
                </a:effectLst>
                <a:sym typeface="+mn-ea"/>
              </a:rPr>
              <a:t>O（v</a:t>
            </a:r>
            <a:r>
              <a:rPr lang="zh-CN" altLang="en-US" baseline="30000">
                <a:solidFill>
                  <a:schemeClr val="accent1"/>
                </a:solidFill>
                <a:effectLst>
                  <a:outerShdw blurRad="38100" dist="25400" dir="5400000" algn="ctr" rotWithShape="0">
                    <a:srgbClr val="6E747A">
                      <a:alpha val="43000"/>
                    </a:srgbClr>
                  </a:outerShdw>
                </a:effectLst>
                <a:sym typeface="+mn-ea"/>
              </a:rPr>
              <a:t>2</a:t>
            </a:r>
            <a:r>
              <a:rPr lang="zh-CN" altLang="en-US">
                <a:solidFill>
                  <a:schemeClr val="accent1"/>
                </a:solidFill>
                <a:effectLst>
                  <a:outerShdw blurRad="38100" dist="25400" dir="5400000" algn="ctr" rotWithShape="0">
                    <a:srgbClr val="6E747A">
                      <a:alpha val="43000"/>
                    </a:srgbClr>
                  </a:outerShdw>
                </a:effectLst>
                <a:sym typeface="+mn-ea"/>
              </a:rPr>
              <a:t> e）</a:t>
            </a:r>
            <a:br>
              <a:rPr lang="zh-CN" altLang="en-US">
                <a:solidFill>
                  <a:schemeClr val="accent1"/>
                </a:solidFill>
                <a:effectLst>
                  <a:outerShdw blurRad="38100" dist="25400" dir="5400000" algn="ctr" rotWithShape="0">
                    <a:srgbClr val="6E747A">
                      <a:alpha val="43000"/>
                    </a:srgbClr>
                  </a:outerShdw>
                </a:effectLst>
                <a:sym typeface="+mn-ea"/>
              </a:rPr>
            </a:br>
            <a:r>
              <a:rPr lang="zh-CN" altLang="en-US">
                <a:solidFill>
                  <a:schemeClr val="accent1"/>
                </a:solidFill>
                <a:effectLst>
                  <a:outerShdw blurRad="38100" dist="25400" dir="5400000" algn="ctr" rotWithShape="0">
                    <a:srgbClr val="6E747A">
                      <a:alpha val="43000"/>
                    </a:srgbClr>
                  </a:outerShdw>
                </a:effectLst>
                <a:sym typeface="+mn-ea"/>
              </a:rPr>
              <a:t>O（v</a:t>
            </a:r>
            <a:r>
              <a:rPr lang="zh-CN" altLang="en-US" baseline="30000">
                <a:solidFill>
                  <a:schemeClr val="accent1"/>
                </a:solidFill>
                <a:effectLst>
                  <a:outerShdw blurRad="38100" dist="25400" dir="5400000" algn="ctr" rotWithShape="0">
                    <a:srgbClr val="6E747A">
                      <a:alpha val="43000"/>
                    </a:srgbClr>
                  </a:outerShdw>
                </a:effectLst>
                <a:sym typeface="+mn-ea"/>
              </a:rPr>
              <a:t>2</a:t>
            </a:r>
            <a:r>
              <a:rPr lang="zh-CN" altLang="en-US">
                <a:solidFill>
                  <a:schemeClr val="accent1"/>
                </a:solidFill>
                <a:effectLst>
                  <a:outerShdw blurRad="38100" dist="25400" dir="5400000" algn="ctr" rotWithShape="0">
                    <a:srgbClr val="6E747A">
                      <a:alpha val="43000"/>
                    </a:srgbClr>
                  </a:outerShdw>
                </a:effectLst>
                <a:sym typeface="+mn-ea"/>
              </a:rPr>
              <a:t> e</a:t>
            </a:r>
            <a:r>
              <a:rPr lang="en-US" altLang="zh-CN" baseline="30000">
                <a:solidFill>
                  <a:schemeClr val="accent1"/>
                </a:solidFill>
                <a:effectLst>
                  <a:outerShdw blurRad="38100" dist="25400" dir="5400000" algn="ctr" rotWithShape="0">
                    <a:srgbClr val="6E747A">
                      <a:alpha val="43000"/>
                    </a:srgbClr>
                  </a:outerShdw>
                </a:effectLst>
                <a:sym typeface="+mn-ea"/>
              </a:rPr>
              <a:t>1/2</a:t>
            </a:r>
            <a:r>
              <a:rPr lang="zh-CN" altLang="en-US">
                <a:solidFill>
                  <a:schemeClr val="accent1"/>
                </a:solidFill>
                <a:effectLst>
                  <a:outerShdw blurRad="38100" dist="25400" dir="5400000" algn="ctr" rotWithShape="0">
                    <a:srgbClr val="6E747A">
                      <a:alpha val="43000"/>
                    </a:srgbClr>
                  </a:outerShdw>
                </a:effectLst>
                <a:sym typeface="+mn-ea"/>
              </a:rPr>
              <a:t>）</a:t>
            </a:r>
            <a:endParaRPr lang="zh-CN" altLang="en-US"/>
          </a:p>
        </p:txBody>
      </p:sp>
      <p:sp>
        <p:nvSpPr>
          <p:cNvPr id="13" name="下箭头 12"/>
          <p:cNvSpPr/>
          <p:nvPr/>
        </p:nvSpPr>
        <p:spPr>
          <a:xfrm>
            <a:off x="5664200" y="2996565"/>
            <a:ext cx="215900" cy="50419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200712"/>
            <a:ext cx="11038043"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4800" b="1" i="0">
                <a:solidFill>
                  <a:srgbClr val="000000"/>
                </a:solidFill>
                <a:highlight>
                  <a:srgbClr val="FFFFFF">
                    <a:alpha val="0"/>
                  </a:srgbClr>
                </a:highlight>
                <a:latin typeface="微软雅黑" panose="020B0503020204020204" charset="-122"/>
              </a:rPr>
              <a:t>感</a:t>
            </a:r>
            <a:r>
              <a:rPr sz="4800" b="1" i="0">
                <a:solidFill>
                  <a:srgbClr val="000000"/>
                </a:solidFill>
                <a:highlight>
                  <a:srgbClr val="FFFFFF">
                    <a:alpha val="0"/>
                  </a:srgbClr>
                </a:highlight>
                <a:latin typeface="微软雅黑" panose="020B0503020204020204" charset="-122"/>
              </a:rPr>
              <a:t> 谢 </a:t>
            </a:r>
            <a:r>
              <a:rPr lang="zh-CN" sz="4800" b="1" i="0">
                <a:solidFill>
                  <a:srgbClr val="000000"/>
                </a:solidFill>
                <a:highlight>
                  <a:srgbClr val="FFFFFF">
                    <a:alpha val="0"/>
                  </a:srgbClr>
                </a:highlight>
                <a:latin typeface="微软雅黑" panose="020B0503020204020204" charset="-122"/>
              </a:rPr>
              <a:t>观</a:t>
            </a:r>
            <a:r>
              <a:rPr lang="en-US" altLang="zh-CN" sz="4800" b="1" i="0">
                <a:solidFill>
                  <a:srgbClr val="000000"/>
                </a:solidFill>
                <a:highlight>
                  <a:srgbClr val="FFFFFF">
                    <a:alpha val="0"/>
                  </a:srgbClr>
                </a:highlight>
                <a:latin typeface="微软雅黑" panose="020B0503020204020204" charset="-122"/>
              </a:rPr>
              <a:t> </a:t>
            </a:r>
            <a:r>
              <a:rPr lang="zh-CN" sz="4800" b="1" i="0">
                <a:solidFill>
                  <a:srgbClr val="000000"/>
                </a:solidFill>
                <a:highlight>
                  <a:srgbClr val="FFFFFF">
                    <a:alpha val="0"/>
                  </a:srgbClr>
                </a:highlight>
                <a:latin typeface="微软雅黑" panose="020B0503020204020204" charset="-122"/>
              </a:rPr>
              <a:t>看</a:t>
            </a:r>
            <a:endParaRPr lang="zh-CN" sz="4800" b="1"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KSO_WM_DIAGRAM_VIRTUALLY_FRAME" val="{&quot;height&quot;:300.7392913385827,&quot;left&quot;:480.00196850393706,&quot;top&quot;:42.71070866141732,&quot;width&quot;:340.84803149606296}"/>
</p:tagLst>
</file>

<file path=ppt/tags/tag2.xml><?xml version="1.0" encoding="utf-8"?>
<p:tagLst xmlns:p="http://schemas.openxmlformats.org/presentationml/2006/main">
  <p:tag name="KSO_WM_DIAGRAM_VIRTUALLY_FRAME" val="{&quot;height&quot;:300.7392913385827,&quot;left&quot;:480.00196850393706,&quot;top&quot;:42.71070866141732,&quot;width&quot;:340.84803149606296}"/>
</p:tagLst>
</file>

<file path=ppt/tags/tag3.xml><?xml version="1.0" encoding="utf-8"?>
<p:tagLst xmlns:p="http://schemas.openxmlformats.org/presentationml/2006/main">
  <p:tag name="KSO_WM_DIAGRAM_VIRTUALLY_FRAME" val="{&quot;height&quot;:300.7392913385827,&quot;left&quot;:480.00196850393706,&quot;top&quot;:42.71070866141732,&quot;width&quot;:340.84803149606296}"/>
</p:tagLst>
</file>

<file path=ppt/tags/tag4.xml><?xml version="1.0" encoding="utf-8"?>
<p:tagLst xmlns:p="http://schemas.openxmlformats.org/presentationml/2006/main">
  <p:tag name="KSO_WM_DIAGRAM_VIRTUALLY_FRAME" val="{&quot;height&quot;:300.7392913385827,&quot;left&quot;:480.00196850393706,&quot;top&quot;:42.71070866141732,&quot;width&quot;:340.84803149606296}"/>
</p:tagLst>
</file>

<file path=ppt/tags/tag5.xml><?xml version="1.0" encoding="utf-8"?>
<p:tagLst xmlns:p="http://schemas.openxmlformats.org/presentationml/2006/main">
  <p:tag name="AS_NET" val="Unix 5.4 unknown"/>
  <p:tag name="AS_OS" val="Unix 5.4 unknown"/>
  <p:tag name="AS_RELEASE_DATE" val="2013.12.17"/>
  <p:tag name="AS_TITLE" val="Spire.Presentation for .NET "/>
  <p:tag name="AS_VERSION" val="2.1.0.0"/>
  <p:tag name="COMMONDATA" val="eyJoZGlkIjoiOTc3M2Y5NzIzMDFlZjAyY2Q4Njk5ODkyYjFjNzBiNTQifQ=="/>
  <p:tag name="commondata" val="eyJoZGlkIjoiNGYwODNlYjhiYmEyY2FmYzRkZGIyNDc5ZTM2Zjk2NWY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2287</Words>
  <Application>WPS 演示</Application>
  <PresentationFormat>宽屏</PresentationFormat>
  <Paragraphs>222</Paragraphs>
  <Slides>22</Slides>
  <Notes>39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22</vt:i4>
      </vt:variant>
    </vt:vector>
  </HeadingPairs>
  <TitlesOfParts>
    <vt:vector size="29" baseType="lpstr">
      <vt:lpstr>Arial</vt:lpstr>
      <vt:lpstr>宋体</vt:lpstr>
      <vt:lpstr>Wingdings</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对方正在输入...</cp:lastModifiedBy>
  <cp:revision>314</cp:revision>
  <dcterms:created xsi:type="dcterms:W3CDTF">2024-03-27T00:31:00Z</dcterms:created>
  <dcterms:modified xsi:type="dcterms:W3CDTF">2025-06-20T07:20:47Z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FB7A891FF09F4B4CA53B03D5072DD70B_12</vt:lpwstr>
  </property>
  <property fmtid="{D5CDD505-2E9C-101B-9397-08002B2CF9AE}" pid="3" name="KSOProductBuildVer">
    <vt:lpwstr>2052-12.1.0.16729</vt:lpwstr>
  </property>
</Properties>
</file>