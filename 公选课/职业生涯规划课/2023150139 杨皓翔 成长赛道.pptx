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7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5.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3"/>
    <p:sldId id="259" r:id="rId4"/>
    <p:sldId id="260" r:id="rId5"/>
    <p:sldId id="261" r:id="rId6"/>
    <p:sldId id="262" r:id="rId7"/>
    <p:sldId id="263" r:id="rId8"/>
    <p:sldId id="264" r:id="rId9"/>
    <p:sldId id="265" r:id="rId10"/>
    <p:sldId id="266" r:id="rId11"/>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75.xml"/><Relationship Id="rId17" Type="http://schemas.openxmlformats.org/officeDocument/2006/relationships/customXml" Target="../customXml/item1.xml"/><Relationship Id="rId16" Type="http://schemas.openxmlformats.org/officeDocument/2006/relationships/customXmlProps" Target="../customXml/itemProps74.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66.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67.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69.xml"/><Relationship Id="rId2" Type="http://schemas.openxmlformats.org/officeDocument/2006/relationships/image" Target="../media/image6.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72.xml"/><Relationship Id="rId2" Type="http://schemas.openxmlformats.org/officeDocument/2006/relationships/image" Target="../media/image7.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73.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880110" y="914400"/>
            <a:ext cx="10618470" cy="2570480"/>
          </a:xfrm>
        </p:spPr>
        <p:txBody>
          <a:bodyPr>
            <a:normAutofit/>
          </a:bodyPr>
          <a:p>
            <a:r>
              <a:rPr lang="zh-CN" altLang="zh-CN" sz="4445">
                <a:ln/>
                <a:solidFill>
                  <a:schemeClr val="accent1"/>
                </a:solidFill>
                <a:effectLst>
                  <a:outerShdw blurRad="50800" dist="38100" dir="5400000" algn="t" rotWithShape="0">
                    <a:prstClr val="black">
                      <a:alpha val="40000"/>
                    </a:prstClr>
                  </a:outerShdw>
                </a:effectLst>
              </a:rPr>
              <a:t>追寻代码星辰，谱写软件人生</a:t>
            </a:r>
            <a:br>
              <a:rPr lang="zh-CN" altLang="zh-CN" sz="4445">
                <a:ln/>
                <a:solidFill>
                  <a:schemeClr val="accent1"/>
                </a:solidFill>
                <a:effectLst>
                  <a:outerShdw blurRad="50800" dist="38100" dir="5400000" algn="t" rotWithShape="0">
                    <a:prstClr val="black">
                      <a:alpha val="40000"/>
                    </a:prstClr>
                  </a:outerShdw>
                </a:effectLst>
              </a:rPr>
            </a:br>
            <a:r>
              <a:rPr lang="zh-CN" altLang="zh-CN" sz="4445">
                <a:ln/>
                <a:solidFill>
                  <a:schemeClr val="accent1"/>
                </a:solidFill>
                <a:effectLst>
                  <a:outerShdw blurRad="50800" dist="38100" dir="5400000" algn="t" rotWithShape="0">
                    <a:prstClr val="black">
                      <a:alpha val="40000"/>
                    </a:prstClr>
                  </a:outerShdw>
                </a:effectLst>
              </a:rPr>
              <a:t>——成为软件工程师的诗意旅程</a:t>
            </a:r>
            <a:endParaRPr lang="zh-CN" altLang="zh-CN" sz="4445">
              <a:ln/>
              <a:solidFill>
                <a:schemeClr val="accent1"/>
              </a:solidFill>
              <a:effectLst>
                <a:outerShdw blurRad="50800" dist="38100" dir="5400000" algn="t" rotWithShape="0">
                  <a:prstClr val="black">
                    <a:alpha val="40000"/>
                  </a:prstClr>
                </a:outerShdw>
              </a:effectLst>
            </a:endParaRPr>
          </a:p>
        </p:txBody>
      </p:sp>
      <p:sp>
        <p:nvSpPr>
          <p:cNvPr id="3" name="副标题 2"/>
          <p:cNvSpPr>
            <a:spLocks noGrp="1"/>
          </p:cNvSpPr>
          <p:nvPr>
            <p:ph type="subTitle" idx="1"/>
            <p:custDataLst>
              <p:tags r:id="rId3"/>
            </p:custDataLst>
          </p:nvPr>
        </p:nvSpPr>
        <p:spPr/>
        <p:txBody>
          <a:bodyPr/>
          <a:p>
            <a:endParaRPr lang="zh-CN" altLang="en-US"/>
          </a:p>
          <a:p>
            <a:r>
              <a:rPr lang="zh-CN" altLang="en-US"/>
              <a:t>计软学院 杨皓翔 2023150139</a:t>
            </a:r>
            <a:r>
              <a:rPr lang="en-US" altLang="zh-CN"/>
              <a:t> </a:t>
            </a:r>
            <a:r>
              <a:rPr lang="zh-CN" altLang="en-US"/>
              <a:t>成长</a:t>
            </a:r>
            <a:r>
              <a:rPr lang="zh-CN" altLang="en-US"/>
              <a:t>赛道</a:t>
            </a:r>
            <a:endParaRPr lang="zh-CN" altLang="en-US"/>
          </a:p>
        </p:txBody>
      </p:sp>
      <p:sp>
        <p:nvSpPr>
          <p:cNvPr id="4" name="文本框 3"/>
          <p:cNvSpPr txBox="1"/>
          <p:nvPr/>
        </p:nvSpPr>
        <p:spPr>
          <a:xfrm>
            <a:off x="8467090" y="4512310"/>
            <a:ext cx="4064000" cy="368300"/>
          </a:xfrm>
          <a:prstGeom prst="rect">
            <a:avLst/>
          </a:prstGeom>
          <a:noFill/>
        </p:spPr>
        <p:txBody>
          <a:bodyPr wrap="square" rtlCol="0">
            <a:spAutoFit/>
          </a:bodyPr>
          <a:p>
            <a:endParaRPr lang="zh-CN" alt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p>
            <a:endParaRPr lang="zh-CN" altLang="en-US"/>
          </a:p>
        </p:txBody>
      </p:sp>
      <p:pic>
        <p:nvPicPr>
          <p:cNvPr id="5" name="内容占位符 4" descr="图片1"/>
          <p:cNvPicPr>
            <a:picLocks noChangeAspect="1"/>
          </p:cNvPicPr>
          <p:nvPr>
            <p:ph sz="half" idx="1"/>
          </p:nvPr>
        </p:nvPicPr>
        <p:blipFill>
          <a:blip r:embed="rId2"/>
          <a:stretch>
            <a:fillRect/>
          </a:stretch>
        </p:blipFill>
        <p:spPr>
          <a:xfrm>
            <a:off x="287020" y="1501140"/>
            <a:ext cx="3889375" cy="4748530"/>
          </a:xfrm>
          <a:prstGeom prst="rect">
            <a:avLst/>
          </a:prstGeom>
        </p:spPr>
      </p:pic>
      <p:sp>
        <p:nvSpPr>
          <p:cNvPr id="4" name="内容占位符 3"/>
          <p:cNvSpPr>
            <a:spLocks noGrp="1"/>
          </p:cNvSpPr>
          <p:nvPr>
            <p:ph sz="half" idx="2"/>
          </p:nvPr>
        </p:nvSpPr>
        <p:spPr>
          <a:xfrm>
            <a:off x="4468495" y="1501140"/>
            <a:ext cx="7119620" cy="4748530"/>
          </a:xfrm>
        </p:spPr>
        <p:txBody>
          <a:bodyPr>
            <a:normAutofit lnSpcReduction="20000"/>
          </a:bodyPr>
          <a:p>
            <a:r>
              <a:rPr lang="zh-CN" altLang="en-US"/>
              <a:t>与计算机结缘</a:t>
            </a:r>
            <a:endParaRPr lang="zh-CN" altLang="en-US"/>
          </a:p>
          <a:p>
            <a:pPr marL="0" indent="0">
              <a:buNone/>
            </a:pPr>
            <a:r>
              <a:rPr lang="en-US" altLang="zh-CN" spc="-34" dirty="0">
                <a:solidFill>
                  <a:srgbClr val="272525"/>
                </a:solidFill>
                <a:latin typeface="Source Sans Pro" panose="020B0503030403020204" pitchFamily="34" charset="0"/>
                <a:ea typeface="Source Sans Pro" panose="020B0503030403020204" pitchFamily="34" charset="0"/>
                <a:cs typeface="Source Sans Pro" panose="020B0503030403020204" pitchFamily="34" charset="0"/>
                <a:sym typeface="+mn-ea"/>
              </a:rPr>
              <a:t>    从很小的时候起，我就对IT行业着迷，这是受到在互联网相关领域工作的长辈的启发。我相信编写代码来解决现实世界的问题是一种神奇而有成就感的努力</a:t>
            </a:r>
            <a:endParaRPr lang="en-US" altLang="zh-CN" spc="-34" dirty="0">
              <a:solidFill>
                <a:srgbClr val="272525"/>
              </a:solidFill>
              <a:latin typeface="Source Sans Pro" panose="020B0503030403020204" pitchFamily="34" charset="0"/>
              <a:ea typeface="Source Sans Pro" panose="020B0503030403020204" pitchFamily="34" charset="0"/>
              <a:cs typeface="Source Sans Pro" panose="020B0503030403020204" pitchFamily="34" charset="0"/>
              <a:sym typeface="+mn-ea"/>
            </a:endParaRPr>
          </a:p>
          <a:p>
            <a:r>
              <a:rPr lang="zh-CN" altLang="en-US"/>
              <a:t>选择计算机</a:t>
            </a:r>
            <a:endParaRPr lang="zh-CN" altLang="en-US"/>
          </a:p>
          <a:p>
            <a:pPr marL="0" indent="0">
              <a:buNone/>
            </a:pPr>
            <a:r>
              <a:rPr lang="en-US" altLang="zh-CN" spc="-34" dirty="0">
                <a:solidFill>
                  <a:srgbClr val="272525"/>
                </a:solidFill>
                <a:latin typeface="Source Sans Pro" panose="020B0503030403020204" pitchFamily="34" charset="0"/>
                <a:ea typeface="Source Sans Pro" panose="020B0503030403020204" pitchFamily="34" charset="0"/>
                <a:cs typeface="Source Sans Pro" panose="020B0503030403020204" pitchFamily="34" charset="0"/>
                <a:sym typeface="+mn-ea"/>
              </a:rPr>
              <a:t>    结合我对探索新兴技术的好奇心和我对计算机的热情，我选择在大学学习计算机科学。我想为我们国家和时代的互联网行业发展贡献自己的青春能量。</a:t>
            </a:r>
            <a:endParaRPr lang="en-US" altLang="zh-CN" spc="-34" dirty="0">
              <a:solidFill>
                <a:srgbClr val="272525"/>
              </a:solidFill>
              <a:latin typeface="Source Sans Pro" panose="020B0503030403020204" pitchFamily="34" charset="0"/>
              <a:ea typeface="Source Sans Pro" panose="020B0503030403020204" pitchFamily="34" charset="0"/>
              <a:cs typeface="Source Sans Pro" panose="020B0503030403020204" pitchFamily="34" charset="0"/>
            </a:endParaRPr>
          </a:p>
          <a:p>
            <a:r>
              <a:rPr lang="zh-CN" altLang="en-US"/>
              <a:t>行业的发展</a:t>
            </a:r>
            <a:endParaRPr lang="zh-CN" altLang="en-US"/>
          </a:p>
          <a:p>
            <a:pPr marL="0" indent="0">
              <a:buNone/>
            </a:pPr>
            <a:r>
              <a:rPr lang="en-US" altLang="zh-CN" spc="-34" dirty="0">
                <a:solidFill>
                  <a:srgbClr val="272525"/>
                </a:solidFill>
                <a:latin typeface="Source Sans Pro" panose="020B0503030403020204" pitchFamily="34" charset="0"/>
                <a:ea typeface="Source Sans Pro" panose="020B0503030403020204" pitchFamily="34" charset="0"/>
                <a:cs typeface="Source Sans Pro" panose="020B0503030403020204" pitchFamily="34" charset="0"/>
                <a:sym typeface="+mn-ea"/>
              </a:rPr>
              <a:t>     21世纪，随着我们进入信息时代，全球信息技术革命给我们的生产生活方式带来了深刻变化。信息产业已成为带动国民经济发展的主导产业之一。</a:t>
            </a:r>
            <a:endParaRPr lang="en-US" altLang="zh-CN" spc="-34" dirty="0">
              <a:solidFill>
                <a:srgbClr val="272525"/>
              </a:solidFill>
              <a:latin typeface="Source Sans Pro" panose="020B0503030403020204" pitchFamily="34" charset="0"/>
              <a:ea typeface="Source Sans Pro" panose="020B0503030403020204" pitchFamily="34" charset="0"/>
              <a:cs typeface="Source Sans Pro" panose="020B0503030403020204" pitchFamily="34" charset="0"/>
            </a:endParaRPr>
          </a:p>
          <a:p>
            <a:endParaRPr lang="zh-CN" alt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normAutofit fontScale="90000"/>
          </a:bodyPr>
          <a:p>
            <a:r>
              <a:rPr lang="en-US" kern="0" spc="-87" dirty="0">
                <a:solidFill>
                  <a:srgbClr val="000000"/>
                </a:solidFill>
                <a:latin typeface="adonis-web" pitchFamily="34" charset="0"/>
                <a:ea typeface="adonis-web" pitchFamily="34" charset="-122"/>
                <a:cs typeface="adonis-web" pitchFamily="34" charset="-120"/>
                <a:sym typeface="+mn-ea"/>
              </a:rPr>
              <a:t>                              IT</a:t>
            </a:r>
            <a:r>
              <a:rPr lang="zh-CN" altLang="en-US" kern="0" spc="-87" dirty="0">
                <a:solidFill>
                  <a:srgbClr val="000000"/>
                </a:solidFill>
                <a:latin typeface="adonis-web" pitchFamily="34" charset="0"/>
                <a:ea typeface="adonis-web" pitchFamily="34" charset="-122"/>
                <a:cs typeface="adonis-web" pitchFamily="34" charset="-120"/>
                <a:sym typeface="+mn-ea"/>
              </a:rPr>
              <a:t>发展趋势</a:t>
            </a:r>
            <a:endParaRPr lang="zh-CN" altLang="en-US"/>
          </a:p>
        </p:txBody>
      </p:sp>
      <p:pic>
        <p:nvPicPr>
          <p:cNvPr id="4" name="F35B0BEE-F18A-47BB-8FCB-E00DA2F2635D-1" descr="C:/Users/杨皓翔/AppData/Local/Temp/wpp.MIzZlIwpp"/>
          <p:cNvPicPr>
            <a:picLocks noChangeAspect="1"/>
          </p:cNvPicPr>
          <p:nvPr>
            <p:ph idx="1"/>
          </p:nvPr>
        </p:nvPicPr>
        <p:blipFill>
          <a:blip r:embed="rId2"/>
          <a:stretch>
            <a:fillRect/>
          </a:stretch>
        </p:blipFill>
        <p:spPr>
          <a:xfrm>
            <a:off x="963930" y="1662113"/>
            <a:ext cx="3181985" cy="3535045"/>
          </a:xfrm>
          <a:prstGeom prst="rect">
            <a:avLst/>
          </a:prstGeom>
          <a:ln>
            <a:solidFill>
              <a:schemeClr val="accent1"/>
            </a:solidFill>
          </a:ln>
        </p:spPr>
      </p:pic>
      <p:pic>
        <p:nvPicPr>
          <p:cNvPr id="5" name="F35B0BEE-F18A-47BB-8FCB-E00DA2F2635D-2" descr="C:/Users/杨皓翔/AppData/Local/Temp/wpp.gypXsYwpp"/>
          <p:cNvPicPr>
            <a:picLocks noChangeAspect="1"/>
          </p:cNvPicPr>
          <p:nvPr/>
        </p:nvPicPr>
        <p:blipFill>
          <a:blip r:embed="rId3"/>
          <a:stretch>
            <a:fillRect/>
          </a:stretch>
        </p:blipFill>
        <p:spPr>
          <a:xfrm>
            <a:off x="4585970" y="1661478"/>
            <a:ext cx="3181985" cy="3535045"/>
          </a:xfrm>
          <a:prstGeom prst="rect">
            <a:avLst/>
          </a:prstGeom>
        </p:spPr>
      </p:pic>
      <p:pic>
        <p:nvPicPr>
          <p:cNvPr id="7" name="F35B0BEE-F18A-47BB-8FCB-E00DA2F2635D-3" descr="C:/Users/杨皓翔/AppData/Local/Temp/wpp.wCwhnowpp"/>
          <p:cNvPicPr>
            <a:picLocks noChangeAspect="1"/>
          </p:cNvPicPr>
          <p:nvPr/>
        </p:nvPicPr>
        <p:blipFill>
          <a:blip r:embed="rId4"/>
          <a:stretch>
            <a:fillRect/>
          </a:stretch>
        </p:blipFill>
        <p:spPr>
          <a:xfrm>
            <a:off x="8395335" y="1749743"/>
            <a:ext cx="3181985" cy="3535045"/>
          </a:xfrm>
          <a:prstGeom prst="rect">
            <a:avLst/>
          </a:prstGeom>
        </p:spPr>
      </p:pic>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normAutofit fontScale="90000"/>
          </a:bodyPr>
          <a:p>
            <a:r>
              <a:rPr lang="en-US" altLang="zh-CN" kern="0" spc="-73" dirty="0">
                <a:ln>
                  <a:solidFill>
                    <a:sysClr val="windowText" lastClr="000000"/>
                  </a:solidFill>
                </a:ln>
                <a:solidFill>
                  <a:schemeClr val="accent1"/>
                </a:solidFill>
                <a:effectLst>
                  <a:outerShdw blurRad="38100" dist="25400" dir="5400000" algn="ctr" rotWithShape="0">
                    <a:srgbClr val="6E747A">
                      <a:alpha val="43000"/>
                    </a:srgbClr>
                  </a:outerShdw>
                </a:effectLst>
                <a:latin typeface="adonis-web" pitchFamily="34" charset="0"/>
                <a:ea typeface="adonis-web" pitchFamily="34" charset="-122"/>
                <a:cs typeface="adonis-web" pitchFamily="34" charset="-120"/>
                <a:sym typeface="+mn-ea"/>
              </a:rPr>
              <a:t>                   </a:t>
            </a:r>
            <a:r>
              <a:rPr lang="zh-CN" altLang="en-US" kern="0" spc="-73" dirty="0">
                <a:ln>
                  <a:solidFill>
                    <a:sysClr val="windowText" lastClr="000000"/>
                  </a:solidFill>
                </a:ln>
                <a:solidFill>
                  <a:schemeClr val="accent1"/>
                </a:solidFill>
                <a:effectLst>
                  <a:outerShdw blurRad="38100" dist="25400" dir="5400000" algn="ctr" rotWithShape="0">
                    <a:srgbClr val="6E747A">
                      <a:alpha val="43000"/>
                    </a:srgbClr>
                  </a:outerShdw>
                </a:effectLst>
                <a:latin typeface="adonis-web" pitchFamily="34" charset="0"/>
                <a:ea typeface="adonis-web" pitchFamily="34" charset="-122"/>
                <a:cs typeface="adonis-web" pitchFamily="34" charset="-120"/>
                <a:sym typeface="+mn-ea"/>
              </a:rPr>
              <a:t>中国信息技术的未来</a:t>
            </a:r>
            <a:endParaRPr lang="zh-CN" altLang="en-US" kern="0" spc="-73" dirty="0">
              <a:ln>
                <a:solidFill>
                  <a:sysClr val="windowText" lastClr="000000"/>
                </a:solidFill>
              </a:ln>
              <a:solidFill>
                <a:schemeClr val="accent1"/>
              </a:solidFill>
              <a:effectLst>
                <a:outerShdw blurRad="38100" dist="25400" dir="5400000" algn="ctr" rotWithShape="0">
                  <a:srgbClr val="6E747A">
                    <a:alpha val="43000"/>
                  </a:srgbClr>
                </a:outerShdw>
              </a:effectLst>
              <a:latin typeface="adonis-web" pitchFamily="34" charset="0"/>
              <a:ea typeface="adonis-web" pitchFamily="34" charset="-122"/>
              <a:cs typeface="adonis-web" pitchFamily="34" charset="-120"/>
              <a:sym typeface="+mn-ea"/>
            </a:endParaRPr>
          </a:p>
        </p:txBody>
      </p:sp>
      <p:sp>
        <p:nvSpPr>
          <p:cNvPr id="3" name="内容占位符 2"/>
          <p:cNvSpPr>
            <a:spLocks noGrp="1"/>
          </p:cNvSpPr>
          <p:nvPr>
            <p:ph idx="1"/>
          </p:nvPr>
        </p:nvSpPr>
        <p:spPr/>
        <p:txBody>
          <a:bodyPr/>
          <a:p>
            <a:r>
              <a:rPr lang="zh-CN" altLang="en-US"/>
              <a:t>产业转型机遇</a:t>
            </a:r>
            <a:endParaRPr lang="zh-CN" altLang="en-US"/>
          </a:p>
          <a:p>
            <a:pPr marL="0" indent="0">
              <a:buNone/>
            </a:pPr>
            <a:r>
              <a:rPr lang="zh-CN" altLang="en-US" kern="0" spc="-29" dirty="0">
                <a:solidFill>
                  <a:srgbClr val="272525"/>
                </a:solidFill>
                <a:latin typeface="Source Sans Pro" panose="020B0503030403020204" pitchFamily="34" charset="0"/>
                <a:ea typeface="Source Sans Pro" pitchFamily="34" charset="-122"/>
                <a:cs typeface="Source Sans Pro" pitchFamily="34" charset="-120"/>
                <a:sym typeface="+mn-ea"/>
              </a:rPr>
              <a:t>未来几年，中国将抓住国际产业转移的重大机遇，集聚各类资源，突破核心技术制约，加强集成电路、软件、计算机与信息处理、现代移动通信、信息安全、信息服务、系统集成等领域创新。</a:t>
            </a:r>
            <a:endParaRPr lang="zh-CN" altLang="en-US" kern="0" spc="-29" dirty="0">
              <a:solidFill>
                <a:srgbClr val="272525"/>
              </a:solidFill>
              <a:latin typeface="Source Sans Pro" panose="020B0503030403020204" pitchFamily="34" charset="0"/>
              <a:ea typeface="Source Sans Pro" pitchFamily="34" charset="-122"/>
              <a:cs typeface="Source Sans Pro" pitchFamily="34" charset="-120"/>
              <a:sym typeface="+mn-ea"/>
            </a:endParaRPr>
          </a:p>
          <a:p>
            <a:endParaRPr lang="zh-CN" altLang="en-US" b="1" kern="0" spc="-37" dirty="0">
              <a:solidFill>
                <a:srgbClr val="272525"/>
              </a:solidFill>
              <a:latin typeface="adonis-web" pitchFamily="34" charset="0"/>
              <a:ea typeface="adonis-web" pitchFamily="34" charset="-122"/>
              <a:cs typeface="adonis-web" pitchFamily="34" charset="-120"/>
              <a:sym typeface="+mn-ea"/>
            </a:endParaRPr>
          </a:p>
          <a:p>
            <a:r>
              <a:rPr lang="zh-CN" altLang="en-US" b="1" kern="0" spc="-37" dirty="0">
                <a:solidFill>
                  <a:srgbClr val="272525"/>
                </a:solidFill>
                <a:latin typeface="adonis-web" pitchFamily="34" charset="0"/>
                <a:ea typeface="adonis-web" pitchFamily="34" charset="-122"/>
                <a:cs typeface="adonis-web" pitchFamily="34" charset="-120"/>
                <a:sym typeface="+mn-ea"/>
              </a:rPr>
              <a:t>从信息技术强国到信息技术强国</a:t>
            </a:r>
            <a:endParaRPr lang="zh-CN" altLang="en-US" b="1" kern="0" spc="-37" dirty="0">
              <a:solidFill>
                <a:srgbClr val="272525"/>
              </a:solidFill>
              <a:latin typeface="adonis-web" pitchFamily="34" charset="0"/>
              <a:ea typeface="adonis-web" pitchFamily="34" charset="-122"/>
              <a:cs typeface="adonis-web" pitchFamily="34" charset="-120"/>
              <a:sym typeface="+mn-ea"/>
            </a:endParaRPr>
          </a:p>
          <a:p>
            <a:pPr marL="0" indent="0">
              <a:buNone/>
            </a:pPr>
            <a:r>
              <a:rPr lang="zh-CN" altLang="en-US" kern="0" spc="-29" dirty="0">
                <a:solidFill>
                  <a:srgbClr val="272525"/>
                </a:solidFill>
                <a:latin typeface="Source Sans Pro" panose="020B0503030403020204" pitchFamily="34" charset="0"/>
                <a:ea typeface="Source Sans Pro" pitchFamily="34" charset="-122"/>
                <a:cs typeface="Source Sans Pro" pitchFamily="34" charset="-120"/>
                <a:sym typeface="+mn-ea"/>
              </a:rPr>
              <a:t>这将促进信息技术产品升级换代，推动中国从信息技术强国向信息技术强国转型，推动国民经济信息化进程，以信息技术带动工业化，为新型工业化铺平道路。</a:t>
            </a:r>
            <a:endParaRPr lang="en-US" dirty="0"/>
          </a:p>
          <a:p>
            <a:endParaRPr lang="zh-CN" altLang="en-US"/>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p>
            <a:r>
              <a:rPr lang="en-US" altLang="zh-CN"/>
              <a:t>              </a:t>
            </a:r>
            <a:r>
              <a:rPr lang="zh-CN" altLang="en-US"/>
              <a:t>深圳：机遇与挑战并存之</a:t>
            </a:r>
            <a:r>
              <a:rPr lang="zh-CN" altLang="en-US"/>
              <a:t>城</a:t>
            </a:r>
            <a:endParaRPr lang="zh-CN" altLang="en-US"/>
          </a:p>
        </p:txBody>
      </p:sp>
      <p:pic>
        <p:nvPicPr>
          <p:cNvPr id="5" name="内容占位符 4" descr="R-C"/>
          <p:cNvPicPr>
            <a:picLocks noChangeAspect="1"/>
          </p:cNvPicPr>
          <p:nvPr>
            <p:ph sz="half" idx="1"/>
          </p:nvPr>
        </p:nvPicPr>
        <p:blipFill>
          <a:blip r:embed="rId2"/>
          <a:stretch>
            <a:fillRect/>
          </a:stretch>
        </p:blipFill>
        <p:spPr>
          <a:xfrm>
            <a:off x="608330" y="1500505"/>
            <a:ext cx="5177155" cy="4228465"/>
          </a:xfrm>
          <a:prstGeom prst="rect">
            <a:avLst/>
          </a:prstGeom>
        </p:spPr>
      </p:pic>
      <p:sp>
        <p:nvSpPr>
          <p:cNvPr id="4" name="内容占位符 3"/>
          <p:cNvSpPr>
            <a:spLocks noGrp="1"/>
          </p:cNvSpPr>
          <p:nvPr>
            <p:ph sz="half" idx="2"/>
          </p:nvPr>
        </p:nvSpPr>
        <p:spPr/>
        <p:txBody>
          <a:bodyPr/>
          <a:p>
            <a:r>
              <a:rPr lang="zh-CN" altLang="en-US"/>
              <a:t>机遇：</a:t>
            </a:r>
            <a:r>
              <a:rPr lang="zh-CN" altLang="en-US" kern="0" spc="-35" dirty="0">
                <a:solidFill>
                  <a:srgbClr val="272525"/>
                </a:solidFill>
                <a:latin typeface="华文仿宋" panose="02010600040101010101" charset="-122"/>
                <a:ea typeface="华文仿宋" panose="02010600040101010101" charset="-122"/>
                <a:cs typeface="Source Sans Pro" pitchFamily="34" charset="-120"/>
                <a:sym typeface="+mn-ea"/>
              </a:rPr>
              <a:t>深圳作为中国乃至世界快速发展的现代化城市，充满了机遇和希望。具有广阔的就业前景和良好的职业发展机会。</a:t>
            </a:r>
            <a:endParaRPr lang="en-US" dirty="0"/>
          </a:p>
          <a:p>
            <a:endParaRPr lang="zh-CN" altLang="en-US"/>
          </a:p>
          <a:p>
            <a:r>
              <a:rPr lang="zh-CN" altLang="en-US"/>
              <a:t>挑战：</a:t>
            </a:r>
            <a:r>
              <a:rPr lang="zh-CN" altLang="en-US">
                <a:latin typeface="华文仿宋" panose="02010600040101010101" charset="-122"/>
                <a:ea typeface="华文仿宋" panose="02010600040101010101" charset="-122"/>
                <a:cs typeface="华文仿宋" panose="02010600040101010101" charset="-122"/>
              </a:rPr>
              <a:t>竞争压力较大，进入大厂门槛较高，中小型厂也存在裁员危机，程序员自身的</a:t>
            </a:r>
            <a:r>
              <a:rPr lang="en-US" altLang="zh-CN">
                <a:latin typeface="华文仿宋" panose="02010600040101010101" charset="-122"/>
                <a:ea typeface="华文仿宋" panose="02010600040101010101" charset="-122"/>
                <a:cs typeface="华文仿宋" panose="02010600040101010101" charset="-122"/>
              </a:rPr>
              <a:t>35</a:t>
            </a:r>
            <a:r>
              <a:rPr lang="zh-CN" altLang="en-US">
                <a:latin typeface="华文仿宋" panose="02010600040101010101" charset="-122"/>
                <a:ea typeface="华文仿宋" panose="02010600040101010101" charset="-122"/>
                <a:cs typeface="华文仿宋" panose="02010600040101010101" charset="-122"/>
              </a:rPr>
              <a:t>岁危机在人才济济的深圳更加突出。</a:t>
            </a:r>
            <a:endParaRPr lang="zh-CN" altLang="en-US">
              <a:latin typeface="华文仿宋" panose="02010600040101010101" charset="-122"/>
              <a:ea typeface="华文仿宋" panose="02010600040101010101" charset="-122"/>
              <a:cs typeface="华文仿宋" panose="02010600040101010101" charset="-122"/>
            </a:endParaRPr>
          </a:p>
        </p:txBody>
      </p:sp>
      <p:sp>
        <p:nvSpPr>
          <p:cNvPr id="6" name="文本框 5"/>
          <p:cNvSpPr txBox="1"/>
          <p:nvPr/>
        </p:nvSpPr>
        <p:spPr>
          <a:xfrm>
            <a:off x="6685280" y="1686560"/>
            <a:ext cx="4770755" cy="368300"/>
          </a:xfrm>
          <a:prstGeom prst="rect">
            <a:avLst/>
          </a:prstGeom>
          <a:noFill/>
        </p:spPr>
        <p:txBody>
          <a:bodyPr wrap="square" rtlCol="0">
            <a:spAutoFit/>
          </a:bodyPr>
          <a:p>
            <a:endParaRPr lang="zh-CN" altLang="en-US"/>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p>
            <a:r>
              <a:rPr lang="en-US" altLang="zh-CN"/>
              <a:t>       </a:t>
            </a:r>
            <a:r>
              <a:rPr lang="zh-CN" altLang="en-US"/>
              <a:t>行动</a:t>
            </a:r>
            <a:r>
              <a:rPr lang="zh-CN" altLang="en-US"/>
              <a:t>计划</a:t>
            </a:r>
            <a:endParaRPr lang="zh-CN" altLang="en-US"/>
          </a:p>
        </p:txBody>
      </p:sp>
      <p:sp>
        <p:nvSpPr>
          <p:cNvPr id="3" name="内容占位符 2"/>
          <p:cNvSpPr>
            <a:spLocks noGrp="1"/>
          </p:cNvSpPr>
          <p:nvPr>
            <p:ph idx="1"/>
          </p:nvPr>
        </p:nvSpPr>
        <p:spPr/>
        <p:txBody>
          <a:bodyPr>
            <a:normAutofit fontScale="90000"/>
          </a:bodyPr>
          <a:p>
            <a:r>
              <a:rPr lang="zh-CN" altLang="en-US" sz="1335"/>
              <a:t>1.学习专业知识</a:t>
            </a:r>
            <a:endParaRPr lang="zh-CN" altLang="en-US" sz="1335"/>
          </a:p>
          <a:p>
            <a:pPr marL="0" indent="0">
              <a:buNone/>
            </a:pPr>
            <a:r>
              <a:rPr lang="zh-CN" altLang="en-US" sz="1335"/>
              <a:t>首先，我需要不断学习和掌握计算机专业知识和技能，包括编程语言、算法、数据结构、操作系统、网络通信等。我将积极参加课程学习、自学、参加培训班等方式，提高自己的专业水平。</a:t>
            </a:r>
            <a:endParaRPr lang="zh-CN" altLang="en-US" sz="1335"/>
          </a:p>
          <a:p>
            <a:r>
              <a:rPr lang="zh-CN" altLang="en-US" sz="1335"/>
              <a:t>2.实践项目经验</a:t>
            </a:r>
            <a:endParaRPr lang="zh-CN" altLang="en-US" sz="1335"/>
          </a:p>
          <a:p>
            <a:pPr marL="0" indent="0">
              <a:buNone/>
            </a:pPr>
            <a:r>
              <a:rPr lang="zh-CN" altLang="en-US" sz="1335"/>
              <a:t>其次，我需要通过实践项目经验来锻炼自己的编程能力和解决问题的能力。我计划参加学校的实验室项目、实习项目、开源项目等，积累经验并展示自己的能力。比如我现在加入了学校的华为智能基座社团的昇腾部，以后会有很多做实验做显目的机会，我打算紧紧抓住这些机会，好好地锻炼自己。</a:t>
            </a:r>
            <a:endParaRPr lang="zh-CN" altLang="en-US" sz="1335"/>
          </a:p>
          <a:p>
            <a:r>
              <a:rPr lang="zh-CN" altLang="en-US" sz="1335"/>
              <a:t>3.自我学习和发展</a:t>
            </a:r>
            <a:endParaRPr lang="zh-CN" altLang="en-US" sz="1335"/>
          </a:p>
          <a:p>
            <a:pPr marL="0" indent="0">
              <a:buNone/>
            </a:pPr>
            <a:r>
              <a:rPr lang="zh-CN" altLang="en-US" sz="1335"/>
              <a:t>我还将注重自我学习和自我发展，关注行业动态和技术趋势，不断更新自己的知识和技能。同时，我也会注重个人品质和职业道德的培养，提高自己的综合素质。</a:t>
            </a:r>
            <a:endParaRPr lang="zh-CN" altLang="en-US" sz="1335"/>
          </a:p>
          <a:p>
            <a:r>
              <a:rPr lang="zh-CN" altLang="en-US" sz="1335"/>
              <a:t>4.求职准备</a:t>
            </a:r>
            <a:endParaRPr lang="zh-CN" altLang="en-US" sz="1335"/>
          </a:p>
          <a:p>
            <a:pPr marL="0" indent="0">
              <a:buNone/>
            </a:pPr>
            <a:r>
              <a:rPr lang="zh-CN" altLang="en-US" sz="1335"/>
              <a:t>最后，在求职方面，虽然我目前只是一名大一的新生，但我觉得作为深大的计软新生，我在努力学习知识的同时也需要适当了解现在公司的招聘要求和流程，尝试做一下自己的简历，课余时间学习面试技巧模拟面试的场景，从而提高自己的竞争力。同时，我也会积极参加实习和校招活动，增加自己的实践经验和机会。比如我现在报名参加了学校的寒招活动，在为母校做贡献的同时也能增加自己亲身实践的经验</a:t>
            </a:r>
            <a:r>
              <a:rPr lang="zh-CN" altLang="en-US"/>
              <a:t>。</a:t>
            </a:r>
            <a:endParaRPr lang="zh-CN" altLang="en-US"/>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p>
            <a:r>
              <a:rPr lang="en-US" altLang="zh-CN"/>
              <a:t>      </a:t>
            </a:r>
            <a:r>
              <a:rPr lang="zh-CN" altLang="en-US"/>
              <a:t>行动</a:t>
            </a:r>
            <a:r>
              <a:rPr lang="zh-CN" altLang="en-US"/>
              <a:t>成果</a:t>
            </a:r>
            <a:endParaRPr lang="zh-CN" altLang="en-US"/>
          </a:p>
        </p:txBody>
      </p:sp>
      <p:sp>
        <p:nvSpPr>
          <p:cNvPr id="3" name="内容占位符 2"/>
          <p:cNvSpPr>
            <a:spLocks noGrp="1"/>
          </p:cNvSpPr>
          <p:nvPr>
            <p:ph idx="1"/>
          </p:nvPr>
        </p:nvSpPr>
        <p:spPr/>
        <p:txBody>
          <a:bodyPr>
            <a:normAutofit fontScale="90000"/>
          </a:bodyPr>
          <a:p>
            <a:r>
              <a:rPr lang="zh-CN" altLang="en-US"/>
              <a:t>1.专业知识：我希望能掌握扎实的计算机基础知识，包括计算机程序设计、算法和数据结构等方面的知识。同时还能掌握需要广泛的计算机科学和工程知识，例如编程语言、编程范式、操作系统、计算机网络和数据库等方面的知识。</a:t>
            </a:r>
            <a:endParaRPr lang="zh-CN" altLang="en-US"/>
          </a:p>
          <a:p>
            <a:r>
              <a:rPr lang="zh-CN" altLang="en-US"/>
              <a:t>2.技能和能力：能具备编写正确、健壮、可维护、可扩展和可重用的高质量软件的能力，同时能够熟练地使用软件开发工具、技术和方法，例如版本控制系统、集成开发环境、测试工具、代码分析工具和项目管理工具等。同时具有分析和解决问题的能力，能够对问题进行梳理、设计解决方案并快速实现。</a:t>
            </a:r>
            <a:endParaRPr lang="zh-CN" altLang="en-US"/>
          </a:p>
          <a:p>
            <a:r>
              <a:rPr lang="zh-CN" altLang="en-US"/>
              <a:t>3.工作经验：在求职之前有一定的软件开发经验，能够理解软件开发生命周期，并能够应用系统思维和软件工程原则来管理整个软件开发过程。</a:t>
            </a:r>
            <a:endParaRPr lang="zh-CN" altLang="en-US"/>
          </a:p>
          <a:p>
            <a:r>
              <a:rPr lang="zh-CN" altLang="en-US"/>
              <a:t>4.品质和态度：具备高度的责任感及进取精神，能承担较大的工作压力。同时还具备团队合作精神和良好的沟通能力，能够与其他软件开发人员、测试人员、项目经理和其他相关人员有效地合作和沟通。</a:t>
            </a:r>
            <a:endParaRPr lang="zh-CN" altLang="en-US"/>
          </a:p>
          <a:p>
            <a:r>
              <a:rPr lang="zh-CN" altLang="en-US"/>
              <a:t>5.其他要求：具备良好的英语阅读能力，能够阅读和理解相关技术文档。此外，根据具体职位要求，可能还需要具备特定领域的专业知识或技能。</a:t>
            </a:r>
            <a:endParaRPr lang="zh-CN" altLang="en-US"/>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title"/>
          </p:nvPr>
        </p:nvSpPr>
        <p:spPr/>
        <p:txBody>
          <a:bodyPr/>
          <a:p>
            <a:r>
              <a:rPr lang="en-US" altLang="zh-CN"/>
              <a:t>      </a:t>
            </a:r>
            <a:r>
              <a:rPr lang="zh-CN" altLang="en-US"/>
              <a:t>总结与</a:t>
            </a:r>
            <a:r>
              <a:rPr lang="zh-CN" altLang="en-US"/>
              <a:t>调整</a:t>
            </a:r>
            <a:endParaRPr lang="zh-CN" altLang="en-US"/>
          </a:p>
        </p:txBody>
      </p:sp>
      <p:pic>
        <p:nvPicPr>
          <p:cNvPr id="5" name="内容占位符 4" descr="图片3"/>
          <p:cNvPicPr>
            <a:picLocks noChangeAspect="1"/>
          </p:cNvPicPr>
          <p:nvPr>
            <p:ph sz="half" idx="1"/>
          </p:nvPr>
        </p:nvPicPr>
        <p:blipFill>
          <a:blip r:embed="rId2"/>
          <a:stretch>
            <a:fillRect/>
          </a:stretch>
        </p:blipFill>
        <p:spPr>
          <a:xfrm>
            <a:off x="0" y="1501140"/>
            <a:ext cx="12192000" cy="4017645"/>
          </a:xfrm>
          <a:prstGeom prst="rect">
            <a:avLst/>
          </a:prstGeom>
        </p:spPr>
      </p:pic>
      <p:sp>
        <p:nvSpPr>
          <p:cNvPr id="4" name="内容占位符 3"/>
          <p:cNvSpPr>
            <a:spLocks noGrp="1"/>
          </p:cNvSpPr>
          <p:nvPr>
            <p:ph sz="half" idx="2"/>
          </p:nvPr>
        </p:nvSpPr>
        <p:spPr>
          <a:xfrm>
            <a:off x="107315" y="965200"/>
            <a:ext cx="11588750" cy="3128645"/>
          </a:xfrm>
        </p:spPr>
        <p:txBody>
          <a:bodyPr>
            <a:normAutofit/>
          </a:bodyPr>
          <a:p>
            <a:endParaRPr lang="zh-CN" altLang="en-US"/>
          </a:p>
          <a:p>
            <a:endParaRPr lang="zh-CN" altLang="en-US"/>
          </a:p>
          <a:p>
            <a:endParaRPr lang="zh-CN" altLang="en-US"/>
          </a:p>
          <a:p>
            <a:pPr marL="0" indent="0">
              <a:buNone/>
            </a:pPr>
            <a:r>
              <a:rPr lang="zh-CN" altLang="en-US"/>
              <a:t>在实施行动计划的过程中，我会不断总结自己的成长情况和成果，及时发现不足并进行调整。我会定期检查自己的学习进度和实践成果，并与同学和老师进行交流和分享。同时，我也会关注行业动态和技术趋势，及时调整自己的计划和目标。通过不断总结和调整，我相信自己能够实现职业目标并获得成功。</a:t>
            </a:r>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标题 1"/>
          <p:cNvSpPr>
            <a:spLocks noGrp="1"/>
          </p:cNvSpPr>
          <p:nvPr>
            <p:ph type="ctrTitle"/>
          </p:nvPr>
        </p:nvSpPr>
        <p:spPr/>
        <p:txBody>
          <a:bodyPr/>
          <a:p>
            <a:r>
              <a:rPr lang="en-US" altLang="zh-CN">
                <a:ln w="22225">
                  <a:solidFill>
                    <a:schemeClr val="accent2"/>
                  </a:solidFill>
                  <a:prstDash val="solid"/>
                </a:ln>
                <a:solidFill>
                  <a:schemeClr val="accent2">
                    <a:lumMod val="40000"/>
                    <a:lumOff val="60000"/>
                  </a:schemeClr>
                </a:solidFill>
                <a:effectLst>
                  <a:glow rad="228600">
                    <a:schemeClr val="accent3">
                      <a:satMod val="175000"/>
                      <a:alpha val="40000"/>
                    </a:schemeClr>
                  </a:glow>
                </a:effectLst>
              </a:rPr>
              <a:t>Thanks!!</a:t>
            </a:r>
            <a:endParaRPr lang="en-US" altLang="zh-CN">
              <a:ln w="22225">
                <a:solidFill>
                  <a:schemeClr val="accent2"/>
                </a:solidFill>
                <a:prstDash val="solid"/>
              </a:ln>
              <a:solidFill>
                <a:schemeClr val="accent2">
                  <a:lumMod val="40000"/>
                  <a:lumOff val="60000"/>
                </a:schemeClr>
              </a:solidFill>
              <a:effectLst>
                <a:glow rad="228600">
                  <a:schemeClr val="accent3">
                    <a:satMod val="175000"/>
                    <a:alpha val="40000"/>
                  </a:schemeClr>
                </a:glow>
              </a:effectLst>
            </a:endParaRPr>
          </a:p>
        </p:txBody>
      </p:sp>
      <p:sp>
        <p:nvSpPr>
          <p:cNvPr id="3" name="副标题 2"/>
          <p:cNvSpPr>
            <a:spLocks noGrp="1"/>
          </p:cNvSpPr>
          <p:nvPr>
            <p:ph type="subTitle" idx="1"/>
          </p:nvPr>
        </p:nvSpPr>
        <p:spPr/>
        <p:txBody>
          <a:bodyPr/>
          <a:p>
            <a:endParaRPr lang="zh-CN" alt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commondata" val="eyJoZGlkIjoiM2JhOWM1YWM2MjY3ZWY3MWJmZGEwYzExY2Q1YjQxMGIifQ=="/>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F35B0BEE-F18A-47BB-8FCB-E00DA2F2635D-1">
      <extobjdata type="F35B0BEE-F18A-47BB-8FCB-E00DA2F2635D" data="ewoJIkRlc2lnbklkIiA6ICJkYmZiN2RhNC1kMzJmLTRlMDEtODY3Mi03Y2E4NGMzZmE0NzQiCn0K"/>
    </extobj>
    <extobj name="F35B0BEE-F18A-47BB-8FCB-E00DA2F2635D-2">
      <extobjdata type="F35B0BEE-F18A-47BB-8FCB-E00DA2F2635D" data="ewoJIkRlc2lnbklkIiA6ICJhODU3NTFhZS1iZTQ1LTQ0ZWMtOTE5Ny0zNjk0YTNlNmEzOWUiCn0K"/>
    </extobj>
    <extobj name="F35B0BEE-F18A-47BB-8FCB-E00DA2F2635D-3">
      <extobjdata type="F35B0BEE-F18A-47BB-8FCB-E00DA2F2635D" data="ewoJIkRlc2lnbklkIiA6ICI4OGNlMjBiMi02NTk3LTRlYzUtODEyMy0xMGVjN2U0MWFiNDkiCn0K"/>
    </extobj>
  </extobjs>
</s:customData>
</file>

<file path=customXml/itemProps74.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1785</Words>
  <Application>WPS 演示</Application>
  <PresentationFormat>宽屏</PresentationFormat>
  <Paragraphs>56</Paragraphs>
  <Slides>9</Slides>
  <Notes>4</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9</vt:i4>
      </vt:variant>
    </vt:vector>
  </HeadingPairs>
  <TitlesOfParts>
    <vt:vector size="29" baseType="lpstr">
      <vt:lpstr>Arial</vt:lpstr>
      <vt:lpstr>宋体</vt:lpstr>
      <vt:lpstr>Wingdings</vt:lpstr>
      <vt:lpstr>Wingdings</vt:lpstr>
      <vt:lpstr>微软雅黑</vt:lpstr>
      <vt:lpstr>Arial Unicode MS</vt:lpstr>
      <vt:lpstr>Calibri</vt:lpstr>
      <vt:lpstr>黑体</vt:lpstr>
      <vt:lpstr>Source Sans Pro</vt:lpstr>
      <vt:lpstr>adonis-web</vt:lpstr>
      <vt:lpstr>Segoe Print</vt:lpstr>
      <vt:lpstr>adonis-web</vt:lpstr>
      <vt:lpstr>adonis-web</vt:lpstr>
      <vt:lpstr>Source Sans Pro</vt:lpstr>
      <vt:lpstr>Source Sans Pro</vt:lpstr>
      <vt:lpstr>MingLiU-ExtB</vt:lpstr>
      <vt:lpstr>华文中宋</vt:lpstr>
      <vt:lpstr>华文新魏</vt:lpstr>
      <vt:lpstr>华文仿宋</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对方正在输入...</cp:lastModifiedBy>
  <cp:revision>156</cp:revision>
  <dcterms:created xsi:type="dcterms:W3CDTF">2019-06-19T02:08:00Z</dcterms:created>
  <dcterms:modified xsi:type="dcterms:W3CDTF">2023-11-13T08:36:12Z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429D8645D8084DC5B8F98E858F967F80_11</vt:lpwstr>
  </property>
</Properties>
</file>