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9144000" cy="6858000"/>
  <p:custDataLst>
    <p:tags r:id="rId25"/>
  </p:custDataLst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44" y="64"/>
      </p:cViewPr>
      <p:guideLst>
        <p:guide pos="2880"/>
        <p:guide orient="horz" pos="216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97090" y="791570"/>
            <a:ext cx="7949821" cy="329787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85000"/>
              </a:lnSpc>
              <a:defRPr sz="4800" spc="-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586854" y="4199913"/>
            <a:ext cx="7970292" cy="1398708"/>
          </a:xfrm>
        </p:spPr>
        <p:txBody>
          <a:bodyPr lIns="91440" rIns="9144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2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PhAnim="0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582895" y="286605"/>
            <a:ext cx="7964423" cy="71923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82894" y="1121666"/>
            <a:ext cx="7964424" cy="5086142"/>
          </a:xfrm>
        </p:spPr>
        <p:txBody>
          <a:bodyPr>
            <a:normAutofit/>
          </a:bodyPr>
          <a:lstStyle>
            <a:lvl1pPr>
              <a:defRPr sz="2800"/>
            </a:lvl1pPr>
            <a:lvl2pPr marL="444500" indent="-263525">
              <a:buFont typeface="Wingdings" panose="05000000000000000000"/>
              <a:buChar char="§"/>
              <a:defRPr sz="2400"/>
            </a:lvl2pPr>
            <a:lvl3pPr marL="627380" indent="-269875">
              <a:buFont typeface="Wingdings" panose="05000000000000000000"/>
              <a:buChar char="§"/>
              <a:defRPr sz="2400"/>
            </a:lvl3pPr>
            <a:lvl4pPr marL="808355" indent="-269875">
              <a:buFont typeface="Wingdings" panose="05000000000000000000"/>
              <a:buChar char="§"/>
              <a:defRPr sz="2000"/>
            </a:lvl4pPr>
            <a:lvl5pPr marL="982980" indent="-262255">
              <a:buFont typeface="Wingdings" panose="05000000000000000000"/>
              <a:buChar char="§"/>
              <a:defRPr sz="20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 bwMode="auto"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 bwMode="auto"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PhAnim="0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586854" y="758952"/>
            <a:ext cx="7970292" cy="333049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 defTabSz="914400">
              <a:lnSpc>
                <a:spcPct val="85000"/>
              </a:lnSpc>
              <a:spcBef>
                <a:spcPts val="0"/>
              </a:spcBef>
              <a:buNone/>
              <a:defRPr lang="en-US" sz="4800" spc="-5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86854" y="4212451"/>
            <a:ext cx="7970292" cy="1383678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000" cap="all" spc="2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10033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PhAnim="0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 bwMode="auto">
          <a:xfrm>
            <a:off x="583200" y="286606"/>
            <a:ext cx="7936848" cy="71826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97313" y="1108368"/>
            <a:ext cx="3922704" cy="497764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57177" y="1108368"/>
            <a:ext cx="3876984" cy="498105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2C34C3E0-8F87-464B-8BF5-C835B9D1EFAE}" type="datetimeFigureOut">
              <a:rPr lang="en-US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6B9C1DFD-7A37-4EF0-B9EF-5509F1B78000}" type="slidenum">
              <a:rPr lang="en-US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 bwMode="auto"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PhAnim="0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 bwMode="auto">
          <a:xfrm>
            <a:off x="583200" y="286606"/>
            <a:ext cx="7936848" cy="71728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97313" y="1123676"/>
            <a:ext cx="392270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7313" y="1977309"/>
            <a:ext cx="3922704" cy="427223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57177" y="1123676"/>
            <a:ext cx="387698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57177" y="1977309"/>
            <a:ext cx="3876984" cy="427223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 bwMode="auto"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auto"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PhAnim="0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582264" y="286605"/>
            <a:ext cx="7964423" cy="71923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 bwMode="auto"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 bwMode="auto"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 bwMode="auto"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PhAnim="0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14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342900" y="594358"/>
            <a:ext cx="2400300" cy="22860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460238" y="731520"/>
            <a:ext cx="5009393" cy="525780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349135" y="6459788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C34C3E0-8F87-464B-8BF5-C835B9D1EFAE}" type="datetimeFigureOut">
              <a:rPr lang="en-US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600450" y="645978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B9C1DFD-7A37-4EF0-B9EF-5509F1B7800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PhAnim="0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1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13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22960" y="5074920"/>
            <a:ext cx="7589520" cy="82296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13" y="0"/>
            <a:ext cx="9143989" cy="4915076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PhAnim="0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583200" y="286605"/>
            <a:ext cx="7964423" cy="71923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576000" y="1121666"/>
            <a:ext cx="7964424" cy="4747428"/>
          </a:xfrm>
        </p:spPr>
        <p:txBody>
          <a:bodyPr vert="eaVert" lIns="45720" tIns="0" rIns="45720" bIns="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PhAnim="0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6" y="414781"/>
            <a:ext cx="1971675" cy="5757421"/>
          </a:xfrm>
          <a:prstGeom prst="rect">
            <a:avLst/>
          </a:prstGeo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4C3E0-8F87-464B-8BF5-C835B9D1EFAE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9C1DFD-7A37-4EF0-B9EF-5509F1B7800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 bwMode="auto"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 bwMode="auto">
          <a:xfrm>
            <a:off x="1" y="6334317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576001" y="286605"/>
            <a:ext cx="7964423" cy="719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76000" y="1121666"/>
            <a:ext cx="7964424" cy="50935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 sz="2000" b="0" i="0" u="none" strike="noStrike" cap="none" spc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22962" y="6459788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C34C3E0-8F87-464B-8BF5-C835B9D1EFAE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764640" y="6459788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cap="all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425345" y="6459788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B9C1DFD-7A37-4EF0-B9EF-5509F1B78000}" type="slidenum">
              <a:rPr lang="en-US"/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85000"/>
        </a:lnSpc>
        <a:spcBef>
          <a:spcPts val="0"/>
        </a:spcBef>
        <a:buNone/>
        <a:defRPr sz="4200" spc="-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/>
        <a:buChar char="§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4500" marR="0" indent="-263525" algn="l" defTabSz="914400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/>
        <a:buChar char="§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380" marR="0" indent="-269875" algn="l" defTabSz="914400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/>
        <a:buChar char="§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8355" marR="0" indent="-269875" algn="l" defTabSz="914400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/>
        <a:buChar char="§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980" marR="0" indent="-262255" algn="l" defTabSz="914400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/>
        <a:buChar char="§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wingware.com/" TargetMode="External"/><Relationship Id="rId1" Type="http://schemas.openxmlformats.org/officeDocument/2006/relationships/hyperlink" Target="https://www.python.org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docs.python.org/3/tutorial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计算机网络</a:t>
            </a:r>
            <a:br>
              <a:rPr lang="en-US"/>
            </a:br>
            <a:br>
              <a:rPr lang="en-US"/>
            </a:br>
            <a:r>
              <a:rPr lang="zh-CN" sz="4400"/>
              <a:t>实验五 </a:t>
            </a:r>
            <a:r>
              <a:rPr lang="en-US" sz="4400"/>
              <a:t>Socket</a:t>
            </a:r>
            <a:r>
              <a:rPr lang="zh-CN" sz="4400"/>
              <a:t>网络编程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zh-CN"/>
              <a:t>计</a:t>
            </a:r>
            <a:r>
              <a:rPr lang="zh-CN"/>
              <a:t>算机与软件学院</a:t>
            </a:r>
            <a:endParaRPr lang="en-US"/>
          </a:p>
          <a:p>
            <a:pPr>
              <a:spcBef>
                <a:spcPts val="0"/>
              </a:spcBef>
              <a:defRPr/>
            </a:pPr>
            <a:r>
              <a:rPr lang="zh-CN"/>
              <a:t>深圳大学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sz="4000"/>
              <a:t>实验四 </a:t>
            </a:r>
            <a:r>
              <a:rPr lang="en-US" sz="4000"/>
              <a:t>Socket</a:t>
            </a:r>
            <a:r>
              <a:rPr lang="zh-CN" sz="4000"/>
              <a:t>网络编程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 bwMode="auto"/>
        <p:txBody>
          <a:bodyPr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zh-CN"/>
              <a:t>实验目的</a:t>
            </a:r>
            <a:endParaRPr lang="zh-CN"/>
          </a:p>
          <a:p>
            <a:pPr lvl="1">
              <a:defRPr/>
            </a:pPr>
            <a:r>
              <a:rPr lang="zh-CN"/>
              <a:t>理解</a:t>
            </a:r>
            <a:r>
              <a:rPr lang="en-US"/>
              <a:t>UDP</a:t>
            </a:r>
            <a:r>
              <a:rPr lang="zh-CN"/>
              <a:t>与</a:t>
            </a:r>
            <a:r>
              <a:rPr lang="en-US"/>
              <a:t>TCP</a:t>
            </a:r>
            <a:r>
              <a:rPr lang="zh-CN"/>
              <a:t>套接字的区别</a:t>
            </a:r>
            <a:endParaRPr lang="en-US"/>
          </a:p>
          <a:p>
            <a:pPr lvl="1">
              <a:defRPr/>
            </a:pPr>
            <a:r>
              <a:rPr lang="zh-CN"/>
              <a:t>掌握</a:t>
            </a:r>
            <a:r>
              <a:rPr lang="en-US"/>
              <a:t>UDP</a:t>
            </a:r>
            <a:r>
              <a:rPr lang="zh-CN"/>
              <a:t>和</a:t>
            </a:r>
            <a:r>
              <a:rPr lang="en-US"/>
              <a:t>TCP</a:t>
            </a:r>
            <a:r>
              <a:rPr lang="zh-CN"/>
              <a:t>套接字编程方法</a:t>
            </a:r>
            <a:endParaRPr lang="en-US"/>
          </a:p>
          <a:p>
            <a:pPr lvl="1">
              <a:defRPr/>
            </a:pPr>
            <a:r>
              <a:rPr lang="zh-CN"/>
              <a:t>了解简单网络应用的编程思路</a:t>
            </a:r>
            <a:endParaRPr lang="en-US"/>
          </a:p>
          <a:p>
            <a:pPr lvl="1">
              <a:defRPr/>
            </a:pPr>
            <a:r>
              <a:rPr lang="zh-CN"/>
              <a:t>了解网络编程相关的一些库</a:t>
            </a:r>
            <a:endParaRPr lang="en-US"/>
          </a:p>
          <a:p>
            <a:pPr marL="0" indent="0">
              <a:lnSpc>
                <a:spcPct val="90000"/>
              </a:lnSpc>
              <a:buNone/>
              <a:defRPr/>
            </a:pPr>
            <a:endParaRPr lang="en-US"/>
          </a:p>
          <a:p>
            <a:pPr>
              <a:lnSpc>
                <a:spcPct val="90000"/>
              </a:lnSpc>
              <a:defRPr/>
            </a:pPr>
            <a:r>
              <a:rPr lang="zh-CN"/>
              <a:t>实验环境</a:t>
            </a:r>
            <a:endParaRPr lang="zh-CN"/>
          </a:p>
          <a:p>
            <a:pPr lvl="1">
              <a:defRPr/>
            </a:pPr>
            <a:r>
              <a:rPr lang="zh-CN"/>
              <a:t>具有</a:t>
            </a:r>
            <a:r>
              <a:rPr lang="en-US"/>
              <a:t>Internet</a:t>
            </a:r>
            <a:r>
              <a:rPr lang="zh-CN"/>
              <a:t>连接的主机</a:t>
            </a:r>
            <a:endParaRPr lang="en-US"/>
          </a:p>
          <a:p>
            <a:pPr lvl="1">
              <a:defRPr/>
            </a:pPr>
            <a:r>
              <a:rPr lang="zh-CN"/>
              <a:t>某一种编程语言</a:t>
            </a:r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3/1/2020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CDF2DC-913F-4A16-9C18-8900B299D998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实验内容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 bwMode="auto"/>
        <p:txBody>
          <a:bodyPr>
            <a:noAutofit/>
          </a:bodyPr>
          <a:lstStyle/>
          <a:p>
            <a:pPr marL="658495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/>
              <a:t> URL </a:t>
            </a:r>
            <a:r>
              <a:rPr lang="zh-CN"/>
              <a:t>请求程序</a:t>
            </a:r>
            <a:endParaRPr lang="en-US"/>
          </a:p>
          <a:p>
            <a:pPr marL="658495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zh-CN"/>
              <a:t>系统时间查询</a:t>
            </a:r>
            <a:endParaRPr lang="en-US"/>
          </a:p>
          <a:p>
            <a:pPr marL="658495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zh-CN"/>
              <a:t>网络文件传输</a:t>
            </a:r>
            <a:endParaRPr lang="en-US"/>
          </a:p>
          <a:p>
            <a:pPr marL="658495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zh-CN"/>
              <a:t>网络聊天室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3/1/2020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CDF2DC-913F-4A16-9C18-8900B299D998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实验任务要求</a:t>
            </a:r>
            <a:endParaRPr lang="en-US"/>
          </a:p>
        </p:txBody>
      </p:sp>
      <p:sp>
        <p:nvSpPr>
          <p:cNvPr id="15363" name="Content Placeholder 7"/>
          <p:cNvSpPr>
            <a:spLocks noGrp="1" noChangeArrowheads="1"/>
          </p:cNvSpPr>
          <p:nvPr>
            <p:ph idx="1"/>
          </p:nvPr>
        </p:nvSpPr>
        <p:spPr bwMode="auto"/>
        <p:txBody>
          <a:bodyPr/>
          <a:lstStyle/>
          <a:p>
            <a:pPr marL="382905" lvl="1" indent="-182880">
              <a:defRPr/>
            </a:pPr>
            <a:r>
              <a:rPr lang="zh-CN"/>
              <a:t>请参考本讲义套接字编程的基础知识</a:t>
            </a:r>
            <a:endParaRPr lang="en-US"/>
          </a:p>
          <a:p>
            <a:pPr marL="382905" lvl="1" indent="-182880">
              <a:defRPr/>
            </a:pPr>
            <a:r>
              <a:rPr lang="zh-CN"/>
              <a:t>了解网络编程的相关库</a:t>
            </a:r>
            <a:endParaRPr lang="en-US"/>
          </a:p>
          <a:p>
            <a:pPr marL="382905" lvl="1" indent="-182880">
              <a:defRPr/>
            </a:pPr>
            <a:r>
              <a:rPr lang="zh-CN"/>
              <a:t>掌握编写简单网络应用的技能</a:t>
            </a:r>
            <a:endParaRPr lang="en-US"/>
          </a:p>
          <a:p>
            <a:pPr marL="382905" lvl="1" indent="-182880">
              <a:defRPr/>
            </a:pPr>
            <a:r>
              <a:rPr lang="zh-CN"/>
              <a:t>依照步骤完成实验内容</a:t>
            </a:r>
            <a:r>
              <a:rPr lang="en-US"/>
              <a:t>1—4</a:t>
            </a:r>
            <a:endParaRPr lang="en-US"/>
          </a:p>
          <a:p>
            <a:pPr marL="382905" lvl="1" indent="-182880">
              <a:defRPr/>
            </a:pPr>
            <a:r>
              <a:rPr lang="zh-CN"/>
              <a:t>对实验结果截图</a:t>
            </a:r>
            <a:endParaRPr lang="en-US"/>
          </a:p>
          <a:p>
            <a:pPr marL="382905" lvl="1" indent="-182880">
              <a:defRPr/>
            </a:pPr>
            <a:r>
              <a:rPr lang="zh-CN"/>
              <a:t>撰写实验报告</a:t>
            </a:r>
            <a:endParaRPr lang="en-US"/>
          </a:p>
          <a:p>
            <a:pPr marL="382905" lvl="1" indent="-182880">
              <a:defRPr/>
            </a:pPr>
            <a:endParaRPr lang="en-US"/>
          </a:p>
          <a:p>
            <a:pPr marL="382905" lvl="1" indent="-182880">
              <a:defRPr/>
            </a:pPr>
            <a:endParaRPr lang="en-US"/>
          </a:p>
          <a:p>
            <a:pPr marL="382905" lvl="1" indent="-182880">
              <a:defRPr/>
            </a:pP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3/1/2020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4D46A6-7336-4199-AC73-BAD4954AE5E0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实验报告撰写要求</a:t>
            </a:r>
            <a:endParaRPr lang="en-US"/>
          </a:p>
        </p:txBody>
      </p:sp>
      <p:sp>
        <p:nvSpPr>
          <p:cNvPr id="16387" name="Content Placeholder 2"/>
          <p:cNvSpPr>
            <a:spLocks noGrp="1" noChangeArrowheads="1"/>
          </p:cNvSpPr>
          <p:nvPr>
            <p:ph idx="1"/>
          </p:nvPr>
        </p:nvSpPr>
        <p:spPr bwMode="auto"/>
        <p:txBody>
          <a:bodyPr/>
          <a:lstStyle/>
          <a:p>
            <a:pPr marL="382905" lvl="1" indent="-182880">
              <a:defRPr/>
            </a:pPr>
            <a:r>
              <a:rPr lang="zh-CN"/>
              <a:t>使用教务处制作的实验报告模板</a:t>
            </a:r>
            <a:endParaRPr lang="en-US"/>
          </a:p>
          <a:p>
            <a:pPr marL="382905" lvl="1" indent="-182880">
              <a:defRPr/>
            </a:pPr>
            <a:r>
              <a:rPr lang="zh-CN"/>
              <a:t>注意按进度填写实验时间和实验报告提交时间</a:t>
            </a:r>
            <a:endParaRPr lang="en-US"/>
          </a:p>
          <a:p>
            <a:pPr marL="382905" lvl="1" indent="-182880">
              <a:defRPr/>
            </a:pPr>
            <a:r>
              <a:rPr lang="zh-CN"/>
              <a:t>填写模板中的每一部分</a:t>
            </a:r>
            <a:endParaRPr lang="en-US"/>
          </a:p>
          <a:p>
            <a:pPr marL="382905" lvl="1" indent="-182880">
              <a:defRPr/>
            </a:pPr>
            <a:r>
              <a:rPr lang="zh-CN"/>
              <a:t>填写实验步骤时，做到条理清晰</a:t>
            </a:r>
            <a:endParaRPr lang="en-US"/>
          </a:p>
          <a:p>
            <a:pPr marL="382905" lvl="1" indent="-182880">
              <a:defRPr/>
            </a:pPr>
            <a:r>
              <a:rPr lang="zh-CN"/>
              <a:t>注意截图清晰、美观</a:t>
            </a:r>
            <a:endParaRPr lang="en-US"/>
          </a:p>
          <a:p>
            <a:pPr marL="382905" lvl="1" indent="-182880">
              <a:defRPr/>
            </a:pPr>
            <a:r>
              <a:rPr lang="zh-CN"/>
              <a:t>对于实验操作返回结果的解释为加分项，解释地越详细越好</a:t>
            </a:r>
            <a:endParaRPr lang="en-US"/>
          </a:p>
          <a:p>
            <a:pPr marL="382905" lvl="1" indent="-182880">
              <a:defRPr/>
            </a:pPr>
            <a:r>
              <a:rPr lang="zh-CN"/>
              <a:t>禁止抄袭实验报告，抄袭的实验报告都记为</a:t>
            </a:r>
            <a:r>
              <a:rPr lang="en-US"/>
              <a:t>0</a:t>
            </a:r>
            <a:r>
              <a:rPr lang="zh-CN"/>
              <a:t>分</a:t>
            </a: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3/1/2020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D2EED56-5130-434B-A1B8-8BD1EA48AA1F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前言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lvl="1">
              <a:defRPr/>
            </a:pPr>
            <a:r>
              <a:rPr lang="zh-CN"/>
              <a:t>请在</a:t>
            </a:r>
            <a:r>
              <a:rPr lang="en-US"/>
              <a:t>Python</a:t>
            </a:r>
            <a:r>
              <a:rPr lang="zh-CN"/>
              <a:t>官网下载并安装</a:t>
            </a:r>
            <a:r>
              <a:rPr lang="en-US"/>
              <a:t>Python 3</a:t>
            </a:r>
            <a:r>
              <a:rPr lang="zh-CN"/>
              <a:t>。</a:t>
            </a:r>
            <a:r>
              <a:rPr lang="en-US" u="sng">
                <a:hlinkClick r:id="rId1" tooltip="https://www.python.org/"/>
              </a:rPr>
              <a:t>https://www.python.</a:t>
            </a:r>
            <a:r>
              <a:rPr lang="en-US" u="sng">
                <a:hlinkClick r:id="rId1" tooltip="https://www.python.org/"/>
              </a:rPr>
              <a:t>org/</a:t>
            </a: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r>
              <a:rPr lang="zh-CN"/>
              <a:t>开发环境可以用</a:t>
            </a:r>
            <a:r>
              <a:rPr lang="en-US"/>
              <a:t>Wing Python ID</a:t>
            </a:r>
            <a:r>
              <a:rPr lang="zh-CN"/>
              <a:t>，也可以用任何文本编辑器。</a:t>
            </a:r>
            <a:r>
              <a:rPr lang="en-US" u="sng">
                <a:hlinkClick r:id="rId2" tooltip="https://wingware.com/"/>
              </a:rPr>
              <a:t>https://wingware.com/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学习</a:t>
            </a:r>
            <a:r>
              <a:rPr lang="en-US"/>
              <a:t>Python</a:t>
            </a:r>
            <a:r>
              <a:rPr lang="zh-CN"/>
              <a:t>的基础知识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1">
              <a:defRPr/>
            </a:pPr>
            <a:r>
              <a:rPr lang="en-US"/>
              <a:t>Python</a:t>
            </a:r>
            <a:r>
              <a:rPr lang="zh-CN"/>
              <a:t>官方的</a:t>
            </a:r>
            <a:r>
              <a:rPr lang="en-US"/>
              <a:t>Tutorial</a:t>
            </a:r>
            <a:endParaRPr lang="en-US"/>
          </a:p>
          <a:p>
            <a:pPr lvl="2">
              <a:defRPr/>
            </a:pPr>
            <a:r>
              <a:rPr lang="en-US" u="sng">
                <a:hlinkClick r:id="rId1" tooltip="https://docs.python.org/3/tutorial/"/>
              </a:rPr>
              <a:t>https://docs.python.org/3/tutorial/</a:t>
            </a:r>
            <a:endParaRPr lang="en-US"/>
          </a:p>
          <a:p>
            <a:pPr lvl="1">
              <a:defRPr/>
            </a:pPr>
            <a:r>
              <a:rPr lang="zh-CN"/>
              <a:t>掌握以下内容</a:t>
            </a:r>
            <a:endParaRPr lang="en-US"/>
          </a:p>
          <a:p>
            <a:pPr lvl="2">
              <a:defRPr/>
            </a:pPr>
            <a:r>
              <a:rPr lang="en-US"/>
              <a:t>3. An informal Introduction to Python</a:t>
            </a:r>
            <a:endParaRPr lang="en-US"/>
          </a:p>
          <a:p>
            <a:pPr lvl="3">
              <a:defRPr/>
            </a:pPr>
            <a:r>
              <a:rPr lang="en-US"/>
              <a:t>strings</a:t>
            </a:r>
            <a:endParaRPr lang="en-US"/>
          </a:p>
          <a:p>
            <a:pPr lvl="2">
              <a:defRPr/>
            </a:pPr>
            <a:r>
              <a:rPr lang="en-US"/>
              <a:t>4. More Control Flow Tools</a:t>
            </a:r>
            <a:endParaRPr lang="en-US"/>
          </a:p>
          <a:p>
            <a:pPr lvl="3">
              <a:defRPr/>
            </a:pPr>
            <a:r>
              <a:rPr lang="en-US"/>
              <a:t>while </a:t>
            </a:r>
            <a:r>
              <a:rPr lang="zh-CN"/>
              <a:t>语句</a:t>
            </a:r>
            <a:endParaRPr lang="en-US"/>
          </a:p>
          <a:p>
            <a:pPr lvl="3">
              <a:defRPr/>
            </a:pPr>
            <a:r>
              <a:rPr lang="en-US"/>
              <a:t>if/else </a:t>
            </a:r>
            <a:r>
              <a:rPr lang="zh-CN"/>
              <a:t>语句</a:t>
            </a:r>
            <a:endParaRPr lang="en-US"/>
          </a:p>
          <a:p>
            <a:pPr lvl="3">
              <a:defRPr/>
            </a:pPr>
            <a:r>
              <a:rPr lang="en-US"/>
              <a:t>for </a:t>
            </a:r>
            <a:r>
              <a:rPr lang="zh-CN"/>
              <a:t>语句</a:t>
            </a:r>
            <a:endParaRPr lang="en-US"/>
          </a:p>
          <a:p>
            <a:pPr lvl="2">
              <a:defRPr/>
            </a:pPr>
            <a:r>
              <a:rPr lang="en-US"/>
              <a:t>7. Input and Output</a:t>
            </a:r>
            <a:endParaRPr lang="en-US"/>
          </a:p>
          <a:p>
            <a:pPr lvl="3">
              <a:defRPr/>
            </a:pPr>
            <a:r>
              <a:rPr lang="zh-CN"/>
              <a:t>文件读取</a:t>
            </a:r>
            <a:r>
              <a:rPr lang="en-US"/>
              <a:t>/</a:t>
            </a:r>
            <a:r>
              <a:rPr lang="zh-CN"/>
              <a:t>写入</a:t>
            </a:r>
            <a:endParaRPr lang="en-US"/>
          </a:p>
          <a:p>
            <a:pPr lvl="3">
              <a:defRPr/>
            </a:pPr>
            <a:r>
              <a:rPr lang="zh-CN"/>
              <a:t>打印字符串</a:t>
            </a:r>
            <a:endParaRPr lang="en-US"/>
          </a:p>
          <a:p>
            <a:pPr lvl="3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实验内容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 bwMode="auto"/>
        <p:txBody>
          <a:bodyPr>
            <a:noAutofit/>
          </a:bodyPr>
          <a:lstStyle/>
          <a:p>
            <a:pPr marL="658495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/>
              <a:t> URL </a:t>
            </a:r>
            <a:r>
              <a:rPr lang="zh-CN"/>
              <a:t>请求程序</a:t>
            </a:r>
            <a:endParaRPr lang="en-US"/>
          </a:p>
          <a:p>
            <a:pPr marL="658495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zh-CN"/>
              <a:t>系统时间查询</a:t>
            </a:r>
            <a:endParaRPr lang="en-US"/>
          </a:p>
          <a:p>
            <a:pPr marL="658495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zh-CN"/>
              <a:t>网络文件传输</a:t>
            </a:r>
            <a:endParaRPr lang="en-US"/>
          </a:p>
          <a:p>
            <a:pPr marL="658495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zh-CN"/>
              <a:t>网络聊天室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3/1/2020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CDF2DC-913F-4A16-9C18-8900B299D998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1. URL</a:t>
            </a:r>
            <a:r>
              <a:rPr lang="zh-CN"/>
              <a:t>请求程序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1">
              <a:defRPr/>
            </a:pPr>
            <a:r>
              <a:rPr lang="zh-CN"/>
              <a:t>利用</a:t>
            </a:r>
            <a:r>
              <a:rPr lang="en-US"/>
              <a:t>Python</a:t>
            </a:r>
            <a:r>
              <a:rPr lang="zh-CN"/>
              <a:t>的</a:t>
            </a:r>
            <a:r>
              <a:rPr lang="en-US"/>
              <a:t>HTTP</a:t>
            </a:r>
            <a:r>
              <a:rPr lang="zh-CN"/>
              <a:t>库</a:t>
            </a:r>
            <a:r>
              <a:rPr lang="en-US">
                <a:solidFill>
                  <a:srgbClr val="C00000"/>
                </a:solidFill>
              </a:rPr>
              <a:t>Requests</a:t>
            </a:r>
            <a:r>
              <a:rPr lang="zh-CN"/>
              <a:t>实现一个简单的程序。</a:t>
            </a:r>
            <a:endParaRPr lang="en-US"/>
          </a:p>
          <a:p>
            <a:pPr lvl="2">
              <a:defRPr/>
            </a:pPr>
            <a:r>
              <a:rPr lang="en-US"/>
              <a:t>Requests</a:t>
            </a:r>
            <a:r>
              <a:rPr lang="zh-CN"/>
              <a:t>库的官网：</a:t>
            </a:r>
            <a:r>
              <a:rPr lang="en-US"/>
              <a:t>requests.readthedocs.io</a:t>
            </a:r>
            <a:endParaRPr lang="en-US"/>
          </a:p>
          <a:p>
            <a:pPr lvl="2">
              <a:defRPr/>
            </a:pPr>
            <a:r>
              <a:rPr lang="zh-CN"/>
              <a:t>请在官网上阅读用户指南（有中文版），你只需要浏览快速上手部分的四个段落：发送请求、响应内容、二进制内容、原始响应内容。</a:t>
            </a:r>
            <a:endParaRPr lang="en-US"/>
          </a:p>
          <a:p>
            <a:pPr lvl="1">
              <a:defRPr/>
            </a:pPr>
            <a:r>
              <a:rPr lang="zh-CN"/>
              <a:t>请求一个网页，并存储为</a:t>
            </a:r>
            <a:r>
              <a:rPr lang="en-US"/>
              <a:t>html</a:t>
            </a:r>
            <a:r>
              <a:rPr lang="zh-CN"/>
              <a:t>文件。</a:t>
            </a:r>
            <a:endParaRPr lang="en-US"/>
          </a:p>
          <a:p>
            <a:pPr lvl="1">
              <a:defRPr/>
            </a:pPr>
            <a:r>
              <a:rPr lang="zh-CN"/>
              <a:t>计算所请求网页的大小。</a:t>
            </a: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1. URL</a:t>
            </a:r>
            <a:r>
              <a:rPr lang="zh-CN"/>
              <a:t>请求程序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1">
              <a:defRPr/>
            </a:pPr>
            <a:r>
              <a:rPr lang="zh-CN"/>
              <a:t>要求打印所请求网页的</a:t>
            </a:r>
            <a:r>
              <a:rPr lang="en-US"/>
              <a:t>URL</a:t>
            </a:r>
            <a:r>
              <a:rPr lang="zh-CN"/>
              <a:t>、存储文件名、文件大小等信息。</a:t>
            </a:r>
            <a:endParaRPr lang="en-US"/>
          </a:p>
          <a:p>
            <a:pPr lvl="2">
              <a:defRPr/>
            </a:pPr>
            <a:r>
              <a:rPr lang="zh-CN"/>
              <a:t>下图是一个范例。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1146008" y="2719329"/>
            <a:ext cx="6851985" cy="14193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2. </a:t>
            </a:r>
            <a:r>
              <a:rPr lang="zh-CN"/>
              <a:t>系统时间查询</a:t>
            </a:r>
            <a:endParaRPr lang="zh-CN"/>
          </a:p>
        </p:txBody>
      </p:sp>
      <p:sp>
        <p:nvSpPr>
          <p:cNvPr id="6147" name="Rectangle 6"/>
          <p:cNvSpPr>
            <a:spLocks noGrp="1" noChangeArrowheads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lvl="1">
              <a:defRPr/>
            </a:pPr>
            <a:r>
              <a:rPr lang="zh-CN"/>
              <a:t>实现一个基于客户</a:t>
            </a:r>
            <a:r>
              <a:rPr lang="en-US"/>
              <a:t>/</a:t>
            </a:r>
            <a:r>
              <a:rPr lang="zh-CN"/>
              <a:t>服务</a:t>
            </a:r>
            <a:r>
              <a:rPr lang="zh-CN"/>
              <a:t>器的系统时间查询程</a:t>
            </a:r>
            <a:r>
              <a:rPr lang="zh-CN"/>
              <a:t>序。</a:t>
            </a:r>
            <a:endParaRPr lang="en-US"/>
          </a:p>
          <a:p>
            <a:pPr lvl="1">
              <a:defRPr/>
            </a:pPr>
            <a:r>
              <a:rPr lang="zh-CN"/>
              <a:t>传输层使用</a:t>
            </a:r>
            <a:r>
              <a:rPr lang="en-US"/>
              <a:t>TCP</a:t>
            </a:r>
            <a:r>
              <a:rPr lang="zh-CN"/>
              <a:t>。</a:t>
            </a:r>
            <a:endParaRPr lang="en-US"/>
          </a:p>
          <a:p>
            <a:pPr lvl="1">
              <a:defRPr/>
            </a:pPr>
            <a:r>
              <a:rPr lang="zh-CN"/>
              <a:t>交互过程</a:t>
            </a:r>
            <a:endParaRPr lang="en-US"/>
          </a:p>
          <a:p>
            <a:pPr marL="841375" lvl="2" indent="-457200">
              <a:buFont typeface="+mj-lt"/>
              <a:buAutoNum type="arabicParenR"/>
              <a:defRPr/>
            </a:pPr>
            <a:r>
              <a:rPr lang="zh-CN"/>
              <a:t>客户端向服务器端</a:t>
            </a:r>
            <a:r>
              <a:rPr lang="zh-CN"/>
              <a:t>发送字符串</a:t>
            </a:r>
            <a:r>
              <a:rPr lang="en-US"/>
              <a:t>”Time”</a:t>
            </a:r>
            <a:r>
              <a:rPr lang="zh-CN"/>
              <a:t>。</a:t>
            </a:r>
            <a:endParaRPr lang="en-US"/>
          </a:p>
          <a:p>
            <a:pPr marL="841375" lvl="2" indent="-457200">
              <a:buFont typeface="+mj-lt"/>
              <a:buAutoNum type="arabicParenR"/>
              <a:defRPr/>
            </a:pPr>
            <a:r>
              <a:rPr lang="zh-CN"/>
              <a:t>服务器端收到该字符串后，返回当前系统时间。</a:t>
            </a:r>
            <a:endParaRPr lang="zh-CN"/>
          </a:p>
          <a:p>
            <a:pPr marL="841375" lvl="2" indent="-457200">
              <a:buFont typeface="+mj-lt"/>
              <a:buAutoNum type="arabicParenR"/>
              <a:defRPr/>
            </a:pPr>
            <a:r>
              <a:rPr lang="zh-CN"/>
              <a:t>客户端向服务器端发送字符串</a:t>
            </a:r>
            <a:r>
              <a:rPr lang="en-US"/>
              <a:t>”Exit”</a:t>
            </a:r>
            <a:r>
              <a:rPr lang="zh-CN"/>
              <a:t>。</a:t>
            </a:r>
            <a:endParaRPr lang="en-US"/>
          </a:p>
          <a:p>
            <a:pPr marL="841375" lvl="2" indent="-457200">
              <a:buFont typeface="+mj-lt"/>
              <a:buAutoNum type="arabicParenR"/>
              <a:defRPr/>
            </a:pPr>
            <a:r>
              <a:rPr lang="zh-CN"/>
              <a:t>服务器端返回</a:t>
            </a:r>
            <a:r>
              <a:rPr lang="en-US"/>
              <a:t>”Bye”</a:t>
            </a:r>
            <a:r>
              <a:rPr lang="zh-CN"/>
              <a:t>，然后结束</a:t>
            </a:r>
            <a:r>
              <a:rPr lang="en-US"/>
              <a:t>TCP</a:t>
            </a:r>
            <a:r>
              <a:rPr lang="zh-CN"/>
              <a:t>连接。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2. </a:t>
            </a:r>
            <a:r>
              <a:rPr lang="zh-CN"/>
              <a:t>系统时间查询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1">
              <a:defRPr/>
            </a:pPr>
            <a:r>
              <a:rPr lang="zh-CN"/>
              <a:t>要求</a:t>
            </a:r>
            <a:r>
              <a:rPr lang="zh-CN"/>
              <a:t>服务器端和客户端</a:t>
            </a:r>
            <a:r>
              <a:rPr lang="zh-CN"/>
              <a:t>打印交互过程</a:t>
            </a:r>
            <a:r>
              <a:rPr lang="zh-CN"/>
              <a:t>。</a:t>
            </a:r>
            <a:endParaRPr lang="en-US"/>
          </a:p>
          <a:p>
            <a:pPr lvl="2">
              <a:defRPr/>
            </a:pPr>
            <a:r>
              <a:rPr lang="zh-CN"/>
              <a:t>下图是一个范例。</a:t>
            </a: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4580615" y="2985468"/>
            <a:ext cx="4038829" cy="104938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rcRect l="8585" t="10254" r="8093" b="19587"/>
          <a:stretch>
            <a:fillRect/>
          </a:stretch>
        </p:blipFill>
        <p:spPr bwMode="auto">
          <a:xfrm>
            <a:off x="4580615" y="4307938"/>
            <a:ext cx="4036394" cy="188868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auto">
          <a:xfrm>
            <a:off x="312220" y="2612201"/>
            <a:ext cx="877163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>
                <a:solidFill>
                  <a:schemeClr val="bg1"/>
                </a:solidFill>
              </a:rPr>
              <a:t>服务器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4580615" y="2612201"/>
            <a:ext cx="1455848" cy="369332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>
                <a:solidFill>
                  <a:schemeClr val="bg1"/>
                </a:solidFill>
              </a:rPr>
              <a:t>本地客户端</a:t>
            </a:r>
            <a:r>
              <a:rPr lang="en-US">
                <a:solidFill>
                  <a:schemeClr val="bg1"/>
                </a:solidFill>
              </a:rPr>
              <a:t>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 bwMode="auto">
          <a:xfrm>
            <a:off x="4580615" y="4084910"/>
            <a:ext cx="1455848" cy="3693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>
                <a:solidFill>
                  <a:schemeClr val="bg1"/>
                </a:solidFill>
              </a:rPr>
              <a:t>远程客户端</a:t>
            </a:r>
            <a:r>
              <a:rPr lang="en-US">
                <a:solidFill>
                  <a:schemeClr val="bg1"/>
                </a:solidFill>
              </a:rPr>
              <a:t>2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12220" y="2979161"/>
            <a:ext cx="4050099" cy="3217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3. </a:t>
            </a:r>
            <a:r>
              <a:rPr lang="zh-CN"/>
              <a:t>网络文件传输</a:t>
            </a:r>
            <a:endParaRPr lang="zh-CN"/>
          </a:p>
        </p:txBody>
      </p:sp>
      <p:sp>
        <p:nvSpPr>
          <p:cNvPr id="6147" name="Rectangle 6"/>
          <p:cNvSpPr>
            <a:spLocks noGrp="1" noChangeArrowheads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lvl="1">
              <a:defRPr/>
            </a:pPr>
            <a:r>
              <a:rPr lang="zh-CN"/>
              <a:t>实现一个基于客户</a:t>
            </a:r>
            <a:r>
              <a:rPr lang="en-US"/>
              <a:t>/</a:t>
            </a:r>
            <a:r>
              <a:rPr lang="zh-CN"/>
              <a:t>服务器的网络文件传输程序。</a:t>
            </a:r>
            <a:endParaRPr lang="en-US"/>
          </a:p>
          <a:p>
            <a:pPr lvl="1">
              <a:defRPr/>
            </a:pPr>
            <a:r>
              <a:rPr lang="zh-CN"/>
              <a:t>传输层使用</a:t>
            </a:r>
            <a:r>
              <a:rPr lang="en-US"/>
              <a:t>TCP</a:t>
            </a:r>
            <a:r>
              <a:rPr lang="zh-CN"/>
              <a:t>。</a:t>
            </a:r>
            <a:endParaRPr lang="en-US"/>
          </a:p>
          <a:p>
            <a:pPr lvl="1">
              <a:defRPr/>
            </a:pPr>
            <a:r>
              <a:rPr lang="zh-CN"/>
              <a:t>交互过程</a:t>
            </a:r>
            <a:endParaRPr lang="en-US"/>
          </a:p>
          <a:p>
            <a:pPr marL="841375" lvl="2" indent="-457200">
              <a:buFont typeface="+mj-lt"/>
              <a:buAutoNum type="arabicParenR"/>
              <a:defRPr/>
            </a:pPr>
            <a:r>
              <a:rPr lang="zh-CN"/>
              <a:t>客户端从用户输入获得待请求的文件名。</a:t>
            </a:r>
            <a:endParaRPr lang="en-US"/>
          </a:p>
          <a:p>
            <a:pPr marL="841375" lvl="2" indent="-457200">
              <a:buFont typeface="+mj-lt"/>
              <a:buAutoNum type="arabicParenR"/>
              <a:defRPr/>
            </a:pPr>
            <a:r>
              <a:rPr lang="zh-CN"/>
              <a:t>客户端向服务器端</a:t>
            </a:r>
            <a:r>
              <a:rPr lang="zh-CN"/>
              <a:t>发送文件名。</a:t>
            </a:r>
            <a:endParaRPr lang="en-US"/>
          </a:p>
          <a:p>
            <a:pPr marL="841375" lvl="2" indent="-457200">
              <a:buFont typeface="+mj-lt"/>
              <a:buAutoNum type="arabicParenR"/>
              <a:defRPr/>
            </a:pPr>
            <a:r>
              <a:rPr lang="zh-CN"/>
              <a:t>服务器端收到文件名后，传输文件。</a:t>
            </a:r>
            <a:endParaRPr lang="zh-CN"/>
          </a:p>
          <a:p>
            <a:pPr marL="841375" lvl="2" indent="-457200">
              <a:buFont typeface="+mj-lt"/>
              <a:buAutoNum type="arabicParenR"/>
              <a:defRPr/>
            </a:pPr>
            <a:r>
              <a:rPr lang="zh-CN"/>
              <a:t>客户端接收文件，重命名并存储在硬盘</a:t>
            </a:r>
            <a:r>
              <a:rPr lang="zh-CN"/>
              <a:t>。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3. </a:t>
            </a:r>
            <a:r>
              <a:rPr lang="zh-CN"/>
              <a:t>网络文件传输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1">
              <a:defRPr/>
            </a:pPr>
            <a:r>
              <a:rPr lang="zh-CN"/>
              <a:t>要求</a:t>
            </a:r>
            <a:r>
              <a:rPr lang="zh-CN"/>
              <a:t>服务器端和客户端</a:t>
            </a:r>
            <a:r>
              <a:rPr lang="zh-CN"/>
              <a:t>打印交互过程</a:t>
            </a:r>
            <a:r>
              <a:rPr lang="zh-CN"/>
              <a:t>。</a:t>
            </a:r>
            <a:endParaRPr lang="en-US"/>
          </a:p>
          <a:p>
            <a:pPr lvl="2">
              <a:defRPr/>
            </a:pPr>
            <a:r>
              <a:rPr lang="zh-CN"/>
              <a:t>下图是一个范例。</a:t>
            </a: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4741770" y="2484752"/>
            <a:ext cx="4276367" cy="325158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422" y="2484752"/>
            <a:ext cx="4272511" cy="32515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4. </a:t>
            </a:r>
            <a:r>
              <a:rPr lang="zh-CN"/>
              <a:t>网络聊天室</a:t>
            </a:r>
            <a:endParaRPr lang="zh-CN"/>
          </a:p>
        </p:txBody>
      </p:sp>
      <p:sp>
        <p:nvSpPr>
          <p:cNvPr id="6147" name="Rectangle 6"/>
          <p:cNvSpPr>
            <a:spLocks noGrp="1" noChangeArrowheads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lvl="1">
              <a:defRPr/>
            </a:pPr>
            <a:r>
              <a:rPr lang="zh-CN"/>
              <a:t>实现一个基于客户</a:t>
            </a:r>
            <a:r>
              <a:rPr lang="en-US"/>
              <a:t>/</a:t>
            </a:r>
            <a:r>
              <a:rPr lang="zh-CN"/>
              <a:t>服务器的网络聊天程序。</a:t>
            </a:r>
            <a:endParaRPr lang="en-US"/>
          </a:p>
          <a:p>
            <a:pPr lvl="1">
              <a:defRPr/>
            </a:pPr>
            <a:r>
              <a:rPr lang="zh-CN"/>
              <a:t>要求实现多个用户的群聊。</a:t>
            </a:r>
            <a:endParaRPr lang="en-US"/>
          </a:p>
          <a:p>
            <a:pPr lvl="1">
              <a:defRPr/>
            </a:pPr>
            <a:r>
              <a:rPr lang="zh-CN"/>
              <a:t>传输层使用</a:t>
            </a:r>
            <a:r>
              <a:rPr lang="en-US"/>
              <a:t>UDP</a:t>
            </a:r>
            <a:r>
              <a:rPr lang="zh-CN"/>
              <a:t>。</a:t>
            </a:r>
            <a:endParaRPr lang="en-US"/>
          </a:p>
          <a:p>
            <a:pPr lvl="1">
              <a:defRPr/>
            </a:pPr>
            <a:r>
              <a:rPr lang="zh-CN"/>
              <a:t>不要求实现</a:t>
            </a:r>
            <a:r>
              <a:rPr lang="en-US"/>
              <a:t>GUI</a:t>
            </a:r>
            <a:r>
              <a:rPr lang="zh-CN"/>
              <a:t>界面。</a:t>
            </a:r>
            <a:endParaRPr lang="en-US"/>
          </a:p>
          <a:p>
            <a:pPr lvl="2">
              <a:defRPr/>
            </a:pPr>
            <a:r>
              <a:rPr lang="zh-CN"/>
              <a:t>计算机专业或感兴趣的同学可以挑战一下。</a:t>
            </a:r>
            <a:endParaRPr lang="en-US"/>
          </a:p>
          <a:p>
            <a:pPr lvl="2">
              <a:defRPr/>
            </a:pPr>
            <a:endParaRPr lang="en-US"/>
          </a:p>
          <a:p>
            <a:pPr lvl="2">
              <a:defRPr/>
            </a:pPr>
            <a:endParaRPr lang="en-US"/>
          </a:p>
          <a:p>
            <a:pPr lvl="2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4.</a:t>
            </a:r>
            <a:r>
              <a:rPr lang="zh-CN"/>
              <a:t>网络聊天室</a:t>
            </a:r>
            <a:r>
              <a:rPr lang="en-US"/>
              <a:t>Q&amp;A</a:t>
            </a:r>
            <a:endParaRPr lang="zh-CN"/>
          </a:p>
        </p:txBody>
      </p:sp>
      <p:sp>
        <p:nvSpPr>
          <p:cNvPr id="6147" name="Rectangle 6"/>
          <p:cNvSpPr>
            <a:spLocks noGrp="1" noChangeArrowheads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47675" lvl="1" indent="-247650">
              <a:buFont typeface="Calibri" panose="020F0502020204030204"/>
              <a:buChar char="Q"/>
              <a:defRPr/>
            </a:pPr>
            <a:r>
              <a:rPr lang="zh-CN" sz="2400"/>
              <a:t>什么是群聊呢？</a:t>
            </a:r>
            <a:endParaRPr lang="en-US" sz="2400"/>
          </a:p>
          <a:p>
            <a:pPr marL="447675" lvl="1" indent="-247650">
              <a:buFont typeface="Calibri" panose="020F0502020204030204"/>
              <a:buChar char="A"/>
              <a:defRPr/>
            </a:pPr>
            <a:r>
              <a:rPr lang="zh-CN" sz="2400"/>
              <a:t>一个用户发消息，所有用户都能收到。相应地，一个客户端把聊天消息发给服务器，服务器再将收到的消息转发给所有客户端。</a:t>
            </a:r>
            <a:endParaRPr lang="en-US" sz="2400"/>
          </a:p>
          <a:p>
            <a:pPr marL="447675" lvl="1" indent="-247650">
              <a:buFont typeface="Calibri" panose="020F0502020204030204"/>
              <a:buChar char="Q"/>
              <a:defRPr/>
            </a:pPr>
            <a:r>
              <a:rPr lang="zh-CN" sz="2400"/>
              <a:t>服务器怎么知道聊天室里有哪些用户</a:t>
            </a:r>
            <a:r>
              <a:rPr lang="en-US" sz="2400"/>
              <a:t>(</a:t>
            </a:r>
            <a:r>
              <a:rPr lang="zh-CN" sz="2400"/>
              <a:t>客户端</a:t>
            </a:r>
            <a:r>
              <a:rPr lang="en-US" sz="2400"/>
              <a:t>)</a:t>
            </a:r>
            <a:r>
              <a:rPr lang="zh-CN" sz="2400"/>
              <a:t>呢？</a:t>
            </a:r>
            <a:endParaRPr lang="en-US" sz="2400"/>
          </a:p>
          <a:p>
            <a:pPr marL="447675" lvl="1" indent="-247650">
              <a:buFont typeface="Calibri" panose="020F0502020204030204"/>
              <a:buChar char="A"/>
              <a:defRPr/>
            </a:pPr>
            <a:r>
              <a:rPr lang="zh-CN" sz="2400"/>
              <a:t>这就需要服务器程序维护一个聊天室用户列表。新用户到达时加进来，旧用户离开时删除。</a:t>
            </a:r>
            <a:endParaRPr lang="en-US" sz="2400"/>
          </a:p>
          <a:p>
            <a:pPr marL="447675" lvl="1" indent="-247650">
              <a:buFont typeface="Calibri" panose="020F0502020204030204"/>
              <a:buChar char="Q"/>
              <a:defRPr/>
            </a:pPr>
            <a:r>
              <a:rPr lang="zh-CN" sz="2400"/>
              <a:t>我们要求用</a:t>
            </a:r>
            <a:r>
              <a:rPr lang="en-US" sz="2400"/>
              <a:t>UDP</a:t>
            </a:r>
            <a:r>
              <a:rPr lang="zh-CN" sz="2400"/>
              <a:t>实现，那每次服务器收到消息，它怎么知道这次是新用户？</a:t>
            </a:r>
            <a:endParaRPr lang="en-US" sz="2400"/>
          </a:p>
          <a:p>
            <a:pPr marL="447675" lvl="1" indent="-247650">
              <a:buFont typeface="Calibri" panose="020F0502020204030204"/>
              <a:buChar char="A"/>
              <a:defRPr/>
            </a:pPr>
            <a:r>
              <a:rPr lang="zh-CN" sz="2400"/>
              <a:t>通过查询用户列表，不就知道了，新用户肯定不在表里。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4. </a:t>
            </a:r>
            <a:r>
              <a:rPr lang="zh-CN"/>
              <a:t>网络聊天室</a:t>
            </a:r>
            <a:r>
              <a:rPr lang="en-US"/>
              <a:t>Q&amp;A</a:t>
            </a:r>
            <a:endParaRPr lang="zh-CN"/>
          </a:p>
        </p:txBody>
      </p:sp>
      <p:sp>
        <p:nvSpPr>
          <p:cNvPr id="6147" name="Rectangle 6"/>
          <p:cNvSpPr>
            <a:spLocks noGrp="1" noChangeArrowheads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47675" lvl="1" indent="-247650">
              <a:buFont typeface="Calibri" panose="020F0502020204030204"/>
              <a:buChar char="Q"/>
              <a:defRPr/>
            </a:pPr>
            <a:r>
              <a:rPr lang="zh-CN" sz="2400"/>
              <a:t>那怎么才能知道旧用户什么时候离开呢？</a:t>
            </a:r>
            <a:endParaRPr lang="en-US" sz="2400"/>
          </a:p>
          <a:p>
            <a:pPr marL="447675" lvl="1" indent="-247650">
              <a:buFont typeface="Calibri" panose="020F0502020204030204"/>
              <a:buChar char="A"/>
              <a:defRPr/>
            </a:pPr>
            <a:r>
              <a:rPr lang="en-US" sz="2400"/>
              <a:t>UDP</a:t>
            </a:r>
            <a:r>
              <a:rPr lang="zh-CN" sz="2400"/>
              <a:t>数据报是反映不出来的。那这就需要应用层设计协议实现，比如要求用户离开的时候输入特殊字符串。服务器收到消息时，通过查看消息内容判断用户是不是终止聊天。</a:t>
            </a:r>
            <a:endParaRPr lang="en-US" sz="2400"/>
          </a:p>
          <a:p>
            <a:pPr marL="447675" lvl="1" indent="-247650">
              <a:buFont typeface="Calibri" panose="020F0502020204030204"/>
              <a:buChar char="Q"/>
              <a:defRPr/>
            </a:pPr>
            <a:r>
              <a:rPr lang="zh-CN" sz="2400"/>
              <a:t>客户端好像要做两个事情：要从键盘获取用户输入并把消息发给服务器，还要接收并显示服务器发送的其他用户的聊天消息。那这两件事怎么能同时进行了？</a:t>
            </a:r>
            <a:endParaRPr lang="en-US" sz="2400"/>
          </a:p>
          <a:p>
            <a:pPr marL="447675" lvl="1" indent="-247650">
              <a:buFont typeface="Calibri" panose="020F0502020204030204"/>
              <a:buChar char="A"/>
              <a:defRPr/>
            </a:pPr>
            <a:r>
              <a:rPr lang="zh-CN" sz="2400"/>
              <a:t>可以通过两个线程实现的。一个线程负责接收并显示消息，另一个线程负责获取输入和发送消息。</a:t>
            </a:r>
            <a:r>
              <a:rPr lang="en-US" sz="2400"/>
              <a:t>Python</a:t>
            </a:r>
            <a:r>
              <a:rPr lang="zh-CN" sz="2400"/>
              <a:t>里</a:t>
            </a:r>
            <a:r>
              <a:rPr lang="en-US" sz="2400"/>
              <a:t>threading</a:t>
            </a:r>
            <a:r>
              <a:rPr lang="zh-CN" sz="2400"/>
              <a:t>库可以实现多线程编程。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4. </a:t>
            </a:r>
            <a:r>
              <a:rPr lang="zh-CN"/>
              <a:t>网络聊天室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1">
              <a:defRPr/>
            </a:pPr>
            <a:r>
              <a:rPr lang="zh-CN"/>
              <a:t>要求客户端打印聊天消息，服务器打印系统信息。</a:t>
            </a:r>
            <a:endParaRPr lang="en-US"/>
          </a:p>
          <a:p>
            <a:pPr lvl="2">
              <a:defRPr/>
            </a:pPr>
            <a:r>
              <a:rPr lang="zh-CN"/>
              <a:t>下图是一个范例。</a:t>
            </a:r>
            <a:r>
              <a:rPr lang="en-US"/>
              <a:t>(</a:t>
            </a:r>
            <a:r>
              <a:rPr lang="zh-CN"/>
              <a:t>用户</a:t>
            </a:r>
            <a:r>
              <a:rPr lang="en-US"/>
              <a:t>Leonard</a:t>
            </a:r>
            <a:r>
              <a:rPr lang="zh-CN"/>
              <a:t>，</a:t>
            </a:r>
            <a:r>
              <a:rPr lang="en-US"/>
              <a:t>Sheldon</a:t>
            </a:r>
            <a:r>
              <a:rPr lang="zh-CN"/>
              <a:t>，</a:t>
            </a:r>
            <a:r>
              <a:rPr lang="en-US"/>
              <a:t>Penny)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746504" y="1951417"/>
            <a:ext cx="2528099" cy="42962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12061" y="1951417"/>
            <a:ext cx="2523741" cy="42962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088051" y="1951417"/>
            <a:ext cx="2525919" cy="4296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4. </a:t>
            </a:r>
            <a:r>
              <a:rPr lang="zh-CN"/>
              <a:t>网络聊天室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1">
              <a:defRPr/>
            </a:pPr>
            <a:r>
              <a:rPr lang="zh-CN"/>
              <a:t>要求客户端打印聊天消息，服务器打印系统信息。</a:t>
            </a:r>
            <a:endParaRPr lang="en-US"/>
          </a:p>
          <a:p>
            <a:pPr lvl="2">
              <a:defRPr/>
            </a:pPr>
            <a:r>
              <a:rPr lang="zh-CN"/>
              <a:t>下图是一个范例。</a:t>
            </a:r>
            <a:r>
              <a:rPr lang="en-US"/>
              <a:t>(</a:t>
            </a:r>
            <a:r>
              <a:rPr lang="zh-CN"/>
              <a:t>服务器端</a:t>
            </a:r>
            <a:r>
              <a:rPr lang="en-US"/>
              <a:t>)</a:t>
            </a:r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2553534" y="1993459"/>
            <a:ext cx="4009355" cy="4296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commondata" val="eyJoZGlkIjoiNzkzMmExYzE4ZjJlNGI1YjBkMmIwMGY1ZTA4NDkzMzYifQ=="/>
</p:tagLst>
</file>

<file path=ppt/theme/theme1.xml><?xml version="1.0" encoding="utf-8"?>
<a:theme xmlns:a="http://schemas.openxmlformats.org/drawingml/2006/main" name="computer-network">
  <a:themeElements>
    <a:clrScheme name="Custom 10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3DA3ED"/>
      </a:accent1>
      <a:accent2>
        <a:srgbClr val="00B4A6"/>
      </a:accent2>
      <a:accent3>
        <a:srgbClr val="E81588"/>
      </a:accent3>
      <a:accent4>
        <a:srgbClr val="008222"/>
      </a:accent4>
      <a:accent5>
        <a:srgbClr val="F1B61E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3">
      <a:majorFont>
        <a:latin typeface="Calibri"/>
        <a:ea typeface="华文楷体"/>
        <a:cs typeface="Arial"/>
      </a:majorFont>
      <a:minorFont>
        <a:latin typeface="Calibri"/>
        <a:ea typeface="华文楷体"/>
        <a:cs typeface="Arial"/>
      </a:minorFont>
    </a:fontScheme>
    <a:fmtScheme name="Retrospect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computer-network</Template>
  <TotalTime>0</TotalTime>
  <Words>1924</Words>
  <Application>WPS 演示</Application>
  <PresentationFormat>On-screen Show (4:3)</PresentationFormat>
  <Paragraphs>197</Paragraphs>
  <Slides>19</Slides>
  <Notes>19</Notes>
  <HiddenSlides>0</HiddenSlides>
  <MMClips>2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Calibri</vt:lpstr>
      <vt:lpstr>华文楷体</vt:lpstr>
      <vt:lpstr>微软雅黑</vt:lpstr>
      <vt:lpstr>Arial Unicode MS</vt:lpstr>
      <vt:lpstr>computer-network</vt:lpstr>
      <vt:lpstr>计算机网络  实验四 Socket网络编程</vt:lpstr>
      <vt:lpstr>实验四 Socket网络编程</vt:lpstr>
      <vt:lpstr>实验内容</vt:lpstr>
      <vt:lpstr>实验任务要求</vt:lpstr>
      <vt:lpstr>实验报告撰写要求</vt:lpstr>
      <vt:lpstr>前言</vt:lpstr>
      <vt:lpstr>学习Python的基础知识</vt:lpstr>
      <vt:lpstr>实验内容</vt:lpstr>
      <vt:lpstr>1. URL请求程序</vt:lpstr>
      <vt:lpstr>1. URL请求程序</vt:lpstr>
      <vt:lpstr>2. 系统时间查询</vt:lpstr>
      <vt:lpstr>2. 系统时间查询</vt:lpstr>
      <vt:lpstr>3. 网络文件传输</vt:lpstr>
      <vt:lpstr>3. 网络文件传输</vt:lpstr>
      <vt:lpstr>4. 网络聊天室</vt:lpstr>
      <vt:lpstr>4.网络聊天室Q&amp;A</vt:lpstr>
      <vt:lpstr>4. 网络聊天室Q&amp;A</vt:lpstr>
      <vt:lpstr>4. 网络聊天室</vt:lpstr>
      <vt:lpstr>4. 网络聊天室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谢瑞桃</dc:creator>
  <cp:lastModifiedBy>江畔渔火</cp:lastModifiedBy>
  <cp:revision>268</cp:revision>
  <dcterms:created xsi:type="dcterms:W3CDTF">2020-03-02T12:19:00Z</dcterms:created>
  <dcterms:modified xsi:type="dcterms:W3CDTF">2024-02-28T03:46:38Z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B1AC7CC070F547A3A30E48D2669025FA_12</vt:lpwstr>
  </property>
  <property fmtid="{D5CDD505-2E9C-101B-9397-08002B2CF9AE}" pid="3" name="KSOProductBuildVer">
    <vt:lpwstr>2052-12.1.0.16388</vt:lpwstr>
  </property>
</Properties>
</file>