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89" r:id="rId1"/>
  </p:sldMasterIdLst>
  <p:notesMasterIdLst>
    <p:notesMasterId r:id="rId37"/>
  </p:notesMasterIdLst>
  <p:sldIdLst>
    <p:sldId id="284" r:id="rId2"/>
    <p:sldId id="282" r:id="rId3"/>
    <p:sldId id="525" r:id="rId4"/>
    <p:sldId id="300" r:id="rId5"/>
    <p:sldId id="301" r:id="rId6"/>
    <p:sldId id="515" r:id="rId7"/>
    <p:sldId id="526" r:id="rId8"/>
    <p:sldId id="265" r:id="rId9"/>
    <p:sldId id="289" r:id="rId10"/>
    <p:sldId id="527" r:id="rId11"/>
    <p:sldId id="260" r:id="rId12"/>
    <p:sldId id="532" r:id="rId13"/>
    <p:sldId id="286" r:id="rId14"/>
    <p:sldId id="534" r:id="rId15"/>
    <p:sldId id="533" r:id="rId16"/>
    <p:sldId id="262" r:id="rId17"/>
    <p:sldId id="287" r:id="rId18"/>
    <p:sldId id="288" r:id="rId19"/>
    <p:sldId id="528" r:id="rId20"/>
    <p:sldId id="268" r:id="rId21"/>
    <p:sldId id="290" r:id="rId22"/>
    <p:sldId id="529" r:id="rId23"/>
    <p:sldId id="292" r:id="rId24"/>
    <p:sldId id="293" r:id="rId25"/>
    <p:sldId id="535" r:id="rId26"/>
    <p:sldId id="537" r:id="rId27"/>
    <p:sldId id="530" r:id="rId28"/>
    <p:sldId id="298" r:id="rId29"/>
    <p:sldId id="299" r:id="rId30"/>
    <p:sldId id="514" r:id="rId31"/>
    <p:sldId id="531" r:id="rId32"/>
    <p:sldId id="297" r:id="rId33"/>
    <p:sldId id="524" r:id="rId34"/>
    <p:sldId id="296" r:id="rId35"/>
    <p:sldId id="29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1B2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 Doris" userId="428b42c3b652809c" providerId="LiveId" clId="{E27AD7D2-88BB-455C-AAA3-FFFEEA789F35}"/>
    <pc:docChg chg="modSld">
      <pc:chgData name="Xie Doris" userId="428b42c3b652809c" providerId="LiveId" clId="{E27AD7D2-88BB-455C-AAA3-FFFEEA789F35}" dt="2021-03-22T08:37:12.899" v="610" actId="20577"/>
      <pc:docMkLst>
        <pc:docMk/>
      </pc:docMkLst>
      <pc:sldChg chg="modSp mod">
        <pc:chgData name="Xie Doris" userId="428b42c3b652809c" providerId="LiveId" clId="{E27AD7D2-88BB-455C-AAA3-FFFEEA789F35}" dt="2021-03-22T08:37:12.899" v="610" actId="20577"/>
        <pc:sldMkLst>
          <pc:docMk/>
          <pc:sldMk cId="0" sldId="288"/>
        </pc:sldMkLst>
        <pc:spChg chg="mod">
          <ac:chgData name="Xie Doris" userId="428b42c3b652809c" providerId="LiveId" clId="{E27AD7D2-88BB-455C-AAA3-FFFEEA789F35}" dt="2021-03-22T08:37:12.899" v="610" actId="20577"/>
          <ac:spMkLst>
            <pc:docMk/>
            <pc:sldMk cId="0" sldId="288"/>
            <ac:spMk id="9" creationId="{056EB9B3-BA5E-453E-B39D-356A82A94B98}"/>
          </ac:spMkLst>
        </pc:spChg>
      </pc:sldChg>
      <pc:sldChg chg="modSp mod">
        <pc:chgData name="Xie Doris" userId="428b42c3b652809c" providerId="LiveId" clId="{E27AD7D2-88BB-455C-AAA3-FFFEEA789F35}" dt="2021-03-22T05:12:11.936" v="604"/>
        <pc:sldMkLst>
          <pc:docMk/>
          <pc:sldMk cId="0" sldId="301"/>
        </pc:sldMkLst>
        <pc:spChg chg="mod">
          <ac:chgData name="Xie Doris" userId="428b42c3b652809c" providerId="LiveId" clId="{E27AD7D2-88BB-455C-AAA3-FFFEEA789F35}" dt="2021-03-22T05:12:11.936" v="604"/>
          <ac:spMkLst>
            <pc:docMk/>
            <pc:sldMk cId="0" sldId="301"/>
            <ac:spMk id="16387" creationId="{340AF5BB-2894-40C2-B78C-0A6AD31C9990}"/>
          </ac:spMkLst>
        </pc:spChg>
      </pc:sldChg>
    </pc:docChg>
  </pc:docChgLst>
  <pc:docChgLst>
    <pc:chgData name="Xie Doris" userId="428b42c3b652809c" providerId="LiveId" clId="{6B758084-DBBE-4443-8ECA-56D4F002A5ED}"/>
    <pc:docChg chg="delSld">
      <pc:chgData name="Xie Doris" userId="428b42c3b652809c" providerId="LiveId" clId="{6B758084-DBBE-4443-8ECA-56D4F002A5ED}" dt="2022-06-20T08:53:51.654" v="0" actId="47"/>
      <pc:docMkLst>
        <pc:docMk/>
      </pc:docMkLst>
      <pc:sldChg chg="del">
        <pc:chgData name="Xie Doris" userId="428b42c3b652809c" providerId="LiveId" clId="{6B758084-DBBE-4443-8ECA-56D4F002A5ED}" dt="2022-06-20T08:53:51.654" v="0" actId="47"/>
        <pc:sldMkLst>
          <pc:docMk/>
          <pc:sldMk cId="1992322847" sldId="513"/>
        </pc:sldMkLst>
      </pc:sldChg>
    </pc:docChg>
  </pc:docChgLst>
  <pc:docChgLst>
    <pc:chgData name="Hengzhi Wang" userId="6a6b7f549fab02f6" providerId="LiveId" clId="{50655241-C514-7340-97BF-6173DE1CF7BC}"/>
    <pc:docChg chg="modSld">
      <pc:chgData name="Hengzhi Wang" userId="6a6b7f549fab02f6" providerId="LiveId" clId="{50655241-C514-7340-97BF-6173DE1CF7BC}" dt="2024-03-11T15:44:58.098" v="0"/>
      <pc:docMkLst>
        <pc:docMk/>
      </pc:docMkLst>
      <pc:sldChg chg="modSp mod">
        <pc:chgData name="Hengzhi Wang" userId="6a6b7f549fab02f6" providerId="LiveId" clId="{50655241-C514-7340-97BF-6173DE1CF7BC}" dt="2024-03-11T15:44:58.098" v="0"/>
        <pc:sldMkLst>
          <pc:docMk/>
          <pc:sldMk cId="0" sldId="284"/>
        </pc:sldMkLst>
        <pc:spChg chg="mod">
          <ac:chgData name="Hengzhi Wang" userId="6a6b7f549fab02f6" providerId="LiveId" clId="{50655241-C514-7340-97BF-6173DE1CF7BC}" dt="2024-03-11T15:44:58.098" v="0"/>
          <ac:spMkLst>
            <pc:docMk/>
            <pc:sldMk cId="0" sldId="284"/>
            <ac:spMk id="5" creationId="{EA7E3BF4-179C-4FCB-B30B-01B05FB7F8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4A180A-BE9A-40A4-99D1-597DF498CE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89FC4-66D5-4958-A04E-968A05053EB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A956910-6D5F-4DE2-B40B-1FB3FD0D71C9}" type="datetimeFigureOut">
              <a:rPr lang="en-US"/>
              <a:pPr>
                <a:defRPr/>
              </a:pPr>
              <a:t>3/11/24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61C9325-8125-47BB-8729-0011FAD9F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A94E63-9ADF-42E2-B0A5-75B7A4A8A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FB056-52D5-4D87-A703-F23A5D0F49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BB6EA-A566-4ECC-AB13-504315EE4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4B95F87-5CB6-4F13-BA3F-85139E52A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4F239F-2AB7-48F7-A042-5ECAEEA3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07B7B7-548C-4BF8-BD3F-C28D38161B6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47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063" indent="-269875">
              <a:buFont typeface="Wingdings" panose="05000000000000000000" pitchFamily="2" charset="2"/>
              <a:buChar char="§"/>
              <a:defRPr sz="2400"/>
            </a:lvl3pPr>
            <a:lvl4pPr marL="808038" indent="-269875">
              <a:buFont typeface="Wingdings" panose="05000000000000000000" pitchFamily="2" charset="2"/>
              <a:buChar char="§"/>
              <a:defRPr sz="2000"/>
            </a:lvl4pPr>
            <a:lvl5pPr marL="982663" indent="-261938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08168F-D8AE-4F2A-B235-58D30F78AF13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414D3F-531A-48ED-B33D-CDD36C630729}"/>
              </a:ext>
            </a:extLst>
          </p:cNvPr>
          <p:cNvCxnSpPr>
            <a:cxnSpLocks/>
          </p:cNvCxnSpPr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32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53EE36-A3B3-404D-AEBC-7130FDE83D6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EFED76-02AB-4523-A9B0-A6BA1DEFAEE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4470EC-53C6-4CD5-8341-E44FD9EB238A}"/>
              </a:ext>
            </a:extLst>
          </p:cNvPr>
          <p:cNvCxnSpPr>
            <a:cxnSpLocks/>
          </p:cNvCxnSpPr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9CE9EF-6A76-4C48-9741-92A801066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43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62729254-24B2-464C-84BA-08AA859E9A9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7297D1-C44B-406B-A603-AA07F07D31A9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BEEAE6-F945-42F3-8A1F-96E639299AA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06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E8ED73-4339-4960-84CD-8AF13A01CD3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5F78A-28F7-4409-A6A1-5DA3ADD1FA60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96C3C-5635-4683-A824-5B2539AF1988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6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C4303-792C-442B-8815-157151EF253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E7399A-8558-4927-BB83-D9B7E3F7062A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FD9DDC-4264-4FC1-AEDF-F5474BD22F22}"/>
              </a:ext>
            </a:extLst>
          </p:cNvPr>
          <p:cNvCxnSpPr>
            <a:cxnSpLocks/>
          </p:cNvCxnSpPr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D2A6D-2A99-43E9-9E71-4EC44E92080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26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95387D2-CA94-46F6-AC50-132457339C6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30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EF825B-68B9-45D1-BE89-6371970AAB3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344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C603EE-2BFA-47A4-906A-27785E0304B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95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5A021D-88A2-4B21-BF62-55EA78038B9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420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577BFA-1A9B-4D9C-B079-2C8036C779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669AECE-35D6-4B36-8652-9DD318EA925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C27972-DB16-4C4C-9ACE-10E22B00BCF1}"/>
              </a:ext>
            </a:extLst>
          </p:cNvPr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320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038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marR="0" indent="-261938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tabLst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eb.archive.org/web/20150206054041/http:/www.binbert.com/blog/2009/12/default-time-to-live-ttl-valu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C1353-A4FB-4BF7-ABAD-F77163451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/>
              <a:t>计算机网络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实验二 常用的网络命令</a:t>
            </a: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7E3BF4-179C-4FCB-B30B-01B05FB7F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王恒之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defRPr/>
            </a:pPr>
            <a:r>
              <a:rPr lang="en-US" altLang="zh-CN" cap="none" dirty="0" err="1"/>
              <a:t>whz@szu.edu.cn</a:t>
            </a:r>
            <a:r>
              <a:rPr lang="en-US" altLang="zh-CN" cap="none" dirty="0"/>
              <a:t> </a:t>
            </a:r>
          </a:p>
          <a:p>
            <a:pPr eaLnBrk="1" fontAlgn="auto" hangingPunct="1">
              <a:spcBef>
                <a:spcPts val="0"/>
              </a:spcBef>
              <a:defRPr/>
            </a:pPr>
            <a:r>
              <a:rPr lang="en-CA" altLang="zh-CN" sz="2100" cap="none" dirty="0"/>
              <a:t>hengzhi1219.github.io</a:t>
            </a:r>
          </a:p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计算机与软件学院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深圳大学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443A-B24E-4673-AC81-19408ABB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实验二  常用的网络命令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02A5A1D-409B-49F2-9BB6-ABECEE4E3C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6263" y="1122363"/>
            <a:ext cx="7964487" cy="5042941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/>
              <a:t>实验目的</a:t>
            </a:r>
          </a:p>
          <a:p>
            <a:pPr marL="382588" lvl="1" indent="-182563" eaLnBrk="1" hangingPunct="1"/>
            <a:r>
              <a:rPr lang="zh-CN" altLang="en-US" sz="2400"/>
              <a:t>了解</a:t>
            </a:r>
            <a:r>
              <a:rPr lang="en-US" altLang="zh-CN" sz="2400"/>
              <a:t>ping</a:t>
            </a:r>
            <a:r>
              <a:rPr lang="zh-CN" altLang="en-US" sz="2400"/>
              <a:t>、</a:t>
            </a:r>
            <a:r>
              <a:rPr lang="en-US" altLang="zh-CN" sz="2400"/>
              <a:t>ipconfig </a:t>
            </a:r>
            <a:r>
              <a:rPr lang="zh-CN" altLang="en-US" sz="2400"/>
              <a:t>、</a:t>
            </a:r>
            <a:r>
              <a:rPr lang="en-US" altLang="zh-CN" sz="2400"/>
              <a:t>netstat</a:t>
            </a:r>
            <a:r>
              <a:rPr lang="zh-CN" altLang="en-US" sz="2400"/>
              <a:t>、</a:t>
            </a:r>
            <a:r>
              <a:rPr lang="en-US" altLang="zh-CN" sz="2400"/>
              <a:t>tracert</a:t>
            </a:r>
            <a:r>
              <a:rPr lang="zh-CN" altLang="en-US" sz="2400"/>
              <a:t>、</a:t>
            </a:r>
            <a:r>
              <a:rPr lang="en-US" altLang="zh-CN" sz="2400"/>
              <a:t>ARP</a:t>
            </a:r>
            <a:r>
              <a:rPr lang="zh-CN" altLang="en-US" sz="2400"/>
              <a:t>、</a:t>
            </a:r>
            <a:r>
              <a:rPr lang="en-US" altLang="zh-CN" sz="2400"/>
              <a:t>route</a:t>
            </a:r>
            <a:r>
              <a:rPr lang="zh-CN" altLang="en-US" sz="2400"/>
              <a:t>、</a:t>
            </a:r>
            <a:r>
              <a:rPr lang="en-US" altLang="zh-CN" sz="2400" err="1"/>
              <a:t>nslookup</a:t>
            </a:r>
            <a:r>
              <a:rPr lang="zh-CN" altLang="en-US" sz="2400"/>
              <a:t>等常用网络工具的功能以及使用方法，并通过这些工具发现或者验证网络中的故障。</a:t>
            </a:r>
          </a:p>
          <a:p>
            <a:pPr marL="200025" lvl="1" indent="0" eaLnBrk="1" hangingPunct="1">
              <a:buNone/>
            </a:pPr>
            <a:endParaRPr lang="zh-CN" altLang="en-US" sz="2400"/>
          </a:p>
          <a:p>
            <a:pPr eaLnBrk="1" hangingPunct="1"/>
            <a:r>
              <a:rPr lang="zh-CN" altLang="en-US" sz="2800"/>
              <a:t>实验环境</a:t>
            </a:r>
          </a:p>
          <a:p>
            <a:pPr lvl="1"/>
            <a:r>
              <a:rPr lang="zh-CN" altLang="en-US" sz="2400"/>
              <a:t>使用具有</a:t>
            </a:r>
            <a:r>
              <a:rPr lang="en-US" altLang="zh-CN" sz="2400"/>
              <a:t>Internet</a:t>
            </a:r>
            <a:r>
              <a:rPr lang="zh-CN" altLang="en-US" sz="2400"/>
              <a:t>连接的</a:t>
            </a:r>
            <a:r>
              <a:rPr lang="en-US" altLang="zh-CN" sz="2400"/>
              <a:t>Windows</a:t>
            </a:r>
            <a:r>
              <a:rPr lang="zh-CN" altLang="en-US" sz="2400"/>
              <a:t>操作系统。</a:t>
            </a:r>
            <a:endParaRPr lang="en-US" altLang="zh-CN" sz="2400"/>
          </a:p>
          <a:p>
            <a:pPr lvl="1"/>
            <a:r>
              <a:rPr lang="en-US" altLang="zh-CN" sz="2400"/>
              <a:t>Windows PowerShell </a:t>
            </a:r>
            <a:r>
              <a:rPr lang="zh-CN" altLang="en-US" sz="2400"/>
              <a:t>或者 </a:t>
            </a:r>
            <a:r>
              <a:rPr lang="en-US" altLang="zh-CN" sz="2400"/>
              <a:t>Windows</a:t>
            </a:r>
            <a:r>
              <a:rPr lang="zh-CN" altLang="en-US" sz="2400"/>
              <a:t>命令提示符</a:t>
            </a:r>
            <a:r>
              <a:rPr lang="en-US" altLang="zh-CN" sz="2400"/>
              <a:t>(cmd.exe)</a:t>
            </a:r>
            <a:r>
              <a:rPr lang="zh-CN" altLang="en-US" sz="2400"/>
              <a:t>，二选一。</a:t>
            </a:r>
            <a:endParaRPr lang="en-US" altLang="zh-CN" sz="2400"/>
          </a:p>
          <a:p>
            <a:pPr lvl="1"/>
            <a:endParaRPr lang="en-US" altLang="zh-CN" sz="2400"/>
          </a:p>
        </p:txBody>
      </p:sp>
      <p:sp>
        <p:nvSpPr>
          <p:cNvPr id="14340" name="Date Placeholder 2">
            <a:extLst>
              <a:ext uri="{FF2B5EF4-FFF2-40B4-BE49-F238E27FC236}">
                <a16:creationId xmlns:a16="http://schemas.microsoft.com/office/drawing/2014/main" id="{5F796843-BFDE-4D63-91EC-D452D0FFD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8773C-FD67-4472-BA39-9C350F39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4342" name="Slide Number Placeholder 4">
            <a:extLst>
              <a:ext uri="{FF2B5EF4-FFF2-40B4-BE49-F238E27FC236}">
                <a16:creationId xmlns:a16="http://schemas.microsoft.com/office/drawing/2014/main" id="{097CF83D-CF66-4524-A418-83B9DB0BDE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C03EDE7-5A40-42E0-9371-02B047D42476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01613" indent="0" eaLnBrk="1" hangingPunct="1">
              <a:buNone/>
              <a:defRPr/>
            </a:pPr>
            <a:r>
              <a:rPr lang="zh-CN" altLang="en-US"/>
              <a:t>使用以下七种网络调试工具分析网络情况。</a:t>
            </a:r>
            <a:endParaRPr lang="en-US" altLang="zh-CN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64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1C5F-3393-4622-9677-9CE52212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实验任务要求</a:t>
            </a:r>
            <a:endParaRPr lang="en-US"/>
          </a:p>
        </p:txBody>
      </p:sp>
      <p:sp>
        <p:nvSpPr>
          <p:cNvPr id="15363" name="Content Placeholder 7">
            <a:extLst>
              <a:ext uri="{FF2B5EF4-FFF2-40B4-BE49-F238E27FC236}">
                <a16:creationId xmlns:a16="http://schemas.microsoft.com/office/drawing/2014/main" id="{C89A18CF-807A-4263-B176-CB5BEEB19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/>
              <a:t>请参考本讲义学习七种网络调试工具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理解每种工具的用途，以及使用方法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使用每种工具的各种指令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依照步骤完成实验内容</a:t>
            </a:r>
            <a:r>
              <a:rPr lang="en-US" altLang="zh-CN"/>
              <a:t>1—7</a:t>
            </a:r>
          </a:p>
          <a:p>
            <a:pPr marL="382588" lvl="1" indent="-182563" eaLnBrk="1" hangingPunct="1"/>
            <a:r>
              <a:rPr lang="zh-CN" altLang="en-US"/>
              <a:t>对实验结果截图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撰写实验报告</a:t>
            </a:r>
            <a:endParaRPr lang="en-US" altLang="zh-CN"/>
          </a:p>
          <a:p>
            <a:pPr marL="382588" lvl="1" indent="-182563" eaLnBrk="1" hangingPunct="1"/>
            <a:endParaRPr lang="en-US" altLang="zh-CN"/>
          </a:p>
          <a:p>
            <a:pPr marL="382588" lvl="1" indent="-182563" eaLnBrk="1" hangingPunct="1"/>
            <a:endParaRPr lang="en-US" altLang="zh-CN"/>
          </a:p>
          <a:p>
            <a:pPr marL="382588" lvl="1" indent="-182563" eaLnBrk="1" hangingPunct="1"/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18CA2-0FE1-4104-A31B-633E07AB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ABBAE-87AE-4B63-B3A1-20F709D3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64AAE-9681-4123-82C1-ED86A257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D46A6-7336-4199-AC73-BAD4954AE5E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698F-70D7-4EF2-832D-CFD112801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实验报告撰写要求</a:t>
            </a:r>
            <a:endParaRPr 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40AF5BB-2894-40C2-B78C-0A6AD31C99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/>
              <a:t>使用教务处制作的实验报告模板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注意按进度填写实验时间和实验报告提交时间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填写模板中的每一部分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填写实验步骤时，做到条理清晰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注意截图清晰、美观</a:t>
            </a:r>
            <a:endParaRPr lang="en-US" altLang="zh-CN"/>
          </a:p>
          <a:p>
            <a:pPr marL="382588" lvl="1" indent="-182563" eaLnBrk="1" hangingPunct="1"/>
            <a:r>
              <a:rPr lang="zh-CN" altLang="en-US"/>
              <a:t>要求在演示操作步骤的截图上加标注，指出操作步骤和操作结果，没有会被扣分</a:t>
            </a:r>
          </a:p>
          <a:p>
            <a:pPr marL="382588" lvl="1" indent="-182563" eaLnBrk="1" hangingPunct="1"/>
            <a:r>
              <a:rPr lang="zh-CN" altLang="en-US"/>
              <a:t>实验报告只有截图，没有文字说明讲解会扣分</a:t>
            </a:r>
          </a:p>
          <a:p>
            <a:pPr marL="382588" lvl="1" indent="-182563" eaLnBrk="1" hangingPunct="1"/>
            <a:r>
              <a:rPr lang="zh-CN" altLang="en-US"/>
              <a:t>实验结果要有原理分析，否则会被扣分</a:t>
            </a:r>
          </a:p>
          <a:p>
            <a:pPr marL="382588" lvl="1" indent="-182563" eaLnBrk="1" hangingPunct="1"/>
            <a:r>
              <a:rPr lang="zh-CN" altLang="en-US"/>
              <a:t>出现一模一样的实验报告，均得零分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2BFC-76DD-43A1-BD4B-01A598FA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6C454-85CA-4D67-9A0E-CA8D6908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48E2-96CD-4596-9D49-EA0B73F0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2EED56-5130-434B-A1B8-8BD1EA48AA1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203F-8CEA-4062-9D54-51DCD620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注意事项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7FAC3-6BF2-466A-B4E8-586C8B697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如果提示“请求的操作需要提升”或“</a:t>
            </a:r>
            <a:r>
              <a:rPr lang="en-US" altLang="zh-CN">
                <a:solidFill>
                  <a:srgbClr val="C00000"/>
                </a:solidFill>
              </a:rPr>
              <a:t>The requested operation requires elevation</a:t>
            </a:r>
            <a:r>
              <a:rPr lang="zh-CN" altLang="en-US">
                <a:solidFill>
                  <a:srgbClr val="C00000"/>
                </a:solidFill>
              </a:rPr>
              <a:t>”，说明你没有权限运行该指令。你可以退出终端，选择“以管理员身份运行”该终端。</a:t>
            </a:r>
            <a:endParaRPr lang="en-US" altLang="zh-CN">
              <a:solidFill>
                <a:srgbClr val="C00000"/>
              </a:solidFill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1006B-93EB-40DE-9EFF-ACB334DD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3542-37CB-48FD-B2FA-BD750BD4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8F753-E13C-45BF-9A7B-36987A04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669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6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52BA-F62C-49ED-859E-E43E764F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1. ipconfig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74CC08-EFCD-4F15-BF5A-546D9E5DD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63" y="1122363"/>
            <a:ext cx="7964487" cy="5114925"/>
          </a:xfrm>
        </p:spPr>
        <p:txBody>
          <a:bodyPr rtlCol="0">
            <a:noAutofit/>
          </a:bodyPr>
          <a:lstStyle/>
          <a:p>
            <a:pPr lvl="1" eaLnBrk="1" fontAlgn="auto" hangingPunct="1"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ipconfig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可用于显示主机当前的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IPv6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地址、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IPv4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地址、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子网掩码和默认网关。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556" name="Date Placeholder 5">
            <a:extLst>
              <a:ext uri="{FF2B5EF4-FFF2-40B4-BE49-F238E27FC236}">
                <a16:creationId xmlns:a16="http://schemas.microsoft.com/office/drawing/2014/main" id="{D12DC54E-052D-4A8C-8362-5BF97AA174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BBC7EB-8D51-41D0-BA7B-32A9B4EF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3558" name="Slide Number Placeholder 7">
            <a:extLst>
              <a:ext uri="{FF2B5EF4-FFF2-40B4-BE49-F238E27FC236}">
                <a16:creationId xmlns:a16="http://schemas.microsoft.com/office/drawing/2014/main" id="{05C0311E-6E02-401A-B418-49A01CFAA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42B2A9-B19F-4744-8F27-7262D833CB2F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0DD2-92F8-4FF2-BA8E-E43C7D26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1. ipconfig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E26093F-B14A-4567-8EE5-0ABAD451CF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6263" y="1122363"/>
            <a:ext cx="7964487" cy="5114925"/>
          </a:xfrm>
        </p:spPr>
        <p:txBody>
          <a:bodyPr rtlCol="0">
            <a:normAutofit lnSpcReduction="10000"/>
          </a:bodyPr>
          <a:lstStyle/>
          <a:p>
            <a:pPr marL="450850" indent="-365125" eaLnBrk="1" hangingPunct="1">
              <a:buFont typeface="+mj-lt"/>
              <a:buAutoNum type="arabicParenR"/>
              <a:defRPr/>
            </a:pP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ipconfig</a:t>
            </a:r>
          </a:p>
          <a:p>
            <a:pPr marL="450850" lvl="1" indent="-365125" eaLnBrk="1" hangingPunct="1">
              <a:defRPr/>
            </a:pPr>
            <a:r>
              <a:rPr lang="zh-CN" altLang="en-US" sz="2400"/>
              <a:t>当不带任何参数选项使用时，它显示每个接口的</a:t>
            </a:r>
            <a:r>
              <a:rPr lang="en-US" altLang="zh-CN" sz="2400"/>
              <a:t>IP</a:t>
            </a:r>
            <a:r>
              <a:rPr lang="zh-CN" altLang="en-US" sz="2400"/>
              <a:t>地址、子网掩码和默认网关。</a:t>
            </a:r>
          </a:p>
          <a:p>
            <a:pPr marL="450850" indent="-365125" eaLnBrk="1" hangingPunct="1">
              <a:lnSpc>
                <a:spcPct val="100000"/>
              </a:lnSpc>
              <a:buFont typeface="Calibri" panose="020F0502020204030204" pitchFamily="34" charset="0"/>
              <a:buAutoNum type="arabicParenR"/>
              <a:defRPr/>
            </a:pP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ipconfig /all</a:t>
            </a:r>
          </a:p>
          <a:p>
            <a:pPr marL="450850" lvl="1" indent="-365125" eaLnBrk="1" hangingPunct="1">
              <a:defRPr/>
            </a:pPr>
            <a:r>
              <a:rPr lang="zh-CN" altLang="en-US" sz="2400"/>
              <a:t>当使用</a:t>
            </a:r>
            <a:r>
              <a:rPr lang="en-US" altLang="zh-CN" sz="2400"/>
              <a:t>all</a:t>
            </a:r>
            <a:r>
              <a:rPr lang="zh-CN" altLang="en-US" sz="2400"/>
              <a:t>选项时，显示完整配置信息，包括</a:t>
            </a:r>
            <a:r>
              <a:rPr lang="en-US" altLang="zh-CN" sz="2400"/>
              <a:t>DNS </a:t>
            </a:r>
            <a:r>
              <a:rPr lang="zh-CN" altLang="en-US" sz="2400"/>
              <a:t>服务器、</a:t>
            </a:r>
            <a:r>
              <a:rPr lang="en-US" altLang="zh-CN" sz="2400"/>
              <a:t>DHCP</a:t>
            </a:r>
            <a:r>
              <a:rPr lang="zh-CN" altLang="en-US" sz="2400"/>
              <a:t>服务器、</a:t>
            </a:r>
            <a:r>
              <a:rPr lang="en-US" altLang="zh-CN" sz="2400"/>
              <a:t>IP</a:t>
            </a:r>
            <a:r>
              <a:rPr lang="zh-CN" altLang="en-US" sz="2400"/>
              <a:t>地址获得租约的时间、</a:t>
            </a:r>
            <a:r>
              <a:rPr lang="en-US" altLang="zh-CN" sz="2400"/>
              <a:t>IP</a:t>
            </a:r>
            <a:r>
              <a:rPr lang="zh-CN" altLang="en-US" sz="2400"/>
              <a:t>地址租约过期的时间等。</a:t>
            </a:r>
            <a:endParaRPr lang="en-US" altLang="zh-CN" sz="2400"/>
          </a:p>
          <a:p>
            <a:pPr marL="450850" indent="-365125" eaLnBrk="1" hangingPunct="1">
              <a:lnSpc>
                <a:spcPct val="110000"/>
              </a:lnSpc>
              <a:buFont typeface="Calibri" panose="020F0502020204030204" pitchFamily="34" charset="0"/>
              <a:buAutoNum type="arabicParenR"/>
              <a:defRPr/>
            </a:pP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ipconfig /release</a:t>
            </a:r>
          </a:p>
          <a:p>
            <a:pPr marL="450850" lvl="1" indent="-365125" eaLnBrk="1" hangingPunct="1">
              <a:defRPr/>
            </a:pPr>
            <a:r>
              <a:rPr lang="zh-CN" altLang="en-US" sz="2400"/>
              <a:t>释放（归还）所有接口的租用</a:t>
            </a:r>
            <a:r>
              <a:rPr lang="en-US" altLang="zh-CN" sz="2400"/>
              <a:t>IPv4</a:t>
            </a:r>
            <a:r>
              <a:rPr lang="zh-CN" altLang="en-US" sz="2400"/>
              <a:t>地址。</a:t>
            </a:r>
            <a:endParaRPr lang="en-US" altLang="zh-CN" sz="2400"/>
          </a:p>
          <a:p>
            <a:pPr marL="450850" indent="-365125" eaLnBrk="1" hangingPunct="1">
              <a:lnSpc>
                <a:spcPct val="120000"/>
              </a:lnSpc>
              <a:buFont typeface="Calibri" panose="020F0502020204030204" pitchFamily="34" charset="0"/>
              <a:buAutoNum type="arabicParenR"/>
              <a:defRPr/>
            </a:pP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ipconfig /renew</a:t>
            </a:r>
          </a:p>
          <a:p>
            <a:pPr marL="450850" lvl="1" indent="-365125" eaLnBrk="1" hangingPunct="1">
              <a:defRPr/>
            </a:pPr>
            <a:r>
              <a:rPr lang="zh-CN" altLang="en-US" sz="2400"/>
              <a:t>更新所有接口的</a:t>
            </a:r>
            <a:r>
              <a:rPr lang="en-US" altLang="zh-CN" sz="2400"/>
              <a:t>IPv4</a:t>
            </a:r>
            <a:r>
              <a:rPr lang="zh-CN" altLang="en-US" sz="2400"/>
              <a:t>地址。多数情况下网卡将被重新赋予和以前所赋予的相同的</a:t>
            </a:r>
            <a:r>
              <a:rPr lang="en-US" altLang="zh-CN" sz="2400"/>
              <a:t>IP</a:t>
            </a:r>
            <a:r>
              <a:rPr lang="zh-CN" altLang="en-US" sz="2400"/>
              <a:t>地址，但租约过期时间会更新。</a:t>
            </a:r>
            <a:r>
              <a:rPr lang="zh-CN" altLang="en-US"/>
              <a:t></a:t>
            </a:r>
            <a:endParaRPr lang="en-US" altLang="zh-CN"/>
          </a:p>
        </p:txBody>
      </p:sp>
      <p:sp>
        <p:nvSpPr>
          <p:cNvPr id="24580" name="Date Placeholder 3">
            <a:extLst>
              <a:ext uri="{FF2B5EF4-FFF2-40B4-BE49-F238E27FC236}">
                <a16:creationId xmlns:a16="http://schemas.microsoft.com/office/drawing/2014/main" id="{A9306EB2-5829-4AF9-8E03-35FA5355BC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2303-E2E7-4B5A-9BDB-8D9F9ADA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4582" name="Slide Number Placeholder 5">
            <a:extLst>
              <a:ext uri="{FF2B5EF4-FFF2-40B4-BE49-F238E27FC236}">
                <a16:creationId xmlns:a16="http://schemas.microsoft.com/office/drawing/2014/main" id="{7B74E519-2FC7-4289-AF3D-47A4E387C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1801A35-5409-4A64-A32C-18C63DA54A68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2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54B41B-F5E7-41E0-BF5A-9EF7E3A0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35" name="Content Placeholder 4">
            <a:extLst>
              <a:ext uri="{FF2B5EF4-FFF2-40B4-BE49-F238E27FC236}">
                <a16:creationId xmlns:a16="http://schemas.microsoft.com/office/drawing/2014/main" id="{8C5AA97F-84AD-4550-A50D-6A384BD4D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7188" lvl="1" indent="-271463" eaLnBrk="1" hangingPunct="1"/>
            <a:r>
              <a:rPr lang="en-US" altLang="zh-CN"/>
              <a:t>ping</a:t>
            </a:r>
            <a:r>
              <a:rPr lang="zh-CN" altLang="en-US"/>
              <a:t>是一个测试程序，用于确定本地主机是否能与另一台主机发送或接收数据报。如果</a:t>
            </a:r>
            <a:r>
              <a:rPr lang="en-US" altLang="zh-CN"/>
              <a:t>ping</a:t>
            </a:r>
            <a:r>
              <a:rPr lang="zh-CN" altLang="en-US"/>
              <a:t>运行正确，就可以排除发送与接收方网络层以下的故障。</a:t>
            </a:r>
          </a:p>
          <a:p>
            <a:pPr marL="357188" lvl="1" indent="-271463" eaLnBrk="1" hangingPunct="1"/>
            <a:endParaRPr lang="en-US" altLang="zh-CN"/>
          </a:p>
        </p:txBody>
      </p:sp>
      <p:sp>
        <p:nvSpPr>
          <p:cNvPr id="18436" name="Date Placeholder 5">
            <a:extLst>
              <a:ext uri="{FF2B5EF4-FFF2-40B4-BE49-F238E27FC236}">
                <a16:creationId xmlns:a16="http://schemas.microsoft.com/office/drawing/2014/main" id="{69617F7F-B751-4110-8F23-DA707BA073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8B0B35-2A59-49EF-BE36-BE0CB14A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8438" name="Slide Number Placeholder 7">
            <a:extLst>
              <a:ext uri="{FF2B5EF4-FFF2-40B4-BE49-F238E27FC236}">
                <a16:creationId xmlns:a16="http://schemas.microsoft.com/office/drawing/2014/main" id="{B1601D90-3D34-4D1E-834A-2A796266A6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76593D-C71D-42FB-9A49-59838F474B5B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33E0-9B20-4C2D-8A5A-4217CEEF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</a:t>
            </a:r>
            <a:r>
              <a:rPr lang="en-US" altLang="zh-CN"/>
              <a:t>ping </a:t>
            </a:r>
            <a:r>
              <a:rPr lang="zh-CN" altLang="en-US"/>
              <a:t>简介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B892-84E2-410F-8AE5-EB6C5ED0D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lvl="1" indent="-271463" eaLnBrk="1" hangingPunct="1"/>
            <a:r>
              <a:rPr lang="zh-CN" altLang="en-US"/>
              <a:t>按缺省设置，运行</a:t>
            </a:r>
            <a:r>
              <a:rPr lang="en-US" altLang="zh-CN"/>
              <a:t>ping</a:t>
            </a:r>
            <a:r>
              <a:rPr lang="zh-CN" altLang="en-US"/>
              <a:t>命令时发送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ICMP</a:t>
            </a:r>
            <a:r>
              <a:rPr lang="zh-CN" altLang="en-US"/>
              <a:t>（网络控制报文协议）回显请求，每个含</a:t>
            </a:r>
            <a:r>
              <a:rPr lang="en-US" altLang="zh-CN"/>
              <a:t>32</a:t>
            </a:r>
            <a:r>
              <a:rPr lang="zh-CN" altLang="en-US"/>
              <a:t>字节数据。若正常，应收到</a:t>
            </a:r>
            <a:r>
              <a:rPr lang="en-US" altLang="zh-CN"/>
              <a:t>4</a:t>
            </a:r>
            <a:r>
              <a:rPr lang="zh-CN" altLang="en-US"/>
              <a:t>个回显应答。 </a:t>
            </a:r>
            <a:endParaRPr lang="en-US" altLang="zh-CN"/>
          </a:p>
          <a:p>
            <a:pPr marL="357188" lvl="1" indent="-271463" eaLnBrk="1" hangingPunct="1"/>
            <a:r>
              <a:rPr lang="en-US" altLang="zh-CN"/>
              <a:t>ping</a:t>
            </a:r>
            <a:r>
              <a:rPr lang="zh-CN" altLang="en-US"/>
              <a:t>显示发送回显请求到收到回显应答之间的时间间隔，单位为毫秒。</a:t>
            </a:r>
            <a:endParaRPr lang="en-US" alt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7C7C1-5724-4005-AA55-9AF7F81C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EEC6B-4967-43CD-8B31-3165E79A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36794-3A2E-45DD-AE6D-46CB902D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9D4F6-E3A2-4D74-BFD4-5192324C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543775"/>
            <a:ext cx="7111017" cy="232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9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54B41B-F5E7-41E0-BF5A-9EF7E3A0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Content Placeholder 4">
            <a:extLst>
              <a:ext uri="{FF2B5EF4-FFF2-40B4-BE49-F238E27FC236}">
                <a16:creationId xmlns:a16="http://schemas.microsoft.com/office/drawing/2014/main" id="{A0F2A752-0BF6-49FF-8E18-05109FE2D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7188" lvl="1" indent="-271463" eaLnBrk="1" hangingPunct="1"/>
            <a:r>
              <a:rPr lang="en-US" altLang="zh-CN"/>
              <a:t>ping </a:t>
            </a:r>
            <a:r>
              <a:rPr lang="zh-CN" altLang="en-US"/>
              <a:t>还能显示</a:t>
            </a:r>
            <a:r>
              <a:rPr lang="en-US" altLang="zh-CN"/>
              <a:t>TTL</a:t>
            </a:r>
            <a:r>
              <a:rPr lang="zh-CN" altLang="en-US"/>
              <a:t>（</a:t>
            </a:r>
            <a:r>
              <a:rPr lang="en-US" altLang="zh-CN"/>
              <a:t>Time To Live</a:t>
            </a:r>
            <a:r>
              <a:rPr lang="zh-CN" altLang="en-US"/>
              <a:t>），即生存时间。</a:t>
            </a:r>
            <a:endParaRPr lang="en-US" altLang="zh-CN"/>
          </a:p>
          <a:p>
            <a:pPr marL="357188" lvl="1" indent="-271463" eaLnBrk="1" hangingPunct="1"/>
            <a:endParaRPr lang="en-US" altLang="zh-CN"/>
          </a:p>
          <a:p>
            <a:pPr marL="357188" lvl="1" indent="-271463" eaLnBrk="1" hangingPunct="1"/>
            <a:r>
              <a:rPr lang="zh-CN" altLang="en-US"/>
              <a:t>通过</a:t>
            </a:r>
            <a:r>
              <a:rPr lang="en-US" altLang="zh-CN"/>
              <a:t>TTL</a:t>
            </a:r>
            <a:r>
              <a:rPr lang="zh-CN" altLang="en-US"/>
              <a:t>值推算数据报已经通过了多少个路由器：“</a:t>
            </a:r>
            <a:r>
              <a:rPr lang="en-US" altLang="zh-CN"/>
              <a:t>TTL</a:t>
            </a:r>
            <a:r>
              <a:rPr lang="zh-CN" altLang="en-US"/>
              <a:t>起始值”减去所接收的回显应答中的“</a:t>
            </a:r>
            <a:r>
              <a:rPr lang="en-US" altLang="zh-CN"/>
              <a:t>TTL</a:t>
            </a:r>
            <a:r>
              <a:rPr lang="zh-CN" altLang="en-US"/>
              <a:t>值”。</a:t>
            </a:r>
            <a:endParaRPr lang="en-US" altLang="zh-CN"/>
          </a:p>
          <a:p>
            <a:pPr marL="357188" lvl="1" indent="-271463" eaLnBrk="1" hangingPunct="1"/>
            <a:endParaRPr lang="en-US" altLang="zh-CN"/>
          </a:p>
          <a:p>
            <a:pPr marL="357188" lvl="1" indent="-271463" eaLnBrk="1" hangingPunct="1"/>
            <a:r>
              <a:rPr lang="zh-CN" altLang="en-US"/>
              <a:t>“</a:t>
            </a:r>
            <a:r>
              <a:rPr lang="en-US" altLang="zh-CN"/>
              <a:t>TTL</a:t>
            </a:r>
            <a:r>
              <a:rPr lang="zh-CN" altLang="en-US"/>
              <a:t>起始值”是多少呢？</a:t>
            </a:r>
            <a:endParaRPr lang="en-US" altLang="zh-CN"/>
          </a:p>
          <a:p>
            <a:pPr marL="540068" lvl="2" indent="-271463" eaLnBrk="1" hangingPunct="1"/>
            <a:r>
              <a:rPr lang="zh-CN" altLang="en-US"/>
              <a:t>比返回</a:t>
            </a:r>
            <a:r>
              <a:rPr lang="en-US" altLang="zh-CN"/>
              <a:t>TTL</a:t>
            </a:r>
            <a:r>
              <a:rPr lang="zh-CN" altLang="en-US"/>
              <a:t>稍大的一个</a:t>
            </a:r>
            <a:r>
              <a:rPr lang="en-US" altLang="zh-CN"/>
              <a:t>2</a:t>
            </a:r>
            <a:r>
              <a:rPr lang="zh-CN" altLang="en-US"/>
              <a:t>的次方数。</a:t>
            </a:r>
            <a:endParaRPr lang="en-US" altLang="zh-CN"/>
          </a:p>
          <a:p>
            <a:pPr marL="357188" lvl="1" indent="-271463" eaLnBrk="1" hangingPunct="1"/>
            <a:endParaRPr lang="en-US" altLang="zh-CN"/>
          </a:p>
          <a:p>
            <a:pPr marL="357188" lvl="1" indent="-271463" eaLnBrk="1" hangingPunct="1"/>
            <a:endParaRPr lang="en-US" altLang="zh-CN"/>
          </a:p>
          <a:p>
            <a:pPr marL="357188" indent="-271463" eaLnBrk="1" hangingPunct="1"/>
            <a:endParaRPr lang="en-US" altLang="en-US"/>
          </a:p>
        </p:txBody>
      </p:sp>
      <p:sp>
        <p:nvSpPr>
          <p:cNvPr id="19460" name="Date Placeholder 1">
            <a:extLst>
              <a:ext uri="{FF2B5EF4-FFF2-40B4-BE49-F238E27FC236}">
                <a16:creationId xmlns:a16="http://schemas.microsoft.com/office/drawing/2014/main" id="{4D16CD0D-9AB1-40C2-B641-B548A919AE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B6747-6A17-490B-BFD9-D7B20F57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B42628D3-A26C-4549-8CA4-E0C737C96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FD4EF1B-55CC-4EA9-BE66-47A67D34D2D1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54B41B-F5E7-41E0-BF5A-9EF7E3A00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59" name="Content Placeholder 4">
            <a:extLst>
              <a:ext uri="{FF2B5EF4-FFF2-40B4-BE49-F238E27FC236}">
                <a16:creationId xmlns:a16="http://schemas.microsoft.com/office/drawing/2014/main" id="{A0F2A752-0BF6-49FF-8E18-05109FE2D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7188" lvl="1" indent="-271463" eaLnBrk="1" hangingPunct="1">
              <a:spcAft>
                <a:spcPts val="0"/>
              </a:spcAft>
            </a:pPr>
            <a:r>
              <a:rPr lang="zh-CN" altLang="en-US" sz="2400"/>
              <a:t>不同的操作系统中“</a:t>
            </a:r>
            <a:r>
              <a:rPr lang="en-US" altLang="zh-CN" sz="2400"/>
              <a:t>TTL</a:t>
            </a:r>
            <a:r>
              <a:rPr lang="zh-CN" altLang="en-US" sz="2400"/>
              <a:t>起始值”不同。</a:t>
            </a:r>
            <a:endParaRPr lang="en-US" altLang="zh-CN" sz="2400"/>
          </a:p>
          <a:p>
            <a:pPr marL="268605" lvl="2" indent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hlinkClick r:id="rId2"/>
              </a:rPr>
              <a:t>https://web.archive.org/web/20150206054041/http://www.binbert.com/blog/2009/12/default-time-to-live-ttl-values/</a:t>
            </a:r>
            <a:endParaRPr lang="en-US" altLang="zh-CN" sz="800"/>
          </a:p>
          <a:p>
            <a:pPr marL="357188" lvl="1" indent="-271463" eaLnBrk="1" hangingPunct="1"/>
            <a:endParaRPr lang="en-US" altLang="zh-CN"/>
          </a:p>
          <a:p>
            <a:pPr marL="357188" indent="-271463" eaLnBrk="1" hangingPunct="1"/>
            <a:endParaRPr lang="en-US" altLang="en-US"/>
          </a:p>
        </p:txBody>
      </p:sp>
      <p:sp>
        <p:nvSpPr>
          <p:cNvPr id="19460" name="Date Placeholder 1">
            <a:extLst>
              <a:ext uri="{FF2B5EF4-FFF2-40B4-BE49-F238E27FC236}">
                <a16:creationId xmlns:a16="http://schemas.microsoft.com/office/drawing/2014/main" id="{4D16CD0D-9AB1-40C2-B641-B548A919AE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B6747-6A17-490B-BFD9-D7B20F57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B42628D3-A26C-4549-8CA4-E0C737C96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FD4EF1B-55CC-4EA9-BE66-47A67D34D2D1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CADE4B-37A1-4EB8-A110-6CF537A6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32" y="1881591"/>
            <a:ext cx="2124953" cy="4296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7615BD-A9A0-4F01-8736-DD30B3C1D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1881591"/>
            <a:ext cx="2129133" cy="42962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19C33-218D-4AA0-8A7D-8900A809E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080" y="3467852"/>
            <a:ext cx="2148452" cy="27100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769B62-FB97-4AA4-9A7D-3BFEFD8C0730}"/>
              </a:ext>
            </a:extLst>
          </p:cNvPr>
          <p:cNvSpPr/>
          <p:nvPr/>
        </p:nvSpPr>
        <p:spPr>
          <a:xfrm>
            <a:off x="5292080" y="1881591"/>
            <a:ext cx="3275658" cy="1477328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1. TTL</a:t>
            </a:r>
            <a:r>
              <a:rPr lang="zh-CN" altLang="en-US"/>
              <a:t>起始值为比接收</a:t>
            </a:r>
            <a:r>
              <a:rPr lang="en-US" altLang="zh-CN"/>
              <a:t>TTL</a:t>
            </a:r>
            <a:r>
              <a:rPr lang="zh-CN" altLang="en-US"/>
              <a:t>稍大的一个</a:t>
            </a:r>
            <a:r>
              <a:rPr lang="en-US" altLang="zh-CN"/>
              <a:t>2</a:t>
            </a:r>
            <a:r>
              <a:rPr lang="zh-CN" altLang="en-US"/>
              <a:t>的次方数，这种推测不一定对。</a:t>
            </a:r>
            <a:endParaRPr lang="en-US" altLang="zh-CN"/>
          </a:p>
          <a:p>
            <a:r>
              <a:rPr lang="en-US" altLang="zh-CN"/>
              <a:t>2. </a:t>
            </a:r>
            <a:r>
              <a:rPr lang="en-US"/>
              <a:t>255</a:t>
            </a:r>
            <a:r>
              <a:rPr lang="zh-CN" altLang="en-US"/>
              <a:t>是最大值，因为</a:t>
            </a:r>
            <a:r>
              <a:rPr lang="en-US" altLang="zh-CN"/>
              <a:t>TTL</a:t>
            </a:r>
            <a:r>
              <a:rPr lang="zh-CN" altLang="en-US"/>
              <a:t>字段最多</a:t>
            </a:r>
            <a:r>
              <a:rPr lang="en-US" altLang="zh-CN"/>
              <a:t>8</a:t>
            </a:r>
            <a:r>
              <a:rPr lang="zh-CN" altLang="en-US"/>
              <a:t>位。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81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7587-C90A-4563-BD69-B001905D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91D10-8C44-47C1-9704-0A79CA29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/>
              <a:t>举例：返回</a:t>
            </a:r>
            <a:r>
              <a:rPr lang="en-US" altLang="zh-CN"/>
              <a:t>TTL</a:t>
            </a:r>
            <a:r>
              <a:rPr lang="zh-CN" altLang="en-US"/>
              <a:t>值为</a:t>
            </a:r>
            <a:r>
              <a:rPr lang="en-US" altLang="zh-CN"/>
              <a:t>55</a:t>
            </a:r>
            <a:r>
              <a:rPr lang="zh-CN" altLang="en-US"/>
              <a:t>，那么可以推算发送方</a:t>
            </a:r>
            <a:r>
              <a:rPr lang="en-US" altLang="zh-CN"/>
              <a:t>(14.215.177.39)</a:t>
            </a:r>
            <a:r>
              <a:rPr lang="zh-CN" altLang="en-US"/>
              <a:t>数据报的</a:t>
            </a:r>
            <a:r>
              <a:rPr lang="en-US" altLang="zh-CN"/>
              <a:t>TTL</a:t>
            </a:r>
            <a:r>
              <a:rPr lang="zh-CN" altLang="en-US"/>
              <a:t>值为</a:t>
            </a:r>
            <a:r>
              <a:rPr lang="en-US" altLang="zh-CN"/>
              <a:t>64</a:t>
            </a:r>
            <a:r>
              <a:rPr lang="zh-CN" altLang="en-US"/>
              <a:t>，经过 </a:t>
            </a:r>
            <a:r>
              <a:rPr lang="en-US" altLang="zh-CN"/>
              <a:t>9</a:t>
            </a:r>
            <a:r>
              <a:rPr lang="zh-CN" altLang="en-US"/>
              <a:t>个路由器</a:t>
            </a:r>
            <a:r>
              <a:rPr lang="en-US" altLang="zh-CN"/>
              <a:t>(64-55)</a:t>
            </a:r>
            <a:r>
              <a:rPr lang="zh-CN" altLang="en-US"/>
              <a:t>，最终到达接收方。</a:t>
            </a:r>
            <a:endParaRPr lang="en-US" altLang="zh-CN"/>
          </a:p>
          <a:p>
            <a:r>
              <a:rPr lang="zh-CN" altLang="en-US" sz="2800">
                <a:solidFill>
                  <a:srgbClr val="C00000"/>
                </a:solidFill>
              </a:rPr>
              <a:t>注意传输方向：</a:t>
            </a:r>
            <a:r>
              <a:rPr lang="en-US" altLang="zh-CN" sz="2800">
                <a:solidFill>
                  <a:srgbClr val="C00000"/>
                </a:solidFill>
                <a:sym typeface="Wingdings" panose="05000000000000000000" pitchFamily="2" charset="2"/>
              </a:rPr>
              <a:t>192.168.2.178&lt;——</a:t>
            </a:r>
            <a:r>
              <a:rPr lang="en-US" altLang="zh-CN" sz="2800">
                <a:solidFill>
                  <a:srgbClr val="C00000"/>
                </a:solidFill>
              </a:rPr>
              <a:t>14.215.177.39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440A5-E422-4CDB-9087-C02040D9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696B7-8E01-4438-94A9-867456CD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EC4CB-E3CD-4B4A-9BED-C782EAEF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E8389-8F38-4895-8A42-CD4957BC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543775"/>
            <a:ext cx="7111017" cy="232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2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9DA3-F2FB-48FE-BCAD-F980C94D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483" name="Content Placeholder 3">
            <a:extLst>
              <a:ext uri="{FF2B5EF4-FFF2-40B4-BE49-F238E27FC236}">
                <a16:creationId xmlns:a16="http://schemas.microsoft.com/office/drawing/2014/main" id="{E9B1EE86-A409-4774-BCE6-003BAD857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0850" indent="-365125" eaLnBrk="1" hangingPunct="1">
              <a:buFont typeface="+mj-lt"/>
              <a:buAutoNum type="arabicParenR"/>
            </a:pPr>
            <a:r>
              <a:rPr lang="en-US" altLang="zh-CN" sz="2800"/>
              <a:t>ping 127.0.0.1</a:t>
            </a:r>
          </a:p>
          <a:p>
            <a:pPr marL="450850" lvl="1" indent="-365125" eaLnBrk="1" hangingPunct="1"/>
            <a:r>
              <a:rPr lang="zh-CN" altLang="en-US" sz="2400"/>
              <a:t>这个</a:t>
            </a:r>
            <a:r>
              <a:rPr lang="en-US" altLang="zh-CN" sz="2400"/>
              <a:t>Ping</a:t>
            </a:r>
            <a:r>
              <a:rPr lang="zh-CN" altLang="en-US" sz="2400"/>
              <a:t>命令被送到本地计算机的</a:t>
            </a:r>
            <a:r>
              <a:rPr lang="en-US" altLang="zh-CN" sz="2400"/>
              <a:t>IP</a:t>
            </a:r>
            <a:r>
              <a:rPr lang="zh-CN" altLang="en-US" sz="2400"/>
              <a:t>协议层。如果出错，则表示</a:t>
            </a:r>
            <a:r>
              <a:rPr lang="en-US" altLang="zh-CN" sz="2400"/>
              <a:t>TCP/IP</a:t>
            </a:r>
            <a:r>
              <a:rPr lang="zh-CN" altLang="en-US" sz="2400"/>
              <a:t>的安装或运行存在某些问题。 </a:t>
            </a:r>
            <a:endParaRPr lang="en-US" altLang="zh-CN" sz="2800"/>
          </a:p>
          <a:p>
            <a:pPr marL="450850" indent="-365125" eaLnBrk="1" hangingPunct="1">
              <a:buFont typeface="Calibri" panose="020F0502020204030204" pitchFamily="34" charset="0"/>
              <a:buAutoNum type="arabicParenR"/>
            </a:pPr>
            <a:r>
              <a:rPr lang="en-US" altLang="zh-CN" sz="2800"/>
              <a:t>ping </a:t>
            </a:r>
            <a:r>
              <a:rPr lang="zh-CN" altLang="en-US" sz="2800"/>
              <a:t>本机</a:t>
            </a:r>
            <a:r>
              <a:rPr lang="en-US" altLang="zh-CN" sz="2800"/>
              <a:t>IP </a:t>
            </a:r>
            <a:r>
              <a:rPr lang="zh-CN" altLang="en-US" sz="2800"/>
              <a:t>（通过</a:t>
            </a:r>
            <a:r>
              <a:rPr lang="en-US" altLang="zh-CN" sz="2800"/>
              <a:t>ipconfig</a:t>
            </a:r>
            <a:r>
              <a:rPr lang="zh-CN" altLang="en-US" sz="2800"/>
              <a:t>查询）</a:t>
            </a:r>
            <a:endParaRPr lang="en-US" altLang="zh-CN" sz="2800"/>
          </a:p>
          <a:p>
            <a:pPr marL="450850" lvl="1" indent="-365125" eaLnBrk="1" hangingPunct="1"/>
            <a:r>
              <a:rPr lang="zh-CN" altLang="en-US" sz="2400"/>
              <a:t>这个命令被送到本计算机所配置的</a:t>
            </a:r>
            <a:r>
              <a:rPr lang="en-US" altLang="zh-CN" sz="2400"/>
              <a:t>IP</a:t>
            </a:r>
            <a:r>
              <a:rPr lang="zh-CN" altLang="en-US" sz="2400"/>
              <a:t>地址。如果出错，则表示本地配置或安装存在问题。 </a:t>
            </a:r>
            <a:endParaRPr lang="en-US" altLang="zh-CN" sz="2400"/>
          </a:p>
          <a:p>
            <a:pPr marL="450850" indent="-365125" eaLnBrk="1" hangingPunct="1">
              <a:buFont typeface="+mj-lt"/>
              <a:buAutoNum type="arabicParenR" startAt="3"/>
            </a:pPr>
            <a:r>
              <a:rPr lang="en-US" altLang="zh-CN" sz="2800"/>
              <a:t>ping </a:t>
            </a:r>
            <a:r>
              <a:rPr lang="zh-CN" altLang="en-US" sz="2800"/>
              <a:t>网关</a:t>
            </a:r>
            <a:r>
              <a:rPr lang="en-US" altLang="zh-CN" sz="2800"/>
              <a:t>IP</a:t>
            </a:r>
            <a:r>
              <a:rPr lang="zh-CN" altLang="en-US" sz="2800"/>
              <a:t>（通过</a:t>
            </a:r>
            <a:r>
              <a:rPr lang="en-US" altLang="zh-CN" sz="2800"/>
              <a:t>ipconfig</a:t>
            </a:r>
            <a:r>
              <a:rPr lang="zh-CN" altLang="en-US" sz="2800"/>
              <a:t>查询）</a:t>
            </a:r>
            <a:endParaRPr lang="en-US" altLang="zh-CN" sz="2800"/>
          </a:p>
          <a:p>
            <a:pPr marL="450850" lvl="1" indent="-365125" eaLnBrk="1" hangingPunct="1"/>
            <a:r>
              <a:rPr lang="zh-CN" altLang="en-US" sz="2400"/>
              <a:t>这个命令如果应答正确，表示局域网中的网关路由器正在运行并能够作出应答。 </a:t>
            </a:r>
          </a:p>
          <a:p>
            <a:pPr marL="450850" lvl="1" indent="-365125" eaLnBrk="1" hangingPunct="1"/>
            <a:endParaRPr lang="zh-CN" altLang="en-US" sz="2400"/>
          </a:p>
        </p:txBody>
      </p:sp>
      <p:sp>
        <p:nvSpPr>
          <p:cNvPr id="20484" name="Date Placeholder 5">
            <a:extLst>
              <a:ext uri="{FF2B5EF4-FFF2-40B4-BE49-F238E27FC236}">
                <a16:creationId xmlns:a16="http://schemas.microsoft.com/office/drawing/2014/main" id="{E13392A9-22C1-45AA-8A8F-C3A12B6E2E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E09562-D706-4DC5-A069-F9BFA3F8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0486" name="Slide Number Placeholder 7">
            <a:extLst>
              <a:ext uri="{FF2B5EF4-FFF2-40B4-BE49-F238E27FC236}">
                <a16:creationId xmlns:a16="http://schemas.microsoft.com/office/drawing/2014/main" id="{989C894E-2FE4-49D6-9292-8E5A2914D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C26A2B0-9DF9-427D-A1A1-447DF49E54DE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9DA3-F2FB-48FE-BCAD-F980C94D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507" name="Content Placeholder 3">
            <a:extLst>
              <a:ext uri="{FF2B5EF4-FFF2-40B4-BE49-F238E27FC236}">
                <a16:creationId xmlns:a16="http://schemas.microsoft.com/office/drawing/2014/main" id="{4CFF3C77-214A-47DA-8667-31639804F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0850" indent="-365125" eaLnBrk="1" hangingPunct="1">
              <a:buFont typeface="+mj-lt"/>
              <a:buAutoNum type="arabicParenR" startAt="4"/>
            </a:pPr>
            <a:r>
              <a:rPr lang="en-US" altLang="zh-CN" sz="2800"/>
              <a:t>ping </a:t>
            </a:r>
            <a:r>
              <a:rPr lang="zh-CN" altLang="en-US" sz="2800"/>
              <a:t>某个域名 </a:t>
            </a:r>
            <a:r>
              <a:rPr lang="en-US" altLang="zh-CN" sz="2800"/>
              <a:t>(</a:t>
            </a:r>
            <a:r>
              <a:rPr lang="zh-CN" altLang="en-US" sz="2800"/>
              <a:t>例如</a:t>
            </a:r>
            <a:r>
              <a:rPr lang="en-US" altLang="zh-CN" sz="2800"/>
              <a:t>www.baidu.com)</a:t>
            </a:r>
          </a:p>
          <a:p>
            <a:pPr marL="450850" lvl="1" indent="-365125" eaLnBrk="1" hangingPunct="1"/>
            <a:r>
              <a:rPr lang="zh-CN" altLang="en-US" sz="2400"/>
              <a:t>对某个域名执行</a:t>
            </a:r>
            <a:r>
              <a:rPr lang="en-US" altLang="zh-CN" sz="2400"/>
              <a:t>Ping</a:t>
            </a:r>
            <a:r>
              <a:rPr lang="zh-CN" altLang="en-US" sz="2400"/>
              <a:t>命令，本地计算机必须先通过</a:t>
            </a:r>
            <a:r>
              <a:rPr lang="en-US" altLang="zh-CN" sz="2400"/>
              <a:t>DNS </a:t>
            </a:r>
            <a:r>
              <a:rPr lang="zh-CN" altLang="en-US" sz="2400"/>
              <a:t>服务器将域名转换成</a:t>
            </a:r>
            <a:r>
              <a:rPr lang="en-US" altLang="zh-CN" sz="2400"/>
              <a:t>IP</a:t>
            </a:r>
            <a:r>
              <a:rPr lang="zh-CN" altLang="en-US" sz="2400"/>
              <a:t>地址。如果出现故障，则表示</a:t>
            </a:r>
            <a:r>
              <a:rPr lang="en-US" altLang="zh-CN" sz="2400"/>
              <a:t>DNS</a:t>
            </a:r>
            <a:r>
              <a:rPr lang="zh-CN" altLang="en-US" sz="2400"/>
              <a:t>服务器的</a:t>
            </a:r>
            <a:r>
              <a:rPr lang="en-US" altLang="zh-CN" sz="2400"/>
              <a:t>IP</a:t>
            </a:r>
            <a:r>
              <a:rPr lang="zh-CN" altLang="en-US" sz="2400"/>
              <a:t>地址配置不正确或</a:t>
            </a:r>
            <a:r>
              <a:rPr lang="en-US" altLang="zh-CN" sz="2400"/>
              <a:t>DNS</a:t>
            </a:r>
            <a:r>
              <a:rPr lang="zh-CN" altLang="en-US" sz="2400"/>
              <a:t>服务器有故障。</a:t>
            </a:r>
            <a:endParaRPr lang="en-US" altLang="zh-CN" sz="2400"/>
          </a:p>
          <a:p>
            <a:pPr marL="450850" indent="-365125" eaLnBrk="1" hangingPunct="1">
              <a:buFont typeface="Calibri" panose="020F0502020204030204" pitchFamily="34" charset="0"/>
              <a:buAutoNum type="arabicParenR" startAt="4"/>
            </a:pPr>
            <a:r>
              <a:rPr lang="en-US" altLang="zh-CN" sz="2800"/>
              <a:t>ping </a:t>
            </a:r>
            <a:r>
              <a:rPr lang="zh-CN" altLang="en-US" sz="2800"/>
              <a:t>远程</a:t>
            </a:r>
            <a:r>
              <a:rPr lang="en-US" altLang="zh-CN" sz="2800"/>
              <a:t>IP</a:t>
            </a:r>
          </a:p>
          <a:p>
            <a:pPr marL="450850" lvl="1" indent="-365125" eaLnBrk="1" hangingPunct="1"/>
            <a:r>
              <a:rPr lang="zh-CN" altLang="en-US" sz="2400"/>
              <a:t>如收到</a:t>
            </a:r>
            <a:r>
              <a:rPr lang="en-US" altLang="zh-CN" sz="2400"/>
              <a:t>4</a:t>
            </a:r>
            <a:r>
              <a:rPr lang="zh-CN" altLang="en-US" sz="2400"/>
              <a:t>个应答，表示成功使用了缺省网关。对于拨号上网用户则表示能够成功的访问</a:t>
            </a:r>
            <a:r>
              <a:rPr lang="en-US" altLang="zh-CN" sz="2400"/>
              <a:t>Internet</a:t>
            </a:r>
            <a:r>
              <a:rPr lang="zh-CN" altLang="en-US" sz="2400"/>
              <a:t>（但不排除</a:t>
            </a:r>
            <a:r>
              <a:rPr lang="en-US" altLang="zh-CN" sz="2400"/>
              <a:t>ISP</a:t>
            </a:r>
            <a:r>
              <a:rPr lang="zh-CN" altLang="en-US" sz="2400"/>
              <a:t>的</a:t>
            </a:r>
            <a:r>
              <a:rPr lang="en-US" altLang="zh-CN" sz="2400"/>
              <a:t>DNS</a:t>
            </a:r>
            <a:r>
              <a:rPr lang="zh-CN" altLang="en-US" sz="2400"/>
              <a:t>会有问题）。 </a:t>
            </a:r>
          </a:p>
        </p:txBody>
      </p:sp>
      <p:sp>
        <p:nvSpPr>
          <p:cNvPr id="21508" name="Date Placeholder 2">
            <a:extLst>
              <a:ext uri="{FF2B5EF4-FFF2-40B4-BE49-F238E27FC236}">
                <a16:creationId xmlns:a16="http://schemas.microsoft.com/office/drawing/2014/main" id="{18CEA387-2F22-4952-A0E1-1F87A194D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81F2-955D-4DA5-A605-FCFD96C2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1510" name="Slide Number Placeholder 5">
            <a:extLst>
              <a:ext uri="{FF2B5EF4-FFF2-40B4-BE49-F238E27FC236}">
                <a16:creationId xmlns:a16="http://schemas.microsoft.com/office/drawing/2014/main" id="{B93FFCA5-F348-4A8A-A1B1-4898A9C3EE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84EA79C-8BFA-4DD0-9265-571F02327AC6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9DA3-F2FB-48FE-BCAD-F980C94D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2. ping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6EB9B3-BA5E-453E-B39D-356A82A9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450850" lvl="1" indent="-365125" eaLnBrk="1" fontAlgn="auto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6"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命令的常用参数选项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</a:p>
          <a:p>
            <a:pPr marL="450850" lvl="1" indent="-365125" eaLnBrk="1" fontAlgn="auto" hangingPunct="1">
              <a:defRPr/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 IP -t</a:t>
            </a:r>
          </a:p>
          <a:p>
            <a:pPr marL="450850" lvl="2" indent="-365125" eaLnBrk="1" fontAlgn="auto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连续对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地址执行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命令，直到被用户以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Ctrl + 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中断。</a:t>
            </a:r>
          </a:p>
          <a:p>
            <a:pPr marL="450850" lvl="1" indent="-365125" eaLnBrk="1" fontAlgn="auto" hangingPunct="1">
              <a:defRPr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 IP -l  size        </a:t>
            </a:r>
          </a:p>
          <a:p>
            <a:pPr marL="450850" lvl="2" indent="-365125" eaLnBrk="1" fontAlgn="auto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命令中的数据长度为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size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字节，缺省为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字节。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defRPr/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 IP -n count     </a:t>
            </a:r>
          </a:p>
          <a:p>
            <a:pPr marL="450850" lvl="2" indent="-365125" eaLnBrk="1" fontAlgn="auto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次数的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命令，缺省为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次。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7"/>
              <a:defRPr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命令的参数用法查询：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ing</a:t>
            </a:r>
          </a:p>
          <a:p>
            <a:pPr marL="450850" lvl="1" indent="-365125" eaLnBrk="1" fontAlgn="auto" hangingPunct="1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7"/>
              <a:defRPr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请利用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TTL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计算源节点与目的节点之间的路由器数量。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532" name="Date Placeholder 2">
            <a:extLst>
              <a:ext uri="{FF2B5EF4-FFF2-40B4-BE49-F238E27FC236}">
                <a16:creationId xmlns:a16="http://schemas.microsoft.com/office/drawing/2014/main" id="{5012E1E2-EF67-40B2-BABE-B85A48C0C0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E9B85-BC49-435E-B11E-78085425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2534" name="Slide Number Placeholder 5">
            <a:extLst>
              <a:ext uri="{FF2B5EF4-FFF2-40B4-BE49-F238E27FC236}">
                <a16:creationId xmlns:a16="http://schemas.microsoft.com/office/drawing/2014/main" id="{37A80BB0-7244-4D1D-BC70-6F9A03205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76988F-84BE-499B-BD90-2D221C7B4A1D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6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3. netstat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简介和使用方法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9B152-0AF1-4546-AF9F-86FF0690C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63" y="1122363"/>
            <a:ext cx="7964487" cy="5114925"/>
          </a:xfrm>
        </p:spPr>
        <p:txBody>
          <a:bodyPr rtlCol="0">
            <a:noAutofit/>
          </a:bodyPr>
          <a:lstStyle/>
          <a:p>
            <a:pPr marL="450850" lvl="1" indent="-365125" eaLnBrk="1" fontAlgn="auto" hangingPunct="1"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用于显示与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TCP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UDP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和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ICMP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协议的统计信息，用于检验本机各端口网络连接情况。 </a:t>
            </a:r>
          </a:p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netstat -s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显示每个协议的统计信息。默认情况下，显示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IPv6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ICMP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ICMPv6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TCP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TCPv6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UDP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和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UDPv6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的统计信息。</a:t>
            </a:r>
          </a:p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netstat -e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显示以太网统计信息。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604" name="Date Placeholder 4">
            <a:extLst>
              <a:ext uri="{FF2B5EF4-FFF2-40B4-BE49-F238E27FC236}">
                <a16:creationId xmlns:a16="http://schemas.microsoft.com/office/drawing/2014/main" id="{703775A5-E265-477B-B16A-CA116B4F4E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3EA18-60F4-4695-B961-0251FEB5E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5606" name="Slide Number Placeholder 6">
            <a:extLst>
              <a:ext uri="{FF2B5EF4-FFF2-40B4-BE49-F238E27FC236}">
                <a16:creationId xmlns:a16="http://schemas.microsoft.com/office/drawing/2014/main" id="{F1D8FB2D-2883-4AAA-BF5F-F4FD1F38E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A28917E-9E99-4786-87E5-A6DB3E6B37FB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3. netstat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27" name="Content Placeholder 3">
            <a:extLst>
              <a:ext uri="{FF2B5EF4-FFF2-40B4-BE49-F238E27FC236}">
                <a16:creationId xmlns:a16="http://schemas.microsoft.com/office/drawing/2014/main" id="{FEF767DA-54E5-4983-AA53-2FC5E134A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 startAt="3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netstat -r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显示路由表，以及接口列表。</a:t>
            </a:r>
            <a:endParaRPr lang="en-US" altLang="zh-CN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indent="-365125" eaLnBrk="1" hangingPunct="1">
              <a:lnSpc>
                <a:spcPct val="110000"/>
              </a:lnSpc>
              <a:buFont typeface="+mj-lt"/>
              <a:buAutoNum type="arabicParenR" startAt="4"/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netstat -a</a:t>
            </a:r>
          </a:p>
          <a:p>
            <a:pPr marL="450850" lvl="1" indent="-365125" eaLnBrk="1" hangingPunct="1">
              <a:lnSpc>
                <a:spcPct val="110000"/>
              </a:lnSpc>
            </a:pPr>
            <a:r>
              <a:rPr lang="zh-CN" altLang="en-US" sz="2400"/>
              <a:t>显示所有连接和侦听端口。所显示的状态有：已建立（</a:t>
            </a:r>
            <a:r>
              <a:rPr lang="en-US" altLang="zh-CN" sz="2400"/>
              <a:t>ESTABLISHED</a:t>
            </a:r>
            <a:r>
              <a:rPr lang="zh-CN" altLang="en-US" sz="2400"/>
              <a:t>）、正在监听（</a:t>
            </a:r>
            <a:r>
              <a:rPr lang="en-US" altLang="zh-CN" sz="2400"/>
              <a:t>LISTENING</a:t>
            </a:r>
            <a:r>
              <a:rPr lang="zh-CN" altLang="en-US" sz="2400"/>
              <a:t>）、</a:t>
            </a:r>
            <a:r>
              <a:rPr lang="en-US" altLang="zh-CN" sz="2400"/>
              <a:t>TCP</a:t>
            </a:r>
            <a:r>
              <a:rPr lang="zh-CN" altLang="en-US" sz="2400"/>
              <a:t>握手（</a:t>
            </a:r>
            <a:r>
              <a:rPr lang="en-US" altLang="zh-CN" sz="2400"/>
              <a:t>SYN_SENT</a:t>
            </a:r>
            <a:r>
              <a:rPr lang="zh-CN" altLang="en-US" sz="2400"/>
              <a:t>）等。</a:t>
            </a:r>
          </a:p>
          <a:p>
            <a:pPr marL="450850" indent="-365125" eaLnBrk="1" hangingPunct="1">
              <a:lnSpc>
                <a:spcPct val="110000"/>
              </a:lnSpc>
              <a:buFont typeface="Calibri" panose="020F0502020204030204" pitchFamily="34" charset="0"/>
              <a:buAutoNum type="arabicParenR" startAt="4"/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netstat -n</a:t>
            </a:r>
          </a:p>
          <a:p>
            <a:pPr marL="450850" lvl="1" indent="-365125" eaLnBrk="1" hangingPunct="1">
              <a:lnSpc>
                <a:spcPct val="110000"/>
              </a:lnSpc>
            </a:pPr>
            <a:r>
              <a:rPr lang="zh-CN" altLang="en-US" sz="2400"/>
              <a:t>显示所有活动连接，并且以数字形式显示地址和端口号。</a:t>
            </a:r>
            <a:endParaRPr lang="en-US" altLang="zh-CN" sz="2400"/>
          </a:p>
        </p:txBody>
      </p:sp>
      <p:sp>
        <p:nvSpPr>
          <p:cNvPr id="26628" name="Date Placeholder 4">
            <a:extLst>
              <a:ext uri="{FF2B5EF4-FFF2-40B4-BE49-F238E27FC236}">
                <a16:creationId xmlns:a16="http://schemas.microsoft.com/office/drawing/2014/main" id="{49569292-4B7E-47F5-8375-6763BD1E0E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61B2E-064E-4404-99C0-D690F61E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6630" name="Slide Number Placeholder 6">
            <a:extLst>
              <a:ext uri="{FF2B5EF4-FFF2-40B4-BE49-F238E27FC236}">
                <a16:creationId xmlns:a16="http://schemas.microsoft.com/office/drawing/2014/main" id="{D0EF17C6-6418-4F79-A93C-2BC036959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1ADF1E-B6C9-4D1C-846D-0D091099B8FA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58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4. tracert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603" name="Content Placeholder 3">
            <a:extLst>
              <a:ext uri="{FF2B5EF4-FFF2-40B4-BE49-F238E27FC236}">
                <a16:creationId xmlns:a16="http://schemas.microsoft.com/office/drawing/2014/main" id="{1BB7EEAB-E741-44A8-8541-5ADEEFDA7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82588" lvl="1" indent="-182563" eaLnBrk="1" hangingPunct="1">
              <a:defRPr/>
            </a:pPr>
            <a:r>
              <a:rPr lang="en-US" altLang="zh-CN"/>
              <a:t>tracert</a:t>
            </a:r>
            <a:r>
              <a:rPr lang="zh-CN" altLang="en-US"/>
              <a:t>命令可以用来跟踪数据报使用的路由</a:t>
            </a:r>
            <a:r>
              <a:rPr lang="en-US" altLang="zh-CN"/>
              <a:t>(</a:t>
            </a:r>
            <a:r>
              <a:rPr lang="zh-CN" altLang="en-US"/>
              <a:t>路径</a:t>
            </a:r>
            <a:r>
              <a:rPr lang="en-US" altLang="zh-CN"/>
              <a:t>)</a:t>
            </a:r>
            <a:r>
              <a:rPr lang="zh-CN" altLang="en-US"/>
              <a:t>，并列出所经过的每个路由器上所花费的时间。因此，</a:t>
            </a:r>
            <a:r>
              <a:rPr lang="en-US" altLang="zh-CN"/>
              <a:t>tracert</a:t>
            </a:r>
            <a:r>
              <a:rPr lang="zh-CN" altLang="en-US"/>
              <a:t>一般用来检测故障的位置。</a:t>
            </a:r>
          </a:p>
          <a:p>
            <a:pPr marL="382588" lvl="1" indent="-182563" eaLnBrk="1" hangingPunct="1">
              <a:defRPr/>
            </a:pPr>
            <a:endParaRPr lang="en-US" altLang="zh-CN"/>
          </a:p>
          <a:p>
            <a:pPr marL="382588" lvl="1" indent="-182563" eaLnBrk="1" hangingPunct="1">
              <a:defRPr/>
            </a:pPr>
            <a:r>
              <a:rPr lang="zh-CN" altLang="en-US"/>
              <a:t>用法：只需在</a:t>
            </a:r>
            <a:r>
              <a:rPr lang="en-US" altLang="zh-CN"/>
              <a:t>tracert</a:t>
            </a:r>
            <a:r>
              <a:rPr lang="zh-CN" altLang="en-US"/>
              <a:t>后面跟一个</a:t>
            </a:r>
            <a:r>
              <a:rPr lang="en-US" altLang="zh-CN"/>
              <a:t>IP</a:t>
            </a:r>
            <a:r>
              <a:rPr lang="zh-CN" altLang="en-US"/>
              <a:t>地址或主机名。</a:t>
            </a:r>
            <a:endParaRPr lang="en-US" altLang="zh-CN"/>
          </a:p>
          <a:p>
            <a:pPr marL="382588" lvl="1" indent="-182563" eaLnBrk="1" hangingPunct="1">
              <a:defRPr/>
            </a:pPr>
            <a:endParaRPr lang="en-US" altLang="zh-CN"/>
          </a:p>
          <a:p>
            <a:pPr marL="382588" lvl="1" indent="-182563" eaLnBrk="1" hangingPunct="1">
              <a:defRPr/>
            </a:pPr>
            <a:r>
              <a:rPr lang="zh-CN" altLang="en-US"/>
              <a:t>举例：</a:t>
            </a: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tracert www.baidu.com </a:t>
            </a:r>
          </a:p>
          <a:p>
            <a:pPr marL="382588" lvl="1" indent="-182563" eaLnBrk="1" hangingPunct="1">
              <a:defRPr/>
            </a:pPr>
            <a:endParaRPr lang="en-US" altLang="zh-CN"/>
          </a:p>
          <a:p>
            <a:pPr marL="382588" lvl="1" indent="-182563" eaLnBrk="1" hangingPunct="1">
              <a:defRPr/>
            </a:pPr>
            <a:r>
              <a:rPr lang="zh-CN" altLang="en-US"/>
              <a:t>我们已经知道利用</a:t>
            </a:r>
            <a:r>
              <a:rPr lang="en-US" altLang="zh-CN"/>
              <a:t>ping</a:t>
            </a:r>
            <a:r>
              <a:rPr lang="zh-CN" altLang="en-US"/>
              <a:t>返回的</a:t>
            </a:r>
            <a:r>
              <a:rPr lang="en-US" altLang="zh-CN"/>
              <a:t>TTL</a:t>
            </a:r>
            <a:r>
              <a:rPr lang="zh-CN" altLang="en-US"/>
              <a:t>数可以计算两个节点之间经过了多少个路由器。请将该结果与</a:t>
            </a:r>
            <a:r>
              <a:rPr lang="en-US" altLang="zh-CN"/>
              <a:t>tracert</a:t>
            </a:r>
            <a:r>
              <a:rPr lang="zh-CN" altLang="en-US"/>
              <a:t>结果对比，看看是否一致。</a:t>
            </a:r>
          </a:p>
          <a:p>
            <a:pPr marL="382588" lvl="1" indent="-182563" eaLnBrk="1" hangingPunct="1">
              <a:defRPr/>
            </a:pPr>
            <a:endParaRPr lang="zh-CN" altLang="en-US"/>
          </a:p>
        </p:txBody>
      </p:sp>
      <p:sp>
        <p:nvSpPr>
          <p:cNvPr id="27652" name="Date Placeholder 2">
            <a:extLst>
              <a:ext uri="{FF2B5EF4-FFF2-40B4-BE49-F238E27FC236}">
                <a16:creationId xmlns:a16="http://schemas.microsoft.com/office/drawing/2014/main" id="{CD8D58B9-D44C-4AC4-8A73-4B49F79ABE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A65E-5E6E-43CF-A72A-B8FE2FFF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7654" name="Slide Number Placeholder 5">
            <a:extLst>
              <a:ext uri="{FF2B5EF4-FFF2-40B4-BE49-F238E27FC236}">
                <a16:creationId xmlns:a16="http://schemas.microsoft.com/office/drawing/2014/main" id="{D67ABBC7-FEE6-4451-9BD2-21C264C28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649E39-1B49-4C52-9F72-F522EDAD8F32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4. tracert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使用举例一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675" name="Content Placeholder 3">
            <a:extLst>
              <a:ext uri="{FF2B5EF4-FFF2-40B4-BE49-F238E27FC236}">
                <a16:creationId xmlns:a16="http://schemas.microsoft.com/office/drawing/2014/main" id="{5DE6195D-C23A-4A57-93F4-386FE66979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588" lvl="1" indent="-182563" eaLnBrk="1" hangingPunct="1"/>
            <a:r>
              <a:rPr lang="zh-CN" altLang="en-US"/>
              <a:t>此次运行经过了</a:t>
            </a:r>
            <a:r>
              <a:rPr lang="en-US" altLang="zh-CN"/>
              <a:t>10</a:t>
            </a:r>
            <a:r>
              <a:rPr lang="zh-CN" altLang="en-US"/>
              <a:t>个</a:t>
            </a:r>
            <a:r>
              <a:rPr lang="en-US" altLang="zh-CN"/>
              <a:t>IP</a:t>
            </a:r>
            <a:r>
              <a:rPr lang="zh-CN" altLang="en-US"/>
              <a:t>路由器。其中前两个路由器位于局域网内，因为</a:t>
            </a:r>
            <a:r>
              <a:rPr lang="en-US" altLang="zh-CN"/>
              <a:t>192.168.x.x</a:t>
            </a:r>
            <a:r>
              <a:rPr lang="zh-CN" altLang="en-US"/>
              <a:t>是局域网私有地址。最后一行是所访问的</a:t>
            </a:r>
            <a:r>
              <a:rPr lang="en-US" altLang="zh-CN"/>
              <a:t>Web</a:t>
            </a:r>
            <a:r>
              <a:rPr lang="zh-CN" altLang="en-US"/>
              <a:t>服务器。</a:t>
            </a:r>
            <a:endParaRPr lang="en-US" altLang="zh-CN"/>
          </a:p>
          <a:p>
            <a:pPr marL="382588" lvl="1" indent="-182563" eaLnBrk="1" hangingPunct="1"/>
            <a:r>
              <a:rPr lang="zh-CN" altLang="en-US">
                <a:solidFill>
                  <a:srgbClr val="C00000"/>
                </a:solidFill>
              </a:rPr>
              <a:t>注意传输方向：</a:t>
            </a:r>
            <a:r>
              <a:rPr lang="en-US" altLang="zh-CN">
                <a:solidFill>
                  <a:srgbClr val="C00000"/>
                </a:solidFill>
                <a:sym typeface="Wingdings" panose="05000000000000000000" pitchFamily="2" charset="2"/>
              </a:rPr>
              <a:t>192.168.2.178——&gt;</a:t>
            </a:r>
            <a:r>
              <a:rPr lang="en-US" altLang="zh-CN">
                <a:solidFill>
                  <a:srgbClr val="C00000"/>
                </a:solidFill>
              </a:rPr>
              <a:t>14.215.177.39</a:t>
            </a:r>
          </a:p>
          <a:p>
            <a:pPr marL="382588" lvl="1" indent="-182563" eaLnBrk="1" hangingPunct="1"/>
            <a:endParaRPr lang="zh-CN" altLang="en-US"/>
          </a:p>
        </p:txBody>
      </p:sp>
      <p:sp>
        <p:nvSpPr>
          <p:cNvPr id="28677" name="Date Placeholder 5">
            <a:extLst>
              <a:ext uri="{FF2B5EF4-FFF2-40B4-BE49-F238E27FC236}">
                <a16:creationId xmlns:a16="http://schemas.microsoft.com/office/drawing/2014/main" id="{4C80D9C2-7BF1-411D-96B2-CEF70375C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62728A-9C1F-4DAF-BF8B-E708A062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8679" name="Slide Number Placeholder 7">
            <a:extLst>
              <a:ext uri="{FF2B5EF4-FFF2-40B4-BE49-F238E27FC236}">
                <a16:creationId xmlns:a16="http://schemas.microsoft.com/office/drawing/2014/main" id="{2E6C4622-CCB3-4E70-BFD5-B98A78238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9DC27E-31D0-4E3A-95EA-29DF96B98A14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96BA5D-6301-4C73-8FC2-03AB1BDD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60" y="3573016"/>
            <a:ext cx="6454880" cy="26074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4AC-EBB3-49F0-A238-2E6443BD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4. tracert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使用举例一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B3A22C-09E6-4FAB-85D8-5A6CF917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94" y="1121666"/>
            <a:ext cx="8309586" cy="5086142"/>
          </a:xfrm>
        </p:spPr>
        <p:txBody>
          <a:bodyPr/>
          <a:lstStyle/>
          <a:p>
            <a:r>
              <a:rPr lang="zh-CN" altLang="en-US"/>
              <a:t>对比</a:t>
            </a:r>
            <a:r>
              <a:rPr lang="en-US" altLang="zh-CN"/>
              <a:t>ping</a:t>
            </a:r>
            <a:r>
              <a:rPr lang="zh-CN" altLang="en-US"/>
              <a:t>和</a:t>
            </a:r>
            <a:r>
              <a:rPr lang="en-US" altLang="zh-CN"/>
              <a:t>tracert</a:t>
            </a:r>
          </a:p>
          <a:p>
            <a:r>
              <a:rPr lang="en-US" altLang="zh-CN"/>
              <a:t>ping</a:t>
            </a:r>
            <a:r>
              <a:rPr lang="zh-CN" altLang="en-US"/>
              <a:t>传输方向：</a:t>
            </a:r>
            <a:r>
              <a:rPr lang="en-US" altLang="zh-CN">
                <a:sym typeface="Wingdings" panose="05000000000000000000" pitchFamily="2" charset="2"/>
              </a:rPr>
              <a:t>192.168.2.178&lt;——</a:t>
            </a:r>
            <a:r>
              <a:rPr lang="en-US" altLang="zh-CN"/>
              <a:t>14.215.177.39 </a:t>
            </a:r>
          </a:p>
          <a:p>
            <a:r>
              <a:rPr lang="en-US" altLang="zh-CN"/>
              <a:t>9</a:t>
            </a:r>
            <a:r>
              <a:rPr lang="zh-CN" altLang="en-US"/>
              <a:t>个路由器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tracert</a:t>
            </a:r>
            <a:r>
              <a:rPr lang="zh-CN" altLang="en-US"/>
              <a:t>传输方向：</a:t>
            </a:r>
            <a:r>
              <a:rPr lang="en-US" altLang="zh-CN">
                <a:sym typeface="Wingdings" panose="05000000000000000000" pitchFamily="2" charset="2"/>
              </a:rPr>
              <a:t>192.168.2.178——&gt;</a:t>
            </a:r>
            <a:r>
              <a:rPr lang="en-US" altLang="zh-CN"/>
              <a:t>14.215.177.39</a:t>
            </a:r>
          </a:p>
          <a:p>
            <a:r>
              <a:rPr lang="en-US" altLang="zh-CN"/>
              <a:t>10</a:t>
            </a:r>
            <a:r>
              <a:rPr lang="zh-CN" altLang="en-US"/>
              <a:t>个路由器</a:t>
            </a:r>
            <a:endParaRPr lang="en-US" altLang="zh-CN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endParaRPr lang="en-US" altLang="zh-CN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F093-0B9B-4CF1-9732-8971A668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BDDF-9ACE-44D8-AFDB-BC184543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ED0A-00A7-42AB-B043-39925DB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C62E01-22FC-44BB-9073-8EC4FF1EA5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36"/>
          <a:stretch/>
        </p:blipFill>
        <p:spPr>
          <a:xfrm>
            <a:off x="3563888" y="4459102"/>
            <a:ext cx="4836911" cy="1833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03E747-8CB5-4C20-82BC-4C1EEF4C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903" y="2204864"/>
            <a:ext cx="4823896" cy="15773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92AFBB-1331-4F87-B633-CAD25AB03E66}"/>
              </a:ext>
            </a:extLst>
          </p:cNvPr>
          <p:cNvSpPr txBox="1"/>
          <p:nvPr/>
        </p:nvSpPr>
        <p:spPr>
          <a:xfrm>
            <a:off x="306656" y="5229200"/>
            <a:ext cx="2886813" cy="95410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两个方向经过的路由很可能不同</a:t>
            </a:r>
            <a:endParaRPr lang="en-US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267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4AC-EBB3-49F0-A238-2E6443BD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4. tracert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使用举例二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B3A22C-09E6-4FAB-85D8-5A6CF917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94" y="1121666"/>
            <a:ext cx="8309586" cy="5086142"/>
          </a:xfrm>
        </p:spPr>
        <p:txBody>
          <a:bodyPr/>
          <a:lstStyle/>
          <a:p>
            <a:r>
              <a:rPr lang="zh-CN" altLang="en-US"/>
              <a:t>对比</a:t>
            </a:r>
            <a:r>
              <a:rPr lang="en-US" altLang="zh-CN"/>
              <a:t>ping</a:t>
            </a:r>
            <a:r>
              <a:rPr lang="zh-CN" altLang="en-US"/>
              <a:t>和</a:t>
            </a:r>
            <a:r>
              <a:rPr lang="en-US" altLang="zh-CN"/>
              <a:t>tracert</a:t>
            </a:r>
          </a:p>
          <a:p>
            <a:r>
              <a:rPr lang="en-US" altLang="zh-CN"/>
              <a:t>ping</a:t>
            </a:r>
            <a:r>
              <a:rPr lang="zh-CN" altLang="en-US"/>
              <a:t>传输方向：</a:t>
            </a:r>
            <a:r>
              <a:rPr lang="en-US" altLang="zh-CN">
                <a:sym typeface="Wingdings" panose="05000000000000000000" pitchFamily="2" charset="2"/>
              </a:rPr>
              <a:t>192.168.2.178&lt;——</a:t>
            </a:r>
            <a:r>
              <a:rPr lang="en-US" altLang="zh-CN"/>
              <a:t>140.98.193.152 </a:t>
            </a:r>
          </a:p>
          <a:p>
            <a:r>
              <a:rPr lang="en-US" altLang="zh-CN"/>
              <a:t>255-238=17</a:t>
            </a:r>
            <a:r>
              <a:rPr lang="zh-CN" altLang="en-US"/>
              <a:t>个路由器</a:t>
            </a:r>
            <a:endParaRPr lang="en-US" altLang="zh-CN"/>
          </a:p>
          <a:p>
            <a:endParaRPr lang="en-US" altLang="zh-CN"/>
          </a:p>
          <a:p>
            <a:pPr>
              <a:spcBef>
                <a:spcPts val="2400"/>
              </a:spcBef>
            </a:pPr>
            <a:r>
              <a:rPr lang="en-US" altLang="zh-CN"/>
              <a:t>tracert</a:t>
            </a:r>
            <a:r>
              <a:rPr lang="zh-CN" altLang="en-US"/>
              <a:t>传输方向：</a:t>
            </a:r>
            <a:r>
              <a:rPr lang="en-US" altLang="zh-CN">
                <a:sym typeface="Wingdings" panose="05000000000000000000" pitchFamily="2" charset="2"/>
              </a:rPr>
              <a:t>192.168.2.178——&gt;</a:t>
            </a:r>
            <a:r>
              <a:rPr lang="en-US" altLang="zh-CN"/>
              <a:t>140.98.193.152</a:t>
            </a:r>
          </a:p>
          <a:p>
            <a:r>
              <a:rPr lang="en-US" altLang="zh-CN"/>
              <a:t>14</a:t>
            </a:r>
            <a:r>
              <a:rPr lang="zh-CN" altLang="en-US"/>
              <a:t>个路由器</a:t>
            </a:r>
            <a:endParaRPr lang="en-US" altLang="zh-CN"/>
          </a:p>
          <a:p>
            <a:endParaRPr lang="en-US" altLang="zh-CN" sz="2400"/>
          </a:p>
          <a:p>
            <a:pPr marL="0" indent="0">
              <a:buNone/>
            </a:pPr>
            <a:endParaRPr lang="en-US" altLang="zh-CN" sz="2400"/>
          </a:p>
          <a:p>
            <a:endParaRPr lang="en-US" altLang="zh-CN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F093-0B9B-4CF1-9732-8971A668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2BDDF-9ACE-44D8-AFDB-BC184543B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ED0A-00A7-42AB-B043-39925DB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97C23C-654C-40F3-B947-3FF8985F4E0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C62E01-22FC-44BB-9073-8EC4FF1EA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9794" y="4037623"/>
            <a:ext cx="4094979" cy="2237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03E747-8CB5-4C20-82BC-4C1EEF4C3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0595" y="2153237"/>
            <a:ext cx="4085935" cy="13452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92AFBB-1331-4F87-B633-CAD25AB03E66}"/>
              </a:ext>
            </a:extLst>
          </p:cNvPr>
          <p:cNvSpPr txBox="1"/>
          <p:nvPr/>
        </p:nvSpPr>
        <p:spPr>
          <a:xfrm>
            <a:off x="306656" y="5229200"/>
            <a:ext cx="2886813" cy="95410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rgbClr val="C00000"/>
                </a:solidFill>
              </a:rPr>
              <a:t>两个方向经过的路由很可能不同</a:t>
            </a:r>
            <a:endParaRPr lang="en-US" sz="28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064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5. ARP(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地址转换协议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简介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9B152-0AF1-4546-AF9F-86FF0690C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357188" lvl="1" indent="-271463" eaLnBrk="1" fontAlgn="auto" hangingPunct="1"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显示和修改地址解析协议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(ARP)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使用的“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到物理”地址转换表。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57188" lvl="1" indent="-271463" eaLnBrk="1" fontAlgn="auto" hangingPunct="1"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ARP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协议用于确定对应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地址的网卡物理地址。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57188" lvl="1" indent="-271463" eaLnBrk="1" fontAlgn="auto" hangingPunct="1">
              <a:defRPr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748" name="Date Placeholder 2">
            <a:extLst>
              <a:ext uri="{FF2B5EF4-FFF2-40B4-BE49-F238E27FC236}">
                <a16:creationId xmlns:a16="http://schemas.microsoft.com/office/drawing/2014/main" id="{B494DA24-07C1-4479-B2BC-5C5BE9025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9DAC5-677C-443C-87E5-32877CCE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31750" name="Slide Number Placeholder 5">
            <a:extLst>
              <a:ext uri="{FF2B5EF4-FFF2-40B4-BE49-F238E27FC236}">
                <a16:creationId xmlns:a16="http://schemas.microsoft.com/office/drawing/2014/main" id="{65E034A1-B805-49F2-80B5-A4B39E7618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5DC77EA-4110-4D1D-93BD-209A6F1CDC3C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5. ARP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9B152-0AF1-4546-AF9F-86FF0690C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/>
              <a:defRPr/>
            </a:pPr>
            <a:r>
              <a:rPr lang="en-US" altLang="zh-CN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–a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通过询问当前协议数据，显示当前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ARP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项。如果不止一个网络接口使用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ARP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，则显示每个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ARP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表的项。 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2"/>
              <a:defRPr/>
            </a:pP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-a 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inet_addr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如果有多个网卡，那么使用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arp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-a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加上接口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地址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inet_addr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，就可以只显示与该接口相关的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ARP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缓存项目。 </a:t>
            </a:r>
          </a:p>
        </p:txBody>
      </p:sp>
      <p:sp>
        <p:nvSpPr>
          <p:cNvPr id="32772" name="Date Placeholder 2">
            <a:extLst>
              <a:ext uri="{FF2B5EF4-FFF2-40B4-BE49-F238E27FC236}">
                <a16:creationId xmlns:a16="http://schemas.microsoft.com/office/drawing/2014/main" id="{2EDAAE8A-E624-48D3-8EF1-4A92899063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03FF-7BB1-4000-BB20-C3D1B982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32774" name="Slide Number Placeholder 5">
            <a:extLst>
              <a:ext uri="{FF2B5EF4-FFF2-40B4-BE49-F238E27FC236}">
                <a16:creationId xmlns:a16="http://schemas.microsoft.com/office/drawing/2014/main" id="{D1F298A4-9C33-4C2E-8DAF-2A1F34850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9A58EF-AEDA-46D5-90B8-1D4B2ADBA923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5. ARP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9B152-0AF1-4546-AF9F-86FF0690C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450850" lvl="1" indent="-365125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3"/>
              <a:defRPr/>
            </a:pP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-d 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inet_addr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删除 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inet_addr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指定的主机对应的条目。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使用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arp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 -a 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inet_addr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检查是否删除成功。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+mj-lt"/>
              <a:buAutoNum type="arabicParenR" startAt="4"/>
              <a:defRPr/>
            </a:pP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-s 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inet_addr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eth_addr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添加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Internet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地址 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inet_addr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与物理地址 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eth_addr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的关联条目。物理地址是用连字符分隔的 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</a:rPr>
              <a:t>6 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个十六进制字节。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请把之前删除的条目加回来，再用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arp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 -a </a:t>
            </a:r>
            <a:r>
              <a:rPr lang="en-US" altLang="zh-CN" sz="2400" err="1">
                <a:solidFill>
                  <a:schemeClr val="tx1">
                    <a:lumMod val="75000"/>
                    <a:lumOff val="25000"/>
                  </a:schemeClr>
                </a:solidFill>
                <a:cs typeface="Courier New" panose="02070309020205020404" pitchFamily="49" charset="0"/>
              </a:rPr>
              <a:t>inet_addr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检查是否添加成功。</a:t>
            </a:r>
            <a:endParaRPr lang="en-US" altLang="zh-CN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772" name="Date Placeholder 2">
            <a:extLst>
              <a:ext uri="{FF2B5EF4-FFF2-40B4-BE49-F238E27FC236}">
                <a16:creationId xmlns:a16="http://schemas.microsoft.com/office/drawing/2014/main" id="{2EDAAE8A-E624-48D3-8EF1-4A92899063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03FF-7BB1-4000-BB20-C3D1B982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32774" name="Slide Number Placeholder 5">
            <a:extLst>
              <a:ext uri="{FF2B5EF4-FFF2-40B4-BE49-F238E27FC236}">
                <a16:creationId xmlns:a16="http://schemas.microsoft.com/office/drawing/2014/main" id="{D1F298A4-9C33-4C2E-8DAF-2A1F34850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9A58EF-AEDA-46D5-90B8-1D4B2ADBA923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591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38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9CFE9-3AB4-46B9-B611-63399FFF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6. 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</a:rPr>
              <a:t>nslookup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简介和使用方法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41F9A7FD-632F-44C0-BC24-1FA3C12C5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57188" lvl="1" indent="-271463" eaLnBrk="1" hangingPunct="1"/>
            <a:r>
              <a:rPr lang="zh-CN" altLang="en-US"/>
              <a:t>用于查询一台机器的</a:t>
            </a:r>
            <a:r>
              <a:rPr lang="en-US" altLang="zh-CN"/>
              <a:t>IP</a:t>
            </a:r>
            <a:r>
              <a:rPr lang="zh-CN" altLang="en-US"/>
              <a:t>地址对应的域名。</a:t>
            </a:r>
            <a:endParaRPr lang="en-US" altLang="zh-CN"/>
          </a:p>
          <a:p>
            <a:pPr marL="357188" lvl="1" indent="-271463" eaLnBrk="1" hangingPunct="1"/>
            <a:r>
              <a:rPr lang="zh-CN" altLang="en-US"/>
              <a:t>举例：</a:t>
            </a:r>
            <a:endParaRPr lang="en-US" altLang="zh-CN"/>
          </a:p>
        </p:txBody>
      </p:sp>
      <p:sp>
        <p:nvSpPr>
          <p:cNvPr id="33797" name="Date Placeholder 6">
            <a:extLst>
              <a:ext uri="{FF2B5EF4-FFF2-40B4-BE49-F238E27FC236}">
                <a16:creationId xmlns:a16="http://schemas.microsoft.com/office/drawing/2014/main" id="{A9A6FDB9-D214-41E0-B0B8-A249A12D80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9B467-9ACE-4C22-847E-54B15581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33799" name="Slide Number Placeholder 8">
            <a:extLst>
              <a:ext uri="{FF2B5EF4-FFF2-40B4-BE49-F238E27FC236}">
                <a16:creationId xmlns:a16="http://schemas.microsoft.com/office/drawing/2014/main" id="{C6A3EAB1-DE4E-4243-B2C9-EAF0CD74C2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B8BCE2-5B13-414C-8BC6-F83AFAD86381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9DAAE-235C-4481-81C6-76C215B71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07" y="2636912"/>
            <a:ext cx="6851985" cy="301738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1171-0481-4914-A11D-5E38DAB1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实验内容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8FD51C33-B13C-4608-AE04-D72FF5EE9D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zh-CN"/>
              <a:t>i</a:t>
            </a:r>
            <a:r>
              <a:rPr lang="en-US" altLang="en-US"/>
              <a:t>pconfig 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ping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netstat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tracert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ARP</a:t>
            </a:r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 err="1"/>
              <a:t>nslookup</a:t>
            </a:r>
            <a:endParaRPr lang="en-US" altLang="en-US"/>
          </a:p>
          <a:p>
            <a:pPr marL="715963" indent="-514350" eaLnBrk="1" hangingPunct="1">
              <a:buFont typeface="Calibri" panose="020F0502020204030204" pitchFamily="34" charset="0"/>
              <a:buAutoNum type="arabicPeriod"/>
              <a:defRPr/>
            </a:pPr>
            <a:r>
              <a:rPr lang="en-US" altLang="en-US"/>
              <a:t>route</a:t>
            </a:r>
          </a:p>
        </p:txBody>
      </p:sp>
      <p:sp>
        <p:nvSpPr>
          <p:cNvPr id="17415" name="Date Placeholder 5">
            <a:extLst>
              <a:ext uri="{FF2B5EF4-FFF2-40B4-BE49-F238E27FC236}">
                <a16:creationId xmlns:a16="http://schemas.microsoft.com/office/drawing/2014/main" id="{FA50A55A-6823-46F1-B1A9-57C30A8F3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55B6F2-37CC-4D3A-A8CA-E540259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17417" name="Slide Number Placeholder 7">
            <a:extLst>
              <a:ext uri="{FF2B5EF4-FFF2-40B4-BE49-F238E27FC236}">
                <a16:creationId xmlns:a16="http://schemas.microsoft.com/office/drawing/2014/main" id="{00CF27F9-7999-414A-B6DC-12CD451C04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EFFA880-E787-4904-B80D-B063249ECA07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69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AAD9-A851-4583-851B-D00A7AF3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7. route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简介和使用方法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D52F-40EA-4263-8034-1140F13C5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50850" lvl="1" indent="-365125" eaLnBrk="1" fontAlgn="auto" hangingPunct="1"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rgbClr val="000000">
                    <a:lumMod val="75000"/>
                    <a:lumOff val="25000"/>
                  </a:srgbClr>
                </a:solidFill>
              </a:rPr>
              <a:t>操作网络路由表。 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 print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观察路由表的构成。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 delete </a:t>
            </a:r>
            <a:r>
              <a:rPr lang="en-US" altLang="zh-CN" sz="280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inet_addr</a:t>
            </a:r>
            <a:endParaRPr lang="en-US" altLang="zh-CN" sz="280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删除路由。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其中，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</a:rPr>
              <a:t>inet_addr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是“网络目标”</a:t>
            </a:r>
            <a:r>
              <a:rPr lang="en-US" altLang="zh-CN" err="1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请选择路由表里的一条路由信息，将其删除。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删除前请记录下来，稍后会用。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删除以后，请用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route print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查看是否成功。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701" name="Date Placeholder 7">
            <a:extLst>
              <a:ext uri="{FF2B5EF4-FFF2-40B4-BE49-F238E27FC236}">
                <a16:creationId xmlns:a16="http://schemas.microsoft.com/office/drawing/2014/main" id="{3E1D5B1C-12E0-4CED-8BA8-9372698A6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042EDB-FCD1-4D1E-A27B-D24EA7EA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29703" name="Slide Number Placeholder 9">
            <a:extLst>
              <a:ext uri="{FF2B5EF4-FFF2-40B4-BE49-F238E27FC236}">
                <a16:creationId xmlns:a16="http://schemas.microsoft.com/office/drawing/2014/main" id="{DAAC1B8D-434F-4D72-8747-4DCF8D86BD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119FB36-A072-44E6-A7C8-5C445932EF94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FDD-96FB-4490-A155-639B6A7C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7. route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使用方法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9B152-0AF1-4546-AF9F-86FF0690C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63" y="1122363"/>
            <a:ext cx="8316217" cy="5114925"/>
          </a:xfrm>
        </p:spPr>
        <p:txBody>
          <a:bodyPr rtlCol="0">
            <a:noAutofit/>
          </a:bodyPr>
          <a:lstStyle/>
          <a:p>
            <a:pPr marL="450850" indent="-365125" eaLnBrk="1" fontAlgn="auto" hangingPunct="1">
              <a:lnSpc>
                <a:spcPct val="110000"/>
              </a:lnSpc>
              <a:buFont typeface="+mj-lt"/>
              <a:buAutoNum type="arabicParenR" startAt="3"/>
              <a:defRPr/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 add inet_addr_1 inet_addr_2</a:t>
            </a: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添加路由。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其中，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inet_addr_1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是网络目标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地址，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 inet_addr_2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是网关地址。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请添加之前删除的路由。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添加以后，请用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route print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查看是否成功。</a:t>
            </a:r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endParaRPr lang="en-US" altLang="zh-CN" sz="3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0850" lvl="1" indent="-365125" eaLnBrk="1" fontAlgn="auto" hangingPunct="1">
              <a:lnSpc>
                <a:spcPct val="110000"/>
              </a:lnSpc>
              <a:defRPr/>
            </a:pPr>
            <a:endParaRPr lang="en-US" altLang="zh-CN" sz="2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726" name="Date Placeholder 7">
            <a:extLst>
              <a:ext uri="{FF2B5EF4-FFF2-40B4-BE49-F238E27FC236}">
                <a16:creationId xmlns:a16="http://schemas.microsoft.com/office/drawing/2014/main" id="{F5FBA6EB-94EE-407F-947F-8B2267EC9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FFFFFF"/>
                </a:solidFill>
              </a:rPr>
              <a:t>2/29/2020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8D64ADA-D560-4F3E-9432-24C92322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30728" name="Slide Number Placeholder 9">
            <a:extLst>
              <a:ext uri="{FF2B5EF4-FFF2-40B4-BE49-F238E27FC236}">
                <a16:creationId xmlns:a16="http://schemas.microsoft.com/office/drawing/2014/main" id="{BB757C2C-724E-4732-B7CD-EDF37FBEBC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3FB2FE-5116-48CB-AF3F-645E594490F0}" type="slidenum">
              <a:rPr lang="en-US" altLang="zh-CN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puter-network" id="{8035428C-27DC-4B59-AB1F-B112A91F19B3}" vid="{B56FCE80-C2DF-4FD6-9D02-8D9C8A1037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0</TotalTime>
  <Words>2025</Words>
  <Application>Microsoft Macintosh PowerPoint</Application>
  <PresentationFormat>全屏显示(4:3)</PresentationFormat>
  <Paragraphs>335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Calibri</vt:lpstr>
      <vt:lpstr>Courier New</vt:lpstr>
      <vt:lpstr>Wingdings</vt:lpstr>
      <vt:lpstr>computer-network</vt:lpstr>
      <vt:lpstr>计算机网络  实验二 常用的网络命令</vt:lpstr>
      <vt:lpstr>实验二  常用的网络命令</vt:lpstr>
      <vt:lpstr>实验内容</vt:lpstr>
      <vt:lpstr>实验任务要求</vt:lpstr>
      <vt:lpstr>实验报告撰写要求</vt:lpstr>
      <vt:lpstr>注意事项</vt:lpstr>
      <vt:lpstr>实验内容</vt:lpstr>
      <vt:lpstr>1. ipconfig 简介</vt:lpstr>
      <vt:lpstr>1. ipconfig 使用方法 </vt:lpstr>
      <vt:lpstr>实验内容</vt:lpstr>
      <vt:lpstr>2. ping 简介</vt:lpstr>
      <vt:lpstr>2. ping 简介</vt:lpstr>
      <vt:lpstr>2. ping 简介</vt:lpstr>
      <vt:lpstr>2. ping 简介</vt:lpstr>
      <vt:lpstr>2. ping 简介</vt:lpstr>
      <vt:lpstr>2. ping使用方法</vt:lpstr>
      <vt:lpstr>2. ping使用方法</vt:lpstr>
      <vt:lpstr>2. ping使用方法</vt:lpstr>
      <vt:lpstr>实验内容</vt:lpstr>
      <vt:lpstr>3. netstat 简介和使用方法</vt:lpstr>
      <vt:lpstr>3. netstat使用方法</vt:lpstr>
      <vt:lpstr>实验内容</vt:lpstr>
      <vt:lpstr>4. tracert 简介</vt:lpstr>
      <vt:lpstr>4. tracert 使用举例一</vt:lpstr>
      <vt:lpstr>4. tracert 使用举例一</vt:lpstr>
      <vt:lpstr>4. tracert 使用举例二</vt:lpstr>
      <vt:lpstr>实验内容</vt:lpstr>
      <vt:lpstr>5. ARP(地址转换协议) 简介</vt:lpstr>
      <vt:lpstr>5. ARP使用方法</vt:lpstr>
      <vt:lpstr>5. ARP使用方法</vt:lpstr>
      <vt:lpstr>实验内容</vt:lpstr>
      <vt:lpstr>6. nslookup 简介和使用方法</vt:lpstr>
      <vt:lpstr>实验内容</vt:lpstr>
      <vt:lpstr>7. route 简介和使用方法</vt:lpstr>
      <vt:lpstr>7. route 使用方法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  实验二 常用的网络命令</dc:title>
  <dc:creator>谢瑞桃</dc:creator>
  <cp:lastModifiedBy>Hengzhi Wang</cp:lastModifiedBy>
  <cp:revision>1</cp:revision>
  <dcterms:created xsi:type="dcterms:W3CDTF">2007-03-21T01:13:27Z</dcterms:created>
  <dcterms:modified xsi:type="dcterms:W3CDTF">2024-03-11T15:44:59Z</dcterms:modified>
</cp:coreProperties>
</file>