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9"/>
  </p:notesMasterIdLst>
  <p:sldIdLst>
    <p:sldId id="284" r:id="rId2"/>
    <p:sldId id="282" r:id="rId3"/>
    <p:sldId id="1123" r:id="rId4"/>
    <p:sldId id="300" r:id="rId5"/>
    <p:sldId id="301" r:id="rId6"/>
    <p:sldId id="259" r:id="rId7"/>
    <p:sldId id="318" r:id="rId8"/>
    <p:sldId id="319" r:id="rId9"/>
    <p:sldId id="321" r:id="rId10"/>
    <p:sldId id="327" r:id="rId11"/>
    <p:sldId id="302" r:id="rId12"/>
    <p:sldId id="324" r:id="rId13"/>
    <p:sldId id="1121" r:id="rId14"/>
    <p:sldId id="328" r:id="rId15"/>
    <p:sldId id="329" r:id="rId16"/>
    <p:sldId id="330" r:id="rId17"/>
    <p:sldId id="331" r:id="rId18"/>
    <p:sldId id="1125" r:id="rId19"/>
    <p:sldId id="332" r:id="rId20"/>
    <p:sldId id="333" r:id="rId21"/>
    <p:sldId id="335" r:id="rId22"/>
    <p:sldId id="337" r:id="rId23"/>
    <p:sldId id="1124" r:id="rId24"/>
    <p:sldId id="1117" r:id="rId25"/>
    <p:sldId id="339" r:id="rId26"/>
    <p:sldId id="1118" r:id="rId27"/>
    <p:sldId id="1119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1B2"/>
    <a:srgbClr val="275FB2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1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gzhi Wang" userId="6a6b7f549fab02f6" providerId="LiveId" clId="{941CF166-E46A-4870-B295-6685C26CE2C7}"/>
    <pc:docChg chg="undo custSel modSld">
      <pc:chgData name="Hengzhi Wang" userId="6a6b7f549fab02f6" providerId="LiveId" clId="{941CF166-E46A-4870-B295-6685C26CE2C7}" dt="2024-03-20T04:24:00.547" v="2" actId="478"/>
      <pc:docMkLst>
        <pc:docMk/>
      </pc:docMkLst>
      <pc:sldChg chg="addSp delSp mod">
        <pc:chgData name="Hengzhi Wang" userId="6a6b7f549fab02f6" providerId="LiveId" clId="{941CF166-E46A-4870-B295-6685C26CE2C7}" dt="2024-03-20T04:24:00.547" v="2" actId="478"/>
        <pc:sldMkLst>
          <pc:docMk/>
          <pc:sldMk cId="3215636511" sldId="1117"/>
        </pc:sldMkLst>
        <pc:spChg chg="add del">
          <ac:chgData name="Hengzhi Wang" userId="6a6b7f549fab02f6" providerId="LiveId" clId="{941CF166-E46A-4870-B295-6685C26CE2C7}" dt="2024-03-20T04:24:00.547" v="2" actId="478"/>
          <ac:spMkLst>
            <pc:docMk/>
            <pc:sldMk cId="3215636511" sldId="1117"/>
            <ac:spMk id="7" creationId="{26531465-7FD7-4C71-90A7-79AFDD39C9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5995E-624B-4D48-9EFE-40CE0ECF99D9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B5FC3-7DAF-4EE2-8F41-285B410EB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1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2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4F239F-2AB7-48F7-A042-5ECAEEA3A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90" y="791570"/>
            <a:ext cx="7949821" cy="3297872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E684-B319-4A79-8986-7567B552A097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45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95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 pitchFamily="2" charset="2"/>
              <a:buChar char="§"/>
              <a:defRPr sz="2400"/>
            </a:lvl2pPr>
            <a:lvl3pPr marL="627063" indent="-269875">
              <a:buFont typeface="Wingdings" panose="05000000000000000000" pitchFamily="2" charset="2"/>
              <a:buChar char="§"/>
              <a:defRPr sz="2400"/>
            </a:lvl3pPr>
            <a:lvl4pPr marL="808038" indent="-269875">
              <a:buFont typeface="Wingdings" panose="05000000000000000000" pitchFamily="2" charset="2"/>
              <a:buChar char="§"/>
              <a:defRPr sz="2000"/>
            </a:lvl4pPr>
            <a:lvl5pPr marL="982663" indent="-261938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7A6D-37E4-4C64-81CB-CE65F1CCA64A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08168F-D8AE-4F2A-B235-58D30F78AF13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414D3F-531A-48ED-B33D-CDD36C630729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15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4" y="758952"/>
            <a:ext cx="7970292" cy="3330494"/>
          </a:xfrm>
        </p:spPr>
        <p:txBody>
          <a:bodyPr anchor="ctr" anchorCtr="0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kern="120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F057-7382-4547-B4DC-DB1F8FA2CB42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EFED76-02AB-4523-A9B0-A6BA1DEFAEE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4470EC-53C6-4CD5-8341-E44FD9EB238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79CE9EF-6A76-4C48-9741-92A801066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76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8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313" y="1108368"/>
            <a:ext cx="3922704" cy="497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177" y="1108368"/>
            <a:ext cx="3876984" cy="498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fld id="{4688A974-53A9-4513-8B93-EC0AC7F2861C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7297D1-C44B-406B-A603-AA07F07D31A9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BEEAE6-F945-42F3-8A1F-96E639299AA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16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72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313" y="1977309"/>
            <a:ext cx="392270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7177" y="1977309"/>
            <a:ext cx="387698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BF5E-4EF5-4C05-9631-8D509B24FDEE}" type="datetime1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5F78A-28F7-4409-A6A1-5DA3ADD1FA60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96C3C-5635-4683-A824-5B2539AF1988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5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64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0AC2-0DAB-41FE-8257-14243C5C0DA0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E7399A-8558-4927-BB83-D9B7E3F7062A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FD9DDC-4264-4FC1-AEDF-F5474BD22F2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59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4E3F-7E72-4738-AACE-678A05B8C541}" type="datetime1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4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325A51B-9AE3-45D8-8E3E-091B46EF21AD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0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CA02D-DE69-40E1-AC1C-AE4E7B94AC0C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2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00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9B28B-723A-45EF-B9EA-6278425BFE8F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05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DB75-B8E7-487E-B4BA-08AF4FAA41C0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577BFA-1A9B-4D9C-B079-2C8036C779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1" y="286605"/>
            <a:ext cx="7964423" cy="719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fld id="{3AFE0DD5-1BD0-45D6-965F-4820AE3CBA1E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A24E23CE-81A1-4379-810C-C273C60F1C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27972-DB16-4C4C-9ACE-10E22B00BCF1}"/>
              </a:ext>
            </a:extLst>
          </p:cNvPr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130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038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marR="0" indent="-261938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shark.org/docs/wsug_html_chunked" TargetMode="External"/><Relationship Id="rId2" Type="http://schemas.openxmlformats.org/officeDocument/2006/relationships/hyperlink" Target="https://www.wireshark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C1353-A4FB-4BF7-ABAD-F77163451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计算机网络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实验三 数据包抓取与分析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7E3BF4-179C-4FCB-B30B-01B05FB7F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计算机与软件学院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深圳大学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3A58-0EA6-4CC3-BD07-1668EDC1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zh-CN" altLang="en-US" dirty="0"/>
              <a:t>三</a:t>
            </a:r>
            <a:r>
              <a:rPr lang="en-US" altLang="zh-CN"/>
              <a:t>  </a:t>
            </a:r>
            <a:r>
              <a:rPr lang="zh-CN" altLang="en-US" dirty="0"/>
              <a:t>数据包抓取与分析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实验目的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学习安装、使用协议分析软件，掌握基本的数据报抓取、过滤和分析方法，能分析</a:t>
            </a:r>
            <a:r>
              <a:rPr lang="en-US" altLang="zh-CN" sz="2400" dirty="0"/>
              <a:t>HTTP</a:t>
            </a:r>
            <a:r>
              <a:rPr lang="zh-CN" altLang="en-US" sz="2400" dirty="0"/>
              <a:t>、</a:t>
            </a:r>
            <a:r>
              <a:rPr lang="en-US" altLang="zh-CN" sz="2400" dirty="0"/>
              <a:t>TCP</a:t>
            </a:r>
            <a:r>
              <a:rPr lang="zh-CN" altLang="en-US" sz="2400" dirty="0"/>
              <a:t>、</a:t>
            </a:r>
            <a:r>
              <a:rPr lang="en-US" altLang="zh-CN" sz="2400" dirty="0"/>
              <a:t>ICMP</a:t>
            </a:r>
            <a:r>
              <a:rPr lang="zh-CN" altLang="en-US" sz="2400" dirty="0"/>
              <a:t>等协议。 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实验环境</a:t>
            </a:r>
          </a:p>
          <a:p>
            <a:pPr lvl="1"/>
            <a:r>
              <a:rPr lang="zh-CN" altLang="en-US" sz="2400" dirty="0"/>
              <a:t>使用具有</a:t>
            </a:r>
            <a:r>
              <a:rPr lang="en-US" altLang="zh-CN" sz="2400" dirty="0"/>
              <a:t>Internet</a:t>
            </a:r>
            <a:r>
              <a:rPr lang="zh-CN" altLang="en-US" sz="2400" dirty="0"/>
              <a:t>连接的</a:t>
            </a:r>
            <a:r>
              <a:rPr lang="en-US" altLang="zh-CN" sz="2400" dirty="0"/>
              <a:t>Windows</a:t>
            </a:r>
            <a:r>
              <a:rPr lang="zh-CN" altLang="en-US" sz="2400" dirty="0"/>
              <a:t>操作系统；</a:t>
            </a:r>
            <a:endParaRPr lang="en-US" altLang="zh-CN" sz="2400" dirty="0"/>
          </a:p>
          <a:p>
            <a:pPr lvl="1"/>
            <a:r>
              <a:rPr lang="zh-CN" altLang="en-US" sz="2400" dirty="0"/>
              <a:t>抓包软件</a:t>
            </a:r>
            <a:r>
              <a:rPr lang="en-US" altLang="zh-CN" sz="2400" dirty="0"/>
              <a:t>Wireshark</a:t>
            </a:r>
            <a:r>
              <a:rPr lang="zh-CN" altLang="en-US" sz="2400" dirty="0"/>
              <a:t>。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93E84-C102-4B91-9022-316D93765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1CA-B76C-46AC-974F-D06203ADD598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08DB8-D8A9-414D-8039-E557FE61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9E61B-AA67-49DA-A2C6-1F5A36B2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altLang="en-US" dirty="0"/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ECCCA4-5E97-46C2-BAE4-BA70C9C37CC9}" type="datetime1">
              <a:rPr lang="en-US" altLang="zh-CN" smtClean="0">
                <a:solidFill>
                  <a:srgbClr val="FFFFFF"/>
                </a:solidFill>
              </a:rPr>
              <a:t>3/20/2024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3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1C5F-3393-4622-9677-9CE52212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实验任务要求</a:t>
            </a:r>
            <a:endParaRPr lang="en-US" dirty="0"/>
          </a:p>
        </p:txBody>
      </p:sp>
      <p:sp>
        <p:nvSpPr>
          <p:cNvPr id="15363" name="Content Placeholder 7">
            <a:extLst>
              <a:ext uri="{FF2B5EF4-FFF2-40B4-BE49-F238E27FC236}">
                <a16:creationId xmlns:a16="http://schemas.microsoft.com/office/drawing/2014/main" id="{C89A18CF-807A-4263-B176-CB5BEEB19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 dirty="0"/>
              <a:t>请参考本讲义学习</a:t>
            </a:r>
            <a:r>
              <a:rPr lang="en-US" altLang="zh-CN" dirty="0"/>
              <a:t>Wireshark</a:t>
            </a:r>
            <a:r>
              <a:rPr lang="zh-CN" altLang="en-US" dirty="0"/>
              <a:t>软件的使用方法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安装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理解</a:t>
            </a:r>
            <a:r>
              <a:rPr lang="en-US" altLang="zh-CN" dirty="0"/>
              <a:t>TCP/IP</a:t>
            </a:r>
            <a:r>
              <a:rPr lang="zh-CN" altLang="en-US" dirty="0"/>
              <a:t>协议分层模型</a:t>
            </a:r>
            <a:endParaRPr lang="en-US" altLang="zh-CN" dirty="0"/>
          </a:p>
          <a:p>
            <a:pPr marL="382588" lvl="1" indent="-182563"/>
            <a:r>
              <a:rPr lang="zh-CN" altLang="en-US" dirty="0"/>
              <a:t>了解</a:t>
            </a:r>
            <a:r>
              <a:rPr lang="en-US" altLang="zh-CN" dirty="0"/>
              <a:t>TCP</a:t>
            </a:r>
            <a:r>
              <a:rPr lang="zh-CN" altLang="en-US" dirty="0"/>
              <a:t>报文格式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理解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依照步骤完成实验内容</a:t>
            </a:r>
            <a:r>
              <a:rPr lang="en-US" altLang="zh-CN" dirty="0"/>
              <a:t>1—5</a:t>
            </a:r>
          </a:p>
          <a:p>
            <a:pPr marL="382588" lvl="1" indent="-182563" eaLnBrk="1" hangingPunct="1"/>
            <a:r>
              <a:rPr lang="zh-CN" altLang="en-US" dirty="0"/>
              <a:t>对实验结果截图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撰写实验报告</a:t>
            </a:r>
            <a:endParaRPr lang="en-US" altLang="zh-CN" dirty="0"/>
          </a:p>
          <a:p>
            <a:pPr marL="382588" lvl="1" indent="-182563" eaLnBrk="1" hangingPunct="1"/>
            <a:endParaRPr lang="en-US" altLang="zh-CN" dirty="0"/>
          </a:p>
          <a:p>
            <a:pPr marL="382588" lvl="1" indent="-182563" eaLnBrk="1" hangingPunct="1"/>
            <a:endParaRPr lang="en-US" altLang="zh-CN" dirty="0"/>
          </a:p>
          <a:p>
            <a:pPr marL="382588" lvl="1" indent="-182563" eaLnBrk="1" hangingPunct="1"/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18CA2-0FE1-4104-A31B-633E07AB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93A9B3-2C7A-4268-9444-5D46629C417D}" type="datetime1">
              <a:rPr lang="en-US" altLang="zh-CN" smtClean="0"/>
              <a:t>3/20/2024</a:t>
            </a:fld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ABBAE-87AE-4B63-B3A1-20F709D3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4AAE-9681-4123-82C1-ED86A257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D46A6-7336-4199-AC73-BAD4954AE5E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698F-70D7-4EF2-832D-CFD11280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实验报告撰写要求</a:t>
            </a:r>
            <a:endParaRPr 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40AF5BB-2894-40C2-B78C-0A6AD31C9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2588" lvl="1" indent="-182563" eaLnBrk="1" hangingPunct="1"/>
            <a:r>
              <a:rPr lang="zh-CN" altLang="en-US" dirty="0"/>
              <a:t>使用教务处制作的实验报告模板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注意按进度填写实验时间和实验报告提交时间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填写模板中的每一部分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填写实验步骤时，做到条理清晰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注意截图清晰、美观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/>
              <a:t>要</a:t>
            </a:r>
            <a:r>
              <a:rPr lang="zh-CN" altLang="en-US" dirty="0"/>
              <a:t>求在演示操作步骤的截图上加标注，指出操作步骤和操作结果，没有会被扣分</a:t>
            </a:r>
          </a:p>
          <a:p>
            <a:pPr marL="382588" lvl="1" indent="-182563" eaLnBrk="1" hangingPunct="1"/>
            <a:r>
              <a:rPr lang="zh-CN" altLang="en-US" dirty="0"/>
              <a:t>实验报告只有截图，没有文字说明讲解会扣分</a:t>
            </a:r>
          </a:p>
          <a:p>
            <a:pPr marL="382588" lvl="1" indent="-182563" eaLnBrk="1" hangingPunct="1"/>
            <a:r>
              <a:rPr lang="zh-CN" altLang="en-US" dirty="0"/>
              <a:t>实验结果要有原理分析，否则会被扣分</a:t>
            </a:r>
          </a:p>
          <a:p>
            <a:pPr marL="382588" lvl="1" indent="-182563" eaLnBrk="1" hangingPunct="1"/>
            <a:r>
              <a:rPr lang="zh-CN" altLang="en-US" dirty="0"/>
              <a:t>出现一模一样的实验报告，均得零分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2BFC-76DD-43A1-BD4B-01A598FA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D234EE-3BE9-41A5-8AA6-1DA95DA1330A}" type="datetime1">
              <a:rPr lang="en-US" altLang="zh-CN" smtClean="0"/>
              <a:t>3/20/2024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6C454-85CA-4D67-9A0E-CA8D6908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48E2-96CD-4596-9D49-EA0B73F0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2EED56-5130-434B-A1B8-8BD1EA48AA1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>
                <a:solidFill>
                  <a:schemeClr val="accent2"/>
                </a:solidFill>
              </a:rPr>
              <a:t>安装学习</a:t>
            </a:r>
            <a:r>
              <a:rPr lang="en-US" altLang="zh-CN" dirty="0">
                <a:solidFill>
                  <a:schemeClr val="accent2"/>
                </a:solidFill>
              </a:rPr>
              <a:t>Wireshark</a:t>
            </a:r>
            <a:r>
              <a:rPr lang="zh-CN" altLang="en-US" dirty="0">
                <a:solidFill>
                  <a:schemeClr val="accent2"/>
                </a:solidFill>
              </a:rPr>
              <a:t>软件</a:t>
            </a:r>
            <a:endParaRPr lang="en-US" altLang="en-US" dirty="0">
              <a:solidFill>
                <a:schemeClr val="accent2"/>
              </a:solidFill>
            </a:endParaRP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altLang="en-US" dirty="0"/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C506F91-0381-44D6-A015-C266E7608D66}" type="datetime1">
              <a:rPr lang="en-US" altLang="zh-CN" smtClean="0">
                <a:solidFill>
                  <a:srgbClr val="FFFFFF"/>
                </a:solidFill>
              </a:rPr>
              <a:t>3/20/2024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61DF-AC77-4E86-913A-82A119EB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E9F1-0ABB-4169-817D-FFCFB2D18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Wireshark</a:t>
            </a:r>
            <a:r>
              <a:rPr lang="zh-CN" altLang="en-US" dirty="0"/>
              <a:t>是世界上最广泛使用的网络协议分析器。</a:t>
            </a:r>
            <a:endParaRPr lang="en-US" altLang="zh-CN" dirty="0"/>
          </a:p>
          <a:p>
            <a:pPr lvl="1"/>
            <a:r>
              <a:rPr lang="zh-CN" altLang="en-US" dirty="0"/>
              <a:t>官网地址：</a:t>
            </a:r>
            <a:endParaRPr lang="en-US" altLang="zh-CN" dirty="0"/>
          </a:p>
          <a:p>
            <a:pPr marL="384048" lvl="2" indent="0">
              <a:buNone/>
            </a:pPr>
            <a:r>
              <a:rPr lang="en-US" sz="2800" dirty="0">
                <a:hlinkClick r:id="rId2"/>
              </a:rPr>
              <a:t>https://www.wireshark.org/ </a:t>
            </a:r>
            <a:endParaRPr lang="en-US" sz="2800" dirty="0"/>
          </a:p>
          <a:p>
            <a:pPr lvl="1"/>
            <a:r>
              <a:rPr lang="zh-CN" altLang="en-US" dirty="0"/>
              <a:t>软件使用手册：</a:t>
            </a:r>
            <a:r>
              <a:rPr lang="en-US"/>
              <a:t> </a:t>
            </a:r>
            <a:r>
              <a:rPr lang="en-US">
                <a:hlinkClick r:id="rId3"/>
              </a:rPr>
              <a:t>https://www.wireshark.org/docs/wsug_html_chunked</a:t>
            </a:r>
            <a:endParaRPr lang="en-US" altLang="zh-CN" dirty="0"/>
          </a:p>
          <a:p>
            <a:pPr marL="715518" lvl="1" indent="-514350">
              <a:buFont typeface="+mj-lt"/>
              <a:buAutoNum type="arabicParenR"/>
            </a:pPr>
            <a:r>
              <a:rPr lang="zh-CN" altLang="en-US" dirty="0"/>
              <a:t>请下载并安装该软件。</a:t>
            </a:r>
            <a:r>
              <a:rPr lang="en-US" altLang="zh-CN" dirty="0"/>
              <a:t>(</a:t>
            </a:r>
            <a:r>
              <a:rPr lang="zh-CN" altLang="en-US" dirty="0"/>
              <a:t>本讲义</a:t>
            </a:r>
            <a:r>
              <a:rPr lang="en-US" altLang="zh-CN" dirty="0"/>
              <a:t>Wireshark</a:t>
            </a:r>
            <a:r>
              <a:rPr lang="zh-CN" altLang="en-US" dirty="0"/>
              <a:t>版本号为</a:t>
            </a:r>
            <a:r>
              <a:rPr lang="en-US" dirty="0"/>
              <a:t>3.2.2</a:t>
            </a:r>
            <a:r>
              <a:rPr lang="en-US" altLang="zh-CN" dirty="0"/>
              <a:t>)</a:t>
            </a:r>
          </a:p>
          <a:p>
            <a:pPr lvl="1"/>
            <a:endParaRPr lang="zh-CN" alt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CB732-E2BC-4E4C-99AF-6AEC3BB94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89B1-0873-4FE6-A893-45C05C9B9886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410FA-9AF0-4400-9BCE-5A946DBF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80DE-11A7-41DE-9355-AD9550FB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4D4556-FAE5-46D4-9242-FD779BAA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06B30-D87D-40E3-B8C5-FA8501B7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2"/>
            </a:pPr>
            <a:r>
              <a:rPr lang="zh-CN" altLang="en-US" dirty="0"/>
              <a:t>运行</a:t>
            </a:r>
            <a:r>
              <a:rPr lang="en-US" altLang="zh-CN" dirty="0"/>
              <a:t>Wireshark</a:t>
            </a:r>
            <a:r>
              <a:rPr lang="zh-CN" altLang="en-US" dirty="0"/>
              <a:t>，初始界面如下图。</a:t>
            </a:r>
            <a:endParaRPr lang="en-US" altLang="zh-CN" dirty="0"/>
          </a:p>
          <a:p>
            <a:pPr marL="715518" lvl="1" indent="-514350">
              <a:buFont typeface="+mj-lt"/>
              <a:buAutoNum type="arabicParenR" startAt="2"/>
            </a:pPr>
            <a:r>
              <a:rPr lang="zh-CN" altLang="en-US" dirty="0"/>
              <a:t>从接口列表中选择要捕获的接口，双击即可开始捕获。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40575-8099-4139-98C7-2EB6D338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22F-5218-4D3C-97CA-94498C57C21B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CB3B7-B132-430E-9963-65514EF0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E2003-2B79-444A-ACF6-CB2D457C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6F02AF-E10C-4593-B0A1-057709BA4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620" y="2341426"/>
            <a:ext cx="4682760" cy="392826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41E717-BA63-4894-BAAB-888E4E87C6BC}"/>
              </a:ext>
            </a:extLst>
          </p:cNvPr>
          <p:cNvSpPr/>
          <p:nvPr/>
        </p:nvSpPr>
        <p:spPr>
          <a:xfrm>
            <a:off x="2958924" y="3669160"/>
            <a:ext cx="1374315" cy="93331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A3C331-A69E-4617-B380-575BBCE5DCB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798320" y="4135820"/>
            <a:ext cx="1160604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516E5C5-1F83-4B0C-A823-69497C3A107A}"/>
              </a:ext>
            </a:extLst>
          </p:cNvPr>
          <p:cNvSpPr txBox="1"/>
          <p:nvPr/>
        </p:nvSpPr>
        <p:spPr>
          <a:xfrm>
            <a:off x="214813" y="3936226"/>
            <a:ext cx="158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接口列表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589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4D4556-FAE5-46D4-9242-FD779BAA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06B30-D87D-40E3-B8C5-FA8501B7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4"/>
            </a:pPr>
            <a:r>
              <a:rPr lang="en-US" altLang="zh-CN" dirty="0"/>
              <a:t>Wireshark</a:t>
            </a:r>
            <a:r>
              <a:rPr lang="zh-CN" altLang="en-US" dirty="0"/>
              <a:t>进入主界面，并开始捕获分组。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23AF-7B77-4BD7-972B-D9CFE94D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91DE-63D1-4478-8EED-D304CB56F76A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77B2E-647D-4A36-900B-47DBA8230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3B6075-70A9-486F-A4AF-F3CAA759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CDBB48-2696-464B-873B-44AD40F80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568" y="2086689"/>
            <a:ext cx="6809994" cy="41508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DD200A-EF02-4D02-8557-CA1C8E76C642}"/>
              </a:ext>
            </a:extLst>
          </p:cNvPr>
          <p:cNvSpPr/>
          <p:nvPr/>
        </p:nvSpPr>
        <p:spPr>
          <a:xfrm>
            <a:off x="1982568" y="2358521"/>
            <a:ext cx="310877" cy="24594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32AEE-BFCC-42A6-96F5-517EFF849E53}"/>
              </a:ext>
            </a:extLst>
          </p:cNvPr>
          <p:cNvSpPr txBox="1"/>
          <p:nvPr/>
        </p:nvSpPr>
        <p:spPr>
          <a:xfrm>
            <a:off x="1079557" y="1533495"/>
            <a:ext cx="2116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开始</a:t>
            </a:r>
            <a:r>
              <a:rPr lang="en-US" altLang="zh-CN" dirty="0"/>
              <a:t>/</a:t>
            </a:r>
            <a:r>
              <a:rPr lang="zh-CN" altLang="en-US" dirty="0"/>
              <a:t>停止捕获分组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B9FD0A-C04C-40F5-81AC-D028A1A8FE45}"/>
              </a:ext>
            </a:extLst>
          </p:cNvPr>
          <p:cNvCxnSpPr>
            <a:cxnSpLocks/>
          </p:cNvCxnSpPr>
          <p:nvPr/>
        </p:nvCxnSpPr>
        <p:spPr>
          <a:xfrm flipH="1">
            <a:off x="1604245" y="2619387"/>
            <a:ext cx="347509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96AC6E-27C2-4B50-8546-30CA8EC1D5D9}"/>
              </a:ext>
            </a:extLst>
          </p:cNvPr>
          <p:cNvSpPr txBox="1"/>
          <p:nvPr/>
        </p:nvSpPr>
        <p:spPr>
          <a:xfrm>
            <a:off x="49713" y="2434721"/>
            <a:ext cx="158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过滤器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0394A-8689-496C-8ED8-AEC958FAE463}"/>
              </a:ext>
            </a:extLst>
          </p:cNvPr>
          <p:cNvSpPr txBox="1"/>
          <p:nvPr/>
        </p:nvSpPr>
        <p:spPr>
          <a:xfrm>
            <a:off x="49713" y="3382299"/>
            <a:ext cx="158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分组列表栏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E5786-2E71-4C0F-A682-22C25A09FE49}"/>
              </a:ext>
            </a:extLst>
          </p:cNvPr>
          <p:cNvSpPr txBox="1"/>
          <p:nvPr/>
        </p:nvSpPr>
        <p:spPr>
          <a:xfrm>
            <a:off x="49713" y="4727869"/>
            <a:ext cx="158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分组详情栏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471649-DD7B-41FD-BACB-6D6C1FE5C6B4}"/>
              </a:ext>
            </a:extLst>
          </p:cNvPr>
          <p:cNvSpPr txBox="1"/>
          <p:nvPr/>
        </p:nvSpPr>
        <p:spPr>
          <a:xfrm>
            <a:off x="49713" y="5522723"/>
            <a:ext cx="158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分组字节栏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21E3F8-0F0C-4BD1-8292-82B8BEC13990}"/>
              </a:ext>
            </a:extLst>
          </p:cNvPr>
          <p:cNvSpPr txBox="1"/>
          <p:nvPr/>
        </p:nvSpPr>
        <p:spPr>
          <a:xfrm>
            <a:off x="49713" y="5947978"/>
            <a:ext cx="158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状态栏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BA8D54-6DFF-4ED8-B992-6CDC3E125CD5}"/>
              </a:ext>
            </a:extLst>
          </p:cNvPr>
          <p:cNvCxnSpPr>
            <a:cxnSpLocks/>
          </p:cNvCxnSpPr>
          <p:nvPr/>
        </p:nvCxnSpPr>
        <p:spPr>
          <a:xfrm flipH="1">
            <a:off x="1604245" y="3566965"/>
            <a:ext cx="347509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1DE572-E72B-4A6E-9FFB-97DED8EC0AFA}"/>
              </a:ext>
            </a:extLst>
          </p:cNvPr>
          <p:cNvCxnSpPr>
            <a:cxnSpLocks/>
          </p:cNvCxnSpPr>
          <p:nvPr/>
        </p:nvCxnSpPr>
        <p:spPr>
          <a:xfrm flipH="1">
            <a:off x="1604245" y="4912535"/>
            <a:ext cx="347509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CE2B24-E53E-4980-8F5E-3742F651A941}"/>
              </a:ext>
            </a:extLst>
          </p:cNvPr>
          <p:cNvCxnSpPr>
            <a:cxnSpLocks/>
          </p:cNvCxnSpPr>
          <p:nvPr/>
        </p:nvCxnSpPr>
        <p:spPr>
          <a:xfrm flipH="1">
            <a:off x="1604245" y="5707389"/>
            <a:ext cx="347509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F4893A-13C4-41D2-80BE-FA571C9D5FFC}"/>
              </a:ext>
            </a:extLst>
          </p:cNvPr>
          <p:cNvCxnSpPr>
            <a:cxnSpLocks/>
          </p:cNvCxnSpPr>
          <p:nvPr/>
        </p:nvCxnSpPr>
        <p:spPr>
          <a:xfrm flipH="1">
            <a:off x="1604245" y="6132644"/>
            <a:ext cx="347509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7E438C-ADBB-4056-AA1D-5DE6B4474578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 flipH="1" flipV="1">
            <a:off x="2138006" y="1902827"/>
            <a:ext cx="1" cy="455694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</p:spTree>
    <p:extLst>
      <p:ext uri="{BB962C8B-B14F-4D97-AF65-F5344CB8AC3E}">
        <p14:creationId xmlns:p14="http://schemas.microsoft.com/office/powerpoint/2010/main" val="194999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16C9-1052-411E-85FA-33F7BA21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45663-4EFF-4A8A-828A-F68B792EA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121665"/>
            <a:ext cx="7964424" cy="4965983"/>
          </a:xfrm>
        </p:spPr>
        <p:txBody>
          <a:bodyPr>
            <a:noAutofit/>
          </a:bodyPr>
          <a:lstStyle/>
          <a:p>
            <a:pPr marL="715518" lvl="1" indent="-514350">
              <a:buFont typeface="+mj-lt"/>
              <a:buAutoNum type="arabicParenR" startAt="5"/>
            </a:pPr>
            <a:r>
              <a:rPr lang="zh-CN" altLang="en-US" dirty="0"/>
              <a:t>学习使用过滤器？</a:t>
            </a:r>
            <a:endParaRPr lang="en-US" altLang="zh-CN" dirty="0"/>
          </a:p>
          <a:p>
            <a:pPr lvl="2"/>
            <a:r>
              <a:rPr lang="zh-CN" altLang="en-US" dirty="0"/>
              <a:t>协议过滤</a:t>
            </a:r>
            <a:endParaRPr lang="en-US" altLang="zh-CN" dirty="0"/>
          </a:p>
          <a:p>
            <a:pPr lvl="3"/>
            <a:r>
              <a:rPr lang="zh-CN" altLang="en-US" sz="1800" dirty="0"/>
              <a:t>举例：</a:t>
            </a:r>
            <a:r>
              <a:rPr lang="en-US" altLang="zh-CN" sz="1800" dirty="0"/>
              <a:t>http</a:t>
            </a:r>
          </a:p>
          <a:p>
            <a:pPr lvl="2"/>
            <a:r>
              <a:rPr lang="en-US" altLang="zh-CN" dirty="0"/>
              <a:t>IP</a:t>
            </a:r>
            <a:r>
              <a:rPr lang="zh-CN" altLang="en-US" dirty="0"/>
              <a:t>地址过滤</a:t>
            </a:r>
            <a:endParaRPr lang="en-US" altLang="zh-CN" dirty="0"/>
          </a:p>
          <a:p>
            <a:pPr lvl="3"/>
            <a:r>
              <a:rPr lang="zh-CN" altLang="en-US" sz="1800" dirty="0"/>
              <a:t>举例：</a:t>
            </a:r>
            <a:r>
              <a:rPr lang="en-US" sz="1800" dirty="0" err="1"/>
              <a:t>ip.src</a:t>
            </a:r>
            <a:r>
              <a:rPr lang="en-US" sz="1800" dirty="0"/>
              <a:t> == 192.168.2.178 and </a:t>
            </a:r>
            <a:r>
              <a:rPr lang="en-US" sz="1800" dirty="0" err="1"/>
              <a:t>ip.dst</a:t>
            </a:r>
            <a:r>
              <a:rPr lang="en-US" sz="1800" dirty="0"/>
              <a:t> == 184.86.198.104</a:t>
            </a:r>
          </a:p>
          <a:p>
            <a:pPr lvl="3"/>
            <a:r>
              <a:rPr lang="zh-CN" altLang="en-US" sz="1800" dirty="0"/>
              <a:t>含义：过滤源地址是</a:t>
            </a:r>
            <a:r>
              <a:rPr lang="en-US" sz="1800" dirty="0"/>
              <a:t>192.168.2.178</a:t>
            </a:r>
            <a:r>
              <a:rPr lang="zh-CN" altLang="en-US" sz="1800" dirty="0"/>
              <a:t>并且目的地址是</a:t>
            </a:r>
            <a:r>
              <a:rPr lang="en-US" sz="1800" dirty="0"/>
              <a:t>184.86.198.104</a:t>
            </a:r>
            <a:r>
              <a:rPr lang="zh-CN" altLang="en-US" sz="1800" dirty="0"/>
              <a:t>的分组</a:t>
            </a:r>
            <a:endParaRPr lang="en-US" altLang="zh-CN" sz="1800" dirty="0"/>
          </a:p>
          <a:p>
            <a:pPr lvl="2"/>
            <a:r>
              <a:rPr lang="zh-CN" altLang="en-US" dirty="0"/>
              <a:t>模式过滤</a:t>
            </a:r>
            <a:endParaRPr lang="en-US" altLang="zh-CN" dirty="0"/>
          </a:p>
          <a:p>
            <a:pPr lvl="3"/>
            <a:r>
              <a:rPr lang="zh-CN" altLang="en-US" sz="1800" dirty="0"/>
              <a:t>举例：</a:t>
            </a:r>
            <a:r>
              <a:rPr lang="en-US" altLang="zh-CN" sz="1800" dirty="0" err="1"/>
              <a:t>http.request.method</a:t>
            </a:r>
            <a:r>
              <a:rPr lang="en-US" altLang="zh-CN" sz="1800" dirty="0"/>
              <a:t>=="GET“</a:t>
            </a:r>
          </a:p>
          <a:p>
            <a:pPr lvl="3"/>
            <a:r>
              <a:rPr lang="zh-CN" altLang="en-US" sz="1800" dirty="0"/>
              <a:t>含义：过滤</a:t>
            </a:r>
            <a:r>
              <a:rPr lang="en-US" altLang="zh-CN" sz="1800" dirty="0"/>
              <a:t>http</a:t>
            </a:r>
            <a:r>
              <a:rPr lang="zh-CN" altLang="en-US" sz="1800" dirty="0"/>
              <a:t>请求方法是</a:t>
            </a:r>
            <a:r>
              <a:rPr lang="en-US" altLang="zh-CN" sz="1800" dirty="0"/>
              <a:t>GET</a:t>
            </a:r>
            <a:r>
              <a:rPr lang="zh-CN" altLang="en-US" sz="1800" dirty="0"/>
              <a:t>的分组</a:t>
            </a:r>
            <a:endParaRPr lang="en-US" altLang="zh-CN" sz="1800" dirty="0"/>
          </a:p>
          <a:p>
            <a:pPr lvl="2"/>
            <a:r>
              <a:rPr lang="zh-CN" altLang="en-US" dirty="0"/>
              <a:t>端口过滤</a:t>
            </a:r>
            <a:endParaRPr lang="en-US" altLang="zh-CN" dirty="0"/>
          </a:p>
          <a:p>
            <a:pPr lvl="3"/>
            <a:r>
              <a:rPr lang="zh-CN" altLang="en-US" sz="1800" dirty="0"/>
              <a:t>举例：</a:t>
            </a:r>
            <a:r>
              <a:rPr lang="en-US" sz="1800" dirty="0" err="1"/>
              <a:t>tcp.port</a:t>
            </a:r>
            <a:r>
              <a:rPr lang="en-US" sz="1800" dirty="0"/>
              <a:t> == 80</a:t>
            </a:r>
          </a:p>
          <a:p>
            <a:pPr lvl="3"/>
            <a:r>
              <a:rPr lang="zh-CN" altLang="en-US" sz="1800" dirty="0"/>
              <a:t>含义：过滤</a:t>
            </a:r>
            <a:r>
              <a:rPr lang="en-US" altLang="zh-CN" sz="1800" dirty="0" err="1"/>
              <a:t>tcp</a:t>
            </a:r>
            <a:r>
              <a:rPr lang="zh-CN" altLang="en-US" sz="1800" dirty="0"/>
              <a:t>端口号是</a:t>
            </a:r>
            <a:r>
              <a:rPr lang="en-US" altLang="zh-CN" sz="1800" dirty="0"/>
              <a:t>80</a:t>
            </a:r>
            <a:r>
              <a:rPr lang="zh-CN" altLang="en-US" sz="1800" dirty="0"/>
              <a:t>的分组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548A5-37B4-4ADF-A064-19AB721B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F5FF-BFE6-410F-A68F-9F16EBAEE653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68583-E45A-4FF8-9480-95D76940F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9CBA9-895F-4E8C-9CFC-7C81E2B5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05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6B6E-DA57-4669-B961-8FF3579A8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E279EE-8A62-4FF9-AB82-D6EFE136F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137920"/>
            <a:ext cx="7964424" cy="2291080"/>
          </a:xfrm>
        </p:spPr>
        <p:txBody>
          <a:bodyPr/>
          <a:lstStyle/>
          <a:p>
            <a:pPr marL="715518" lvl="1" indent="-514350">
              <a:buFont typeface="+mj-lt"/>
              <a:buAutoNum type="arabicParenR" startAt="6"/>
            </a:pPr>
            <a:r>
              <a:rPr lang="zh-CN" altLang="en-US" dirty="0"/>
              <a:t>添加一个显示过滤器按钮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E759E-3E0C-4A62-B475-16EDBFBA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C727-B2F4-4987-B371-D11792C0EFD8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8C91E-AB47-4D98-9F75-77B4DDBA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FC24F-FFEC-4347-8A46-7CED5FE6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B29A2D-0A62-4DE0-A8F4-8084C7AB99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903"/>
          <a:stretch/>
        </p:blipFill>
        <p:spPr>
          <a:xfrm>
            <a:off x="509637" y="2479041"/>
            <a:ext cx="6840000" cy="9110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63C1320-A689-4EBB-9FEC-B7CB5B48D8A8}"/>
              </a:ext>
            </a:extLst>
          </p:cNvPr>
          <p:cNvSpPr/>
          <p:nvPr/>
        </p:nvSpPr>
        <p:spPr>
          <a:xfrm>
            <a:off x="7233709" y="2897251"/>
            <a:ext cx="115927" cy="15590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09B3DC-E6F2-4C81-BFC3-3F59B3641855}"/>
              </a:ext>
            </a:extLst>
          </p:cNvPr>
          <p:cNvSpPr txBox="1"/>
          <p:nvPr/>
        </p:nvSpPr>
        <p:spPr>
          <a:xfrm>
            <a:off x="7608203" y="2708512"/>
            <a:ext cx="1382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en-US" sz="1400" dirty="0"/>
              <a:t>添加一个显示过滤器按钮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7C63E7-867C-455F-AED0-51456EA7697C}"/>
              </a:ext>
            </a:extLst>
          </p:cNvPr>
          <p:cNvCxnSpPr>
            <a:cxnSpLocks/>
          </p:cNvCxnSpPr>
          <p:nvPr/>
        </p:nvCxnSpPr>
        <p:spPr>
          <a:xfrm>
            <a:off x="7349636" y="2975202"/>
            <a:ext cx="258567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pic>
        <p:nvPicPr>
          <p:cNvPr id="21" name="Content Placeholder 3">
            <a:extLst>
              <a:ext uri="{FF2B5EF4-FFF2-40B4-BE49-F238E27FC236}">
                <a16:creationId xmlns:a16="http://schemas.microsoft.com/office/drawing/2014/main" id="{AE9E53D8-0C03-4B36-8F3B-B5C84427E7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4383"/>
          <a:stretch/>
        </p:blipFill>
        <p:spPr>
          <a:xfrm>
            <a:off x="509637" y="4571962"/>
            <a:ext cx="6840000" cy="59045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F896875-6AC7-4145-B848-AD2FD4565BF0}"/>
              </a:ext>
            </a:extLst>
          </p:cNvPr>
          <p:cNvSpPr/>
          <p:nvPr/>
        </p:nvSpPr>
        <p:spPr>
          <a:xfrm>
            <a:off x="7030509" y="4994913"/>
            <a:ext cx="319127" cy="15601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DF1E7-E762-4958-90EC-02DB5934EC1B}"/>
              </a:ext>
            </a:extLst>
          </p:cNvPr>
          <p:cNvSpPr txBox="1"/>
          <p:nvPr/>
        </p:nvSpPr>
        <p:spPr>
          <a:xfrm>
            <a:off x="7608203" y="4811308"/>
            <a:ext cx="1119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3.</a:t>
            </a:r>
            <a:r>
              <a:rPr lang="zh-CN" altLang="en-US" sz="1400" dirty="0"/>
              <a:t>按钮添加成功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757F97-BBEC-4695-89D5-E937CC5AAE3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349636" y="5072918"/>
            <a:ext cx="258567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209221-28D1-48B8-B929-BAFC72CC6746}"/>
              </a:ext>
            </a:extLst>
          </p:cNvPr>
          <p:cNvSpPr/>
          <p:nvPr/>
        </p:nvSpPr>
        <p:spPr>
          <a:xfrm>
            <a:off x="1178349" y="3053153"/>
            <a:ext cx="6171287" cy="32756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2514EB-14D4-40E2-B1D4-FBCAB50B7B60}"/>
              </a:ext>
            </a:extLst>
          </p:cNvPr>
          <p:cNvSpPr txBox="1"/>
          <p:nvPr/>
        </p:nvSpPr>
        <p:spPr>
          <a:xfrm>
            <a:off x="3572888" y="3643232"/>
            <a:ext cx="1382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2.</a:t>
            </a:r>
            <a:r>
              <a:rPr lang="zh-CN" altLang="en-US" sz="1400" dirty="0"/>
              <a:t>填写信息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C8AA16-29DE-473F-A59B-30EFE20A5A4B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4263993" y="3380713"/>
            <a:ext cx="0" cy="262519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D92E-2F66-4F51-BDDE-6078FA7E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dirty="0"/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E632493D-F53E-4E35-B572-24F214C0A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6"/>
            </a:pPr>
            <a:r>
              <a:rPr lang="zh-CN" altLang="en-US" dirty="0"/>
              <a:t>分组详情栏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B7EA1-6A67-4CF2-8FC6-6AEBC1BC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9C58-A2AC-42D8-93DB-0E389667505A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6E53D-FD12-477E-8322-B44B353D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E36BC62-0BB2-4E21-A2B0-7A7384A6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57FF61-E658-4CF7-AA4F-10ED0C73FB3E}"/>
              </a:ext>
            </a:extLst>
          </p:cNvPr>
          <p:cNvGrpSpPr/>
          <p:nvPr/>
        </p:nvGrpSpPr>
        <p:grpSpPr>
          <a:xfrm>
            <a:off x="265134" y="2038044"/>
            <a:ext cx="1512094" cy="2720579"/>
            <a:chOff x="6451600" y="1727200"/>
            <a:chExt cx="2016125" cy="3627438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DB4130F9-C2FF-4BAE-95DC-1534106D9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425" y="1727200"/>
              <a:ext cx="1892300" cy="35306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545"/>
                </a:lnSpc>
              </a:pPr>
              <a:endParaRPr lang="en-US" altLang="en-US" sz="2100">
                <a:latin typeface="+mn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2F8FAA-71CE-4AA9-A779-E08CD1504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0" y="1824038"/>
              <a:ext cx="1892300" cy="35306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545"/>
                </a:lnSpc>
              </a:pPr>
              <a:endParaRPr lang="en-US" altLang="en-US" sz="2100">
                <a:latin typeface="+mn-lt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16DDB56-802A-43BC-8D50-46BF4A997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3335" y="1920875"/>
              <a:ext cx="1323438" cy="335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2070"/>
                </a:lnSpc>
              </a:pPr>
              <a:r>
                <a:rPr lang="zh-CN" altLang="en-US" sz="2100" dirty="0">
                  <a:latin typeface="+mn-ea"/>
                  <a:ea typeface="+mn-ea"/>
                </a:rPr>
                <a:t>应用层</a:t>
              </a:r>
              <a:endParaRPr lang="en-US" altLang="zh-CN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r>
                <a:rPr lang="zh-CN" altLang="en-US" sz="2100" dirty="0">
                  <a:latin typeface="+mn-ea"/>
                  <a:ea typeface="+mn-ea"/>
                </a:rPr>
                <a:t>传输层</a:t>
              </a:r>
              <a:endParaRPr lang="en-US" altLang="zh-CN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r>
                <a:rPr lang="zh-CN" altLang="en-US" sz="2100" dirty="0">
                  <a:latin typeface="+mn-ea"/>
                  <a:ea typeface="+mn-ea"/>
                </a:rPr>
                <a:t>网络层</a:t>
              </a:r>
              <a:endParaRPr lang="en-US" altLang="zh-CN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r>
                <a:rPr lang="zh-CN" altLang="en-US" sz="2100" dirty="0">
                  <a:latin typeface="+mn-ea"/>
                  <a:ea typeface="+mn-ea"/>
                </a:rPr>
                <a:t>链路层</a:t>
              </a:r>
              <a:endParaRPr lang="en-US" altLang="zh-CN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ea"/>
                <a:ea typeface="+mn-ea"/>
              </a:endParaRPr>
            </a:p>
            <a:p>
              <a:pPr algn="ctr">
                <a:lnSpc>
                  <a:spcPts val="2070"/>
                </a:lnSpc>
              </a:pPr>
              <a:r>
                <a:rPr lang="zh-CN" altLang="en-US" sz="2100" dirty="0">
                  <a:latin typeface="+mn-ea"/>
                  <a:ea typeface="+mn-ea"/>
                </a:rPr>
                <a:t>物理层</a:t>
              </a:r>
              <a:endParaRPr lang="en-US" altLang="en-US" sz="2100" dirty="0">
                <a:latin typeface="+mn-ea"/>
                <a:ea typeface="+mn-ea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D3391D9A-43A9-471B-96C7-B525815C1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251618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65C9852-2224-498F-8BDD-54812621F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2210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499F8D39-883A-42E1-8E9E-8A0CD0EAD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9322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D0CC3FB4-D9F3-44BF-B362-5C5D04DC2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46434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AEBC86D-77F8-42B9-9AB8-113EB1C73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8147" y="3143330"/>
            <a:ext cx="6199643" cy="147991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66814B-F313-44A4-A3A9-B252E756F880}"/>
              </a:ext>
            </a:extLst>
          </p:cNvPr>
          <p:cNvCxnSpPr>
            <a:cxnSpLocks/>
          </p:cNvCxnSpPr>
          <p:nvPr/>
        </p:nvCxnSpPr>
        <p:spPr>
          <a:xfrm flipH="1">
            <a:off x="1777228" y="3266164"/>
            <a:ext cx="804408" cy="12682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2F4EFE-3523-476C-BD05-1CB3E9F280F9}"/>
              </a:ext>
            </a:extLst>
          </p:cNvPr>
          <p:cNvCxnSpPr>
            <a:cxnSpLocks/>
          </p:cNvCxnSpPr>
          <p:nvPr/>
        </p:nvCxnSpPr>
        <p:spPr>
          <a:xfrm flipH="1">
            <a:off x="1777228" y="3423369"/>
            <a:ext cx="804408" cy="4847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4B1C28-F1B8-4F89-8D96-7DA378B6C4B9}"/>
              </a:ext>
            </a:extLst>
          </p:cNvPr>
          <p:cNvCxnSpPr>
            <a:cxnSpLocks/>
          </p:cNvCxnSpPr>
          <p:nvPr/>
        </p:nvCxnSpPr>
        <p:spPr>
          <a:xfrm flipH="1" flipV="1">
            <a:off x="1777228" y="3362019"/>
            <a:ext cx="804408" cy="2079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3941D3-8997-49F1-9BE5-E6751EB7891C}"/>
              </a:ext>
            </a:extLst>
          </p:cNvPr>
          <p:cNvCxnSpPr>
            <a:cxnSpLocks/>
          </p:cNvCxnSpPr>
          <p:nvPr/>
        </p:nvCxnSpPr>
        <p:spPr>
          <a:xfrm flipH="1" flipV="1">
            <a:off x="1777228" y="2887253"/>
            <a:ext cx="804408" cy="8045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3D9BB2-7133-4DD2-BD6E-D91272E361CD}"/>
              </a:ext>
            </a:extLst>
          </p:cNvPr>
          <p:cNvCxnSpPr>
            <a:cxnSpLocks/>
          </p:cNvCxnSpPr>
          <p:nvPr/>
        </p:nvCxnSpPr>
        <p:spPr>
          <a:xfrm flipH="1" flipV="1">
            <a:off x="1777228" y="2379949"/>
            <a:ext cx="804408" cy="14808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22F7149-439F-4597-8A62-B69516A65978}"/>
              </a:ext>
            </a:extLst>
          </p:cNvPr>
          <p:cNvSpPr/>
          <p:nvPr/>
        </p:nvSpPr>
        <p:spPr>
          <a:xfrm>
            <a:off x="2630466" y="3209795"/>
            <a:ext cx="90815" cy="908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7C8E8D-1CA5-485E-95B1-428A9A0045BE}"/>
              </a:ext>
            </a:extLst>
          </p:cNvPr>
          <p:cNvSpPr/>
          <p:nvPr/>
        </p:nvSpPr>
        <p:spPr>
          <a:xfrm>
            <a:off x="2630466" y="3362195"/>
            <a:ext cx="90815" cy="908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600196-9DB9-44AA-BA8B-ED0F00322341}"/>
              </a:ext>
            </a:extLst>
          </p:cNvPr>
          <p:cNvSpPr/>
          <p:nvPr/>
        </p:nvSpPr>
        <p:spPr>
          <a:xfrm>
            <a:off x="2630466" y="3514595"/>
            <a:ext cx="90815" cy="908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69BB9B-6F52-4F0F-964B-4DAEFA11170D}"/>
              </a:ext>
            </a:extLst>
          </p:cNvPr>
          <p:cNvSpPr/>
          <p:nvPr/>
        </p:nvSpPr>
        <p:spPr>
          <a:xfrm>
            <a:off x="2630466" y="3666995"/>
            <a:ext cx="90815" cy="908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C77068-C4D6-4ABF-9185-57F8839412D0}"/>
              </a:ext>
            </a:extLst>
          </p:cNvPr>
          <p:cNvSpPr/>
          <p:nvPr/>
        </p:nvSpPr>
        <p:spPr>
          <a:xfrm>
            <a:off x="2630466" y="3819395"/>
            <a:ext cx="90815" cy="908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78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>
                <a:solidFill>
                  <a:schemeClr val="accent2"/>
                </a:solidFill>
              </a:rPr>
              <a:t>抓包与分析</a:t>
            </a:r>
            <a:r>
              <a:rPr lang="en-US" altLang="zh-CN" dirty="0">
                <a:solidFill>
                  <a:schemeClr val="accent2"/>
                </a:solidFill>
              </a:rPr>
              <a:t>HTTP</a:t>
            </a:r>
            <a:r>
              <a:rPr lang="zh-CN" altLang="en-US" dirty="0">
                <a:solidFill>
                  <a:schemeClr val="accent2"/>
                </a:solidFill>
              </a:rPr>
              <a:t>协议</a:t>
            </a:r>
            <a:endParaRPr lang="en-US" altLang="en-US" dirty="0">
              <a:solidFill>
                <a:schemeClr val="accent2"/>
              </a:solidFill>
            </a:endParaRP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</a:t>
            </a:r>
            <a:r>
              <a:rPr lang="zh-CN" altLang="en-US"/>
              <a:t>握手</a:t>
            </a:r>
            <a:endParaRPr lang="en-US" altLang="en-US" dirty="0"/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B7A1857-9DE7-4B05-9FA7-700387D65D28}" type="datetime1">
              <a:rPr lang="en-US" altLang="zh-CN" smtClean="0">
                <a:solidFill>
                  <a:srgbClr val="FFFFFF"/>
                </a:solidFill>
              </a:rPr>
              <a:t>3/20/2024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28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/>
            </a:pPr>
            <a:r>
              <a:rPr lang="zh-CN" altLang="en-US" dirty="0"/>
              <a:t>开启</a:t>
            </a:r>
            <a:r>
              <a:rPr lang="en-US" altLang="zh-CN" dirty="0"/>
              <a:t>Wireshark</a:t>
            </a:r>
            <a:r>
              <a:rPr lang="zh-CN" altLang="en-US" dirty="0"/>
              <a:t>抓包，在过滤器中输入</a:t>
            </a:r>
            <a:r>
              <a:rPr lang="en-US" altLang="zh-CN" dirty="0"/>
              <a:t>http</a:t>
            </a:r>
            <a:r>
              <a:rPr lang="zh-CN" altLang="en-US" dirty="0"/>
              <a:t>，即过滤</a:t>
            </a:r>
            <a:r>
              <a:rPr lang="en-US" altLang="zh-CN" dirty="0"/>
              <a:t>http</a:t>
            </a:r>
            <a:r>
              <a:rPr lang="zh-CN" altLang="en-US" dirty="0"/>
              <a:t>协议的分组。</a:t>
            </a:r>
            <a:endParaRPr lang="en-US" altLang="zh-CN" dirty="0"/>
          </a:p>
          <a:p>
            <a:pPr marL="715518" lvl="1" indent="-514350">
              <a:buFont typeface="+mj-lt"/>
              <a:buAutoNum type="arabicParenR"/>
            </a:pPr>
            <a:r>
              <a:rPr lang="zh-CN" altLang="en-US" dirty="0"/>
              <a:t>打开浏览器，输入一个网址（例如</a:t>
            </a:r>
            <a:r>
              <a:rPr lang="en-US" altLang="zh-CN" dirty="0"/>
              <a:t>ieeexplore.ieee.org</a:t>
            </a:r>
            <a:r>
              <a:rPr lang="zh-CN" altLang="en-US" dirty="0"/>
              <a:t>）。注意：为了避免浏览器缓存起作用，最好使用</a:t>
            </a:r>
            <a:r>
              <a:rPr lang="en-US" altLang="zh-CN" dirty="0"/>
              <a:t>chrome</a:t>
            </a:r>
            <a:r>
              <a:rPr lang="zh-CN" altLang="en-US" dirty="0"/>
              <a:t>浏览器的</a:t>
            </a:r>
            <a:r>
              <a:rPr lang="en-US" altLang="zh-CN" dirty="0"/>
              <a:t>incognito</a:t>
            </a:r>
            <a:r>
              <a:rPr lang="zh-CN" altLang="en-US" dirty="0"/>
              <a:t>隐身模式。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7955B-64DE-4F22-86E3-3DFB384F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FF6CB-19FC-48F8-B2DC-B949A5206A83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B6487-70CA-431C-89D0-FBB33A48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FE2A1-2115-4A58-BA9F-C082866E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3"/>
            </a:pPr>
            <a:r>
              <a:rPr lang="zh-CN" altLang="en-US" dirty="0"/>
              <a:t>观察到</a:t>
            </a:r>
            <a:r>
              <a:rPr lang="en-US" altLang="zh-CN" dirty="0"/>
              <a:t>Wireshark</a:t>
            </a:r>
            <a:r>
              <a:rPr lang="zh-CN" altLang="en-US" dirty="0"/>
              <a:t>分组列表栏中出现了</a:t>
            </a:r>
            <a:r>
              <a:rPr lang="en-US" altLang="zh-CN" dirty="0"/>
              <a:t>HTTP</a:t>
            </a:r>
            <a:r>
              <a:rPr lang="zh-CN" altLang="en-US" dirty="0"/>
              <a:t>协议分组。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FF6D5-438E-49B8-B62D-E4C91D5F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6DA6-76D6-41F8-81E3-C42C6089E931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A30D9-6C0E-4384-A65B-8CAA851F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22DE3-0EA4-4C28-8E28-E4F360BF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BF3B3-99F9-4AA3-A3F6-B6C538532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27" y="2029769"/>
            <a:ext cx="7200000" cy="3979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01864C-10BA-4E00-A4E9-6FC285AA9391}"/>
              </a:ext>
            </a:extLst>
          </p:cNvPr>
          <p:cNvSpPr/>
          <p:nvPr/>
        </p:nvSpPr>
        <p:spPr>
          <a:xfrm>
            <a:off x="2339603" y="4477407"/>
            <a:ext cx="1248629" cy="69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44213-C071-4D92-966F-CB56E97069F5}"/>
              </a:ext>
            </a:extLst>
          </p:cNvPr>
          <p:cNvSpPr/>
          <p:nvPr/>
        </p:nvSpPr>
        <p:spPr>
          <a:xfrm>
            <a:off x="4307141" y="4477407"/>
            <a:ext cx="1248629" cy="69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045B22-2D75-47E6-AA12-6F27164D9E9C}"/>
              </a:ext>
            </a:extLst>
          </p:cNvPr>
          <p:cNvSpPr/>
          <p:nvPr/>
        </p:nvSpPr>
        <p:spPr>
          <a:xfrm>
            <a:off x="5536851" y="4368207"/>
            <a:ext cx="1601775" cy="69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7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FEDC578-BA60-4B95-97EE-C66A93D4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" y="2520000"/>
            <a:ext cx="7200000" cy="35115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4"/>
            </a:pPr>
            <a:r>
              <a:rPr lang="zh-CN" altLang="en-US" dirty="0"/>
              <a:t>分析哪些分组是前一步浏览网页发生的。单击任意分组，分组详情栏显示其具体信息。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18419-C512-44BC-AAB6-916842C8E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2EAD-9B9E-4635-86CF-6788BF6FF571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D990-9CA0-4569-BB09-803E07F4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12E3-25C2-459E-83A6-0048BD8A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844F1-5FCE-44A3-A780-E5CB6DE35926}"/>
              </a:ext>
            </a:extLst>
          </p:cNvPr>
          <p:cNvSpPr/>
          <p:nvPr/>
        </p:nvSpPr>
        <p:spPr>
          <a:xfrm>
            <a:off x="1111961" y="4061723"/>
            <a:ext cx="1812866" cy="34117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D7FF4-4AAA-41E5-9EF0-413D0EE9E700}"/>
              </a:ext>
            </a:extLst>
          </p:cNvPr>
          <p:cNvSpPr txBox="1"/>
          <p:nvPr/>
        </p:nvSpPr>
        <p:spPr>
          <a:xfrm>
            <a:off x="4107178" y="4266425"/>
            <a:ext cx="3815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</a:rPr>
              <a:t>阅读</a:t>
            </a:r>
            <a:r>
              <a:rPr lang="en-US" altLang="zh-CN" sz="1400" dirty="0">
                <a:solidFill>
                  <a:srgbClr val="C00000"/>
                </a:solidFill>
              </a:rPr>
              <a:t>HTTP</a:t>
            </a:r>
            <a:r>
              <a:rPr lang="zh-CN" altLang="en-US" sz="1400" dirty="0">
                <a:solidFill>
                  <a:srgbClr val="C00000"/>
                </a:solidFill>
              </a:rPr>
              <a:t>协议信息，知其服务器主机名。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36004-BF66-444F-8961-E1E70C56ECC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24827" y="4232311"/>
            <a:ext cx="1182351" cy="188003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A5302D0-D44E-4657-AAB5-648600E3B63C}"/>
              </a:ext>
            </a:extLst>
          </p:cNvPr>
          <p:cNvGrpSpPr/>
          <p:nvPr/>
        </p:nvGrpSpPr>
        <p:grpSpPr>
          <a:xfrm>
            <a:off x="2383746" y="3650507"/>
            <a:ext cx="4912535" cy="181973"/>
            <a:chOff x="2383746" y="3650507"/>
            <a:chExt cx="4912535" cy="1819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D2ED2A-E0AB-4074-A1EC-83FFBB7C3883}"/>
                </a:ext>
              </a:extLst>
            </p:cNvPr>
            <p:cNvSpPr/>
            <p:nvPr/>
          </p:nvSpPr>
          <p:spPr>
            <a:xfrm>
              <a:off x="2383746" y="3763112"/>
              <a:ext cx="1248629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D3F3CD-2322-42BC-82A9-6A0D172F59E7}"/>
                </a:ext>
              </a:extLst>
            </p:cNvPr>
            <p:cNvSpPr/>
            <p:nvPr/>
          </p:nvSpPr>
          <p:spPr>
            <a:xfrm>
              <a:off x="4391006" y="3763112"/>
              <a:ext cx="1248629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F29815-F83F-4850-BA35-31DEC20FB729}"/>
                </a:ext>
              </a:extLst>
            </p:cNvPr>
            <p:cNvSpPr/>
            <p:nvPr/>
          </p:nvSpPr>
          <p:spPr>
            <a:xfrm>
              <a:off x="5652247" y="3650507"/>
              <a:ext cx="1644034" cy="873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3843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22E78F3-5DBE-41A4-BE3F-B389502CE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" y="2525177"/>
            <a:ext cx="7200000" cy="35115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5"/>
            </a:pPr>
            <a:r>
              <a:rPr lang="zh-CN" altLang="en-US" dirty="0"/>
              <a:t>从步骤四所得的分组，获知此次通信的</a:t>
            </a:r>
            <a:r>
              <a:rPr lang="zh-CN" altLang="en-US" u="sng" dirty="0">
                <a:solidFill>
                  <a:srgbClr val="C00000"/>
                </a:solidFill>
              </a:rPr>
              <a:t>源</a:t>
            </a:r>
            <a:r>
              <a:rPr lang="en-US" altLang="zh-CN" u="sng" dirty="0">
                <a:solidFill>
                  <a:srgbClr val="C00000"/>
                </a:solidFill>
              </a:rPr>
              <a:t>IP</a:t>
            </a:r>
            <a:r>
              <a:rPr lang="zh-CN" altLang="en-US" u="sng" dirty="0">
                <a:solidFill>
                  <a:srgbClr val="C00000"/>
                </a:solidFill>
              </a:rPr>
              <a:t>地址和目的</a:t>
            </a:r>
            <a:r>
              <a:rPr lang="en-US" altLang="zh-CN" u="sng" dirty="0">
                <a:solidFill>
                  <a:srgbClr val="C00000"/>
                </a:solidFill>
              </a:rPr>
              <a:t>IP</a:t>
            </a:r>
            <a:r>
              <a:rPr lang="zh-CN" altLang="en-US" u="sng" dirty="0">
                <a:solidFill>
                  <a:srgbClr val="C00000"/>
                </a:solidFill>
              </a:rPr>
              <a:t>地址</a:t>
            </a:r>
            <a:r>
              <a:rPr lang="zh-CN" altLang="en-US" dirty="0"/>
              <a:t>。</a:t>
            </a:r>
            <a:r>
              <a:rPr lang="en-US" altLang="zh-CN" sz="2000" dirty="0"/>
              <a:t>(</a:t>
            </a:r>
            <a:r>
              <a:rPr lang="zh-CN" altLang="en-US" sz="2000" dirty="0"/>
              <a:t>这里，</a:t>
            </a:r>
            <a:r>
              <a:rPr lang="en-US" altLang="zh-CN" sz="2000" dirty="0"/>
              <a:t>192.168.2.178</a:t>
            </a:r>
            <a:r>
              <a:rPr lang="zh-CN" altLang="en-US" sz="2000" dirty="0"/>
              <a:t>是私有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地址，所以是用户的主机。</a:t>
            </a:r>
            <a:r>
              <a:rPr lang="en-US" altLang="zh-CN" sz="2000" dirty="0"/>
              <a:t>)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0692B-4CFE-4A4D-859D-BEFF0BF1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86AA-9AFD-4533-8EA6-E392500DFA8A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99483-AC62-4DF0-81E7-EB6C7E81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FC231-A551-4876-B35A-9B2E824C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844F1-5FCE-44A3-A780-E5CB6DE35926}"/>
              </a:ext>
            </a:extLst>
          </p:cNvPr>
          <p:cNvSpPr/>
          <p:nvPr/>
        </p:nvSpPr>
        <p:spPr>
          <a:xfrm>
            <a:off x="1111961" y="4061723"/>
            <a:ext cx="1812866" cy="34117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D7FF4-4AAA-41E5-9EF0-413D0EE9E700}"/>
              </a:ext>
            </a:extLst>
          </p:cNvPr>
          <p:cNvSpPr txBox="1"/>
          <p:nvPr/>
        </p:nvSpPr>
        <p:spPr>
          <a:xfrm>
            <a:off x="4107178" y="4266425"/>
            <a:ext cx="3815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</a:rPr>
              <a:t>阅读</a:t>
            </a:r>
            <a:r>
              <a:rPr lang="en-US" altLang="zh-CN" sz="1400" dirty="0">
                <a:solidFill>
                  <a:srgbClr val="C00000"/>
                </a:solidFill>
              </a:rPr>
              <a:t>HTTP</a:t>
            </a:r>
            <a:r>
              <a:rPr lang="zh-CN" altLang="en-US" sz="1400" dirty="0">
                <a:solidFill>
                  <a:srgbClr val="C00000"/>
                </a:solidFill>
              </a:rPr>
              <a:t>协议信息，知其主机名，即网址。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36004-BF66-444F-8961-E1E70C56ECC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24827" y="4232311"/>
            <a:ext cx="1182351" cy="188003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8C0B709-30FF-4E7F-9866-CC946D2BBC4F}"/>
              </a:ext>
            </a:extLst>
          </p:cNvPr>
          <p:cNvSpPr/>
          <p:nvPr/>
        </p:nvSpPr>
        <p:spPr>
          <a:xfrm>
            <a:off x="2010427" y="3106031"/>
            <a:ext cx="1941535" cy="24903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102AA1-93C2-4B28-BC78-155625BFA68B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981195" y="1903956"/>
            <a:ext cx="0" cy="1202075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270BFF-1AE9-4C7D-9911-546BDBB7DB50}"/>
              </a:ext>
            </a:extLst>
          </p:cNvPr>
          <p:cNvGrpSpPr/>
          <p:nvPr/>
        </p:nvGrpSpPr>
        <p:grpSpPr>
          <a:xfrm>
            <a:off x="2383746" y="3650507"/>
            <a:ext cx="4912535" cy="181973"/>
            <a:chOff x="2383746" y="3650507"/>
            <a:chExt cx="4912535" cy="1819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A09660-AD0E-4892-BAED-45949F9CDBD2}"/>
                </a:ext>
              </a:extLst>
            </p:cNvPr>
            <p:cNvSpPr/>
            <p:nvPr/>
          </p:nvSpPr>
          <p:spPr>
            <a:xfrm>
              <a:off x="2383746" y="3763112"/>
              <a:ext cx="1248629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619000-538C-41BF-B9D7-1641AEBD2905}"/>
                </a:ext>
              </a:extLst>
            </p:cNvPr>
            <p:cNvSpPr/>
            <p:nvPr/>
          </p:nvSpPr>
          <p:spPr>
            <a:xfrm>
              <a:off x="4391006" y="3763112"/>
              <a:ext cx="1248629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73BBF96-1447-465F-B377-120D0776F744}"/>
                </a:ext>
              </a:extLst>
            </p:cNvPr>
            <p:cNvSpPr/>
            <p:nvPr/>
          </p:nvSpPr>
          <p:spPr>
            <a:xfrm>
              <a:off x="5652247" y="3650507"/>
              <a:ext cx="1644034" cy="873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45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>
                <a:solidFill>
                  <a:schemeClr val="accent2"/>
                </a:solidFill>
              </a:rPr>
              <a:t>分析</a:t>
            </a:r>
            <a:r>
              <a:rPr lang="en-US" altLang="zh-CN" dirty="0">
                <a:solidFill>
                  <a:schemeClr val="accent2"/>
                </a:solidFill>
              </a:rPr>
              <a:t>TCP</a:t>
            </a:r>
            <a:r>
              <a:rPr lang="zh-CN" altLang="en-US" dirty="0">
                <a:solidFill>
                  <a:schemeClr val="accent2"/>
                </a:solidFill>
              </a:rPr>
              <a:t>协议</a:t>
            </a:r>
            <a:endParaRPr lang="en-US" altLang="en-US" dirty="0">
              <a:solidFill>
                <a:schemeClr val="accent2"/>
              </a:solidFill>
            </a:endParaRP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ICMP</a:t>
            </a:r>
            <a:r>
              <a:rPr lang="zh-CN" altLang="en-US" dirty="0"/>
              <a:t>协议</a:t>
            </a:r>
            <a:endParaRPr lang="en-US" altLang="en-US" dirty="0"/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287A8A8-8675-44C1-9673-43022714E1BF}" type="datetime1">
              <a:rPr lang="en-US" altLang="zh-CN" smtClean="0">
                <a:solidFill>
                  <a:srgbClr val="FFFFFF"/>
                </a:solidFill>
              </a:rPr>
              <a:t>3/20/2024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356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58C2EF-6652-4140-96A1-CF7F7150F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52" y="1571155"/>
            <a:ext cx="6989710" cy="4742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dirty="0"/>
              <a:t>.</a:t>
            </a:r>
            <a:r>
              <a:rPr lang="zh-CN" altLang="en-US" dirty="0"/>
              <a:t>分析</a:t>
            </a:r>
            <a:r>
              <a:rPr 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/>
            </a:pPr>
            <a:r>
              <a:rPr lang="zh-CN" altLang="en-US" dirty="0"/>
              <a:t>对</a:t>
            </a:r>
            <a:r>
              <a:rPr lang="en-US" altLang="zh-CN" dirty="0"/>
              <a:t>2-4</a:t>
            </a:r>
            <a:r>
              <a:rPr lang="zh-CN" altLang="en-US" dirty="0"/>
              <a:t>的分组，分析</a:t>
            </a:r>
            <a:r>
              <a:rPr lang="en-US" altLang="zh-CN" dirty="0"/>
              <a:t>TCP</a:t>
            </a:r>
            <a:r>
              <a:rPr lang="zh-CN" altLang="en-US" dirty="0"/>
              <a:t>协议信息。</a:t>
            </a:r>
            <a:endParaRPr lang="en-US" altLang="zh-C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D8040-8BBB-4DFA-A4EE-9CDA7F2D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6F33-E535-4E64-BA2B-6E6A05E81B84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1F3AE-CF8B-4BB9-9DB4-40EEE70C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98A23-3291-4308-8904-88D6A22B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19</a:t>
            </a:fld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9DC39DA-2CD8-45E0-8A15-C32F21C470A6}"/>
              </a:ext>
            </a:extLst>
          </p:cNvPr>
          <p:cNvGrpSpPr/>
          <p:nvPr/>
        </p:nvGrpSpPr>
        <p:grpSpPr>
          <a:xfrm>
            <a:off x="1265127" y="3188238"/>
            <a:ext cx="3607497" cy="2488216"/>
            <a:chOff x="1265127" y="3188238"/>
            <a:chExt cx="3607497" cy="24882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DEF828-34A1-496B-BEB4-CD9C9A1AFD22}"/>
                </a:ext>
              </a:extLst>
            </p:cNvPr>
            <p:cNvSpPr/>
            <p:nvPr/>
          </p:nvSpPr>
          <p:spPr>
            <a:xfrm>
              <a:off x="1265127" y="5543093"/>
              <a:ext cx="3607491" cy="133361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17BAFAF-D087-43BE-85DB-AA48B9B1B674}"/>
                </a:ext>
              </a:extLst>
            </p:cNvPr>
            <p:cNvSpPr/>
            <p:nvPr/>
          </p:nvSpPr>
          <p:spPr>
            <a:xfrm>
              <a:off x="1265128" y="4928497"/>
              <a:ext cx="3607492" cy="133361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F3031BE-1346-4865-A52C-A0F39D22E93F}"/>
                </a:ext>
              </a:extLst>
            </p:cNvPr>
            <p:cNvSpPr/>
            <p:nvPr/>
          </p:nvSpPr>
          <p:spPr>
            <a:xfrm>
              <a:off x="1265127" y="4171547"/>
              <a:ext cx="3607495" cy="14444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70E8EBF-9469-42E7-9FAD-D0A79B5758CD}"/>
                </a:ext>
              </a:extLst>
            </p:cNvPr>
            <p:cNvSpPr/>
            <p:nvPr/>
          </p:nvSpPr>
          <p:spPr>
            <a:xfrm>
              <a:off x="1265128" y="4450236"/>
              <a:ext cx="3607494" cy="116635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D37F8A5-BEC9-433B-9B06-C16C3D011854}"/>
                </a:ext>
              </a:extLst>
            </p:cNvPr>
            <p:cNvSpPr/>
            <p:nvPr/>
          </p:nvSpPr>
          <p:spPr>
            <a:xfrm>
              <a:off x="1265127" y="3822106"/>
              <a:ext cx="3607496" cy="11472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8B9155-5E50-4871-AFC4-D4B50338C4FF}"/>
                </a:ext>
              </a:extLst>
            </p:cNvPr>
            <p:cNvSpPr/>
            <p:nvPr/>
          </p:nvSpPr>
          <p:spPr>
            <a:xfrm>
              <a:off x="1265127" y="3188238"/>
              <a:ext cx="3607497" cy="249031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20BAA1-8768-4EF3-AFA4-19A5D6A7DAC7}"/>
              </a:ext>
            </a:extLst>
          </p:cNvPr>
          <p:cNvGrpSpPr/>
          <p:nvPr/>
        </p:nvGrpSpPr>
        <p:grpSpPr>
          <a:xfrm>
            <a:off x="1265127" y="4317491"/>
            <a:ext cx="4540687" cy="359454"/>
            <a:chOff x="1265127" y="4317491"/>
            <a:chExt cx="4540687" cy="35945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760C120-3F9F-404C-8DB1-391324A5138A}"/>
                </a:ext>
              </a:extLst>
            </p:cNvPr>
            <p:cNvSpPr/>
            <p:nvPr/>
          </p:nvSpPr>
          <p:spPr>
            <a:xfrm>
              <a:off x="1265127" y="4565736"/>
              <a:ext cx="4540687" cy="111209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755BFE-4EB0-4760-A1D1-2EA55696ACB6}"/>
                </a:ext>
              </a:extLst>
            </p:cNvPr>
            <p:cNvSpPr/>
            <p:nvPr/>
          </p:nvSpPr>
          <p:spPr>
            <a:xfrm>
              <a:off x="1891430" y="4317491"/>
              <a:ext cx="3914384" cy="13274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D1064D7-3416-487B-864B-39D044615E58}"/>
              </a:ext>
            </a:extLst>
          </p:cNvPr>
          <p:cNvGrpSpPr/>
          <p:nvPr/>
        </p:nvGrpSpPr>
        <p:grpSpPr>
          <a:xfrm>
            <a:off x="3194241" y="3188238"/>
            <a:ext cx="1690910" cy="2537211"/>
            <a:chOff x="3194241" y="3188238"/>
            <a:chExt cx="1690910" cy="2537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DD7FF4-4AAA-41E5-9EF0-413D0EE9E700}"/>
                </a:ext>
              </a:extLst>
            </p:cNvPr>
            <p:cNvSpPr txBox="1"/>
            <p:nvPr/>
          </p:nvSpPr>
          <p:spPr>
            <a:xfrm>
              <a:off x="3194241" y="3188238"/>
              <a:ext cx="1690910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源端口号和目的端口号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3A3656-29A2-44B5-BEE3-3CED8657B858}"/>
                </a:ext>
              </a:extLst>
            </p:cNvPr>
            <p:cNvSpPr txBox="1"/>
            <p:nvPr/>
          </p:nvSpPr>
          <p:spPr>
            <a:xfrm>
              <a:off x="4235712" y="3744838"/>
              <a:ext cx="649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序列号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5DA587-CDC4-4207-A22A-01488CFD0959}"/>
                </a:ext>
              </a:extLst>
            </p:cNvPr>
            <p:cNvSpPr txBox="1"/>
            <p:nvPr/>
          </p:nvSpPr>
          <p:spPr>
            <a:xfrm>
              <a:off x="4235712" y="4114904"/>
              <a:ext cx="649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确认号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804062-E622-427E-AF71-8D45A4B00E32}"/>
                </a:ext>
              </a:extLst>
            </p:cNvPr>
            <p:cNvSpPr txBox="1"/>
            <p:nvPr/>
          </p:nvSpPr>
          <p:spPr>
            <a:xfrm>
              <a:off x="4235712" y="4373604"/>
              <a:ext cx="649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标志位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D81352-63A7-436C-9B73-FE2CFBC64B80}"/>
                </a:ext>
              </a:extLst>
            </p:cNvPr>
            <p:cNvSpPr txBox="1"/>
            <p:nvPr/>
          </p:nvSpPr>
          <p:spPr>
            <a:xfrm>
              <a:off x="4235712" y="4854774"/>
              <a:ext cx="649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校验和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F1FB2F-A8A6-40B6-94BE-53C8F40CD8AE}"/>
                </a:ext>
              </a:extLst>
            </p:cNvPr>
            <p:cNvSpPr txBox="1"/>
            <p:nvPr/>
          </p:nvSpPr>
          <p:spPr>
            <a:xfrm>
              <a:off x="4235712" y="5463839"/>
              <a:ext cx="649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数据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2D54AF-6A12-4756-BFDB-09312E86BCC0}"/>
              </a:ext>
            </a:extLst>
          </p:cNvPr>
          <p:cNvGrpSpPr/>
          <p:nvPr/>
        </p:nvGrpSpPr>
        <p:grpSpPr>
          <a:xfrm>
            <a:off x="5047990" y="4250651"/>
            <a:ext cx="775654" cy="501494"/>
            <a:chOff x="5047990" y="4250651"/>
            <a:chExt cx="775654" cy="50149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CA801B2-0980-4A08-8147-F4662722E4EA}"/>
                </a:ext>
              </a:extLst>
            </p:cNvPr>
            <p:cNvSpPr txBox="1"/>
            <p:nvPr/>
          </p:nvSpPr>
          <p:spPr>
            <a:xfrm>
              <a:off x="5047990" y="4250651"/>
              <a:ext cx="7756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报头长度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467C16B-AFEC-40B5-943C-FAD3FBDF4581}"/>
                </a:ext>
              </a:extLst>
            </p:cNvPr>
            <p:cNvSpPr txBox="1"/>
            <p:nvPr/>
          </p:nvSpPr>
          <p:spPr>
            <a:xfrm>
              <a:off x="5047990" y="4490535"/>
              <a:ext cx="7756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窗口大小</a:t>
              </a:r>
              <a:endPara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2B33BA-7557-43C8-A74E-9605ED62F7F7}"/>
              </a:ext>
            </a:extLst>
          </p:cNvPr>
          <p:cNvGrpSpPr/>
          <p:nvPr/>
        </p:nvGrpSpPr>
        <p:grpSpPr>
          <a:xfrm>
            <a:off x="2547708" y="2717975"/>
            <a:ext cx="5443947" cy="196224"/>
            <a:chOff x="2251448" y="3639316"/>
            <a:chExt cx="5443947" cy="19622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A8A25B3-A54D-449E-AF5A-9578FFE1C7AE}"/>
                </a:ext>
              </a:extLst>
            </p:cNvPr>
            <p:cNvSpPr/>
            <p:nvPr/>
          </p:nvSpPr>
          <p:spPr>
            <a:xfrm>
              <a:off x="2251448" y="3763112"/>
              <a:ext cx="1380928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042B80F-4791-41C0-A94F-5F2DEB08C37A}"/>
                </a:ext>
              </a:extLst>
            </p:cNvPr>
            <p:cNvSpPr/>
            <p:nvPr/>
          </p:nvSpPr>
          <p:spPr>
            <a:xfrm>
              <a:off x="4508402" y="3766172"/>
              <a:ext cx="1352085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CEAAC3-5099-4D9E-947D-C06960CED147}"/>
                </a:ext>
              </a:extLst>
            </p:cNvPr>
            <p:cNvSpPr/>
            <p:nvPr/>
          </p:nvSpPr>
          <p:spPr>
            <a:xfrm>
              <a:off x="5927966" y="3639316"/>
              <a:ext cx="1767429" cy="733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1990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609EBC-69A8-4F4C-AC31-45B52B80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47" y="2039029"/>
            <a:ext cx="6142907" cy="4168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dirty="0"/>
              <a:t>.</a:t>
            </a:r>
            <a:r>
              <a:rPr lang="zh-CN" altLang="en-US" dirty="0"/>
              <a:t>分析</a:t>
            </a:r>
            <a:r>
              <a:rPr 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2"/>
            </a:pPr>
            <a:r>
              <a:rPr lang="zh-CN" altLang="en-US" dirty="0"/>
              <a:t>对</a:t>
            </a:r>
            <a:r>
              <a:rPr lang="en-US" altLang="zh-CN" dirty="0"/>
              <a:t>2-4</a:t>
            </a:r>
            <a:r>
              <a:rPr lang="zh-CN" altLang="en-US" dirty="0"/>
              <a:t>的分组，追踪其</a:t>
            </a:r>
            <a:r>
              <a:rPr lang="en-US" altLang="zh-CN" dirty="0"/>
              <a:t>TCP</a:t>
            </a:r>
            <a:r>
              <a:rPr lang="zh-CN" altLang="en-US" dirty="0"/>
              <a:t>流。点击右键，从下拉菜单中选择</a:t>
            </a:r>
            <a:r>
              <a:rPr lang="en-US" altLang="zh-CN" dirty="0"/>
              <a:t>TCP</a:t>
            </a:r>
            <a:r>
              <a:rPr lang="zh-CN" altLang="en-US" dirty="0"/>
              <a:t>流。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0349C-5D8C-4354-A064-41513C8E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FB2B-A3A4-4C7F-9818-04AD8297FA68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287A8-6891-4B96-B93E-581CB5BD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16C80-F8BF-45C0-9A9C-E97ABE95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95B571-1317-4380-8F1C-27BE6CF1E48B}"/>
              </a:ext>
            </a:extLst>
          </p:cNvPr>
          <p:cNvSpPr/>
          <p:nvPr/>
        </p:nvSpPr>
        <p:spPr>
          <a:xfrm>
            <a:off x="6035040" y="3052203"/>
            <a:ext cx="1540014" cy="607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6518F5-5A40-438F-AE46-F71E701E824A}"/>
              </a:ext>
            </a:extLst>
          </p:cNvPr>
          <p:cNvSpPr/>
          <p:nvPr/>
        </p:nvSpPr>
        <p:spPr>
          <a:xfrm>
            <a:off x="3248748" y="3159410"/>
            <a:ext cx="736775" cy="617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20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dirty="0"/>
              <a:t>.</a:t>
            </a:r>
            <a:r>
              <a:rPr lang="zh-CN" altLang="en-US" dirty="0"/>
              <a:t>分析</a:t>
            </a:r>
            <a:r>
              <a:rPr 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3"/>
            </a:pPr>
            <a:r>
              <a:rPr lang="zh-CN" altLang="en-US" dirty="0"/>
              <a:t>对</a:t>
            </a:r>
            <a:r>
              <a:rPr lang="en-US" altLang="zh-CN" dirty="0"/>
              <a:t>2-4</a:t>
            </a:r>
            <a:r>
              <a:rPr lang="zh-CN" altLang="en-US" dirty="0"/>
              <a:t>的分组，追踪其</a:t>
            </a:r>
            <a:r>
              <a:rPr lang="en-US" altLang="zh-CN" dirty="0"/>
              <a:t>TCP</a:t>
            </a:r>
            <a:r>
              <a:rPr lang="zh-CN" altLang="en-US" dirty="0"/>
              <a:t>流。点击右键，从下拉菜单中选择</a:t>
            </a:r>
            <a:r>
              <a:rPr lang="en-US" altLang="zh-CN" dirty="0"/>
              <a:t>TCP</a:t>
            </a:r>
            <a:r>
              <a:rPr lang="zh-CN" altLang="en-US" dirty="0"/>
              <a:t>流。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80FDF-757B-4EBB-9CE4-512BBFF6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A102-2191-4809-AD3D-83FD5DBFF834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1A1A7-DC4B-4C1A-9DCC-139A25C0B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64461-D5B6-405A-99AD-D8B7BBE8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5752F-C4AA-4924-8569-E1C12031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00" y="2037600"/>
            <a:ext cx="6141600" cy="416734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5C6F0A4-1B70-4BA8-AE6B-920C054FE94B}"/>
              </a:ext>
            </a:extLst>
          </p:cNvPr>
          <p:cNvGrpSpPr/>
          <p:nvPr/>
        </p:nvGrpSpPr>
        <p:grpSpPr>
          <a:xfrm>
            <a:off x="3242360" y="3680626"/>
            <a:ext cx="4044540" cy="189690"/>
            <a:chOff x="2383746" y="3642790"/>
            <a:chExt cx="6328934" cy="18969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E0DB74-C2C0-4B6F-B501-3817DEB6A361}"/>
                </a:ext>
              </a:extLst>
            </p:cNvPr>
            <p:cNvSpPr/>
            <p:nvPr/>
          </p:nvSpPr>
          <p:spPr>
            <a:xfrm>
              <a:off x="2383746" y="3763112"/>
              <a:ext cx="1248629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A5EB4A-543E-4420-8670-15201470BCD4}"/>
                </a:ext>
              </a:extLst>
            </p:cNvPr>
            <p:cNvSpPr/>
            <p:nvPr/>
          </p:nvSpPr>
          <p:spPr>
            <a:xfrm>
              <a:off x="4746256" y="3761259"/>
              <a:ext cx="1908821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0A2FF5-A244-411D-81EC-582DFAE88176}"/>
                </a:ext>
              </a:extLst>
            </p:cNvPr>
            <p:cNvSpPr/>
            <p:nvPr/>
          </p:nvSpPr>
          <p:spPr>
            <a:xfrm>
              <a:off x="6452230" y="3642790"/>
              <a:ext cx="2260450" cy="873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4188932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dirty="0"/>
              <a:t>.</a:t>
            </a:r>
            <a:r>
              <a:rPr lang="zh-CN" altLang="en-US" dirty="0"/>
              <a:t>分析</a:t>
            </a:r>
            <a:r>
              <a:rPr 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4"/>
            </a:pPr>
            <a:r>
              <a:rPr lang="zh-CN" altLang="en-US" dirty="0"/>
              <a:t>找到</a:t>
            </a:r>
            <a:r>
              <a:rPr lang="en-US" altLang="zh-CN" dirty="0"/>
              <a:t>TCP</a:t>
            </a:r>
            <a:r>
              <a:rPr lang="zh-CN" altLang="en-US" dirty="0"/>
              <a:t>建立连接的分组。原理：</a:t>
            </a:r>
            <a:r>
              <a:rPr lang="en-US" altLang="zh-CN" dirty="0"/>
              <a:t>1) TCP</a:t>
            </a:r>
            <a:r>
              <a:rPr lang="zh-CN" altLang="en-US" dirty="0"/>
              <a:t>连接建立应该在</a:t>
            </a:r>
            <a:r>
              <a:rPr lang="en-US" altLang="zh-CN" dirty="0"/>
              <a:t>HTTP GET</a:t>
            </a:r>
            <a:r>
              <a:rPr lang="zh-CN" altLang="en-US" dirty="0"/>
              <a:t>请求之前完成</a:t>
            </a:r>
            <a:r>
              <a:rPr lang="en-US" altLang="zh-CN" dirty="0"/>
              <a:t>; 2) TCP </a:t>
            </a:r>
            <a:r>
              <a:rPr lang="zh-CN" altLang="en-US" dirty="0"/>
              <a:t>建立连接时会设置</a:t>
            </a:r>
            <a:r>
              <a:rPr lang="zh-CN" altLang="en-US" u="sng" dirty="0">
                <a:solidFill>
                  <a:srgbClr val="C00000"/>
                </a:solidFill>
              </a:rPr>
              <a:t>标志位</a:t>
            </a:r>
            <a:r>
              <a:rPr lang="en-US" altLang="zh-CN" u="sng" dirty="0">
                <a:solidFill>
                  <a:srgbClr val="C00000"/>
                </a:solidFill>
              </a:rPr>
              <a:t>SYN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9A9D4-FAD8-4BF6-98A6-72D50B87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9A16-E795-4FAC-A50C-B7E67A99DE70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43D74-BF6D-46D6-91DE-1C4BC849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8216-0A38-41E6-850A-5498D0C2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2CF64-F10E-4693-93C0-0D11A83E3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812" y="2399921"/>
            <a:ext cx="5728377" cy="38869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5B96633-2E56-463F-9FD6-A461D45CA404}"/>
              </a:ext>
            </a:extLst>
          </p:cNvPr>
          <p:cNvSpPr/>
          <p:nvPr/>
        </p:nvSpPr>
        <p:spPr>
          <a:xfrm>
            <a:off x="225468" y="3089152"/>
            <a:ext cx="6939420" cy="28773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286D3D-28CD-41BF-9F8C-F4F4396F6DC8}"/>
              </a:ext>
            </a:extLst>
          </p:cNvPr>
          <p:cNvSpPr/>
          <p:nvPr/>
        </p:nvSpPr>
        <p:spPr>
          <a:xfrm>
            <a:off x="5680553" y="3082889"/>
            <a:ext cx="475990" cy="29399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35B8B-EA75-440F-BA4C-464AEF380CF0}"/>
              </a:ext>
            </a:extLst>
          </p:cNvPr>
          <p:cNvSpPr txBox="1"/>
          <p:nvPr/>
        </p:nvSpPr>
        <p:spPr>
          <a:xfrm>
            <a:off x="212943" y="3082889"/>
            <a:ext cx="1609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TCP 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连接建立的分组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DBF089-2E83-4D79-B6FE-1A3104077684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190853" y="2284094"/>
            <a:ext cx="1727695" cy="798795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9635FF-EA70-486F-9060-26E52E5A18EE}"/>
              </a:ext>
            </a:extLst>
          </p:cNvPr>
          <p:cNvGrpSpPr/>
          <p:nvPr/>
        </p:nvGrpSpPr>
        <p:grpSpPr>
          <a:xfrm>
            <a:off x="3380805" y="3923183"/>
            <a:ext cx="4044540" cy="189690"/>
            <a:chOff x="2383746" y="3642790"/>
            <a:chExt cx="6328934" cy="18969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12912F-FA33-485E-9AE4-CCA35B4931EA}"/>
                </a:ext>
              </a:extLst>
            </p:cNvPr>
            <p:cNvSpPr/>
            <p:nvPr/>
          </p:nvSpPr>
          <p:spPr>
            <a:xfrm>
              <a:off x="2383746" y="3763112"/>
              <a:ext cx="1248629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BD430B-88A6-4809-8E5A-ED87DDA0672C}"/>
                </a:ext>
              </a:extLst>
            </p:cNvPr>
            <p:cNvSpPr/>
            <p:nvPr/>
          </p:nvSpPr>
          <p:spPr>
            <a:xfrm>
              <a:off x="4746256" y="3761259"/>
              <a:ext cx="1908821" cy="693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2BA8AE-D0F3-4FCB-8A29-FA487F95FC2A}"/>
                </a:ext>
              </a:extLst>
            </p:cNvPr>
            <p:cNvSpPr/>
            <p:nvPr/>
          </p:nvSpPr>
          <p:spPr>
            <a:xfrm>
              <a:off x="6452230" y="3642790"/>
              <a:ext cx="2260450" cy="873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2104653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安装学习</a:t>
            </a:r>
            <a:r>
              <a:rPr lang="en-US" altLang="zh-CN" dirty="0"/>
              <a:t>Wireshark</a:t>
            </a:r>
            <a:r>
              <a:rPr lang="zh-CN" altLang="en-US" dirty="0"/>
              <a:t>软件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抓包与分析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en-US" dirty="0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>
                <a:solidFill>
                  <a:schemeClr val="accent2"/>
                </a:solidFill>
              </a:rPr>
              <a:t>分析</a:t>
            </a:r>
            <a:r>
              <a:rPr lang="en-US" altLang="zh-CN" dirty="0">
                <a:solidFill>
                  <a:schemeClr val="accent2"/>
                </a:solidFill>
              </a:rPr>
              <a:t>TCP</a:t>
            </a:r>
            <a:r>
              <a:rPr lang="zh-CN" altLang="en-US" dirty="0">
                <a:solidFill>
                  <a:schemeClr val="accent2"/>
                </a:solidFill>
              </a:rPr>
              <a:t>三次握手</a:t>
            </a:r>
            <a:endParaRPr lang="en-US" altLang="en-US" dirty="0">
              <a:solidFill>
                <a:schemeClr val="accent2"/>
              </a:solidFill>
            </a:endParaRP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zh-CN" altLang="en-US" dirty="0"/>
              <a:t>分析</a:t>
            </a:r>
            <a:r>
              <a:rPr lang="en-US" altLang="zh-CN" dirty="0"/>
              <a:t>ICMP</a:t>
            </a:r>
            <a:r>
              <a:rPr lang="zh-CN" altLang="en-US" dirty="0"/>
              <a:t>协议</a:t>
            </a:r>
            <a:endParaRPr lang="en-US" altLang="en-US" dirty="0"/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0EA2397-E689-45A5-8DCF-2A12D52B2BD7}" type="datetime1">
              <a:rPr lang="en-US" altLang="zh-CN" smtClean="0">
                <a:solidFill>
                  <a:srgbClr val="FFFFFF"/>
                </a:solidFill>
              </a:rPr>
              <a:t>3/20/2024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40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381825-6E4C-4249-9A26-56CB0852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TCP</a:t>
            </a:r>
            <a:r>
              <a:rPr lang="zh-CN" altLang="en-US" dirty="0"/>
              <a:t>三次握手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AC3A4-3E13-4469-BB61-C91DB856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0865-1FD7-4EB0-B8F6-5CF54544CF8F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FD54-1DF0-4B05-AF6F-B3032ED4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7" name="Line 5">
            <a:extLst>
              <a:ext uri="{FF2B5EF4-FFF2-40B4-BE49-F238E27FC236}">
                <a16:creationId xmlns:a16="http://schemas.microsoft.com/office/drawing/2014/main" id="{E1BB40D8-8F7C-49D9-B888-F295666BBE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8663" y="2996777"/>
            <a:ext cx="0" cy="261580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grpSp>
        <p:nvGrpSpPr>
          <p:cNvPr id="78" name="Group 102">
            <a:extLst>
              <a:ext uri="{FF2B5EF4-FFF2-40B4-BE49-F238E27FC236}">
                <a16:creationId xmlns:a16="http://schemas.microsoft.com/office/drawing/2014/main" id="{1DA86107-BC77-431F-A55B-14E7F60DCC8E}"/>
              </a:ext>
            </a:extLst>
          </p:cNvPr>
          <p:cNvGrpSpPr>
            <a:grpSpLocks/>
          </p:cNvGrpSpPr>
          <p:nvPr/>
        </p:nvGrpSpPr>
        <p:grpSpPr bwMode="auto">
          <a:xfrm>
            <a:off x="2357906" y="2942009"/>
            <a:ext cx="3139676" cy="716756"/>
            <a:chOff x="1004" y="1363"/>
            <a:chExt cx="2637" cy="602"/>
          </a:xfrm>
        </p:grpSpPr>
        <p:sp>
          <p:nvSpPr>
            <p:cNvPr id="79" name="Line 10">
              <a:extLst>
                <a:ext uri="{FF2B5EF4-FFF2-40B4-BE49-F238E27FC236}">
                  <a16:creationId xmlns:a16="http://schemas.microsoft.com/office/drawing/2014/main" id="{3B436F7F-13B7-4ED1-8DA4-4F98D27B7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00" kern="0">
                <a:solidFill>
                  <a:srgbClr val="000000"/>
                </a:solidFill>
              </a:endParaRPr>
            </a:p>
          </p:txBody>
        </p:sp>
        <p:sp>
          <p:nvSpPr>
            <p:cNvPr id="80" name="Text Box 13">
              <a:extLst>
                <a:ext uri="{FF2B5EF4-FFF2-40B4-BE49-F238E27FC236}">
                  <a16:creationId xmlns:a16="http://schemas.microsoft.com/office/drawing/2014/main" id="{31317B6A-CAD8-415E-B773-EBA624705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827397">
              <a:off x="2307" y="1514"/>
              <a:ext cx="1124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SYN</a:t>
              </a:r>
              <a:r>
                <a:rPr lang="zh-CN" alt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位</a:t>
              </a: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=1, seq=x</a:t>
              </a:r>
            </a:p>
          </p:txBody>
        </p:sp>
        <p:sp>
          <p:nvSpPr>
            <p:cNvPr id="81" name="Text Box 21">
              <a:extLst>
                <a:ext uri="{FF2B5EF4-FFF2-40B4-BE49-F238E27FC236}">
                  <a16:creationId xmlns:a16="http://schemas.microsoft.com/office/drawing/2014/main" id="{9C5277A6-6F1E-4A8A-AE8B-6101603BE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" y="1363"/>
              <a:ext cx="103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选择初始序号</a:t>
              </a:r>
              <a:r>
                <a:rPr lang="en-US" altLang="zh-CN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x</a:t>
              </a: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，</a:t>
              </a:r>
              <a:endParaRPr lang="en-US" altLang="zh-CN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发送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SYN</a:t>
              </a: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报文</a:t>
              </a:r>
              <a:endParaRPr lang="en-US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2" name="Line 22">
            <a:extLst>
              <a:ext uri="{FF2B5EF4-FFF2-40B4-BE49-F238E27FC236}">
                <a16:creationId xmlns:a16="http://schemas.microsoft.com/office/drawing/2014/main" id="{689C8485-02BF-42EA-AB52-DED4D23574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9384" y="3049165"/>
            <a:ext cx="1190" cy="2563416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grpSp>
        <p:nvGrpSpPr>
          <p:cNvPr id="84" name="Group 109">
            <a:extLst>
              <a:ext uri="{FF2B5EF4-FFF2-40B4-BE49-F238E27FC236}">
                <a16:creationId xmlns:a16="http://schemas.microsoft.com/office/drawing/2014/main" id="{F5E57B99-7BB0-46E5-9300-59CC3C034831}"/>
              </a:ext>
            </a:extLst>
          </p:cNvPr>
          <p:cNvGrpSpPr>
            <a:grpSpLocks/>
          </p:cNvGrpSpPr>
          <p:nvPr/>
        </p:nvGrpSpPr>
        <p:grpSpPr bwMode="auto">
          <a:xfrm>
            <a:off x="3615201" y="3444453"/>
            <a:ext cx="3301603" cy="1069181"/>
            <a:chOff x="2060" y="1785"/>
            <a:chExt cx="2773" cy="898"/>
          </a:xfrm>
        </p:grpSpPr>
        <p:sp>
          <p:nvSpPr>
            <p:cNvPr id="85" name="Line 11">
              <a:extLst>
                <a:ext uri="{FF2B5EF4-FFF2-40B4-BE49-F238E27FC236}">
                  <a16:creationId xmlns:a16="http://schemas.microsoft.com/office/drawing/2014/main" id="{4DBC04B8-4771-48DF-96B4-1EE59B341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00" kern="0">
                <a:solidFill>
                  <a:srgbClr val="000000"/>
                </a:solidFill>
              </a:endParaRPr>
            </a:p>
          </p:txBody>
        </p:sp>
        <p:sp>
          <p:nvSpPr>
            <p:cNvPr id="86" name="Text Box 83">
              <a:extLst>
                <a:ext uri="{FF2B5EF4-FFF2-40B4-BE49-F238E27FC236}">
                  <a16:creationId xmlns:a16="http://schemas.microsoft.com/office/drawing/2014/main" id="{BED7AC3F-CB0D-413B-8444-B58BA6FAB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6315">
              <a:off x="2356" y="2071"/>
              <a:ext cx="1274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SYN</a:t>
              </a:r>
              <a:r>
                <a:rPr lang="zh-CN" alt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位</a:t>
              </a: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=1, seq=y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ACK</a:t>
              </a:r>
              <a:r>
                <a:rPr lang="zh-CN" alt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位</a:t>
              </a: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=1, ack=x+1</a:t>
              </a:r>
            </a:p>
          </p:txBody>
        </p:sp>
        <p:sp>
          <p:nvSpPr>
            <p:cNvPr id="87" name="Text Box 93">
              <a:extLst>
                <a:ext uri="{FF2B5EF4-FFF2-40B4-BE49-F238E27FC236}">
                  <a16:creationId xmlns:a16="http://schemas.microsoft.com/office/drawing/2014/main" id="{E7D900D2-1AD8-42A1-9796-D81168587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" y="1785"/>
              <a:ext cx="1157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选择初始序号</a:t>
              </a:r>
              <a:r>
                <a:rPr lang="en-US" altLang="zh-CN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y</a:t>
              </a: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，</a:t>
              </a:r>
              <a:endParaRPr lang="en-US" altLang="zh-CN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发送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SYNACK</a:t>
              </a: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报文，</a:t>
              </a:r>
              <a:endParaRPr lang="en-US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确认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SYN</a:t>
              </a: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报文</a:t>
              </a:r>
              <a:endParaRPr lang="en-US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88" name="Group 110">
            <a:extLst>
              <a:ext uri="{FF2B5EF4-FFF2-40B4-BE49-F238E27FC236}">
                <a16:creationId xmlns:a16="http://schemas.microsoft.com/office/drawing/2014/main" id="{A6AF6305-7FB2-4AD2-A5FA-D88E271D1AC4}"/>
              </a:ext>
            </a:extLst>
          </p:cNvPr>
          <p:cNvGrpSpPr>
            <a:grpSpLocks/>
          </p:cNvGrpSpPr>
          <p:nvPr/>
        </p:nvGrpSpPr>
        <p:grpSpPr bwMode="auto">
          <a:xfrm>
            <a:off x="1873313" y="4268366"/>
            <a:ext cx="5242324" cy="1070373"/>
            <a:chOff x="597" y="2477"/>
            <a:chExt cx="4403" cy="899"/>
          </a:xfrm>
        </p:grpSpPr>
        <p:sp>
          <p:nvSpPr>
            <p:cNvPr id="89" name="Line 84">
              <a:extLst>
                <a:ext uri="{FF2B5EF4-FFF2-40B4-BE49-F238E27FC236}">
                  <a16:creationId xmlns:a16="http://schemas.microsoft.com/office/drawing/2014/main" id="{0659FF69-A9A9-4873-8B31-5ADC9B4DC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00" kern="0">
                <a:solidFill>
                  <a:srgbClr val="000000"/>
                </a:solidFill>
              </a:endParaRPr>
            </a:p>
          </p:txBody>
        </p:sp>
        <p:sp>
          <p:nvSpPr>
            <p:cNvPr id="90" name="Text Box 90">
              <a:extLst>
                <a:ext uri="{FF2B5EF4-FFF2-40B4-BE49-F238E27FC236}">
                  <a16:creationId xmlns:a16="http://schemas.microsoft.com/office/drawing/2014/main" id="{E5B58E55-D245-43B8-A4DD-AFB9E9BF9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7115">
              <a:off x="2340" y="2744"/>
              <a:ext cx="1277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ACK</a:t>
              </a:r>
              <a:r>
                <a:rPr lang="zh-CN" alt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位</a:t>
              </a:r>
              <a:r>
                <a:rPr lang="en-US" sz="1400" kern="0" dirty="0">
                  <a:solidFill>
                    <a:srgbClr val="000000"/>
                  </a:solidFill>
                  <a:latin typeface="+mn-lt"/>
                  <a:ea typeface="+mn-ea"/>
                </a:rPr>
                <a:t>=1, ack=y+1</a:t>
              </a:r>
            </a:p>
          </p:txBody>
        </p:sp>
        <p:sp>
          <p:nvSpPr>
            <p:cNvPr id="91" name="Text Box 94">
              <a:extLst>
                <a:ext uri="{FF2B5EF4-FFF2-40B4-BE49-F238E27FC236}">
                  <a16:creationId xmlns:a16="http://schemas.microsoft.com/office/drawing/2014/main" id="{043951E7-6185-4493-ADD0-B0D1492E2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2477"/>
              <a:ext cx="1447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接收报文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 SYNACK(x+1) </a:t>
              </a:r>
            </a:p>
            <a:p>
              <a:pPr algn="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说明服务器正在运行</a:t>
              </a:r>
              <a:endParaRPr lang="en-US" altLang="zh-CN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发送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ACK</a:t>
              </a: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以确认</a:t>
              </a:r>
              <a:r>
                <a:rPr lang="en-US" altLang="zh-CN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S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YNACK</a:t>
              </a:r>
            </a:p>
          </p:txBody>
        </p:sp>
        <p:sp>
          <p:nvSpPr>
            <p:cNvPr id="92" name="Text Box 95">
              <a:extLst>
                <a:ext uri="{FF2B5EF4-FFF2-40B4-BE49-F238E27FC236}">
                  <a16:creationId xmlns:a16="http://schemas.microsoft.com/office/drawing/2014/main" id="{D431B3DC-A73A-4F7C-A280-A190C7869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042"/>
              <a:ext cx="136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接收</a:t>
              </a:r>
              <a:r>
                <a:rPr 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ACK(y+1) </a:t>
              </a:r>
            </a:p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100" kern="0" dirty="0">
                  <a:solidFill>
                    <a:srgbClr val="000000"/>
                  </a:solidFill>
                  <a:latin typeface="+mn-lt"/>
                  <a:ea typeface="+mn-ea"/>
                </a:rPr>
                <a:t>说明客户端还在运行</a:t>
              </a:r>
              <a:endParaRPr lang="en-US" sz="1100" kern="0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6E2C71F-ACBA-4EEB-9E89-547DE38D2B50}"/>
              </a:ext>
            </a:extLst>
          </p:cNvPr>
          <p:cNvGrpSpPr/>
          <p:nvPr/>
        </p:nvGrpSpPr>
        <p:grpSpPr>
          <a:xfrm>
            <a:off x="3230626" y="2200445"/>
            <a:ext cx="2680098" cy="759421"/>
            <a:chOff x="3230626" y="2200445"/>
            <a:chExt cx="2680098" cy="759421"/>
          </a:xfrm>
        </p:grpSpPr>
        <p:sp>
          <p:nvSpPr>
            <p:cNvPr id="104" name="Text Box 114">
              <a:extLst>
                <a:ext uri="{FF2B5EF4-FFF2-40B4-BE49-F238E27FC236}">
                  <a16:creationId xmlns:a16="http://schemas.microsoft.com/office/drawing/2014/main" id="{6BDA36CE-62EF-4BAA-B7CD-82B247A07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626" y="2200445"/>
              <a:ext cx="80010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500" kern="0">
                  <a:solidFill>
                    <a:srgbClr val="000099"/>
                  </a:solidFill>
                </a:defRPr>
              </a:lvl1pPr>
              <a:lvl2pPr marL="742950" indent="-285750">
                <a:defRPr sz="1600"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zh-CN" altLang="en-US" sz="1600" dirty="0"/>
                <a:t>客户端</a:t>
              </a:r>
              <a:endParaRPr lang="en-US" sz="1600" dirty="0"/>
            </a:p>
          </p:txBody>
        </p:sp>
        <p:sp>
          <p:nvSpPr>
            <p:cNvPr id="106" name="Text Box 116">
              <a:extLst>
                <a:ext uri="{FF2B5EF4-FFF2-40B4-BE49-F238E27FC236}">
                  <a16:creationId xmlns:a16="http://schemas.microsoft.com/office/drawing/2014/main" id="{4FED39FE-1EBE-4708-9D9D-B226ED52D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0624" y="2201181"/>
              <a:ext cx="80010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rgbClr val="000099"/>
                  </a:solidFill>
                  <a:latin typeface="+mn-lt"/>
                  <a:ea typeface="+mn-ea"/>
                </a:rPr>
                <a:t>服务器</a:t>
              </a:r>
              <a:endParaRPr lang="en-US" sz="1400" i="1" kern="0" dirty="0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grpSp>
          <p:nvGrpSpPr>
            <p:cNvPr id="108" name="Group 118">
              <a:extLst>
                <a:ext uri="{FF2B5EF4-FFF2-40B4-BE49-F238E27FC236}">
                  <a16:creationId xmlns:a16="http://schemas.microsoft.com/office/drawing/2014/main" id="{841640E9-F226-475A-AB8C-897CA3A950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6726" y="2509810"/>
              <a:ext cx="482203" cy="450056"/>
              <a:chOff x="-194" y="1473"/>
              <a:chExt cx="976" cy="1105"/>
            </a:xfrm>
          </p:grpSpPr>
          <p:pic>
            <p:nvPicPr>
              <p:cNvPr id="142" name="Picture 119" descr="desktop_computer_stylized_medium">
                <a:extLst>
                  <a:ext uri="{FF2B5EF4-FFF2-40B4-BE49-F238E27FC236}">
                    <a16:creationId xmlns:a16="http://schemas.microsoft.com/office/drawing/2014/main" id="{9AAC4FC5-A239-47BE-AD94-5049B688EA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194" y="1473"/>
                <a:ext cx="976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120">
                <a:extLst>
                  <a:ext uri="{FF2B5EF4-FFF2-40B4-BE49-F238E27FC236}">
                    <a16:creationId xmlns:a16="http://schemas.microsoft.com/office/drawing/2014/main" id="{63A508C6-5E78-4162-9FC4-04AF22F15CC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0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09" name="Group 121">
              <a:extLst>
                <a:ext uri="{FF2B5EF4-FFF2-40B4-BE49-F238E27FC236}">
                  <a16:creationId xmlns:a16="http://schemas.microsoft.com/office/drawing/2014/main" id="{58F42B14-3C2C-4831-B362-140F20654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07091" y="2512192"/>
              <a:ext cx="252413" cy="384572"/>
              <a:chOff x="4140" y="429"/>
              <a:chExt cx="1425" cy="2396"/>
            </a:xfrm>
          </p:grpSpPr>
          <p:sp>
            <p:nvSpPr>
              <p:cNvPr id="110" name="Freeform 122">
                <a:extLst>
                  <a:ext uri="{FF2B5EF4-FFF2-40B4-BE49-F238E27FC236}">
                    <a16:creationId xmlns:a16="http://schemas.microsoft.com/office/drawing/2014/main" id="{F720C953-D8C0-4AD3-AD9E-760659D55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Rectangle 123">
                <a:extLst>
                  <a:ext uri="{FF2B5EF4-FFF2-40B4-BE49-F238E27FC236}">
                    <a16:creationId xmlns:a16="http://schemas.microsoft.com/office/drawing/2014/main" id="{E715A528-3613-472D-B2EA-375C74252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Freeform 124">
                <a:extLst>
                  <a:ext uri="{FF2B5EF4-FFF2-40B4-BE49-F238E27FC236}">
                    <a16:creationId xmlns:a16="http://schemas.microsoft.com/office/drawing/2014/main" id="{C690E956-C29C-438F-99C7-7A0CD8B0A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" name="Freeform 125">
                <a:extLst>
                  <a:ext uri="{FF2B5EF4-FFF2-40B4-BE49-F238E27FC236}">
                    <a16:creationId xmlns:a16="http://schemas.microsoft.com/office/drawing/2014/main" id="{B0509023-00C3-4A66-93D7-357674751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26">
                <a:extLst>
                  <a:ext uri="{FF2B5EF4-FFF2-40B4-BE49-F238E27FC236}">
                    <a16:creationId xmlns:a16="http://schemas.microsoft.com/office/drawing/2014/main" id="{9DAB4A54-17E1-4B3F-86F2-5CFD63DAAB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15" name="Group 127">
                <a:extLst>
                  <a:ext uri="{FF2B5EF4-FFF2-40B4-BE49-F238E27FC236}">
                    <a16:creationId xmlns:a16="http://schemas.microsoft.com/office/drawing/2014/main" id="{C9D6B137-BBDC-420F-891B-79B73B843F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0" name="AutoShape 128">
                  <a:extLst>
                    <a:ext uri="{FF2B5EF4-FFF2-40B4-BE49-F238E27FC236}">
                      <a16:creationId xmlns:a16="http://schemas.microsoft.com/office/drawing/2014/main" id="{F1E0F620-E9F0-4BD1-8DDF-FAD602242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1" name="AutoShape 129">
                  <a:extLst>
                    <a:ext uri="{FF2B5EF4-FFF2-40B4-BE49-F238E27FC236}">
                      <a16:creationId xmlns:a16="http://schemas.microsoft.com/office/drawing/2014/main" id="{C93FF5B0-967F-4907-A115-1C452F64D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16" name="Rectangle 130">
                <a:extLst>
                  <a:ext uri="{FF2B5EF4-FFF2-40B4-BE49-F238E27FC236}">
                    <a16:creationId xmlns:a16="http://schemas.microsoft.com/office/drawing/2014/main" id="{1A07517E-444F-4C2F-ADA1-9A6BBEA12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17" name="Group 131">
                <a:extLst>
                  <a:ext uri="{FF2B5EF4-FFF2-40B4-BE49-F238E27FC236}">
                    <a16:creationId xmlns:a16="http://schemas.microsoft.com/office/drawing/2014/main" id="{B485A400-A577-47F1-9D69-EA7D43DAF5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8" name="AutoShape 132">
                  <a:extLst>
                    <a:ext uri="{FF2B5EF4-FFF2-40B4-BE49-F238E27FC236}">
                      <a16:creationId xmlns:a16="http://schemas.microsoft.com/office/drawing/2014/main" id="{D3130BE2-3291-48A0-B290-BE7EEA80B6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9" name="AutoShape 133">
                  <a:extLst>
                    <a:ext uri="{FF2B5EF4-FFF2-40B4-BE49-F238E27FC236}">
                      <a16:creationId xmlns:a16="http://schemas.microsoft.com/office/drawing/2014/main" id="{CF10B928-0A9C-45A1-8344-616B68A77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18" name="Rectangle 134">
                <a:extLst>
                  <a:ext uri="{FF2B5EF4-FFF2-40B4-BE49-F238E27FC236}">
                    <a16:creationId xmlns:a16="http://schemas.microsoft.com/office/drawing/2014/main" id="{686BE647-E759-4C39-9D90-4783C02EA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Rectangle 135">
                <a:extLst>
                  <a:ext uri="{FF2B5EF4-FFF2-40B4-BE49-F238E27FC236}">
                    <a16:creationId xmlns:a16="http://schemas.microsoft.com/office/drawing/2014/main" id="{FAFFA19D-0237-438B-96DB-14EDABE15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20" name="Group 136">
                <a:extLst>
                  <a:ext uri="{FF2B5EF4-FFF2-40B4-BE49-F238E27FC236}">
                    <a16:creationId xmlns:a16="http://schemas.microsoft.com/office/drawing/2014/main" id="{39D740C7-BB6C-4F34-85BE-D74520E7A9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6" name="AutoShape 137">
                  <a:extLst>
                    <a:ext uri="{FF2B5EF4-FFF2-40B4-BE49-F238E27FC236}">
                      <a16:creationId xmlns:a16="http://schemas.microsoft.com/office/drawing/2014/main" id="{B0AEAE7A-A84A-4F9B-85B2-163337EAB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7" name="AutoShape 138">
                  <a:extLst>
                    <a:ext uri="{FF2B5EF4-FFF2-40B4-BE49-F238E27FC236}">
                      <a16:creationId xmlns:a16="http://schemas.microsoft.com/office/drawing/2014/main" id="{4DEAF55E-FE6B-46CB-9982-1DDC5FF951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21" name="Freeform 139">
                <a:extLst>
                  <a:ext uri="{FF2B5EF4-FFF2-40B4-BE49-F238E27FC236}">
                    <a16:creationId xmlns:a16="http://schemas.microsoft.com/office/drawing/2014/main" id="{EBEB8560-45C2-4B0C-8C1B-04CE84010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22" name="Group 140">
                <a:extLst>
                  <a:ext uri="{FF2B5EF4-FFF2-40B4-BE49-F238E27FC236}">
                    <a16:creationId xmlns:a16="http://schemas.microsoft.com/office/drawing/2014/main" id="{87B021BA-DD90-4302-AACE-D19DBA8D7A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4" name="AutoShape 141">
                  <a:extLst>
                    <a:ext uri="{FF2B5EF4-FFF2-40B4-BE49-F238E27FC236}">
                      <a16:creationId xmlns:a16="http://schemas.microsoft.com/office/drawing/2014/main" id="{D0BD404F-E29E-426F-B451-8BFC77EF87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5" name="AutoShape 142">
                  <a:extLst>
                    <a:ext uri="{FF2B5EF4-FFF2-40B4-BE49-F238E27FC236}">
                      <a16:creationId xmlns:a16="http://schemas.microsoft.com/office/drawing/2014/main" id="{85446E96-BC91-4ADA-9FD3-C476F5C3C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400" kern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23" name="Rectangle 143">
                <a:extLst>
                  <a:ext uri="{FF2B5EF4-FFF2-40B4-BE49-F238E27FC236}">
                    <a16:creationId xmlns:a16="http://schemas.microsoft.com/office/drawing/2014/main" id="{06CE2504-FC71-49B3-94A6-2CF144D70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Freeform 144">
                <a:extLst>
                  <a:ext uri="{FF2B5EF4-FFF2-40B4-BE49-F238E27FC236}">
                    <a16:creationId xmlns:a16="http://schemas.microsoft.com/office/drawing/2014/main" id="{CDC9F6EE-3D94-4615-90B7-106204FE9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Freeform 145">
                <a:extLst>
                  <a:ext uri="{FF2B5EF4-FFF2-40B4-BE49-F238E27FC236}">
                    <a16:creationId xmlns:a16="http://schemas.microsoft.com/office/drawing/2014/main" id="{59371B0B-7E3F-439E-826E-8009E0989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Oval 146">
                <a:extLst>
                  <a:ext uri="{FF2B5EF4-FFF2-40B4-BE49-F238E27FC236}">
                    <a16:creationId xmlns:a16="http://schemas.microsoft.com/office/drawing/2014/main" id="{9C3A64BB-DDB4-423E-8977-A7F0BDA55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Freeform 147">
                <a:extLst>
                  <a:ext uri="{FF2B5EF4-FFF2-40B4-BE49-F238E27FC236}">
                    <a16:creationId xmlns:a16="http://schemas.microsoft.com/office/drawing/2014/main" id="{D7FB691B-4C91-496A-AE05-756C59408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AutoShape 148">
                <a:extLst>
                  <a:ext uri="{FF2B5EF4-FFF2-40B4-BE49-F238E27FC236}">
                    <a16:creationId xmlns:a16="http://schemas.microsoft.com/office/drawing/2014/main" id="{9258EA01-F6E2-455E-903F-D4B2BB565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AutoShape 149">
                <a:extLst>
                  <a:ext uri="{FF2B5EF4-FFF2-40B4-BE49-F238E27FC236}">
                    <a16:creationId xmlns:a16="http://schemas.microsoft.com/office/drawing/2014/main" id="{F0DB3AF8-8E8B-4F35-9919-45ECC4DA4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Oval 150">
                <a:extLst>
                  <a:ext uri="{FF2B5EF4-FFF2-40B4-BE49-F238E27FC236}">
                    <a16:creationId xmlns:a16="http://schemas.microsoft.com/office/drawing/2014/main" id="{A8B75DF1-131A-416C-8B4A-CD9DB0276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Oval 151">
                <a:extLst>
                  <a:ext uri="{FF2B5EF4-FFF2-40B4-BE49-F238E27FC236}">
                    <a16:creationId xmlns:a16="http://schemas.microsoft.com/office/drawing/2014/main" id="{04654917-E40A-48D9-8EC5-5A0FB10DA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32" name="Oval 152">
                <a:extLst>
                  <a:ext uri="{FF2B5EF4-FFF2-40B4-BE49-F238E27FC236}">
                    <a16:creationId xmlns:a16="http://schemas.microsoft.com/office/drawing/2014/main" id="{CF474693-F8EA-4B1F-B8B1-20E3B5C4A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Rectangle 153">
                <a:extLst>
                  <a:ext uri="{FF2B5EF4-FFF2-40B4-BE49-F238E27FC236}">
                    <a16:creationId xmlns:a16="http://schemas.microsoft.com/office/drawing/2014/main" id="{2AA07568-01D8-4127-978E-027871140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A9F52-49C2-4E09-89CB-3E7CE2B3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3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7B70674-0F05-4A23-8F07-96254089A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71" y="1603840"/>
            <a:ext cx="6840000" cy="4641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dirty="0"/>
              <a:t>. </a:t>
            </a: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121666"/>
            <a:ext cx="7964424" cy="936997"/>
          </a:xfrm>
        </p:spPr>
        <p:txBody>
          <a:bodyPr/>
          <a:lstStyle/>
          <a:p>
            <a:pPr marL="715518" lvl="1" indent="-514350">
              <a:buFont typeface="+mj-lt"/>
              <a:buAutoNum type="arabicParenR"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三次握手，第一次握手</a:t>
            </a:r>
            <a:r>
              <a:rPr lang="en-US" altLang="zh-CN" dirty="0"/>
              <a:t>(SYN)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C96EF-4794-4874-AC99-A34EA200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7FED-2AE7-493B-B671-58F0FCDDF88E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D6DA-BC3D-4BAD-A666-CE76104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FE734-A4C3-475B-8683-2F8D2EF08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286D3D-28CD-41BF-9F8C-F4F4396F6DC8}"/>
              </a:ext>
            </a:extLst>
          </p:cNvPr>
          <p:cNvSpPr/>
          <p:nvPr/>
        </p:nvSpPr>
        <p:spPr>
          <a:xfrm>
            <a:off x="1295118" y="3676390"/>
            <a:ext cx="1855178" cy="18395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AD8D1-FF87-4C3D-B405-F533BF2A0C90}"/>
              </a:ext>
            </a:extLst>
          </p:cNvPr>
          <p:cNvSpPr/>
          <p:nvPr/>
        </p:nvSpPr>
        <p:spPr>
          <a:xfrm>
            <a:off x="1347689" y="5374116"/>
            <a:ext cx="1802607" cy="18395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275934-3F0E-467E-9BE0-18C58D402B89}"/>
              </a:ext>
            </a:extLst>
          </p:cNvPr>
          <p:cNvSpPr/>
          <p:nvPr/>
        </p:nvSpPr>
        <p:spPr>
          <a:xfrm>
            <a:off x="3278315" y="3584959"/>
            <a:ext cx="193033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u="sng" dirty="0">
                <a:solidFill>
                  <a:srgbClr val="C00000"/>
                </a:solidFill>
              </a:rPr>
              <a:t>序号是</a:t>
            </a:r>
            <a:r>
              <a:rPr lang="en-US" altLang="zh-CN" u="sng" dirty="0">
                <a:solidFill>
                  <a:srgbClr val="C00000"/>
                </a:solidFill>
              </a:rPr>
              <a:t>817913972</a:t>
            </a:r>
            <a:endParaRPr lang="en-US" u="sng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AC80DD-DCA2-474A-B6B2-CB00318ACF85}"/>
              </a:ext>
            </a:extLst>
          </p:cNvPr>
          <p:cNvSpPr/>
          <p:nvPr/>
        </p:nvSpPr>
        <p:spPr>
          <a:xfrm>
            <a:off x="3385513" y="5272032"/>
            <a:ext cx="1186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u="sng" dirty="0">
                <a:solidFill>
                  <a:srgbClr val="C00000"/>
                </a:solidFill>
              </a:rPr>
              <a:t>SYN</a:t>
            </a:r>
            <a:r>
              <a:rPr lang="zh-CN" altLang="en-US" u="sng" dirty="0">
                <a:solidFill>
                  <a:srgbClr val="C00000"/>
                </a:solidFill>
              </a:rPr>
              <a:t>位置</a:t>
            </a:r>
            <a:r>
              <a:rPr lang="en-US" altLang="zh-CN" u="sng" dirty="0">
                <a:solidFill>
                  <a:srgbClr val="C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8154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4E57F1-3181-4A43-BF01-36EBB027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00" y="1605600"/>
            <a:ext cx="6840000" cy="4641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dirty="0"/>
              <a:t>. </a:t>
            </a: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121666"/>
            <a:ext cx="8029381" cy="4747428"/>
          </a:xfrm>
        </p:spPr>
        <p:txBody>
          <a:bodyPr/>
          <a:lstStyle/>
          <a:p>
            <a:pPr marL="715518" lvl="1" indent="-514350">
              <a:buFont typeface="+mj-lt"/>
              <a:buAutoNum type="arabicParenR" startAt="2"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三次握手，第二次握手</a:t>
            </a:r>
            <a:r>
              <a:rPr lang="en-US" altLang="zh-CN" dirty="0"/>
              <a:t>(SYNACK)</a:t>
            </a:r>
            <a:r>
              <a:rPr lang="zh-CN" altLang="en-US" dirty="0"/>
              <a:t>。</a:t>
            </a:r>
            <a:endParaRPr lang="en-US" altLang="zh-CN" u="sng" dirty="0">
              <a:solidFill>
                <a:srgbClr val="C0000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486D3-5CE0-46CD-A17C-3826D89D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4E8C2-78F8-4180-BBA3-3839A1DC504E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EE930-5B16-4128-B1CF-A56220C6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7B530-02B6-45EB-B6EC-AEA7E5B2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26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286D3D-28CD-41BF-9F8C-F4F4396F6DC8}"/>
              </a:ext>
            </a:extLst>
          </p:cNvPr>
          <p:cNvSpPr/>
          <p:nvPr/>
        </p:nvSpPr>
        <p:spPr>
          <a:xfrm>
            <a:off x="1378324" y="3670126"/>
            <a:ext cx="2027251" cy="1753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DBDED-9C93-44AD-A536-46DB75DE36A7}"/>
              </a:ext>
            </a:extLst>
          </p:cNvPr>
          <p:cNvSpPr/>
          <p:nvPr/>
        </p:nvSpPr>
        <p:spPr>
          <a:xfrm>
            <a:off x="1378324" y="4030005"/>
            <a:ext cx="2027251" cy="1753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F214B9-B0FA-44F6-B3CF-1B9F920479AD}"/>
              </a:ext>
            </a:extLst>
          </p:cNvPr>
          <p:cNvSpPr/>
          <p:nvPr/>
        </p:nvSpPr>
        <p:spPr>
          <a:xfrm>
            <a:off x="1378324" y="5020935"/>
            <a:ext cx="2027251" cy="1753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C8C97E-2FB6-4649-BF21-CEE62D41DE9D}"/>
              </a:ext>
            </a:extLst>
          </p:cNvPr>
          <p:cNvSpPr/>
          <p:nvPr/>
        </p:nvSpPr>
        <p:spPr>
          <a:xfrm>
            <a:off x="1378324" y="5376121"/>
            <a:ext cx="2027251" cy="1753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ECDCFE-EF40-468B-9B36-C2AE7D1A55B8}"/>
              </a:ext>
            </a:extLst>
          </p:cNvPr>
          <p:cNvSpPr/>
          <p:nvPr/>
        </p:nvSpPr>
        <p:spPr>
          <a:xfrm>
            <a:off x="3924103" y="3556886"/>
            <a:ext cx="2047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u="sng" dirty="0">
                <a:solidFill>
                  <a:srgbClr val="C00000"/>
                </a:solidFill>
              </a:rPr>
              <a:t>序号是</a:t>
            </a:r>
            <a:r>
              <a:rPr lang="en-US" altLang="zh-CN" u="sng" dirty="0">
                <a:solidFill>
                  <a:srgbClr val="C00000"/>
                </a:solidFill>
              </a:rPr>
              <a:t>1952848250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B32AB7-0F7E-446D-8B85-FEED7FC4B691}"/>
              </a:ext>
            </a:extLst>
          </p:cNvPr>
          <p:cNvSpPr/>
          <p:nvPr/>
        </p:nvSpPr>
        <p:spPr>
          <a:xfrm>
            <a:off x="3924103" y="3933020"/>
            <a:ext cx="3556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u="sng" dirty="0">
                <a:solidFill>
                  <a:srgbClr val="C00000"/>
                </a:solidFill>
              </a:rPr>
              <a:t>确认号是</a:t>
            </a:r>
            <a:r>
              <a:rPr lang="en-US" altLang="zh-CN" u="sng" dirty="0">
                <a:solidFill>
                  <a:srgbClr val="C00000"/>
                </a:solidFill>
              </a:rPr>
              <a:t>817913973 = SYN</a:t>
            </a:r>
            <a:r>
              <a:rPr lang="zh-CN" altLang="en-US" u="sng" dirty="0">
                <a:solidFill>
                  <a:srgbClr val="C00000"/>
                </a:solidFill>
              </a:rPr>
              <a:t>序号加</a:t>
            </a:r>
            <a:r>
              <a:rPr lang="en-US" altLang="zh-CN" u="sng" dirty="0">
                <a:solidFill>
                  <a:srgbClr val="C00000"/>
                </a:solidFill>
              </a:rPr>
              <a:t>1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D39C78-BDC7-4553-A3BD-41BAFE8A2B55}"/>
              </a:ext>
            </a:extLst>
          </p:cNvPr>
          <p:cNvSpPr/>
          <p:nvPr/>
        </p:nvSpPr>
        <p:spPr>
          <a:xfrm>
            <a:off x="3924102" y="4902136"/>
            <a:ext cx="1138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u="sng" dirty="0">
                <a:solidFill>
                  <a:srgbClr val="C00000"/>
                </a:solidFill>
              </a:rPr>
              <a:t>ACK</a:t>
            </a:r>
            <a:r>
              <a:rPr lang="zh-CN" altLang="en-US" u="sng" dirty="0">
                <a:solidFill>
                  <a:srgbClr val="C00000"/>
                </a:solidFill>
              </a:rPr>
              <a:t>位置</a:t>
            </a:r>
            <a:r>
              <a:rPr lang="en-US" altLang="zh-CN" u="sng" dirty="0">
                <a:solidFill>
                  <a:srgbClr val="C00000"/>
                </a:solidFill>
              </a:rPr>
              <a:t>1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83CA2F-D25D-4A02-B4EF-04ECDC22A08A}"/>
              </a:ext>
            </a:extLst>
          </p:cNvPr>
          <p:cNvSpPr/>
          <p:nvPr/>
        </p:nvSpPr>
        <p:spPr>
          <a:xfrm>
            <a:off x="3924102" y="5293282"/>
            <a:ext cx="1128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u="sng" dirty="0">
                <a:solidFill>
                  <a:srgbClr val="C00000"/>
                </a:solidFill>
              </a:rPr>
              <a:t>SYN</a:t>
            </a:r>
            <a:r>
              <a:rPr lang="zh-CN" altLang="en-US" u="sng" dirty="0">
                <a:solidFill>
                  <a:srgbClr val="C00000"/>
                </a:solidFill>
              </a:rPr>
              <a:t>位置</a:t>
            </a:r>
            <a:r>
              <a:rPr lang="en-US" altLang="zh-CN" u="sng" dirty="0">
                <a:solidFill>
                  <a:srgbClr val="C00000"/>
                </a:solidFill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287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300AB-6A2F-4C5F-994C-670D6BD4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85" y="1598092"/>
            <a:ext cx="6840000" cy="46412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8938D-BD5F-4E3A-9597-AB97537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dirty="0"/>
              <a:t>. </a:t>
            </a: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B69E-80BE-4883-9DF6-64E9F7A20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arenR" startAt="3"/>
            </a:pPr>
            <a:r>
              <a:rPr lang="zh-CN" altLang="en-US" dirty="0"/>
              <a:t>分析</a:t>
            </a:r>
            <a:r>
              <a:rPr lang="en-US" altLang="zh-CN" dirty="0"/>
              <a:t>TCP</a:t>
            </a:r>
            <a:r>
              <a:rPr lang="zh-CN" altLang="en-US" dirty="0"/>
              <a:t>三次握手，第三次握手</a:t>
            </a:r>
            <a:r>
              <a:rPr lang="en-US" altLang="zh-CN" dirty="0"/>
              <a:t>(ACK)</a:t>
            </a:r>
            <a:r>
              <a:rPr lang="zh-CN" altLang="en-US" dirty="0"/>
              <a:t>。</a:t>
            </a:r>
            <a:endParaRPr lang="en-US" altLang="zh-CN" u="sng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38365-CDBE-4E7A-89E4-9E62ECC6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D18-A215-4450-A71F-4D2F97E1AA01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A4D97-7FE7-4282-9918-CAF4EF1C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AFC70-BF84-4B7D-84F3-5695295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3CE-81A1-4379-810C-C273C60F1CFA}" type="slidenum">
              <a:rPr lang="en-US" smtClean="0"/>
              <a:t>27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DBDED-9C93-44AD-A536-46DB75DE36A7}"/>
              </a:ext>
            </a:extLst>
          </p:cNvPr>
          <p:cNvSpPr/>
          <p:nvPr/>
        </p:nvSpPr>
        <p:spPr>
          <a:xfrm>
            <a:off x="1378324" y="3917271"/>
            <a:ext cx="2027251" cy="1753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F214B9-B0FA-44F6-B3CF-1B9F920479AD}"/>
              </a:ext>
            </a:extLst>
          </p:cNvPr>
          <p:cNvSpPr/>
          <p:nvPr/>
        </p:nvSpPr>
        <p:spPr>
          <a:xfrm>
            <a:off x="1378324" y="4883149"/>
            <a:ext cx="2027251" cy="1753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B32AB7-0F7E-446D-8B85-FEED7FC4B691}"/>
              </a:ext>
            </a:extLst>
          </p:cNvPr>
          <p:cNvSpPr/>
          <p:nvPr/>
        </p:nvSpPr>
        <p:spPr>
          <a:xfrm>
            <a:off x="3924103" y="3820286"/>
            <a:ext cx="4048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u="sng" dirty="0">
                <a:solidFill>
                  <a:srgbClr val="C00000"/>
                </a:solidFill>
              </a:rPr>
              <a:t>确认号是</a:t>
            </a:r>
            <a:r>
              <a:rPr lang="en-US" altLang="zh-CN" u="sng" dirty="0">
                <a:solidFill>
                  <a:srgbClr val="C00000"/>
                </a:solidFill>
              </a:rPr>
              <a:t>1952848251 = SYNACK</a:t>
            </a:r>
            <a:r>
              <a:rPr lang="zh-CN" altLang="en-US" u="sng" dirty="0">
                <a:solidFill>
                  <a:srgbClr val="C00000"/>
                </a:solidFill>
              </a:rPr>
              <a:t>序号加</a:t>
            </a:r>
            <a:r>
              <a:rPr lang="en-US" altLang="zh-CN" u="sng" dirty="0">
                <a:solidFill>
                  <a:srgbClr val="C00000"/>
                </a:solidFill>
              </a:rPr>
              <a:t>1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D39C78-BDC7-4553-A3BD-41BAFE8A2B55}"/>
              </a:ext>
            </a:extLst>
          </p:cNvPr>
          <p:cNvSpPr/>
          <p:nvPr/>
        </p:nvSpPr>
        <p:spPr>
          <a:xfrm>
            <a:off x="3924102" y="4764350"/>
            <a:ext cx="1138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u="sng" dirty="0">
                <a:solidFill>
                  <a:srgbClr val="C00000"/>
                </a:solidFill>
              </a:rPr>
              <a:t>ACK</a:t>
            </a:r>
            <a:r>
              <a:rPr lang="zh-CN" altLang="en-US" u="sng" dirty="0">
                <a:solidFill>
                  <a:srgbClr val="C00000"/>
                </a:solidFill>
              </a:rPr>
              <a:t>位置</a:t>
            </a:r>
            <a:r>
              <a:rPr lang="en-US" altLang="zh-CN" u="sng" dirty="0">
                <a:solidFill>
                  <a:srgbClr val="C00000"/>
                </a:solidFill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30687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uter-network" id="{8035428C-27DC-4B59-AB1F-B112A91F19B3}" vid="{B56FCE80-C2DF-4FD6-9D02-8D9C8A1037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885</TotalTime>
  <Words>1174</Words>
  <Application>Microsoft Office PowerPoint</Application>
  <PresentationFormat>全屏显示(4:3)</PresentationFormat>
  <Paragraphs>241</Paragraphs>
  <Slides>27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computer-network</vt:lpstr>
      <vt:lpstr>计算机网络  实验三 数据包抓取与分析</vt:lpstr>
      <vt:lpstr>实验三  数据包抓取与分析</vt:lpstr>
      <vt:lpstr>实验内容</vt:lpstr>
      <vt:lpstr>实验任务要求</vt:lpstr>
      <vt:lpstr>实验报告撰写要求</vt:lpstr>
      <vt:lpstr>实验内容</vt:lpstr>
      <vt:lpstr>1. 安装学习Wireshark软件</vt:lpstr>
      <vt:lpstr>1. 安装学习Wireshark软件</vt:lpstr>
      <vt:lpstr>1. 安装学习Wireshark软件</vt:lpstr>
      <vt:lpstr>1. 安装学习Wireshark软件</vt:lpstr>
      <vt:lpstr>1. 安装学习Wireshark软件</vt:lpstr>
      <vt:lpstr>1. 安装学习Wireshark软件</vt:lpstr>
      <vt:lpstr>实验内容</vt:lpstr>
      <vt:lpstr>2. 抓包与分析HTTP协议</vt:lpstr>
      <vt:lpstr>2. 抓包与分析HTTP协议</vt:lpstr>
      <vt:lpstr>2. 抓包与分析HTTP协议</vt:lpstr>
      <vt:lpstr>2. 抓包与分析HTTP协议</vt:lpstr>
      <vt:lpstr>实验内容</vt:lpstr>
      <vt:lpstr>3.分析 TCP协议</vt:lpstr>
      <vt:lpstr>3.分析 TCP协议</vt:lpstr>
      <vt:lpstr>3.分析 TCP协议</vt:lpstr>
      <vt:lpstr>3.分析 TCP协议</vt:lpstr>
      <vt:lpstr>实验内容</vt:lpstr>
      <vt:lpstr>4. TCP三次握手</vt:lpstr>
      <vt:lpstr>4. 分析TCP三次握手</vt:lpstr>
      <vt:lpstr>4. 分析TCP三次握手</vt:lpstr>
      <vt:lpstr>4. 分析TCP三次握手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谢瑞桃</dc:creator>
  <cp:lastModifiedBy>Hengzhi Wang</cp:lastModifiedBy>
  <cp:revision>265</cp:revision>
  <dcterms:created xsi:type="dcterms:W3CDTF">2020-02-29T03:07:36Z</dcterms:created>
  <dcterms:modified xsi:type="dcterms:W3CDTF">2024-03-20T04:24:00Z</dcterms:modified>
</cp:coreProperties>
</file>